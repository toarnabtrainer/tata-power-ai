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70"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94660"/>
  </p:normalViewPr>
  <p:slideViewPr>
    <p:cSldViewPr snapToGrid="0">
      <p:cViewPr varScale="1">
        <p:scale>
          <a:sx n="74" d="100"/>
          <a:sy n="74" d="100"/>
        </p:scale>
        <p:origin x="773"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658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Noodle House Facebook Marketing Strategy presentation. Noodle House is a quick-service noodle restaurant co-founded by Karan and Rohit. Today we will walk through our comprehensive plan to leverage Facebook as the primary digital marketing channel to drive foot traffic, online orders, and brand awareness in our local community.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Noodle House was born from Karan and Rohit's shared passion for authentic, fast, and affordable noodle dishes. We operate as a quick-service format — fresh ingredients, fast preparation, and wallet-friendly pricing. Our core differentiator is speed without sacrificing taste. Every bowl is made to order with quality ingredients, giving customers a homemade feel in under five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why Facebook is the right platform for us. With over 3 billion monthly active users, Facebook has unmatched scale. But more importantly for a local restaurant, 72 percent of diners use Facebook to make restaurant decisions based on photos and reviews. And here's the clincher — 84 percent of people choose where to eat less than one hour before the meal, which means we can catch them right in the decision window. Add to that an average cost-per-click of just 50 cents to a dollar fifty, and you have one of the most cost-effective channels for a local food business.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marketing offers six distinct advantages that are particularly relevant for a restaurant like Noodle House. First, precise audience targeting lets us serve ads only to people most likely to visit — by age, location, food interests, and dining behavior. Second, it is incredibly cost-effective; we can start with as little as five dollars a day. Third, everything is measurable — we can track impressions, clicks, and conversions in real time. Fourth, the massive local reach means our neighborhood customers are already on the platform. Fifth, Facebook is mobile-first, which is critical since most dining decisions happen on phones. And sixth, geo-targeting ensures our ad budget reaches only people within walking or driving distance.</a:t>
            </a:r>
          </a:p>
        </p:txBody>
      </p:sp>
      <p:sp>
        <p:nvSpPr>
          <p:cNvPr id="4" name="Slide Number Placeholder 3"/>
          <p:cNvSpPr>
            <a:spLocks noGrp="1"/>
          </p:cNvSpPr>
          <p:nvPr>
            <p:ph type="sldNum" sz="quarter" idx="10"/>
          </p:nvPr>
        </p:nvSpPr>
        <p:spPr/>
        <p:txBody>
          <a:bodyPr/>
          <a:lstStyle/>
          <a:p>
            <a:fld id="{A1B2C3D4-5678-9ABC-DEF0-123456789A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target audience falls into four key segments. Young professionals aged 22 to 35 represent our core lunch and dinner crowd — they want quick, tasty meals near their workplace. College students aged 18 to 24 are budget-conscious and highly active on social media, making them natural brand advocates. Families and couples drive our weekend traffic, looking for casual dining. And local foodies follow restaurant pages for new dishes and deals. All targeting will be geo-fenced to a 5 to 10 kilometer radius around each Noodle House location to maximize relevance and minimize wasted ad spend.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content strategy rests on four pillars. Food Showcase is the hero — high-quality photos and videos of our signature dishes, behind-the-scenes kitchen action, and beautiful plating moments. Community Stories humanize our brand through Karan and Rohit's founder journey, team spotlights, and customer testimonials. Engage and Entertain drives interaction through polls, quizzes, user-generated content, and trending food challenges. And Promotions and Offers convert followers into customers with flash deals, combo offers, loyalty rewards, and festival specials.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is key on Facebook, so we have mapped out a seven-day content calendar. Monday is Motivation — founder stories or team spotlights. Tuesday is Tasty Tuesday featuring the dish of the week. Wednesday goes behind the scenes with kitchen action reels. Thursday is Throwback with customer reviews and milestones. Friday is Flash Deal day with weekend combo offers. Saturday focuses on Reels and video — food ASMR, cooking tips. Sunday is Community day with polls and user-generated content reshares. We recommend posting five to seven times per week, with optimal timing between 11 AM to 1 PM for lunch crowd and 6 PM to 9 PM for dinner decisions.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concrete post examples we plan to run. The first is a high-quality photo post showcasing our spicy garlic noodles with a direct order CTA. The second is a 60-second video reel of our chef pulling hand-stretched noodles — video content consistently outperforms static images by two times on engagement. The third is a flash deal post — Buy One Get One Free on signature bowls — designed to drive urgency and encourage tagging friends. Each post type serves a different funnel stage: awareness, engagement, and conversion.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paid advertising, we recommend three core ad formats. Carousel ads let us showcase three to five signature dishes in a swipeable format, each with pricing and a direct order link — great for menu discovery. Video and Reels ads using 15 to 30 second food prep clips generate two times more engagement than static ads. And Local Awareness ads with geo-targeting reach people within 5 to 10 kilometers, including map directions and a Get Directions call-to-action button — perfect for driving foot traffic.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targeting strategy focuses on location-based audiences within a 5 to 10 kilometer radius, aged 18 to 45 with a skew toward 22 to 35 working professionals. Interest targeting includes Asian cuisine, food delivery, dining out, and cooking enthusiasts. We will also build Custom Audiences from website visitors and page engagers, plus Lookalike Audiences based on existing customer data. On budget, we recommend three phases: Launch at 500 to 800 dollars per month for brand awareness, Growth at 800 to 1500 for lead generation and conversions, and Scale at 1500 to 2000 for retargeting and loyalty campaigns. Expected CPC is 50 cents to a dollar fifty, with cost per lead of 3 to 15 dollars.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is no longer optional on Facebook. Meta has consolidated all video into the Reels format, making short-form video essential for organic reach. We plan four types of video content: Kitchen Action showing noodle-pulling and wok-tossing in 15 to 30 second clips. Dish of the Day with close-up food ASMR featuring sizzling sounds. Customer Reactions capturing first-bite moments from real diners. And Founder Stories where Karan and Rohit share the Noodle House journey. Video content consistently drives two times more engagement and significantly better algorithmic distribution than static posts.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building is how we turn one-time visitors into loyal regulars. Four key tactics: First, respond to every comment within one hour — personalized replies build loyalty and boost our algorithmic reach. Second, actively encourage reviews by asking satisfied diners and offering a free add-on as a thank-you. Third, run contests and polls like naming a new dish or picking the next special — these drive massive engagement spikes. Fourth, leverage Messenger with auto-replies for FAQs like menu, hours, and location, and eventually chatbot ordering. The ultimate goal is to build a self-sustaining community that promotes Noodle House organically through word of mouth.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success, we are tracking four key performance indicators. Page Reach target is 10,000 plus monthly impressions combining organic and paid. Engagement Rate target is 3 to 5 percent across likes, comments, and shares — well above the industry average of 1 to 2 percent. Click-Through Rate target is 1.5 to 3 percent on our ads. And Conversions target is 50 to 100 orders per month directly attributable to Facebook. We will review these metrics weekly and optimize our top-performing content and ad creative based on the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implementation follows a 90-day roadmap across three phases. Month one is Foundation — setting up and optimizing our Facebook Business Page, creating branded content templates, launching with 15 plus initial posts, beginning 500 dollars per month ad spend on awareness, and setting up Messenger auto-replies. Month two is Growth — ramping to daily posting, launching carousel and video ad campaigns, collecting customer reviews, running our first contest, and increasing budget to 800 dollars. Month three is Scale — introducing retargeting campaigns, scaling budget to 1200 to 1500 dollars, launching loyalty program promotions, analyzing data to optimize top performers, and planning the month 4 to 6 strategy expansion.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today. Noodle House is ready to serve great noodles and even better marketing. Karan and Rohit are committed to building Noodle House into a Facebook powerhouse — turning local scrollers into loyal diners. We look forward to your questions and feedback on this strategy. Let's make it happen!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gent/turn1/workspace/images/professional-photograph-of-a-vibrant-modern-quick-_2026-05-05T01-37-14_image_DAS_0.jpg"/>
          <p:cNvPicPr>
            <a:picLocks noChangeAspect="1"/>
          </p:cNvPicPr>
          <p:nvPr/>
        </p:nvPicPr>
        <p:blipFill>
          <a:blip r:embed="rId3"/>
          <a:srcRect t="7148" b="7148"/>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5000"/>
            </a:srgbClr>
          </a:solidFill>
          <a:ln/>
        </p:spPr>
        <p:txBody>
          <a:bodyPr/>
          <a:lstStyle/>
          <a:p>
            <a:endParaRPr lang="en-IN"/>
          </a:p>
        </p:txBody>
      </p:sp>
      <p:pic>
        <p:nvPicPr>
          <p:cNvPr id="50" name="Logo" descr="Noodle House Logo"/>
          <p:cNvPicPr>
            <a:picLocks noChangeAspect="1"/>
          </p:cNvPicPr>
          <p:nvPr/>
        </p:nvPicPr>
        <p:blipFill>
          <a:blip r:embed="rId4"/>
          <a:srcRect/>
          <a:stretch>
            <a:fillRect/>
          </a:stretch>
        </p:blipFill>
        <p:spPr>
          <a:xfrm>
            <a:off x="731520" y="731520"/>
            <a:ext cx="1371600" cy="1767840"/>
          </a:xfrm>
          <a:prstGeom prst="rect">
            <a:avLst/>
          </a:prstGeom>
        </p:spPr>
      </p:pic>
      <p:sp>
        <p:nvSpPr>
          <p:cNvPr id="4" name="Text 1"/>
          <p:cNvSpPr/>
          <p:nvPr/>
        </p:nvSpPr>
        <p:spPr>
          <a:xfrm>
            <a:off x="2286000" y="914400"/>
            <a:ext cx="6126480" cy="914400"/>
          </a:xfrm>
          <a:prstGeom prst="rect">
            <a:avLst/>
          </a:prstGeom>
          <a:noFill/>
          <a:ln/>
        </p:spPr>
        <p:txBody>
          <a:bodyPr wrap="square" lIns="0" tIns="0" rIns="0" bIns="0" rtlCol="0" anchor="ctr"/>
          <a:lstStyle/>
          <a:p>
            <a:pPr marL="0" indent="0" algn="l">
              <a:buNone/>
            </a:pPr>
            <a:r>
              <a:rPr lang="en-US" sz="4800" b="1" kern="0" spc="400" dirty="0">
                <a:solidFill>
                  <a:srgbClr val="FFFFFF"/>
                </a:solidFill>
                <a:latin typeface="Georgia" pitchFamily="34" charset="0"/>
                <a:ea typeface="Georgia" pitchFamily="34" charset="-122"/>
                <a:cs typeface="Georgia" pitchFamily="34" charset="-120"/>
              </a:rPr>
              <a:t>NOODLE HOUSE</a:t>
            </a:r>
            <a:endParaRPr lang="en-US" sz="4800" dirty="0"/>
          </a:p>
        </p:txBody>
      </p:sp>
      <p:sp>
        <p:nvSpPr>
          <p:cNvPr id="5" name="Text 2"/>
          <p:cNvSpPr/>
          <p:nvPr/>
        </p:nvSpPr>
        <p:spPr>
          <a:xfrm>
            <a:off x="2286000" y="1828800"/>
            <a:ext cx="6126480" cy="640080"/>
          </a:xfrm>
          <a:prstGeom prst="rect">
            <a:avLst/>
          </a:prstGeom>
          <a:noFill/>
          <a:ln/>
        </p:spPr>
        <p:txBody>
          <a:bodyPr wrap="square" lIns="0" tIns="0" rIns="0" bIns="0" rtlCol="0" anchor="ctr"/>
          <a:lstStyle/>
          <a:p>
            <a:pPr marL="0" indent="0" algn="l">
              <a:buNone/>
            </a:pPr>
            <a:r>
              <a:rPr lang="en-US" sz="2800" dirty="0">
                <a:solidFill>
                  <a:srgbClr val="F4A623"/>
                </a:solidFill>
                <a:latin typeface="Calibri" pitchFamily="34" charset="0"/>
                <a:ea typeface="Calibri" pitchFamily="34" charset="-122"/>
                <a:cs typeface="Calibri" pitchFamily="34" charset="-120"/>
              </a:rPr>
              <a:t>Facebook Marketing Strategy</a:t>
            </a:r>
            <a:endParaRPr lang="en-US" sz="2800" dirty="0"/>
          </a:p>
        </p:txBody>
      </p:sp>
      <p:sp>
        <p:nvSpPr>
          <p:cNvPr id="6" name="Shape 3"/>
          <p:cNvSpPr/>
          <p:nvPr/>
        </p:nvSpPr>
        <p:spPr>
          <a:xfrm>
            <a:off x="2286000" y="2651760"/>
            <a:ext cx="1828800" cy="45720"/>
          </a:xfrm>
          <a:prstGeom prst="rect">
            <a:avLst/>
          </a:prstGeom>
          <a:solidFill>
            <a:srgbClr val="D4451A"/>
          </a:solidFill>
          <a:ln/>
        </p:spPr>
        <p:txBody>
          <a:bodyPr/>
          <a:lstStyle/>
          <a:p>
            <a:endParaRPr lang="en-IN"/>
          </a:p>
        </p:txBody>
      </p:sp>
      <p:sp>
        <p:nvSpPr>
          <p:cNvPr id="7" name="Text 4"/>
          <p:cNvSpPr/>
          <p:nvPr/>
        </p:nvSpPr>
        <p:spPr>
          <a:xfrm>
            <a:off x="2286000" y="2880360"/>
            <a:ext cx="6126480" cy="457200"/>
          </a:xfrm>
          <a:prstGeom prst="rect">
            <a:avLst/>
          </a:prstGeom>
          <a:noFill/>
          <a:ln/>
        </p:spPr>
        <p:txBody>
          <a:bodyPr wrap="square" lIns="0" tIns="0" rIns="0" bIns="0" rtlCol="0" anchor="ctr"/>
          <a:lstStyle/>
          <a:p>
            <a:pPr marL="0" indent="0" algn="l">
              <a:buNone/>
            </a:pPr>
            <a:r>
              <a:rPr lang="en-US" sz="1400" dirty="0">
                <a:solidFill>
                  <a:srgbClr val="DDDDDD"/>
                </a:solidFill>
                <a:latin typeface="Calibri" pitchFamily="34" charset="0"/>
                <a:ea typeface="Calibri" pitchFamily="34" charset="-122"/>
                <a:cs typeface="Calibri" pitchFamily="34" charset="-120"/>
              </a:rPr>
              <a:t>Founded by Karan &amp; Rohit  |  Quick Service Noodle Restaurant</a:t>
            </a:r>
            <a:endParaRPr lang="en-US" sz="1400" dirty="0"/>
          </a:p>
        </p:txBody>
      </p:sp>
      <p:sp>
        <p:nvSpPr>
          <p:cNvPr id="8" name="Shape 5"/>
          <p:cNvSpPr/>
          <p:nvPr/>
        </p:nvSpPr>
        <p:spPr>
          <a:xfrm>
            <a:off x="7680960" y="457200"/>
            <a:ext cx="640080" cy="640080"/>
          </a:xfrm>
          <a:prstGeom prst="ellipse">
            <a:avLst/>
          </a:prstGeom>
          <a:solidFill>
            <a:srgbClr val="1877F2"/>
          </a:solidFill>
          <a:ln/>
        </p:spPr>
        <p:txBody>
          <a:bodyPr/>
          <a:lstStyle/>
          <a:p>
            <a:endParaRPr lang="en-IN"/>
          </a:p>
        </p:txBody>
      </p:sp>
      <p:pic>
        <p:nvPicPr>
          <p:cNvPr id="9" name="Image 1" descr="preencoded.png"/>
          <p:cNvPicPr>
            <a:picLocks noChangeAspect="1"/>
          </p:cNvPicPr>
          <p:nvPr/>
        </p:nvPicPr>
        <p:blipFill>
          <a:blip r:embed="rId5"/>
          <a:stretch>
            <a:fillRect/>
          </a:stretch>
        </p:blipFill>
        <p:spPr>
          <a:xfrm>
            <a:off x="7818120" y="548640"/>
            <a:ext cx="365760" cy="3657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0"/>
        </a:solidFill>
        <a:effectLst/>
      </p:bgPr>
    </p:bg>
    <p:spTree>
      <p:nvGrpSpPr>
        <p:cNvPr id="1" name=""/>
        <p:cNvGrpSpPr/>
        <p:nvPr/>
      </p:nvGrpSpPr>
      <p:grpSpPr>
        <a:xfrm>
          <a:off x="0" y="0"/>
          <a:ext cx="0" cy="0"/>
          <a:chOff x="0" y="0"/>
          <a:chExt cx="0" cy="0"/>
        </a:xfrm>
      </p:grpSpPr>
      <p:sp>
        <p:nvSpPr>
          <p:cNvPr id="2" name="Text 0"/>
          <p:cNvSpPr/>
          <p:nvPr/>
        </p:nvSpPr>
        <p:spPr>
          <a:xfrm>
            <a:off x="640080" y="457200"/>
            <a:ext cx="4572000" cy="640080"/>
          </a:xfrm>
          <a:prstGeom prst="rect">
            <a:avLst/>
          </a:prstGeom>
          <a:noFill/>
          <a:ln/>
        </p:spPr>
        <p:txBody>
          <a:bodyPr wrap="square" lIns="0" tIns="0" rIns="0" bIns="0" rtlCol="0" anchor="ctr"/>
          <a:lstStyle/>
          <a:p>
            <a:pPr marL="0" indent="0" algn="l">
              <a:buNone/>
            </a:pPr>
            <a:r>
              <a:rPr lang="en-US" sz="3600" b="1" dirty="0">
                <a:solidFill>
                  <a:srgbClr val="2B1B12"/>
                </a:solidFill>
                <a:latin typeface="Georgia" pitchFamily="34" charset="0"/>
                <a:ea typeface="Georgia" pitchFamily="34" charset="-122"/>
                <a:cs typeface="Georgia" pitchFamily="34" charset="-120"/>
              </a:rPr>
              <a:t>About Noodle House</a:t>
            </a:r>
            <a:endParaRPr lang="en-US" sz="3600" dirty="0"/>
          </a:p>
        </p:txBody>
      </p:sp>
      <p:sp>
        <p:nvSpPr>
          <p:cNvPr id="3" name="Text 1"/>
          <p:cNvSpPr/>
          <p:nvPr/>
        </p:nvSpPr>
        <p:spPr>
          <a:xfrm>
            <a:off x="640080" y="1371600"/>
            <a:ext cx="4389120" cy="2011680"/>
          </a:xfrm>
          <a:prstGeom prst="rect">
            <a:avLst/>
          </a:prstGeom>
          <a:noFill/>
          <a:ln/>
        </p:spPr>
        <p:txBody>
          <a:bodyPr wrap="square" lIns="0" tIns="0" rIns="0" bIns="0" rtlCol="0" anchor="ctr"/>
          <a:lstStyle/>
          <a:p>
            <a:pPr marL="0" indent="0" algn="l">
              <a:lnSpc>
                <a:spcPct val="130000"/>
              </a:lnSpc>
              <a:buNone/>
            </a:pPr>
            <a:r>
              <a:rPr lang="en-US" sz="1400" dirty="0">
                <a:solidFill>
                  <a:srgbClr val="444444"/>
                </a:solidFill>
                <a:latin typeface="Calibri" pitchFamily="34" charset="0"/>
                <a:ea typeface="Calibri" pitchFamily="34" charset="-122"/>
                <a:cs typeface="Calibri" pitchFamily="34" charset="-120"/>
              </a:rPr>
              <a:t>Noodle House is a quick-service noodle restaurant founded by </a:t>
            </a:r>
            <a:r>
              <a:rPr lang="en-US" sz="1400" b="1" dirty="0">
                <a:solidFill>
                  <a:srgbClr val="444444"/>
                </a:solidFill>
                <a:latin typeface="Calibri" pitchFamily="34" charset="0"/>
                <a:ea typeface="Calibri" pitchFamily="34" charset="-122"/>
                <a:cs typeface="Calibri" pitchFamily="34" charset="-120"/>
              </a:rPr>
              <a:t>Karan and Rohit</a:t>
            </a:r>
            <a:r>
              <a:rPr lang="en-US" sz="1400" dirty="0">
                <a:solidFill>
                  <a:srgbClr val="444444"/>
                </a:solidFill>
                <a:latin typeface="Calibri" pitchFamily="34" charset="0"/>
                <a:ea typeface="Calibri" pitchFamily="34" charset="-122"/>
                <a:cs typeface="Calibri" pitchFamily="34" charset="-120"/>
              </a:rPr>
              <a:t>, two passionate food entrepreneurs on a mission to bring fresh, flavorful, and affordable noodle dishes to every neighborhood.</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444444"/>
                </a:solidFill>
                <a:latin typeface="Calibri" pitchFamily="34" charset="0"/>
                <a:ea typeface="Calibri" pitchFamily="34" charset="-122"/>
                <a:cs typeface="Calibri" pitchFamily="34" charset="-120"/>
              </a:rPr>
              <a:t>Our brand stands for speed, taste, and authenticity — serving up bowls that feel homemade in minutes, not hours.</a:t>
            </a:r>
            <a:endParaRPr lang="en-US" sz="1400" dirty="0"/>
          </a:p>
        </p:txBody>
      </p:sp>
      <p:sp>
        <p:nvSpPr>
          <p:cNvPr id="4" name="Shape 2"/>
          <p:cNvSpPr/>
          <p:nvPr/>
        </p:nvSpPr>
        <p:spPr>
          <a:xfrm>
            <a:off x="640080" y="3566160"/>
            <a:ext cx="137160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5" name="Text 3"/>
          <p:cNvSpPr/>
          <p:nvPr/>
        </p:nvSpPr>
        <p:spPr>
          <a:xfrm>
            <a:off x="640080" y="3657600"/>
            <a:ext cx="1371600" cy="457200"/>
          </a:xfrm>
          <a:prstGeom prst="rect">
            <a:avLst/>
          </a:prstGeom>
          <a:noFill/>
          <a:ln/>
        </p:spPr>
        <p:txBody>
          <a:bodyPr wrap="square" lIns="0" tIns="0" rIns="0" bIns="0" rtlCol="0" anchor="ctr"/>
          <a:lstStyle/>
          <a:p>
            <a:pPr marL="0" indent="0" algn="ctr">
              <a:buNone/>
            </a:pPr>
            <a:r>
              <a:rPr lang="en-US" sz="1300" b="1" dirty="0">
                <a:solidFill>
                  <a:srgbClr val="D4451A"/>
                </a:solidFill>
                <a:latin typeface="Calibri" pitchFamily="34" charset="0"/>
                <a:ea typeface="Calibri" pitchFamily="34" charset="-122"/>
                <a:cs typeface="Calibri" pitchFamily="34" charset="-120"/>
              </a:rPr>
              <a:t>Quick Service</a:t>
            </a:r>
            <a:endParaRPr lang="en-US" sz="1300" dirty="0"/>
          </a:p>
        </p:txBody>
      </p:sp>
      <p:sp>
        <p:nvSpPr>
          <p:cNvPr id="6" name="Text 4"/>
          <p:cNvSpPr/>
          <p:nvPr/>
        </p:nvSpPr>
        <p:spPr>
          <a:xfrm>
            <a:off x="640080" y="4114800"/>
            <a:ext cx="1371600" cy="365760"/>
          </a:xfrm>
          <a:prstGeom prst="rect">
            <a:avLst/>
          </a:prstGeom>
          <a:noFill/>
          <a:ln/>
        </p:spPr>
        <p:txBody>
          <a:bodyPr wrap="square" lIns="0" tIns="0" rIns="0" bIns="0" rtlCol="0" anchor="ctr"/>
          <a:lstStyle/>
          <a:p>
            <a:pPr marL="0" indent="0" algn="ctr">
              <a:buNone/>
            </a:pPr>
            <a:r>
              <a:rPr lang="en-US" sz="1100" dirty="0">
                <a:solidFill>
                  <a:srgbClr val="8B7355"/>
                </a:solidFill>
                <a:latin typeface="Calibri" pitchFamily="34" charset="0"/>
                <a:ea typeface="Calibri" pitchFamily="34" charset="-122"/>
                <a:cs typeface="Calibri" pitchFamily="34" charset="-120"/>
              </a:rPr>
              <a:t>Format</a:t>
            </a:r>
            <a:endParaRPr lang="en-US" sz="1100" dirty="0"/>
          </a:p>
        </p:txBody>
      </p:sp>
      <p:sp>
        <p:nvSpPr>
          <p:cNvPr id="7" name="Shape 5"/>
          <p:cNvSpPr/>
          <p:nvPr/>
        </p:nvSpPr>
        <p:spPr>
          <a:xfrm>
            <a:off x="2194560" y="3566160"/>
            <a:ext cx="137160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8" name="Text 6"/>
          <p:cNvSpPr/>
          <p:nvPr/>
        </p:nvSpPr>
        <p:spPr>
          <a:xfrm>
            <a:off x="2194560" y="3657600"/>
            <a:ext cx="1371600" cy="457200"/>
          </a:xfrm>
          <a:prstGeom prst="rect">
            <a:avLst/>
          </a:prstGeom>
          <a:noFill/>
          <a:ln/>
        </p:spPr>
        <p:txBody>
          <a:bodyPr wrap="square" lIns="0" tIns="0" rIns="0" bIns="0" rtlCol="0" anchor="ctr"/>
          <a:lstStyle/>
          <a:p>
            <a:pPr marL="0" indent="0" algn="ctr">
              <a:buNone/>
            </a:pPr>
            <a:r>
              <a:rPr lang="en-US" sz="1300" b="1" dirty="0">
                <a:solidFill>
                  <a:srgbClr val="D4451A"/>
                </a:solidFill>
                <a:latin typeface="Calibri" pitchFamily="34" charset="0"/>
                <a:ea typeface="Calibri" pitchFamily="34" charset="-122"/>
                <a:cs typeface="Calibri" pitchFamily="34" charset="-120"/>
              </a:rPr>
              <a:t>Noodles &amp; Bowls</a:t>
            </a:r>
            <a:endParaRPr lang="en-US" sz="1300" dirty="0"/>
          </a:p>
        </p:txBody>
      </p:sp>
      <p:sp>
        <p:nvSpPr>
          <p:cNvPr id="9" name="Text 7"/>
          <p:cNvSpPr/>
          <p:nvPr/>
        </p:nvSpPr>
        <p:spPr>
          <a:xfrm>
            <a:off x="2194560" y="4114800"/>
            <a:ext cx="1371600" cy="365760"/>
          </a:xfrm>
          <a:prstGeom prst="rect">
            <a:avLst/>
          </a:prstGeom>
          <a:noFill/>
          <a:ln/>
        </p:spPr>
        <p:txBody>
          <a:bodyPr wrap="square" lIns="0" tIns="0" rIns="0" bIns="0" rtlCol="0" anchor="ctr"/>
          <a:lstStyle/>
          <a:p>
            <a:pPr marL="0" indent="0" algn="ctr">
              <a:buNone/>
            </a:pPr>
            <a:r>
              <a:rPr lang="en-US" sz="1100" dirty="0">
                <a:solidFill>
                  <a:srgbClr val="8B7355"/>
                </a:solidFill>
                <a:latin typeface="Calibri" pitchFamily="34" charset="0"/>
                <a:ea typeface="Calibri" pitchFamily="34" charset="-122"/>
                <a:cs typeface="Calibri" pitchFamily="34" charset="-120"/>
              </a:rPr>
              <a:t>Specialty</a:t>
            </a:r>
            <a:endParaRPr lang="en-US" sz="1100" dirty="0"/>
          </a:p>
        </p:txBody>
      </p:sp>
      <p:sp>
        <p:nvSpPr>
          <p:cNvPr id="10" name="Shape 8"/>
          <p:cNvSpPr/>
          <p:nvPr/>
        </p:nvSpPr>
        <p:spPr>
          <a:xfrm>
            <a:off x="3749040" y="3566160"/>
            <a:ext cx="137160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1" name="Text 9"/>
          <p:cNvSpPr/>
          <p:nvPr/>
        </p:nvSpPr>
        <p:spPr>
          <a:xfrm>
            <a:off x="3749040" y="3657600"/>
            <a:ext cx="1371600" cy="457200"/>
          </a:xfrm>
          <a:prstGeom prst="rect">
            <a:avLst/>
          </a:prstGeom>
          <a:noFill/>
          <a:ln/>
        </p:spPr>
        <p:txBody>
          <a:bodyPr wrap="square" lIns="0" tIns="0" rIns="0" bIns="0" rtlCol="0" anchor="ctr"/>
          <a:lstStyle/>
          <a:p>
            <a:pPr marL="0" indent="0" algn="ctr">
              <a:buNone/>
            </a:pPr>
            <a:r>
              <a:rPr lang="en-US" sz="1300" b="1" dirty="0">
                <a:solidFill>
                  <a:srgbClr val="D4451A"/>
                </a:solidFill>
                <a:latin typeface="Calibri" pitchFamily="34" charset="0"/>
                <a:ea typeface="Calibri" pitchFamily="34" charset="-122"/>
                <a:cs typeface="Calibri" pitchFamily="34" charset="-120"/>
              </a:rPr>
              <a:t>2 Co-founders</a:t>
            </a:r>
            <a:endParaRPr lang="en-US" sz="1300" dirty="0"/>
          </a:p>
        </p:txBody>
      </p:sp>
      <p:sp>
        <p:nvSpPr>
          <p:cNvPr id="12" name="Text 10"/>
          <p:cNvSpPr/>
          <p:nvPr/>
        </p:nvSpPr>
        <p:spPr>
          <a:xfrm>
            <a:off x="3749040" y="4114800"/>
            <a:ext cx="1371600" cy="365760"/>
          </a:xfrm>
          <a:prstGeom prst="rect">
            <a:avLst/>
          </a:prstGeom>
          <a:noFill/>
          <a:ln/>
        </p:spPr>
        <p:txBody>
          <a:bodyPr wrap="square" lIns="0" tIns="0" rIns="0" bIns="0" rtlCol="0" anchor="ctr"/>
          <a:lstStyle/>
          <a:p>
            <a:pPr marL="0" indent="0" algn="ctr">
              <a:buNone/>
            </a:pPr>
            <a:r>
              <a:rPr lang="en-US" sz="1100" dirty="0">
                <a:solidFill>
                  <a:srgbClr val="8B7355"/>
                </a:solidFill>
                <a:latin typeface="Calibri" pitchFamily="34" charset="0"/>
                <a:ea typeface="Calibri" pitchFamily="34" charset="-122"/>
                <a:cs typeface="Calibri" pitchFamily="34" charset="-120"/>
              </a:rPr>
              <a:t>Leadership</a:t>
            </a:r>
            <a:endParaRPr lang="en-US" sz="1100" dirty="0"/>
          </a:p>
        </p:txBody>
      </p:sp>
      <p:pic>
        <p:nvPicPr>
          <p:cNvPr id="13" name="Image 0" descr="/agent/turn1/workspace/images/professional-overhead-flat-lay-food-photograph-of-_2026-05-05T01-37-20_image_DAS_0.jpg"/>
          <p:cNvPicPr>
            <a:picLocks noChangeAspect="1"/>
          </p:cNvPicPr>
          <p:nvPr/>
        </p:nvPicPr>
        <p:blipFill>
          <a:blip r:embed="rId3"/>
          <a:srcRect l="24020" r="24020"/>
          <a:stretch/>
        </p:blipFill>
        <p:spPr>
          <a:xfrm>
            <a:off x="5303520" y="365760"/>
            <a:ext cx="3474720" cy="4389120"/>
          </a:xfrm>
          <a:prstGeom prst="rect">
            <a:avLst/>
          </a:prstGeom>
        </p:spPr>
      </p:pic>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1B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Why Facebook for Noodle House?</a:t>
            </a:r>
            <a:endParaRPr lang="en-US" sz="3400" dirty="0"/>
          </a:p>
        </p:txBody>
      </p:sp>
      <p:sp>
        <p:nvSpPr>
          <p:cNvPr id="3" name="Shape 1"/>
          <p:cNvSpPr/>
          <p:nvPr/>
        </p:nvSpPr>
        <p:spPr>
          <a:xfrm>
            <a:off x="640080" y="1371600"/>
            <a:ext cx="3749040" cy="1463040"/>
          </a:xfrm>
          <a:prstGeom prst="rect">
            <a:avLst/>
          </a:prstGeom>
          <a:solidFill>
            <a:srgbClr val="3D2B1F"/>
          </a:solidFill>
          <a:ln/>
        </p:spPr>
        <p:txBody>
          <a:bodyPr/>
          <a:lstStyle/>
          <a:p>
            <a:endParaRPr lang="en-IN"/>
          </a:p>
        </p:txBody>
      </p:sp>
      <p:sp>
        <p:nvSpPr>
          <p:cNvPr id="4" name="Shape 2"/>
          <p:cNvSpPr/>
          <p:nvPr/>
        </p:nvSpPr>
        <p:spPr>
          <a:xfrm>
            <a:off x="914400" y="1691640"/>
            <a:ext cx="640080" cy="640080"/>
          </a:xfrm>
          <a:prstGeom prst="ellipse">
            <a:avLst/>
          </a:prstGeom>
          <a:solidFill>
            <a:srgbClr val="1877F2"/>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033272" y="1810512"/>
            <a:ext cx="402336" cy="402336"/>
          </a:xfrm>
          <a:prstGeom prst="rect">
            <a:avLst/>
          </a:prstGeom>
        </p:spPr>
      </p:pic>
      <p:sp>
        <p:nvSpPr>
          <p:cNvPr id="6" name="Text 3"/>
          <p:cNvSpPr/>
          <p:nvPr/>
        </p:nvSpPr>
        <p:spPr>
          <a:xfrm>
            <a:off x="1828800" y="1554480"/>
            <a:ext cx="2286000" cy="548640"/>
          </a:xfrm>
          <a:prstGeom prst="rect">
            <a:avLst/>
          </a:prstGeom>
          <a:noFill/>
          <a:ln/>
        </p:spPr>
        <p:txBody>
          <a:bodyPr wrap="square" lIns="0" tIns="0" rIns="0" bIns="0" rtlCol="0" anchor="ctr"/>
          <a:lstStyle/>
          <a:p>
            <a:pPr marL="0" indent="0" algn="l">
              <a:buNone/>
            </a:pPr>
            <a:r>
              <a:rPr lang="en-US" sz="2800" b="1" dirty="0">
                <a:solidFill>
                  <a:srgbClr val="1877F2"/>
                </a:solidFill>
                <a:latin typeface="Georgia" pitchFamily="34" charset="0"/>
                <a:ea typeface="Georgia" pitchFamily="34" charset="-122"/>
                <a:cs typeface="Georgia" pitchFamily="34" charset="-120"/>
              </a:rPr>
              <a:t>3B+</a:t>
            </a:r>
            <a:endParaRPr lang="en-US" sz="2800" dirty="0"/>
          </a:p>
        </p:txBody>
      </p:sp>
      <p:sp>
        <p:nvSpPr>
          <p:cNvPr id="7" name="Text 4"/>
          <p:cNvSpPr/>
          <p:nvPr/>
        </p:nvSpPr>
        <p:spPr>
          <a:xfrm>
            <a:off x="1828800" y="2103120"/>
            <a:ext cx="2286000" cy="548640"/>
          </a:xfrm>
          <a:prstGeom prst="rect">
            <a:avLst/>
          </a:prstGeom>
          <a:noFill/>
          <a:ln/>
        </p:spPr>
        <p:txBody>
          <a:bodyPr wrap="square" lIns="0" tIns="0" rIns="0" bIns="0" rtlCol="0" anchor="ctr"/>
          <a:lstStyle/>
          <a:p>
            <a:pPr marL="0" indent="0" algn="l">
              <a:buNone/>
            </a:pPr>
            <a:r>
              <a:rPr lang="en-US" sz="1200" dirty="0">
                <a:solidFill>
                  <a:srgbClr val="BBBBBB"/>
                </a:solidFill>
                <a:latin typeface="Calibri" pitchFamily="34" charset="0"/>
                <a:ea typeface="Calibri" pitchFamily="34" charset="-122"/>
                <a:cs typeface="Calibri" pitchFamily="34" charset="-120"/>
              </a:rPr>
              <a:t>Monthly active users on the platform</a:t>
            </a:r>
            <a:endParaRPr lang="en-US" sz="1200" dirty="0"/>
          </a:p>
        </p:txBody>
      </p:sp>
      <p:sp>
        <p:nvSpPr>
          <p:cNvPr id="8" name="Shape 5"/>
          <p:cNvSpPr/>
          <p:nvPr/>
        </p:nvSpPr>
        <p:spPr>
          <a:xfrm>
            <a:off x="4754880" y="1371600"/>
            <a:ext cx="3749040" cy="1463040"/>
          </a:xfrm>
          <a:prstGeom prst="rect">
            <a:avLst/>
          </a:prstGeom>
          <a:solidFill>
            <a:srgbClr val="3D2B1F"/>
          </a:solidFill>
          <a:ln/>
        </p:spPr>
        <p:txBody>
          <a:bodyPr/>
          <a:lstStyle/>
          <a:p>
            <a:endParaRPr lang="en-IN"/>
          </a:p>
        </p:txBody>
      </p:sp>
      <p:sp>
        <p:nvSpPr>
          <p:cNvPr id="9" name="Shape 6"/>
          <p:cNvSpPr/>
          <p:nvPr/>
        </p:nvSpPr>
        <p:spPr>
          <a:xfrm>
            <a:off x="5029200" y="1691640"/>
            <a:ext cx="640080" cy="640080"/>
          </a:xfrm>
          <a:prstGeom prst="ellipse">
            <a:avLst/>
          </a:prstGeom>
          <a:solidFill>
            <a:srgbClr val="D4451A"/>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5148072" y="1810512"/>
            <a:ext cx="402336" cy="402336"/>
          </a:xfrm>
          <a:prstGeom prst="rect">
            <a:avLst/>
          </a:prstGeom>
        </p:spPr>
      </p:pic>
      <p:sp>
        <p:nvSpPr>
          <p:cNvPr id="11" name="Text 7"/>
          <p:cNvSpPr/>
          <p:nvPr/>
        </p:nvSpPr>
        <p:spPr>
          <a:xfrm>
            <a:off x="5943600" y="1554480"/>
            <a:ext cx="2286000" cy="548640"/>
          </a:xfrm>
          <a:prstGeom prst="rect">
            <a:avLst/>
          </a:prstGeom>
          <a:noFill/>
          <a:ln/>
        </p:spPr>
        <p:txBody>
          <a:bodyPr wrap="square" lIns="0" tIns="0" rIns="0" bIns="0" rtlCol="0" anchor="ctr"/>
          <a:lstStyle/>
          <a:p>
            <a:pPr marL="0" indent="0" algn="l">
              <a:buNone/>
            </a:pPr>
            <a:r>
              <a:rPr lang="en-US" sz="2800" b="1" dirty="0">
                <a:solidFill>
                  <a:srgbClr val="D4451A"/>
                </a:solidFill>
                <a:latin typeface="Georgia" pitchFamily="34" charset="0"/>
                <a:ea typeface="Georgia" pitchFamily="34" charset="-122"/>
                <a:cs typeface="Georgia" pitchFamily="34" charset="-120"/>
              </a:rPr>
              <a:t>72%</a:t>
            </a:r>
            <a:endParaRPr lang="en-US" sz="2800" dirty="0"/>
          </a:p>
        </p:txBody>
      </p:sp>
      <p:sp>
        <p:nvSpPr>
          <p:cNvPr id="12" name="Text 8"/>
          <p:cNvSpPr/>
          <p:nvPr/>
        </p:nvSpPr>
        <p:spPr>
          <a:xfrm>
            <a:off x="5943600" y="2103120"/>
            <a:ext cx="2286000" cy="548640"/>
          </a:xfrm>
          <a:prstGeom prst="rect">
            <a:avLst/>
          </a:prstGeom>
          <a:noFill/>
          <a:ln/>
        </p:spPr>
        <p:txBody>
          <a:bodyPr wrap="square" lIns="0" tIns="0" rIns="0" bIns="0" rtlCol="0" anchor="ctr"/>
          <a:lstStyle/>
          <a:p>
            <a:pPr marL="0" indent="0" algn="l">
              <a:buNone/>
            </a:pPr>
            <a:r>
              <a:rPr lang="en-US" sz="1200" dirty="0">
                <a:solidFill>
                  <a:srgbClr val="BBBBBB"/>
                </a:solidFill>
                <a:latin typeface="Calibri" pitchFamily="34" charset="0"/>
                <a:ea typeface="Calibri" pitchFamily="34" charset="-122"/>
                <a:cs typeface="Calibri" pitchFamily="34" charset="-120"/>
              </a:rPr>
              <a:t>of diners use it for restaurant decisions</a:t>
            </a:r>
            <a:endParaRPr lang="en-US" sz="1200" dirty="0"/>
          </a:p>
        </p:txBody>
      </p:sp>
      <p:sp>
        <p:nvSpPr>
          <p:cNvPr id="13" name="Shape 9"/>
          <p:cNvSpPr/>
          <p:nvPr/>
        </p:nvSpPr>
        <p:spPr>
          <a:xfrm>
            <a:off x="640080" y="3063240"/>
            <a:ext cx="3749040" cy="1463040"/>
          </a:xfrm>
          <a:prstGeom prst="rect">
            <a:avLst/>
          </a:prstGeom>
          <a:solidFill>
            <a:srgbClr val="3D2B1F"/>
          </a:solidFill>
          <a:ln/>
        </p:spPr>
        <p:txBody>
          <a:bodyPr/>
          <a:lstStyle/>
          <a:p>
            <a:endParaRPr lang="en-IN"/>
          </a:p>
        </p:txBody>
      </p:sp>
      <p:sp>
        <p:nvSpPr>
          <p:cNvPr id="14" name="Shape 10"/>
          <p:cNvSpPr/>
          <p:nvPr/>
        </p:nvSpPr>
        <p:spPr>
          <a:xfrm>
            <a:off x="914400" y="3383280"/>
            <a:ext cx="640080" cy="640080"/>
          </a:xfrm>
          <a:prstGeom prst="ellipse">
            <a:avLst/>
          </a:prstGeom>
          <a:solidFill>
            <a:srgbClr val="F4A623"/>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1033272" y="3502152"/>
            <a:ext cx="402336" cy="402336"/>
          </a:xfrm>
          <a:prstGeom prst="rect">
            <a:avLst/>
          </a:prstGeom>
        </p:spPr>
      </p:pic>
      <p:sp>
        <p:nvSpPr>
          <p:cNvPr id="16" name="Text 11"/>
          <p:cNvSpPr/>
          <p:nvPr/>
        </p:nvSpPr>
        <p:spPr>
          <a:xfrm>
            <a:off x="1828800" y="3246120"/>
            <a:ext cx="2286000" cy="548640"/>
          </a:xfrm>
          <a:prstGeom prst="rect">
            <a:avLst/>
          </a:prstGeom>
          <a:noFill/>
          <a:ln/>
        </p:spPr>
        <p:txBody>
          <a:bodyPr wrap="square" lIns="0" tIns="0" rIns="0" bIns="0" rtlCol="0" anchor="ctr"/>
          <a:lstStyle/>
          <a:p>
            <a:pPr marL="0" indent="0" algn="l">
              <a:buNone/>
            </a:pPr>
            <a:r>
              <a:rPr lang="en-US" sz="2800" b="1" dirty="0">
                <a:solidFill>
                  <a:srgbClr val="F4A623"/>
                </a:solidFill>
                <a:latin typeface="Georgia" pitchFamily="34" charset="0"/>
                <a:ea typeface="Georgia" pitchFamily="34" charset="-122"/>
                <a:cs typeface="Georgia" pitchFamily="34" charset="-120"/>
              </a:rPr>
              <a:t>84%</a:t>
            </a:r>
            <a:endParaRPr lang="en-US" sz="2800" dirty="0"/>
          </a:p>
        </p:txBody>
      </p:sp>
      <p:sp>
        <p:nvSpPr>
          <p:cNvPr id="17" name="Text 12"/>
          <p:cNvSpPr/>
          <p:nvPr/>
        </p:nvSpPr>
        <p:spPr>
          <a:xfrm>
            <a:off x="1828800" y="3794760"/>
            <a:ext cx="2286000" cy="548640"/>
          </a:xfrm>
          <a:prstGeom prst="rect">
            <a:avLst/>
          </a:prstGeom>
          <a:noFill/>
          <a:ln/>
        </p:spPr>
        <p:txBody>
          <a:bodyPr wrap="square" lIns="0" tIns="0" rIns="0" bIns="0" rtlCol="0" anchor="ctr"/>
          <a:lstStyle/>
          <a:p>
            <a:pPr marL="0" indent="0" algn="l">
              <a:buNone/>
            </a:pPr>
            <a:r>
              <a:rPr lang="en-US" sz="1200" dirty="0">
                <a:solidFill>
                  <a:srgbClr val="BBBBBB"/>
                </a:solidFill>
                <a:latin typeface="Calibri" pitchFamily="34" charset="0"/>
                <a:ea typeface="Calibri" pitchFamily="34" charset="-122"/>
                <a:cs typeface="Calibri" pitchFamily="34" charset="-120"/>
              </a:rPr>
              <a:t>choose a restaurant less than 1 hour before the meal</a:t>
            </a:r>
            <a:endParaRPr lang="en-US" sz="1200" dirty="0"/>
          </a:p>
        </p:txBody>
      </p:sp>
      <p:sp>
        <p:nvSpPr>
          <p:cNvPr id="18" name="Shape 13"/>
          <p:cNvSpPr/>
          <p:nvPr/>
        </p:nvSpPr>
        <p:spPr>
          <a:xfrm>
            <a:off x="4754880" y="3063240"/>
            <a:ext cx="3749040" cy="1463040"/>
          </a:xfrm>
          <a:prstGeom prst="rect">
            <a:avLst/>
          </a:prstGeom>
          <a:solidFill>
            <a:srgbClr val="3D2B1F"/>
          </a:solidFill>
          <a:ln/>
        </p:spPr>
        <p:txBody>
          <a:bodyPr/>
          <a:lstStyle/>
          <a:p>
            <a:endParaRPr lang="en-IN"/>
          </a:p>
        </p:txBody>
      </p:sp>
      <p:sp>
        <p:nvSpPr>
          <p:cNvPr id="19" name="Shape 14"/>
          <p:cNvSpPr/>
          <p:nvPr/>
        </p:nvSpPr>
        <p:spPr>
          <a:xfrm>
            <a:off x="5029200" y="3383280"/>
            <a:ext cx="640080" cy="640080"/>
          </a:xfrm>
          <a:prstGeom prst="ellipse">
            <a:avLst/>
          </a:prstGeom>
          <a:solidFill>
            <a:srgbClr val="2EA44F"/>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5148072" y="3502152"/>
            <a:ext cx="402336" cy="402336"/>
          </a:xfrm>
          <a:prstGeom prst="rect">
            <a:avLst/>
          </a:prstGeom>
        </p:spPr>
      </p:pic>
      <p:sp>
        <p:nvSpPr>
          <p:cNvPr id="21" name="Text 15"/>
          <p:cNvSpPr/>
          <p:nvPr/>
        </p:nvSpPr>
        <p:spPr>
          <a:xfrm>
            <a:off x="5943600" y="3246120"/>
            <a:ext cx="2286000" cy="548640"/>
          </a:xfrm>
          <a:prstGeom prst="rect">
            <a:avLst/>
          </a:prstGeom>
          <a:noFill/>
          <a:ln/>
        </p:spPr>
        <p:txBody>
          <a:bodyPr wrap="square" lIns="0" tIns="0" rIns="0" bIns="0" rtlCol="0" anchor="ctr"/>
          <a:lstStyle/>
          <a:p>
            <a:pPr marL="0" indent="0" algn="l">
              <a:buNone/>
            </a:pPr>
            <a:r>
              <a:rPr lang="en-US" sz="2800" b="1" dirty="0">
                <a:solidFill>
                  <a:srgbClr val="2EA44F"/>
                </a:solidFill>
                <a:latin typeface="Georgia" pitchFamily="34" charset="0"/>
                <a:ea typeface="Georgia" pitchFamily="34" charset="-122"/>
                <a:cs typeface="Georgia" pitchFamily="34" charset="-120"/>
              </a:rPr>
              <a:t>$0.50-$1.50</a:t>
            </a:r>
            <a:endParaRPr lang="en-US" sz="2800" dirty="0"/>
          </a:p>
        </p:txBody>
      </p:sp>
      <p:sp>
        <p:nvSpPr>
          <p:cNvPr id="22" name="Text 16"/>
          <p:cNvSpPr/>
          <p:nvPr/>
        </p:nvSpPr>
        <p:spPr>
          <a:xfrm>
            <a:off x="5943600" y="3794760"/>
            <a:ext cx="2286000" cy="548640"/>
          </a:xfrm>
          <a:prstGeom prst="rect">
            <a:avLst/>
          </a:prstGeom>
          <a:noFill/>
          <a:ln/>
        </p:spPr>
        <p:txBody>
          <a:bodyPr wrap="square" lIns="0" tIns="0" rIns="0" bIns="0" rtlCol="0" anchor="ctr"/>
          <a:lstStyle/>
          <a:p>
            <a:pPr marL="0" indent="0" algn="l">
              <a:buNone/>
            </a:pPr>
            <a:r>
              <a:rPr lang="en-US" sz="1200" dirty="0">
                <a:solidFill>
                  <a:srgbClr val="BBBBBB"/>
                </a:solidFill>
                <a:latin typeface="Calibri" pitchFamily="34" charset="0"/>
                <a:ea typeface="Calibri" pitchFamily="34" charset="-122"/>
                <a:cs typeface="Calibri" pitchFamily="34" charset="-120"/>
              </a:rPr>
              <a:t>Average CPC — highly cost effective</a:t>
            </a:r>
            <a:endParaRPr lang="en-US" sz="1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Advantages">
    <p:bg>
      <p:bgPr>
        <a:solidFill>
          <a:srgbClr val="FFF8F0"/>
        </a:solidFill>
        <a:effectLst/>
      </p:bgPr>
    </p:bg>
    <p:spTree>
      <p:nvGrpSpPr>
        <p:cNvPr id="1" name=""/>
        <p:cNvGrpSpPr/>
        <p:nvPr/>
      </p:nvGrpSpPr>
      <p:grpSpPr>
        <a:xfrm>
          <a:off x="0" y="0"/>
          <a:ext cx="0" cy="0"/>
          <a:chOff x="0" y="0"/>
          <a:chExt cx="0" cy="0"/>
        </a:xfrm>
      </p:grpSpPr>
      <p:sp>
        <p:nvSpPr>
          <p:cNvPr id="2" name="Title"/>
          <p:cNvSpPr/>
          <p:nvPr/>
        </p:nvSpPr>
        <p:spPr>
          <a:xfrm>
            <a:off x="640080" y="137160"/>
            <a:ext cx="8229600" cy="548640"/>
          </a:xfrm>
          <a:prstGeom prst="rect">
            <a:avLst/>
          </a:prstGeom>
          <a:noFill/>
          <a:ln/>
        </p:spPr>
        <p:txBody>
          <a:bodyPr wrap="square" lIns="0" tIns="0" rIns="0" bIns="0" rtlCol="0" anchor="ctr"/>
          <a:lstStyle/>
          <a:p>
            <a:pPr marL="0" indent="0" algn="l">
              <a:buNone/>
            </a:pPr>
            <a:r>
              <a:rPr lang="en-US" sz="2800" b="1">
                <a:solidFill>
                  <a:srgbClr val="2B1B12"/>
                </a:solidFill>
                <a:latin typeface="Georgia" pitchFamily="34" charset="0"/>
                <a:ea typeface="Georgia" pitchFamily="34" charset="-122"/>
                <a:cs typeface="Georgia" pitchFamily="34" charset="-120"/>
              </a:rPr>
              <a:t>Advantages of Facebook Marketing</a:t>
            </a:r>
            <a:endParaRPr lang="en-US" sz="2800"/>
          </a:p>
        </p:txBody>
      </p:sp>
      <p:sp>
        <p:nvSpPr>
          <p:cNvPr id="100" name="Card1Bg"/>
          <p:cNvSpPr/>
          <p:nvPr/>
        </p:nvSpPr>
        <p:spPr>
          <a:xfrm>
            <a:off x="457200" y="96012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01" name="Card1Circle"/>
          <p:cNvSpPr/>
          <p:nvPr/>
        </p:nvSpPr>
        <p:spPr>
          <a:xfrm>
            <a:off x="1463040" y="1051560"/>
            <a:ext cx="457200" cy="457200"/>
          </a:xfrm>
          <a:prstGeom prst="ellipse">
            <a:avLst/>
          </a:prstGeom>
          <a:solidFill>
            <a:srgbClr val="D4451A"/>
          </a:solidFill>
        </p:spPr>
        <p:txBody>
          <a:bodyPr/>
          <a:lstStyle/>
          <a:p>
            <a:endParaRPr lang="en-IN"/>
          </a:p>
        </p:txBody>
      </p:sp>
      <p:pic>
        <p:nvPicPr>
          <p:cNvPr id="102" name="Card1Icon"/>
          <p:cNvPicPr>
            <a:picLocks noChangeAspect="1"/>
          </p:cNvPicPr>
          <p:nvPr/>
        </p:nvPicPr>
        <p:blipFill>
          <a:blip r:embed="rId3"/>
          <a:stretch>
            <a:fillRect/>
          </a:stretch>
        </p:blipFill>
        <p:spPr>
          <a:xfrm>
            <a:off x="1554480" y="1142999"/>
            <a:ext cx="274320" cy="274320"/>
          </a:xfrm>
          <a:prstGeom prst="rect">
            <a:avLst/>
          </a:prstGeom>
        </p:spPr>
      </p:pic>
      <p:sp>
        <p:nvSpPr>
          <p:cNvPr id="103" name="Card1Title"/>
          <p:cNvSpPr/>
          <p:nvPr/>
        </p:nvSpPr>
        <p:spPr>
          <a:xfrm>
            <a:off x="548640" y="160020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Precise Audience Targeting</a:t>
            </a:r>
          </a:p>
        </p:txBody>
      </p:sp>
      <p:sp>
        <p:nvSpPr>
          <p:cNvPr id="104" name="Card1Desc"/>
          <p:cNvSpPr/>
          <p:nvPr/>
        </p:nvSpPr>
        <p:spPr>
          <a:xfrm>
            <a:off x="548640" y="187452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Reach people by age, location, interests, and behavior — serve ads only to those most likely to order</a:t>
            </a:r>
          </a:p>
        </p:txBody>
      </p:sp>
      <p:sp>
        <p:nvSpPr>
          <p:cNvPr id="110" name="Card2Bg"/>
          <p:cNvSpPr/>
          <p:nvPr/>
        </p:nvSpPr>
        <p:spPr>
          <a:xfrm>
            <a:off x="3291840" y="96012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11" name="Card2Circle"/>
          <p:cNvSpPr/>
          <p:nvPr/>
        </p:nvSpPr>
        <p:spPr>
          <a:xfrm>
            <a:off x="4297680" y="1051560"/>
            <a:ext cx="457200" cy="457200"/>
          </a:xfrm>
          <a:prstGeom prst="ellipse">
            <a:avLst/>
          </a:prstGeom>
          <a:solidFill>
            <a:srgbClr val="2EA44F"/>
          </a:solidFill>
        </p:spPr>
        <p:txBody>
          <a:bodyPr/>
          <a:lstStyle/>
          <a:p>
            <a:endParaRPr lang="en-IN"/>
          </a:p>
        </p:txBody>
      </p:sp>
      <p:pic>
        <p:nvPicPr>
          <p:cNvPr id="112" name="Card2Icon"/>
          <p:cNvPicPr>
            <a:picLocks noChangeAspect="1"/>
          </p:cNvPicPr>
          <p:nvPr/>
        </p:nvPicPr>
        <p:blipFill>
          <a:blip r:embed="rId4"/>
          <a:stretch>
            <a:fillRect/>
          </a:stretch>
        </p:blipFill>
        <p:spPr>
          <a:xfrm>
            <a:off x="4389120" y="1142999"/>
            <a:ext cx="274320" cy="274320"/>
          </a:xfrm>
          <a:prstGeom prst="rect">
            <a:avLst/>
          </a:prstGeom>
        </p:spPr>
      </p:pic>
      <p:sp>
        <p:nvSpPr>
          <p:cNvPr id="113" name="Card2Title"/>
          <p:cNvSpPr/>
          <p:nvPr/>
        </p:nvSpPr>
        <p:spPr>
          <a:xfrm>
            <a:off x="3383280" y="160020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Cost-Effective Advertising</a:t>
            </a:r>
          </a:p>
        </p:txBody>
      </p:sp>
      <p:sp>
        <p:nvSpPr>
          <p:cNvPr id="114" name="Card2Desc"/>
          <p:cNvSpPr/>
          <p:nvPr/>
        </p:nvSpPr>
        <p:spPr>
          <a:xfrm>
            <a:off x="3383280" y="187452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Start with as little as $5/day — one of the lowest cost-per-click platforms for local restaurants</a:t>
            </a:r>
          </a:p>
        </p:txBody>
      </p:sp>
      <p:sp>
        <p:nvSpPr>
          <p:cNvPr id="120" name="Card3Bg"/>
          <p:cNvSpPr/>
          <p:nvPr/>
        </p:nvSpPr>
        <p:spPr>
          <a:xfrm>
            <a:off x="6126480" y="96012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21" name="Card3Circle"/>
          <p:cNvSpPr/>
          <p:nvPr/>
        </p:nvSpPr>
        <p:spPr>
          <a:xfrm>
            <a:off x="7132320" y="1051560"/>
            <a:ext cx="457200" cy="457200"/>
          </a:xfrm>
          <a:prstGeom prst="ellipse">
            <a:avLst/>
          </a:prstGeom>
          <a:solidFill>
            <a:srgbClr val="1877F2"/>
          </a:solidFill>
        </p:spPr>
        <p:txBody>
          <a:bodyPr/>
          <a:lstStyle/>
          <a:p>
            <a:endParaRPr lang="en-IN"/>
          </a:p>
        </p:txBody>
      </p:sp>
      <p:pic>
        <p:nvPicPr>
          <p:cNvPr id="122" name="Card3Icon"/>
          <p:cNvPicPr>
            <a:picLocks noChangeAspect="1"/>
          </p:cNvPicPr>
          <p:nvPr/>
        </p:nvPicPr>
        <p:blipFill>
          <a:blip r:embed="rId5"/>
          <a:stretch>
            <a:fillRect/>
          </a:stretch>
        </p:blipFill>
        <p:spPr>
          <a:xfrm>
            <a:off x="7223760" y="1142999"/>
            <a:ext cx="274320" cy="274320"/>
          </a:xfrm>
          <a:prstGeom prst="rect">
            <a:avLst/>
          </a:prstGeom>
        </p:spPr>
      </p:pic>
      <p:sp>
        <p:nvSpPr>
          <p:cNvPr id="123" name="Card3Title"/>
          <p:cNvSpPr/>
          <p:nvPr/>
        </p:nvSpPr>
        <p:spPr>
          <a:xfrm>
            <a:off x="6217920" y="160020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Measurable Results</a:t>
            </a:r>
          </a:p>
        </p:txBody>
      </p:sp>
      <p:sp>
        <p:nvSpPr>
          <p:cNvPr id="124" name="Card3Desc"/>
          <p:cNvSpPr/>
          <p:nvPr/>
        </p:nvSpPr>
        <p:spPr>
          <a:xfrm>
            <a:off x="6217920" y="187452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Track every impression, click, and conversion in real time with built-in analytics dashboards</a:t>
            </a:r>
          </a:p>
        </p:txBody>
      </p:sp>
      <p:sp>
        <p:nvSpPr>
          <p:cNvPr id="130" name="Card4Bg"/>
          <p:cNvSpPr/>
          <p:nvPr/>
        </p:nvSpPr>
        <p:spPr>
          <a:xfrm>
            <a:off x="457200" y="297180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31" name="Card4Circle"/>
          <p:cNvSpPr/>
          <p:nvPr/>
        </p:nvSpPr>
        <p:spPr>
          <a:xfrm>
            <a:off x="1463040" y="3063240"/>
            <a:ext cx="457200" cy="457200"/>
          </a:xfrm>
          <a:prstGeom prst="ellipse">
            <a:avLst/>
          </a:prstGeom>
          <a:solidFill>
            <a:srgbClr val="F4A623"/>
          </a:solidFill>
        </p:spPr>
        <p:txBody>
          <a:bodyPr/>
          <a:lstStyle/>
          <a:p>
            <a:endParaRPr lang="en-IN"/>
          </a:p>
        </p:txBody>
      </p:sp>
      <p:pic>
        <p:nvPicPr>
          <p:cNvPr id="132" name="Card4Icon"/>
          <p:cNvPicPr>
            <a:picLocks noChangeAspect="1"/>
          </p:cNvPicPr>
          <p:nvPr/>
        </p:nvPicPr>
        <p:blipFill>
          <a:blip r:embed="rId6"/>
          <a:stretch>
            <a:fillRect/>
          </a:stretch>
        </p:blipFill>
        <p:spPr>
          <a:xfrm>
            <a:off x="1554480" y="3154680"/>
            <a:ext cx="274320" cy="274320"/>
          </a:xfrm>
          <a:prstGeom prst="rect">
            <a:avLst/>
          </a:prstGeom>
        </p:spPr>
      </p:pic>
      <p:sp>
        <p:nvSpPr>
          <p:cNvPr id="133" name="Card4Title"/>
          <p:cNvSpPr/>
          <p:nvPr/>
        </p:nvSpPr>
        <p:spPr>
          <a:xfrm>
            <a:off x="548640" y="361188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Massive Local Reach</a:t>
            </a:r>
          </a:p>
        </p:txBody>
      </p:sp>
      <p:sp>
        <p:nvSpPr>
          <p:cNvPr id="134" name="Card4Desc"/>
          <p:cNvSpPr/>
          <p:nvPr/>
        </p:nvSpPr>
        <p:spPr>
          <a:xfrm>
            <a:off x="548640" y="388620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3 billion monthly users means your neighborhood customers are already scrolling — meet them where they are</a:t>
            </a:r>
          </a:p>
        </p:txBody>
      </p:sp>
      <p:sp>
        <p:nvSpPr>
          <p:cNvPr id="140" name="Card5Bg"/>
          <p:cNvSpPr/>
          <p:nvPr/>
        </p:nvSpPr>
        <p:spPr>
          <a:xfrm>
            <a:off x="3291840" y="297180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41" name="Card5Circle"/>
          <p:cNvSpPr/>
          <p:nvPr/>
        </p:nvSpPr>
        <p:spPr>
          <a:xfrm>
            <a:off x="4297680" y="3063240"/>
            <a:ext cx="457200" cy="457200"/>
          </a:xfrm>
          <a:prstGeom prst="ellipse">
            <a:avLst/>
          </a:prstGeom>
          <a:solidFill>
            <a:srgbClr val="D4451A"/>
          </a:solidFill>
        </p:spPr>
        <p:txBody>
          <a:bodyPr/>
          <a:lstStyle/>
          <a:p>
            <a:endParaRPr lang="en-IN"/>
          </a:p>
        </p:txBody>
      </p:sp>
      <p:pic>
        <p:nvPicPr>
          <p:cNvPr id="142" name="Card5Icon"/>
          <p:cNvPicPr>
            <a:picLocks noChangeAspect="1"/>
          </p:cNvPicPr>
          <p:nvPr/>
        </p:nvPicPr>
        <p:blipFill>
          <a:blip r:embed="rId7"/>
          <a:stretch>
            <a:fillRect/>
          </a:stretch>
        </p:blipFill>
        <p:spPr>
          <a:xfrm>
            <a:off x="4389120" y="3154680"/>
            <a:ext cx="274320" cy="274320"/>
          </a:xfrm>
          <a:prstGeom prst="rect">
            <a:avLst/>
          </a:prstGeom>
        </p:spPr>
      </p:pic>
      <p:sp>
        <p:nvSpPr>
          <p:cNvPr id="143" name="Card5Title"/>
          <p:cNvSpPr/>
          <p:nvPr/>
        </p:nvSpPr>
        <p:spPr>
          <a:xfrm>
            <a:off x="3383280" y="361188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Mobile-First Platform</a:t>
            </a:r>
          </a:p>
        </p:txBody>
      </p:sp>
      <p:sp>
        <p:nvSpPr>
          <p:cNvPr id="144" name="Card5Desc"/>
          <p:cNvSpPr/>
          <p:nvPr/>
        </p:nvSpPr>
        <p:spPr>
          <a:xfrm>
            <a:off x="3383280" y="388620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84% of diners choose a restaurant within an hour — mobile ads catch them at the moment of decision</a:t>
            </a:r>
          </a:p>
        </p:txBody>
      </p:sp>
      <p:sp>
        <p:nvSpPr>
          <p:cNvPr id="150" name="Card6Bg"/>
          <p:cNvSpPr/>
          <p:nvPr/>
        </p:nvSpPr>
        <p:spPr>
          <a:xfrm>
            <a:off x="6126480" y="2971800"/>
            <a:ext cx="2651760" cy="1828800"/>
          </a:xfrm>
          <a:prstGeom prst="rect">
            <a:avLst/>
          </a:prstGeom>
          <a:solidFill>
            <a:srgbClr val="FFFFFF"/>
          </a:solidFill>
          <a:effectLst>
            <a:outerShdw blurRad="76200" dist="25400" dir="5400000">
              <a:srgbClr val="000000">
                <a:alpha val="12000"/>
              </a:srgbClr>
            </a:outerShdw>
          </a:effectLst>
        </p:spPr>
        <p:txBody>
          <a:bodyPr/>
          <a:lstStyle/>
          <a:p>
            <a:endParaRPr lang="en-IN"/>
          </a:p>
        </p:txBody>
      </p:sp>
      <p:sp>
        <p:nvSpPr>
          <p:cNvPr id="151" name="Card6Circle"/>
          <p:cNvSpPr/>
          <p:nvPr/>
        </p:nvSpPr>
        <p:spPr>
          <a:xfrm>
            <a:off x="7132320" y="3063240"/>
            <a:ext cx="457200" cy="457200"/>
          </a:xfrm>
          <a:prstGeom prst="ellipse">
            <a:avLst/>
          </a:prstGeom>
          <a:solidFill>
            <a:srgbClr val="1877F2"/>
          </a:solidFill>
        </p:spPr>
        <p:txBody>
          <a:bodyPr/>
          <a:lstStyle/>
          <a:p>
            <a:endParaRPr lang="en-IN"/>
          </a:p>
        </p:txBody>
      </p:sp>
      <p:pic>
        <p:nvPicPr>
          <p:cNvPr id="152" name="Card6Icon"/>
          <p:cNvPicPr>
            <a:picLocks noChangeAspect="1"/>
          </p:cNvPicPr>
          <p:nvPr/>
        </p:nvPicPr>
        <p:blipFill>
          <a:blip r:embed="rId8"/>
          <a:stretch>
            <a:fillRect/>
          </a:stretch>
        </p:blipFill>
        <p:spPr>
          <a:xfrm>
            <a:off x="7223760" y="3154680"/>
            <a:ext cx="274320" cy="274320"/>
          </a:xfrm>
          <a:prstGeom prst="rect">
            <a:avLst/>
          </a:prstGeom>
        </p:spPr>
      </p:pic>
      <p:sp>
        <p:nvSpPr>
          <p:cNvPr id="153" name="Card6Title"/>
          <p:cNvSpPr/>
          <p:nvPr/>
        </p:nvSpPr>
        <p:spPr>
          <a:xfrm>
            <a:off x="6217920" y="3611880"/>
            <a:ext cx="2468880" cy="274320"/>
          </a:xfrm>
          <a:prstGeom prst="rect">
            <a:avLst/>
          </a:prstGeom>
          <a:noFill/>
        </p:spPr>
        <p:txBody>
          <a:bodyPr wrap="square" lIns="0" tIns="0" rIns="0" bIns="0" rtlCol="0" anchor="ctr"/>
          <a:lstStyle/>
          <a:p>
            <a:pPr algn="ctr">
              <a:buNone/>
            </a:pPr>
            <a:r>
              <a:rPr lang="en-US" sz="1400" b="1">
                <a:solidFill>
                  <a:srgbClr val="2B1B12"/>
                </a:solidFill>
                <a:latin typeface="Calibri" pitchFamily="34" charset="0"/>
              </a:rPr>
              <a:t>Local Geo-Targeting</a:t>
            </a:r>
          </a:p>
        </p:txBody>
      </p:sp>
      <p:sp>
        <p:nvSpPr>
          <p:cNvPr id="154" name="Card6Desc"/>
          <p:cNvSpPr/>
          <p:nvPr/>
        </p:nvSpPr>
        <p:spPr>
          <a:xfrm>
            <a:off x="6217920" y="3886200"/>
            <a:ext cx="2468880" cy="822960"/>
          </a:xfrm>
          <a:prstGeom prst="rect">
            <a:avLst/>
          </a:prstGeom>
          <a:noFill/>
        </p:spPr>
        <p:txBody>
          <a:bodyPr wrap="square" lIns="0" tIns="0" rIns="0" bIns="0" rtlCol="0" anchor="t"/>
          <a:lstStyle/>
          <a:p>
            <a:pPr algn="ctr">
              <a:buNone/>
            </a:pPr>
            <a:r>
              <a:rPr lang="en-US" sz="1050">
                <a:solidFill>
                  <a:srgbClr val="666666"/>
                </a:solidFill>
                <a:latin typeface="Calibri" pitchFamily="34" charset="0"/>
              </a:rPr>
              <a:t>Show ads only to people within walking or driving distance of Noodle House locations</a:t>
            </a:r>
          </a:p>
        </p:txBody>
      </p:sp>
    </p:spTree>
  </p:cSld>
  <p:clrMapOvr>
    <a:masterClrMapping/>
  </p:clrMapOvr>
  <p:transition spd="med">
    <p:wipe dir="d"/>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8F0"/>
        </a:solidFill>
        <a:effectLst/>
      </p:bgPr>
    </p:bg>
    <p:spTree>
      <p:nvGrpSpPr>
        <p:cNvPr id="1" name=""/>
        <p:cNvGrpSpPr/>
        <p:nvPr/>
      </p:nvGrpSpPr>
      <p:grpSpPr>
        <a:xfrm>
          <a:off x="0" y="0"/>
          <a:ext cx="0" cy="0"/>
          <a:chOff x="0" y="0"/>
          <a:chExt cx="0" cy="0"/>
        </a:xfrm>
      </p:grpSpPr>
      <p:pic>
        <p:nvPicPr>
          <p:cNvPr id="2" name="Image 0" descr="/agent/turn1/workspace/images/modern-digital-illustration-of-diverse-local-commu_2026-05-05T01-37-14_image_DAS_0.jpg"/>
          <p:cNvPicPr>
            <a:picLocks noChangeAspect="1"/>
          </p:cNvPicPr>
          <p:nvPr/>
        </p:nvPicPr>
        <p:blipFill>
          <a:blip r:embed="rId3"/>
          <a:srcRect l="25111" r="25111"/>
          <a:stretch/>
        </p:blipFill>
        <p:spPr>
          <a:xfrm>
            <a:off x="0" y="0"/>
            <a:ext cx="3840480" cy="5143500"/>
          </a:xfrm>
          <a:prstGeom prst="rect">
            <a:avLst/>
          </a:prstGeom>
        </p:spPr>
      </p:pic>
      <p:sp>
        <p:nvSpPr>
          <p:cNvPr id="3" name="Text 0"/>
          <p:cNvSpPr/>
          <p:nvPr/>
        </p:nvSpPr>
        <p:spPr>
          <a:xfrm>
            <a:off x="4206240" y="365760"/>
            <a:ext cx="457200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Target Audience</a:t>
            </a:r>
            <a:endParaRPr lang="en-US" sz="3400" dirty="0"/>
          </a:p>
        </p:txBody>
      </p:sp>
      <p:sp>
        <p:nvSpPr>
          <p:cNvPr id="4" name="Shape 1"/>
          <p:cNvSpPr/>
          <p:nvPr/>
        </p:nvSpPr>
        <p:spPr>
          <a:xfrm>
            <a:off x="4206240" y="1234440"/>
            <a:ext cx="274320" cy="274320"/>
          </a:xfrm>
          <a:prstGeom prst="ellipse">
            <a:avLst/>
          </a:prstGeom>
          <a:solidFill>
            <a:srgbClr val="D4451A"/>
          </a:solidFill>
          <a:ln/>
        </p:spPr>
        <p:txBody>
          <a:bodyPr/>
          <a:lstStyle/>
          <a:p>
            <a:endParaRPr lang="en-IN"/>
          </a:p>
        </p:txBody>
      </p:sp>
      <p:sp>
        <p:nvSpPr>
          <p:cNvPr id="5" name="Text 2"/>
          <p:cNvSpPr/>
          <p:nvPr/>
        </p:nvSpPr>
        <p:spPr>
          <a:xfrm>
            <a:off x="4663440" y="1188720"/>
            <a:ext cx="4114800" cy="320040"/>
          </a:xfrm>
          <a:prstGeom prst="rect">
            <a:avLst/>
          </a:prstGeom>
          <a:noFill/>
          <a:ln/>
        </p:spPr>
        <p:txBody>
          <a:bodyPr wrap="square" lIns="0" tIns="0" rIns="0" bIns="0" rtlCol="0" anchor="ctr"/>
          <a:lstStyle/>
          <a:p>
            <a:pPr marL="0" indent="0" algn="l">
              <a:buNone/>
            </a:pPr>
            <a:r>
              <a:rPr lang="en-US" sz="1400" b="1" dirty="0">
                <a:solidFill>
                  <a:srgbClr val="2B1B12"/>
                </a:solidFill>
                <a:latin typeface="Calibri" pitchFamily="34" charset="0"/>
                <a:ea typeface="Calibri" pitchFamily="34" charset="-122"/>
                <a:cs typeface="Calibri" pitchFamily="34" charset="-120"/>
              </a:rPr>
              <a:t>Young Professionals (22-35)</a:t>
            </a:r>
            <a:endParaRPr lang="en-US" sz="1400" dirty="0"/>
          </a:p>
        </p:txBody>
      </p:sp>
      <p:sp>
        <p:nvSpPr>
          <p:cNvPr id="6" name="Text 3"/>
          <p:cNvSpPr/>
          <p:nvPr/>
        </p:nvSpPr>
        <p:spPr>
          <a:xfrm>
            <a:off x="4663440" y="1508760"/>
            <a:ext cx="4114800" cy="411480"/>
          </a:xfrm>
          <a:prstGeom prst="rect">
            <a:avLst/>
          </a:prstGeom>
          <a:noFill/>
          <a:ln/>
        </p:spPr>
        <p:txBody>
          <a:bodyPr wrap="square" lIns="0" tIns="0" rIns="0" bIns="0" rtlCol="0" anchor="ctr"/>
          <a:lstStyle/>
          <a:p>
            <a:pPr marL="0" indent="0" algn="l">
              <a:buNone/>
            </a:pPr>
            <a:r>
              <a:rPr lang="en-US" sz="1150" dirty="0">
                <a:solidFill>
                  <a:srgbClr val="666666"/>
                </a:solidFill>
                <a:latin typeface="Calibri" pitchFamily="34" charset="0"/>
                <a:ea typeface="Calibri" pitchFamily="34" charset="-122"/>
                <a:cs typeface="Calibri" pitchFamily="34" charset="-120"/>
              </a:rPr>
              <a:t>Office workers seeking quick, affordable lunch and dinner options nearby</a:t>
            </a:r>
            <a:endParaRPr lang="en-US" sz="1150" dirty="0"/>
          </a:p>
        </p:txBody>
      </p:sp>
      <p:sp>
        <p:nvSpPr>
          <p:cNvPr id="7" name="Shape 4"/>
          <p:cNvSpPr/>
          <p:nvPr/>
        </p:nvSpPr>
        <p:spPr>
          <a:xfrm>
            <a:off x="4206240" y="2148840"/>
            <a:ext cx="274320" cy="274320"/>
          </a:xfrm>
          <a:prstGeom prst="ellipse">
            <a:avLst/>
          </a:prstGeom>
          <a:solidFill>
            <a:srgbClr val="D4451A"/>
          </a:solidFill>
          <a:ln/>
        </p:spPr>
        <p:txBody>
          <a:bodyPr/>
          <a:lstStyle/>
          <a:p>
            <a:endParaRPr lang="en-IN"/>
          </a:p>
        </p:txBody>
      </p:sp>
      <p:sp>
        <p:nvSpPr>
          <p:cNvPr id="8" name="Text 5"/>
          <p:cNvSpPr/>
          <p:nvPr/>
        </p:nvSpPr>
        <p:spPr>
          <a:xfrm>
            <a:off x="4663440" y="2103120"/>
            <a:ext cx="4114800" cy="320040"/>
          </a:xfrm>
          <a:prstGeom prst="rect">
            <a:avLst/>
          </a:prstGeom>
          <a:noFill/>
          <a:ln/>
        </p:spPr>
        <p:txBody>
          <a:bodyPr wrap="square" lIns="0" tIns="0" rIns="0" bIns="0" rtlCol="0" anchor="ctr"/>
          <a:lstStyle/>
          <a:p>
            <a:pPr marL="0" indent="0" algn="l">
              <a:buNone/>
            </a:pPr>
            <a:r>
              <a:rPr lang="en-US" sz="1400" b="1" dirty="0">
                <a:solidFill>
                  <a:srgbClr val="2B1B12"/>
                </a:solidFill>
                <a:latin typeface="Calibri" pitchFamily="34" charset="0"/>
                <a:ea typeface="Calibri" pitchFamily="34" charset="-122"/>
                <a:cs typeface="Calibri" pitchFamily="34" charset="-120"/>
              </a:rPr>
              <a:t>College Students (18-24)</a:t>
            </a:r>
            <a:endParaRPr lang="en-US" sz="1400" dirty="0"/>
          </a:p>
        </p:txBody>
      </p:sp>
      <p:sp>
        <p:nvSpPr>
          <p:cNvPr id="9" name="Text 6"/>
          <p:cNvSpPr/>
          <p:nvPr/>
        </p:nvSpPr>
        <p:spPr>
          <a:xfrm>
            <a:off x="4663440" y="2423160"/>
            <a:ext cx="4114800" cy="411480"/>
          </a:xfrm>
          <a:prstGeom prst="rect">
            <a:avLst/>
          </a:prstGeom>
          <a:noFill/>
          <a:ln/>
        </p:spPr>
        <p:txBody>
          <a:bodyPr wrap="square" lIns="0" tIns="0" rIns="0" bIns="0" rtlCol="0" anchor="ctr"/>
          <a:lstStyle/>
          <a:p>
            <a:pPr marL="0" indent="0" algn="l">
              <a:buNone/>
            </a:pPr>
            <a:r>
              <a:rPr lang="en-US" sz="1150" dirty="0">
                <a:solidFill>
                  <a:srgbClr val="666666"/>
                </a:solidFill>
                <a:latin typeface="Calibri" pitchFamily="34" charset="0"/>
                <a:ea typeface="Calibri" pitchFamily="34" charset="-122"/>
                <a:cs typeface="Calibri" pitchFamily="34" charset="-120"/>
              </a:rPr>
              <a:t>Budget-conscious foodies who discover restaurants through social media</a:t>
            </a:r>
            <a:endParaRPr lang="en-US" sz="1150" dirty="0"/>
          </a:p>
        </p:txBody>
      </p:sp>
      <p:sp>
        <p:nvSpPr>
          <p:cNvPr id="10" name="Shape 7"/>
          <p:cNvSpPr/>
          <p:nvPr/>
        </p:nvSpPr>
        <p:spPr>
          <a:xfrm>
            <a:off x="4206240" y="3063240"/>
            <a:ext cx="274320" cy="274320"/>
          </a:xfrm>
          <a:prstGeom prst="ellipse">
            <a:avLst/>
          </a:prstGeom>
          <a:solidFill>
            <a:srgbClr val="D4451A"/>
          </a:solidFill>
          <a:ln/>
        </p:spPr>
        <p:txBody>
          <a:bodyPr/>
          <a:lstStyle/>
          <a:p>
            <a:endParaRPr lang="en-IN"/>
          </a:p>
        </p:txBody>
      </p:sp>
      <p:sp>
        <p:nvSpPr>
          <p:cNvPr id="11" name="Text 8"/>
          <p:cNvSpPr/>
          <p:nvPr/>
        </p:nvSpPr>
        <p:spPr>
          <a:xfrm>
            <a:off x="4663440" y="3017520"/>
            <a:ext cx="4114800" cy="320040"/>
          </a:xfrm>
          <a:prstGeom prst="rect">
            <a:avLst/>
          </a:prstGeom>
          <a:noFill/>
          <a:ln/>
        </p:spPr>
        <p:txBody>
          <a:bodyPr wrap="square" lIns="0" tIns="0" rIns="0" bIns="0" rtlCol="0" anchor="ctr"/>
          <a:lstStyle/>
          <a:p>
            <a:pPr marL="0" indent="0" algn="l">
              <a:buNone/>
            </a:pPr>
            <a:r>
              <a:rPr lang="en-US" sz="1400" b="1" dirty="0">
                <a:solidFill>
                  <a:srgbClr val="2B1B12"/>
                </a:solidFill>
                <a:latin typeface="Calibri" pitchFamily="34" charset="0"/>
                <a:ea typeface="Calibri" pitchFamily="34" charset="-122"/>
                <a:cs typeface="Calibri" pitchFamily="34" charset="-120"/>
              </a:rPr>
              <a:t>Families &amp; Couples</a:t>
            </a:r>
            <a:endParaRPr lang="en-US" sz="1400" dirty="0"/>
          </a:p>
        </p:txBody>
      </p:sp>
      <p:sp>
        <p:nvSpPr>
          <p:cNvPr id="12" name="Text 9"/>
          <p:cNvSpPr/>
          <p:nvPr/>
        </p:nvSpPr>
        <p:spPr>
          <a:xfrm>
            <a:off x="4663440" y="3337560"/>
            <a:ext cx="4114800" cy="411480"/>
          </a:xfrm>
          <a:prstGeom prst="rect">
            <a:avLst/>
          </a:prstGeom>
          <a:noFill/>
          <a:ln/>
        </p:spPr>
        <p:txBody>
          <a:bodyPr wrap="square" lIns="0" tIns="0" rIns="0" bIns="0" rtlCol="0" anchor="ctr"/>
          <a:lstStyle/>
          <a:p>
            <a:pPr marL="0" indent="0" algn="l">
              <a:buNone/>
            </a:pPr>
            <a:r>
              <a:rPr lang="en-US" sz="1150" dirty="0">
                <a:solidFill>
                  <a:srgbClr val="666666"/>
                </a:solidFill>
                <a:latin typeface="Calibri" pitchFamily="34" charset="0"/>
                <a:ea typeface="Calibri" pitchFamily="34" charset="-122"/>
                <a:cs typeface="Calibri" pitchFamily="34" charset="-120"/>
              </a:rPr>
              <a:t>Weekend diners looking for a casual, flavorful meal experience</a:t>
            </a:r>
            <a:endParaRPr lang="en-US" sz="1150" dirty="0"/>
          </a:p>
        </p:txBody>
      </p:sp>
      <p:sp>
        <p:nvSpPr>
          <p:cNvPr id="13" name="Shape 10"/>
          <p:cNvSpPr/>
          <p:nvPr/>
        </p:nvSpPr>
        <p:spPr>
          <a:xfrm>
            <a:off x="4206240" y="3977640"/>
            <a:ext cx="274320" cy="274320"/>
          </a:xfrm>
          <a:prstGeom prst="ellipse">
            <a:avLst/>
          </a:prstGeom>
          <a:solidFill>
            <a:srgbClr val="D4451A"/>
          </a:solidFill>
          <a:ln/>
        </p:spPr>
        <p:txBody>
          <a:bodyPr/>
          <a:lstStyle/>
          <a:p>
            <a:endParaRPr lang="en-IN"/>
          </a:p>
        </p:txBody>
      </p:sp>
      <p:sp>
        <p:nvSpPr>
          <p:cNvPr id="14" name="Text 11"/>
          <p:cNvSpPr/>
          <p:nvPr/>
        </p:nvSpPr>
        <p:spPr>
          <a:xfrm>
            <a:off x="4663440" y="3931920"/>
            <a:ext cx="4114800" cy="320040"/>
          </a:xfrm>
          <a:prstGeom prst="rect">
            <a:avLst/>
          </a:prstGeom>
          <a:noFill/>
          <a:ln/>
        </p:spPr>
        <p:txBody>
          <a:bodyPr wrap="square" lIns="0" tIns="0" rIns="0" bIns="0" rtlCol="0" anchor="ctr"/>
          <a:lstStyle/>
          <a:p>
            <a:pPr marL="0" indent="0" algn="l">
              <a:buNone/>
            </a:pPr>
            <a:r>
              <a:rPr lang="en-US" sz="1400" b="1" dirty="0">
                <a:solidFill>
                  <a:srgbClr val="2B1B12"/>
                </a:solidFill>
                <a:latin typeface="Calibri" pitchFamily="34" charset="0"/>
                <a:ea typeface="Calibri" pitchFamily="34" charset="-122"/>
                <a:cs typeface="Calibri" pitchFamily="34" charset="-120"/>
              </a:rPr>
              <a:t>Local Foodies</a:t>
            </a:r>
            <a:endParaRPr lang="en-US" sz="1400" dirty="0"/>
          </a:p>
        </p:txBody>
      </p:sp>
      <p:sp>
        <p:nvSpPr>
          <p:cNvPr id="15" name="Text 12"/>
          <p:cNvSpPr/>
          <p:nvPr/>
        </p:nvSpPr>
        <p:spPr>
          <a:xfrm>
            <a:off x="4663440" y="4251960"/>
            <a:ext cx="4114800" cy="411480"/>
          </a:xfrm>
          <a:prstGeom prst="rect">
            <a:avLst/>
          </a:prstGeom>
          <a:noFill/>
          <a:ln/>
        </p:spPr>
        <p:txBody>
          <a:bodyPr wrap="square" lIns="0" tIns="0" rIns="0" bIns="0" rtlCol="0" anchor="ctr"/>
          <a:lstStyle/>
          <a:p>
            <a:pPr marL="0" indent="0" algn="l">
              <a:buNone/>
            </a:pPr>
            <a:r>
              <a:rPr lang="en-US" sz="1150" dirty="0">
                <a:solidFill>
                  <a:srgbClr val="666666"/>
                </a:solidFill>
                <a:latin typeface="Calibri" pitchFamily="34" charset="0"/>
                <a:ea typeface="Calibri" pitchFamily="34" charset="-122"/>
                <a:cs typeface="Calibri" pitchFamily="34" charset="-120"/>
              </a:rPr>
              <a:t>Community members who follow restaurant pages for new dishes and deals</a:t>
            </a:r>
            <a:endParaRPr lang="en-US" sz="1150" dirty="0"/>
          </a:p>
        </p:txBody>
      </p:sp>
      <p:sp>
        <p:nvSpPr>
          <p:cNvPr id="16" name="Shape 13"/>
          <p:cNvSpPr/>
          <p:nvPr/>
        </p:nvSpPr>
        <p:spPr>
          <a:xfrm>
            <a:off x="4206240" y="4434840"/>
            <a:ext cx="4572000" cy="411480"/>
          </a:xfrm>
          <a:prstGeom prst="rect">
            <a:avLst/>
          </a:prstGeom>
          <a:solidFill>
            <a:srgbClr val="D4451A"/>
          </a:solidFill>
          <a:ln/>
        </p:spPr>
        <p:txBody>
          <a:bodyPr/>
          <a:lstStyle/>
          <a:p>
            <a:endParaRPr lang="en-IN"/>
          </a:p>
        </p:txBody>
      </p:sp>
      <p:sp>
        <p:nvSpPr>
          <p:cNvPr id="17" name="Text 14"/>
          <p:cNvSpPr/>
          <p:nvPr/>
        </p:nvSpPr>
        <p:spPr>
          <a:xfrm>
            <a:off x="4206240" y="4434840"/>
            <a:ext cx="4572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Geo-Targeting: 5-10 km radius around each location</a:t>
            </a:r>
            <a:endParaRPr lang="en-US" sz="1100" dirty="0"/>
          </a:p>
        </p:txBody>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Content Strategy Pillars</a:t>
            </a:r>
            <a:endParaRPr lang="en-US" sz="3400" dirty="0"/>
          </a:p>
        </p:txBody>
      </p:sp>
      <p:sp>
        <p:nvSpPr>
          <p:cNvPr id="3" name="Shape 1"/>
          <p:cNvSpPr/>
          <p:nvPr/>
        </p:nvSpPr>
        <p:spPr>
          <a:xfrm>
            <a:off x="457200" y="1280160"/>
            <a:ext cx="1920240" cy="347472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4" name="Shape 2"/>
          <p:cNvSpPr/>
          <p:nvPr/>
        </p:nvSpPr>
        <p:spPr>
          <a:xfrm>
            <a:off x="457200" y="1280160"/>
            <a:ext cx="1920240" cy="73152"/>
          </a:xfrm>
          <a:prstGeom prst="rect">
            <a:avLst/>
          </a:prstGeom>
          <a:solidFill>
            <a:srgbClr val="F4A623"/>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143000" y="1600200"/>
            <a:ext cx="548640" cy="548640"/>
          </a:xfrm>
          <a:prstGeom prst="rect">
            <a:avLst/>
          </a:prstGeom>
        </p:spPr>
      </p:pic>
      <p:sp>
        <p:nvSpPr>
          <p:cNvPr id="6" name="Text 3"/>
          <p:cNvSpPr/>
          <p:nvPr/>
        </p:nvSpPr>
        <p:spPr>
          <a:xfrm>
            <a:off x="594360" y="2286000"/>
            <a:ext cx="1645920" cy="457200"/>
          </a:xfrm>
          <a:prstGeom prst="rect">
            <a:avLst/>
          </a:prstGeom>
          <a:noFill/>
          <a:ln/>
        </p:spPr>
        <p:txBody>
          <a:bodyPr wrap="square" lIns="0" tIns="0" rIns="0" bIns="0" rtlCol="0" anchor="ctr"/>
          <a:lstStyle/>
          <a:p>
            <a:pPr marL="0" indent="0" algn="ctr">
              <a:buNone/>
            </a:pPr>
            <a:r>
              <a:rPr lang="en-US" sz="1400" b="1" dirty="0">
                <a:solidFill>
                  <a:srgbClr val="2B1B12"/>
                </a:solidFill>
                <a:latin typeface="Calibri" pitchFamily="34" charset="0"/>
                <a:ea typeface="Calibri" pitchFamily="34" charset="-122"/>
                <a:cs typeface="Calibri" pitchFamily="34" charset="-120"/>
              </a:rPr>
              <a:t>Food Showcase</a:t>
            </a:r>
            <a:endParaRPr lang="en-US" sz="1400" dirty="0"/>
          </a:p>
        </p:txBody>
      </p:sp>
      <p:sp>
        <p:nvSpPr>
          <p:cNvPr id="7" name="Text 4"/>
          <p:cNvSpPr/>
          <p:nvPr/>
        </p:nvSpPr>
        <p:spPr>
          <a:xfrm>
            <a:off x="594360" y="2743200"/>
            <a:ext cx="1645920" cy="182880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High-quality photos &amp; videos of signature dishes, behind-the-scenes kitchen action, and plating moments</a:t>
            </a:r>
            <a:endParaRPr lang="en-US" sz="1100" dirty="0"/>
          </a:p>
        </p:txBody>
      </p:sp>
      <p:sp>
        <p:nvSpPr>
          <p:cNvPr id="8" name="Shape 5"/>
          <p:cNvSpPr/>
          <p:nvPr/>
        </p:nvSpPr>
        <p:spPr>
          <a:xfrm>
            <a:off x="2606040" y="1280160"/>
            <a:ext cx="1920240" cy="347472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9" name="Shape 6"/>
          <p:cNvSpPr/>
          <p:nvPr/>
        </p:nvSpPr>
        <p:spPr>
          <a:xfrm>
            <a:off x="2606040" y="1280160"/>
            <a:ext cx="1920240" cy="73152"/>
          </a:xfrm>
          <a:prstGeom prst="rect">
            <a:avLst/>
          </a:prstGeom>
          <a:solidFill>
            <a:srgbClr val="D4451A"/>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291840" y="1600200"/>
            <a:ext cx="548640" cy="548640"/>
          </a:xfrm>
          <a:prstGeom prst="rect">
            <a:avLst/>
          </a:prstGeom>
        </p:spPr>
      </p:pic>
      <p:sp>
        <p:nvSpPr>
          <p:cNvPr id="11" name="Text 7"/>
          <p:cNvSpPr/>
          <p:nvPr/>
        </p:nvSpPr>
        <p:spPr>
          <a:xfrm>
            <a:off x="2743200" y="2286000"/>
            <a:ext cx="1645920" cy="457200"/>
          </a:xfrm>
          <a:prstGeom prst="rect">
            <a:avLst/>
          </a:prstGeom>
          <a:noFill/>
          <a:ln/>
        </p:spPr>
        <p:txBody>
          <a:bodyPr wrap="square" lIns="0" tIns="0" rIns="0" bIns="0" rtlCol="0" anchor="ctr"/>
          <a:lstStyle/>
          <a:p>
            <a:pPr marL="0" indent="0" algn="ctr">
              <a:buNone/>
            </a:pPr>
            <a:r>
              <a:rPr lang="en-US" sz="1400" b="1" dirty="0">
                <a:solidFill>
                  <a:srgbClr val="2B1B12"/>
                </a:solidFill>
                <a:latin typeface="Calibri" pitchFamily="34" charset="0"/>
                <a:ea typeface="Calibri" pitchFamily="34" charset="-122"/>
                <a:cs typeface="Calibri" pitchFamily="34" charset="-120"/>
              </a:rPr>
              <a:t>Community Stories</a:t>
            </a:r>
            <a:endParaRPr lang="en-US" sz="1400" dirty="0"/>
          </a:p>
        </p:txBody>
      </p:sp>
      <p:sp>
        <p:nvSpPr>
          <p:cNvPr id="12" name="Text 8"/>
          <p:cNvSpPr/>
          <p:nvPr/>
        </p:nvSpPr>
        <p:spPr>
          <a:xfrm>
            <a:off x="2743200" y="2743200"/>
            <a:ext cx="1645920" cy="182880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Founder journey of Karan &amp; Rohit, team spotlights, customer testimonials, and local event partnerships</a:t>
            </a:r>
            <a:endParaRPr lang="en-US" sz="1100" dirty="0"/>
          </a:p>
        </p:txBody>
      </p:sp>
      <p:sp>
        <p:nvSpPr>
          <p:cNvPr id="13" name="Shape 9"/>
          <p:cNvSpPr/>
          <p:nvPr/>
        </p:nvSpPr>
        <p:spPr>
          <a:xfrm>
            <a:off x="4754880" y="1280160"/>
            <a:ext cx="1920240" cy="347472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14" name="Shape 10"/>
          <p:cNvSpPr/>
          <p:nvPr/>
        </p:nvSpPr>
        <p:spPr>
          <a:xfrm>
            <a:off x="4754880" y="1280160"/>
            <a:ext cx="1920240" cy="73152"/>
          </a:xfrm>
          <a:prstGeom prst="rect">
            <a:avLst/>
          </a:prstGeom>
          <a:solidFill>
            <a:srgbClr val="1877F2"/>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5440680" y="1600200"/>
            <a:ext cx="548640" cy="548640"/>
          </a:xfrm>
          <a:prstGeom prst="rect">
            <a:avLst/>
          </a:prstGeom>
        </p:spPr>
      </p:pic>
      <p:sp>
        <p:nvSpPr>
          <p:cNvPr id="16" name="Text 11"/>
          <p:cNvSpPr/>
          <p:nvPr/>
        </p:nvSpPr>
        <p:spPr>
          <a:xfrm>
            <a:off x="4892040" y="2286000"/>
            <a:ext cx="1645920" cy="457200"/>
          </a:xfrm>
          <a:prstGeom prst="rect">
            <a:avLst/>
          </a:prstGeom>
          <a:noFill/>
          <a:ln/>
        </p:spPr>
        <p:txBody>
          <a:bodyPr wrap="square" lIns="0" tIns="0" rIns="0" bIns="0" rtlCol="0" anchor="ctr"/>
          <a:lstStyle/>
          <a:p>
            <a:pPr marL="0" indent="0" algn="ctr">
              <a:buNone/>
            </a:pPr>
            <a:r>
              <a:rPr lang="en-US" sz="1400" b="1" dirty="0">
                <a:solidFill>
                  <a:srgbClr val="2B1B12"/>
                </a:solidFill>
                <a:latin typeface="Calibri" pitchFamily="34" charset="0"/>
                <a:ea typeface="Calibri" pitchFamily="34" charset="-122"/>
                <a:cs typeface="Calibri" pitchFamily="34" charset="-120"/>
              </a:rPr>
              <a:t>Engage &amp; Entertain</a:t>
            </a:r>
            <a:endParaRPr lang="en-US" sz="1400" dirty="0"/>
          </a:p>
        </p:txBody>
      </p:sp>
      <p:sp>
        <p:nvSpPr>
          <p:cNvPr id="17" name="Text 12"/>
          <p:cNvSpPr/>
          <p:nvPr/>
        </p:nvSpPr>
        <p:spPr>
          <a:xfrm>
            <a:off x="4892040" y="2743200"/>
            <a:ext cx="1645920" cy="182880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Polls, quizzes, user-generated content reposts, contests, and trending food challenges</a:t>
            </a:r>
            <a:endParaRPr lang="en-US" sz="1100" dirty="0"/>
          </a:p>
        </p:txBody>
      </p:sp>
      <p:sp>
        <p:nvSpPr>
          <p:cNvPr id="18" name="Shape 13"/>
          <p:cNvSpPr/>
          <p:nvPr/>
        </p:nvSpPr>
        <p:spPr>
          <a:xfrm>
            <a:off x="6903720" y="1280160"/>
            <a:ext cx="1920240" cy="347472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19" name="Shape 14"/>
          <p:cNvSpPr/>
          <p:nvPr/>
        </p:nvSpPr>
        <p:spPr>
          <a:xfrm>
            <a:off x="6903720" y="1280160"/>
            <a:ext cx="1920240" cy="73152"/>
          </a:xfrm>
          <a:prstGeom prst="rect">
            <a:avLst/>
          </a:prstGeom>
          <a:solidFill>
            <a:srgbClr val="2EA44F"/>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7589520" y="1600200"/>
            <a:ext cx="548640" cy="548640"/>
          </a:xfrm>
          <a:prstGeom prst="rect">
            <a:avLst/>
          </a:prstGeom>
        </p:spPr>
      </p:pic>
      <p:sp>
        <p:nvSpPr>
          <p:cNvPr id="21" name="Text 15"/>
          <p:cNvSpPr/>
          <p:nvPr/>
        </p:nvSpPr>
        <p:spPr>
          <a:xfrm>
            <a:off x="7040880" y="2286000"/>
            <a:ext cx="1645920" cy="457200"/>
          </a:xfrm>
          <a:prstGeom prst="rect">
            <a:avLst/>
          </a:prstGeom>
          <a:noFill/>
          <a:ln/>
        </p:spPr>
        <p:txBody>
          <a:bodyPr wrap="square" lIns="0" tIns="0" rIns="0" bIns="0" rtlCol="0" anchor="ctr"/>
          <a:lstStyle/>
          <a:p>
            <a:pPr marL="0" indent="0" algn="ctr">
              <a:buNone/>
            </a:pPr>
            <a:r>
              <a:rPr lang="en-US" sz="1400" b="1" dirty="0">
                <a:solidFill>
                  <a:srgbClr val="2B1B12"/>
                </a:solidFill>
                <a:latin typeface="Calibri" pitchFamily="34" charset="0"/>
                <a:ea typeface="Calibri" pitchFamily="34" charset="-122"/>
                <a:cs typeface="Calibri" pitchFamily="34" charset="-120"/>
              </a:rPr>
              <a:t>Promotions &amp; Offers</a:t>
            </a:r>
            <a:endParaRPr lang="en-US" sz="1400" dirty="0"/>
          </a:p>
        </p:txBody>
      </p:sp>
      <p:sp>
        <p:nvSpPr>
          <p:cNvPr id="22" name="Text 16"/>
          <p:cNvSpPr/>
          <p:nvPr/>
        </p:nvSpPr>
        <p:spPr>
          <a:xfrm>
            <a:off x="7040880" y="2743200"/>
            <a:ext cx="1645920" cy="182880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Flash deals, combo offers, loyalty rewards, festival specials, and first-time visitor discounts</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2B1B12"/>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Weekly Content Calendar</a:t>
            </a:r>
            <a:endParaRPr lang="en-US" sz="3400" dirty="0"/>
          </a:p>
        </p:txBody>
      </p:sp>
      <p:sp>
        <p:nvSpPr>
          <p:cNvPr id="3" name="Shape 1"/>
          <p:cNvSpPr/>
          <p:nvPr/>
        </p:nvSpPr>
        <p:spPr>
          <a:xfrm>
            <a:off x="457200" y="1005840"/>
            <a:ext cx="8229600" cy="457200"/>
          </a:xfrm>
          <a:prstGeom prst="rect">
            <a:avLst/>
          </a:prstGeom>
          <a:solidFill>
            <a:srgbClr val="D4451A"/>
          </a:solidFill>
          <a:ln/>
        </p:spPr>
        <p:txBody>
          <a:bodyPr/>
          <a:lstStyle/>
          <a:p>
            <a:endParaRPr lang="en-IN"/>
          </a:p>
        </p:txBody>
      </p:sp>
      <p:sp>
        <p:nvSpPr>
          <p:cNvPr id="4" name="Text 2"/>
          <p:cNvSpPr/>
          <p:nvPr/>
        </p:nvSpPr>
        <p:spPr>
          <a:xfrm>
            <a:off x="457200" y="1005840"/>
            <a:ext cx="109728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a:t>
            </a:r>
            <a:endParaRPr lang="en-US" sz="1200" dirty="0"/>
          </a:p>
        </p:txBody>
      </p:sp>
      <p:sp>
        <p:nvSpPr>
          <p:cNvPr id="5" name="Text 3"/>
          <p:cNvSpPr/>
          <p:nvPr/>
        </p:nvSpPr>
        <p:spPr>
          <a:xfrm>
            <a:off x="1554480" y="1005840"/>
            <a:ext cx="18288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Theme</a:t>
            </a:r>
            <a:endParaRPr lang="en-US" sz="1200" dirty="0"/>
          </a:p>
        </p:txBody>
      </p:sp>
      <p:sp>
        <p:nvSpPr>
          <p:cNvPr id="6" name="Text 4"/>
          <p:cNvSpPr/>
          <p:nvPr/>
        </p:nvSpPr>
        <p:spPr>
          <a:xfrm>
            <a:off x="3383280" y="1005840"/>
            <a:ext cx="53035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Content Idea</a:t>
            </a:r>
            <a:endParaRPr lang="en-US" sz="1200" dirty="0"/>
          </a:p>
        </p:txBody>
      </p:sp>
      <p:sp>
        <p:nvSpPr>
          <p:cNvPr id="7" name="Shape 5"/>
          <p:cNvSpPr/>
          <p:nvPr/>
        </p:nvSpPr>
        <p:spPr>
          <a:xfrm>
            <a:off x="457200" y="1463040"/>
            <a:ext cx="8229600" cy="475488"/>
          </a:xfrm>
          <a:prstGeom prst="rect">
            <a:avLst/>
          </a:prstGeom>
          <a:solidFill>
            <a:srgbClr val="3D2B1F"/>
          </a:solidFill>
          <a:ln/>
        </p:spPr>
        <p:txBody>
          <a:bodyPr/>
          <a:lstStyle/>
          <a:p>
            <a:endParaRPr lang="en-IN"/>
          </a:p>
        </p:txBody>
      </p:sp>
      <p:sp>
        <p:nvSpPr>
          <p:cNvPr id="8" name="Text 6"/>
          <p:cNvSpPr/>
          <p:nvPr/>
        </p:nvSpPr>
        <p:spPr>
          <a:xfrm>
            <a:off x="457200" y="1463040"/>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Mon</a:t>
            </a:r>
            <a:endParaRPr lang="en-US" sz="1200" dirty="0"/>
          </a:p>
        </p:txBody>
      </p:sp>
      <p:sp>
        <p:nvSpPr>
          <p:cNvPr id="9" name="Text 7"/>
          <p:cNvSpPr/>
          <p:nvPr/>
        </p:nvSpPr>
        <p:spPr>
          <a:xfrm>
            <a:off x="1554480" y="1463040"/>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Motivation</a:t>
            </a:r>
            <a:endParaRPr lang="en-US" sz="1100" dirty="0"/>
          </a:p>
        </p:txBody>
      </p:sp>
      <p:sp>
        <p:nvSpPr>
          <p:cNvPr id="10" name="Text 8"/>
          <p:cNvSpPr/>
          <p:nvPr/>
        </p:nvSpPr>
        <p:spPr>
          <a:xfrm>
            <a:off x="3383280" y="1463040"/>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Founder story, team spotlight, or kitchen prep video</a:t>
            </a:r>
            <a:endParaRPr lang="en-US" sz="1100" dirty="0"/>
          </a:p>
        </p:txBody>
      </p:sp>
      <p:sp>
        <p:nvSpPr>
          <p:cNvPr id="11" name="Shape 9"/>
          <p:cNvSpPr/>
          <p:nvPr/>
        </p:nvSpPr>
        <p:spPr>
          <a:xfrm>
            <a:off x="457200" y="1938528"/>
            <a:ext cx="8229600" cy="475488"/>
          </a:xfrm>
          <a:prstGeom prst="rect">
            <a:avLst/>
          </a:prstGeom>
          <a:solidFill>
            <a:srgbClr val="4A3628"/>
          </a:solidFill>
          <a:ln/>
        </p:spPr>
        <p:txBody>
          <a:bodyPr/>
          <a:lstStyle/>
          <a:p>
            <a:endParaRPr lang="en-IN"/>
          </a:p>
        </p:txBody>
      </p:sp>
      <p:sp>
        <p:nvSpPr>
          <p:cNvPr id="12" name="Text 10"/>
          <p:cNvSpPr/>
          <p:nvPr/>
        </p:nvSpPr>
        <p:spPr>
          <a:xfrm>
            <a:off x="457200" y="1938528"/>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Tue</a:t>
            </a:r>
            <a:endParaRPr lang="en-US" sz="1200" dirty="0"/>
          </a:p>
        </p:txBody>
      </p:sp>
      <p:sp>
        <p:nvSpPr>
          <p:cNvPr id="13" name="Text 11"/>
          <p:cNvSpPr/>
          <p:nvPr/>
        </p:nvSpPr>
        <p:spPr>
          <a:xfrm>
            <a:off x="1554480" y="1938528"/>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Tasty Tuesday</a:t>
            </a:r>
            <a:endParaRPr lang="en-US" sz="1100" dirty="0"/>
          </a:p>
        </p:txBody>
      </p:sp>
      <p:sp>
        <p:nvSpPr>
          <p:cNvPr id="14" name="Text 12"/>
          <p:cNvSpPr/>
          <p:nvPr/>
        </p:nvSpPr>
        <p:spPr>
          <a:xfrm>
            <a:off x="3383280" y="1938528"/>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Feature dish of the week with close-up food photo</a:t>
            </a:r>
            <a:endParaRPr lang="en-US" sz="1100" dirty="0"/>
          </a:p>
        </p:txBody>
      </p:sp>
      <p:sp>
        <p:nvSpPr>
          <p:cNvPr id="15" name="Shape 13"/>
          <p:cNvSpPr/>
          <p:nvPr/>
        </p:nvSpPr>
        <p:spPr>
          <a:xfrm>
            <a:off x="457200" y="2414016"/>
            <a:ext cx="8229600" cy="475488"/>
          </a:xfrm>
          <a:prstGeom prst="rect">
            <a:avLst/>
          </a:prstGeom>
          <a:solidFill>
            <a:srgbClr val="3D2B1F"/>
          </a:solidFill>
          <a:ln/>
        </p:spPr>
        <p:txBody>
          <a:bodyPr/>
          <a:lstStyle/>
          <a:p>
            <a:endParaRPr lang="en-IN"/>
          </a:p>
        </p:txBody>
      </p:sp>
      <p:sp>
        <p:nvSpPr>
          <p:cNvPr id="16" name="Text 14"/>
          <p:cNvSpPr/>
          <p:nvPr/>
        </p:nvSpPr>
        <p:spPr>
          <a:xfrm>
            <a:off x="457200" y="2414016"/>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Wed</a:t>
            </a:r>
            <a:endParaRPr lang="en-US" sz="1200" dirty="0"/>
          </a:p>
        </p:txBody>
      </p:sp>
      <p:sp>
        <p:nvSpPr>
          <p:cNvPr id="17" name="Text 15"/>
          <p:cNvSpPr/>
          <p:nvPr/>
        </p:nvSpPr>
        <p:spPr>
          <a:xfrm>
            <a:off x="1554480" y="2414016"/>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Behind Scenes</a:t>
            </a:r>
            <a:endParaRPr lang="en-US" sz="1100" dirty="0"/>
          </a:p>
        </p:txBody>
      </p:sp>
      <p:sp>
        <p:nvSpPr>
          <p:cNvPr id="18" name="Text 16"/>
          <p:cNvSpPr/>
          <p:nvPr/>
        </p:nvSpPr>
        <p:spPr>
          <a:xfrm>
            <a:off x="3383280" y="2414016"/>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Kitchen action reel — noodle pulling, wok tossing</a:t>
            </a:r>
            <a:endParaRPr lang="en-US" sz="1100" dirty="0"/>
          </a:p>
        </p:txBody>
      </p:sp>
      <p:sp>
        <p:nvSpPr>
          <p:cNvPr id="19" name="Shape 17"/>
          <p:cNvSpPr/>
          <p:nvPr/>
        </p:nvSpPr>
        <p:spPr>
          <a:xfrm>
            <a:off x="457200" y="2889504"/>
            <a:ext cx="8229600" cy="475488"/>
          </a:xfrm>
          <a:prstGeom prst="rect">
            <a:avLst/>
          </a:prstGeom>
          <a:solidFill>
            <a:srgbClr val="4A3628"/>
          </a:solidFill>
          <a:ln/>
        </p:spPr>
        <p:txBody>
          <a:bodyPr/>
          <a:lstStyle/>
          <a:p>
            <a:endParaRPr lang="en-IN"/>
          </a:p>
        </p:txBody>
      </p:sp>
      <p:sp>
        <p:nvSpPr>
          <p:cNvPr id="20" name="Text 18"/>
          <p:cNvSpPr/>
          <p:nvPr/>
        </p:nvSpPr>
        <p:spPr>
          <a:xfrm>
            <a:off x="457200" y="2889504"/>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Thu</a:t>
            </a:r>
            <a:endParaRPr lang="en-US" sz="1200" dirty="0"/>
          </a:p>
        </p:txBody>
      </p:sp>
      <p:sp>
        <p:nvSpPr>
          <p:cNvPr id="21" name="Text 19"/>
          <p:cNvSpPr/>
          <p:nvPr/>
        </p:nvSpPr>
        <p:spPr>
          <a:xfrm>
            <a:off x="1554480" y="2889504"/>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Throwback</a:t>
            </a:r>
            <a:endParaRPr lang="en-US" sz="1100" dirty="0"/>
          </a:p>
        </p:txBody>
      </p:sp>
      <p:sp>
        <p:nvSpPr>
          <p:cNvPr id="22" name="Text 20"/>
          <p:cNvSpPr/>
          <p:nvPr/>
        </p:nvSpPr>
        <p:spPr>
          <a:xfrm>
            <a:off x="3383280" y="2889504"/>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Customer reviews, milestones, or growth highlights</a:t>
            </a:r>
            <a:endParaRPr lang="en-US" sz="1100" dirty="0"/>
          </a:p>
        </p:txBody>
      </p:sp>
      <p:sp>
        <p:nvSpPr>
          <p:cNvPr id="23" name="Shape 21"/>
          <p:cNvSpPr/>
          <p:nvPr/>
        </p:nvSpPr>
        <p:spPr>
          <a:xfrm>
            <a:off x="457200" y="3364992"/>
            <a:ext cx="8229600" cy="475488"/>
          </a:xfrm>
          <a:prstGeom prst="rect">
            <a:avLst/>
          </a:prstGeom>
          <a:solidFill>
            <a:srgbClr val="3D2B1F"/>
          </a:solidFill>
          <a:ln/>
        </p:spPr>
        <p:txBody>
          <a:bodyPr/>
          <a:lstStyle/>
          <a:p>
            <a:endParaRPr lang="en-IN"/>
          </a:p>
        </p:txBody>
      </p:sp>
      <p:sp>
        <p:nvSpPr>
          <p:cNvPr id="24" name="Text 22"/>
          <p:cNvSpPr/>
          <p:nvPr/>
        </p:nvSpPr>
        <p:spPr>
          <a:xfrm>
            <a:off x="457200" y="3364992"/>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Fri</a:t>
            </a:r>
            <a:endParaRPr lang="en-US" sz="1200" dirty="0"/>
          </a:p>
        </p:txBody>
      </p:sp>
      <p:sp>
        <p:nvSpPr>
          <p:cNvPr id="25" name="Text 23"/>
          <p:cNvSpPr/>
          <p:nvPr/>
        </p:nvSpPr>
        <p:spPr>
          <a:xfrm>
            <a:off x="1554480" y="3364992"/>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Flash Deal</a:t>
            </a:r>
            <a:endParaRPr lang="en-US" sz="1100" dirty="0"/>
          </a:p>
        </p:txBody>
      </p:sp>
      <p:sp>
        <p:nvSpPr>
          <p:cNvPr id="26" name="Text 24"/>
          <p:cNvSpPr/>
          <p:nvPr/>
        </p:nvSpPr>
        <p:spPr>
          <a:xfrm>
            <a:off x="3383280" y="3364992"/>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Weekend combo offer or limited-time discount post</a:t>
            </a:r>
            <a:endParaRPr lang="en-US" sz="1100" dirty="0"/>
          </a:p>
        </p:txBody>
      </p:sp>
      <p:sp>
        <p:nvSpPr>
          <p:cNvPr id="27" name="Shape 25"/>
          <p:cNvSpPr/>
          <p:nvPr/>
        </p:nvSpPr>
        <p:spPr>
          <a:xfrm>
            <a:off x="457200" y="3840480"/>
            <a:ext cx="8229600" cy="475488"/>
          </a:xfrm>
          <a:prstGeom prst="rect">
            <a:avLst/>
          </a:prstGeom>
          <a:solidFill>
            <a:srgbClr val="4A3628"/>
          </a:solidFill>
          <a:ln/>
        </p:spPr>
        <p:txBody>
          <a:bodyPr/>
          <a:lstStyle/>
          <a:p>
            <a:endParaRPr lang="en-IN"/>
          </a:p>
        </p:txBody>
      </p:sp>
      <p:sp>
        <p:nvSpPr>
          <p:cNvPr id="28" name="Text 26"/>
          <p:cNvSpPr/>
          <p:nvPr/>
        </p:nvSpPr>
        <p:spPr>
          <a:xfrm>
            <a:off x="457200" y="3840480"/>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Sat</a:t>
            </a:r>
            <a:endParaRPr lang="en-US" sz="1200" dirty="0"/>
          </a:p>
        </p:txBody>
      </p:sp>
      <p:sp>
        <p:nvSpPr>
          <p:cNvPr id="29" name="Text 27"/>
          <p:cNvSpPr/>
          <p:nvPr/>
        </p:nvSpPr>
        <p:spPr>
          <a:xfrm>
            <a:off x="1554480" y="3840480"/>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Reel / Video</a:t>
            </a:r>
            <a:endParaRPr lang="en-US" sz="1100" dirty="0"/>
          </a:p>
        </p:txBody>
      </p:sp>
      <p:sp>
        <p:nvSpPr>
          <p:cNvPr id="30" name="Text 28"/>
          <p:cNvSpPr/>
          <p:nvPr/>
        </p:nvSpPr>
        <p:spPr>
          <a:xfrm>
            <a:off x="3383280" y="3840480"/>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Fun short-form video — food ASMR, cooking tips</a:t>
            </a:r>
            <a:endParaRPr lang="en-US" sz="1100" dirty="0"/>
          </a:p>
        </p:txBody>
      </p:sp>
      <p:sp>
        <p:nvSpPr>
          <p:cNvPr id="31" name="Shape 29"/>
          <p:cNvSpPr/>
          <p:nvPr/>
        </p:nvSpPr>
        <p:spPr>
          <a:xfrm>
            <a:off x="457200" y="4315968"/>
            <a:ext cx="8229600" cy="475488"/>
          </a:xfrm>
          <a:prstGeom prst="rect">
            <a:avLst/>
          </a:prstGeom>
          <a:solidFill>
            <a:srgbClr val="3D2B1F"/>
          </a:solidFill>
          <a:ln/>
        </p:spPr>
        <p:txBody>
          <a:bodyPr/>
          <a:lstStyle/>
          <a:p>
            <a:endParaRPr lang="en-IN"/>
          </a:p>
        </p:txBody>
      </p:sp>
      <p:sp>
        <p:nvSpPr>
          <p:cNvPr id="32" name="Text 30"/>
          <p:cNvSpPr/>
          <p:nvPr/>
        </p:nvSpPr>
        <p:spPr>
          <a:xfrm>
            <a:off x="457200" y="4315968"/>
            <a:ext cx="1097280" cy="475488"/>
          </a:xfrm>
          <a:prstGeom prst="rect">
            <a:avLst/>
          </a:prstGeom>
          <a:noFill/>
          <a:ln/>
        </p:spPr>
        <p:txBody>
          <a:bodyPr wrap="square" rtlCol="0" anchor="ctr"/>
          <a:lstStyle/>
          <a:p>
            <a:pPr marL="0" indent="0" algn="ctr">
              <a:buNone/>
            </a:pPr>
            <a:r>
              <a:rPr lang="en-US" sz="1200" b="1" dirty="0">
                <a:solidFill>
                  <a:srgbClr val="F4A623"/>
                </a:solidFill>
                <a:latin typeface="Calibri" pitchFamily="34" charset="0"/>
                <a:ea typeface="Calibri" pitchFamily="34" charset="-122"/>
                <a:cs typeface="Calibri" pitchFamily="34" charset="-120"/>
              </a:rPr>
              <a:t>Sun</a:t>
            </a:r>
            <a:endParaRPr lang="en-US" sz="1200" dirty="0"/>
          </a:p>
        </p:txBody>
      </p:sp>
      <p:sp>
        <p:nvSpPr>
          <p:cNvPr id="33" name="Text 31"/>
          <p:cNvSpPr/>
          <p:nvPr/>
        </p:nvSpPr>
        <p:spPr>
          <a:xfrm>
            <a:off x="1554480" y="4315968"/>
            <a:ext cx="182880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Community</a:t>
            </a:r>
            <a:endParaRPr lang="en-US" sz="1100" dirty="0"/>
          </a:p>
        </p:txBody>
      </p:sp>
      <p:sp>
        <p:nvSpPr>
          <p:cNvPr id="34" name="Text 32"/>
          <p:cNvSpPr/>
          <p:nvPr/>
        </p:nvSpPr>
        <p:spPr>
          <a:xfrm>
            <a:off x="3383280" y="4315968"/>
            <a:ext cx="5303520" cy="475488"/>
          </a:xfrm>
          <a:prstGeom prst="rect">
            <a:avLst/>
          </a:prstGeom>
          <a:noFill/>
          <a:ln/>
        </p:spPr>
        <p:txBody>
          <a:bodyPr wrap="square"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Poll, quiz, or user-generated content reshare</a:t>
            </a:r>
            <a:endParaRPr lang="en-US" sz="1100" dirty="0"/>
          </a:p>
        </p:txBody>
      </p:sp>
      <p:sp>
        <p:nvSpPr>
          <p:cNvPr id="35" name="Text 33"/>
          <p:cNvSpPr/>
          <p:nvPr/>
        </p:nvSpPr>
        <p:spPr>
          <a:xfrm>
            <a:off x="457200" y="4663440"/>
            <a:ext cx="8229600" cy="365760"/>
          </a:xfrm>
          <a:prstGeom prst="rect">
            <a:avLst/>
          </a:prstGeom>
          <a:noFill/>
          <a:ln/>
        </p:spPr>
        <p:txBody>
          <a:bodyPr wrap="square" lIns="0" tIns="0" rIns="0" bIns="0" rtlCol="0" anchor="ctr"/>
          <a:lstStyle/>
          <a:p>
            <a:pPr marL="0" indent="0" algn="ctr">
              <a:buNone/>
            </a:pPr>
            <a:r>
              <a:rPr lang="en-US" sz="1100" i="1" dirty="0">
                <a:solidFill>
                  <a:srgbClr val="F4A623"/>
                </a:solidFill>
                <a:latin typeface="Calibri" pitchFamily="34" charset="0"/>
                <a:ea typeface="Calibri" pitchFamily="34" charset="-122"/>
                <a:cs typeface="Calibri" pitchFamily="34" charset="-120"/>
              </a:rPr>
              <a:t>Post consistently 5-7x per week  |  Best times: 11 AM-1 PM &amp; 6-9 PM</a:t>
            </a:r>
            <a:endParaRPr lang="en-US" sz="1100" dirty="0"/>
          </a:p>
        </p:txBody>
      </p:sp>
    </p:spTree>
  </p:cSld>
  <p:clrMapOvr>
    <a:masterClrMapping/>
  </p:clrMapOvr>
  <p:transition spd="med">
    <p:wipe dir="d"/>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8F0"/>
        </a:solidFill>
        <a:effectLst/>
      </p:bgPr>
    </p:bg>
    <p:spTree>
      <p:nvGrpSpPr>
        <p:cNvPr id="1" name=""/>
        <p:cNvGrpSpPr/>
        <p:nvPr/>
      </p:nvGrpSpPr>
      <p:grpSpPr>
        <a:xfrm>
          <a:off x="0" y="0"/>
          <a:ext cx="0" cy="0"/>
          <a:chOff x="0" y="0"/>
          <a:chExt cx="0" cy="0"/>
        </a:xfrm>
      </p:grpSpPr>
      <p:sp>
        <p:nvSpPr>
          <p:cNvPr id="2" name="Text 0"/>
          <p:cNvSpPr/>
          <p:nvPr/>
        </p:nvSpPr>
        <p:spPr>
          <a:xfrm>
            <a:off x="640080" y="365760"/>
            <a:ext cx="457200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Sample Post Ideas</a:t>
            </a:r>
            <a:endParaRPr lang="en-US" sz="3400" dirty="0"/>
          </a:p>
        </p:txBody>
      </p:sp>
      <p:sp>
        <p:nvSpPr>
          <p:cNvPr id="3" name="Shape 1"/>
          <p:cNvSpPr/>
          <p:nvPr/>
        </p:nvSpPr>
        <p:spPr>
          <a:xfrm>
            <a:off x="457200" y="1188720"/>
            <a:ext cx="475488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4" name="Text 2"/>
          <p:cNvSpPr/>
          <p:nvPr/>
        </p:nvSpPr>
        <p:spPr>
          <a:xfrm>
            <a:off x="640080" y="1280160"/>
            <a:ext cx="1645920" cy="274320"/>
          </a:xfrm>
          <a:prstGeom prst="rect">
            <a:avLst/>
          </a:prstGeom>
          <a:noFill/>
          <a:ln/>
        </p:spPr>
        <p:txBody>
          <a:bodyPr wrap="square" lIns="0" tIns="0" rIns="0" bIns="0" rtlCol="0" anchor="ctr"/>
          <a:lstStyle/>
          <a:p>
            <a:pPr marL="0" indent="0" algn="l">
              <a:buNone/>
            </a:pPr>
            <a:r>
              <a:rPr lang="en-US" sz="1100" b="1" dirty="0">
                <a:solidFill>
                  <a:srgbClr val="D4451A"/>
                </a:solidFill>
                <a:latin typeface="Calibri" pitchFamily="34" charset="0"/>
                <a:ea typeface="Calibri" pitchFamily="34" charset="-122"/>
                <a:cs typeface="Calibri" pitchFamily="34" charset="-120"/>
              </a:rPr>
              <a:t>Photo Post</a:t>
            </a:r>
            <a:endParaRPr lang="en-US" sz="1100" dirty="0"/>
          </a:p>
        </p:txBody>
      </p:sp>
      <p:sp>
        <p:nvSpPr>
          <p:cNvPr id="5" name="Text 3"/>
          <p:cNvSpPr/>
          <p:nvPr/>
        </p:nvSpPr>
        <p:spPr>
          <a:xfrm>
            <a:off x="640080" y="1554480"/>
            <a:ext cx="3840480" cy="457200"/>
          </a:xfrm>
          <a:prstGeom prst="rect">
            <a:avLst/>
          </a:prstGeom>
          <a:noFill/>
          <a:ln/>
        </p:spPr>
        <p:txBody>
          <a:bodyPr wrap="square" lIns="0" tIns="0" rIns="0" bIns="0" rtlCol="0" anchor="ctr"/>
          <a:lstStyle/>
          <a:p>
            <a:pPr marL="0" indent="0" algn="l">
              <a:buNone/>
            </a:pPr>
            <a:r>
              <a:rPr lang="en-US" sz="1050" i="1" dirty="0">
                <a:solidFill>
                  <a:srgbClr val="555555"/>
                </a:solidFill>
                <a:latin typeface="Calibri" pitchFamily="34" charset="0"/>
                <a:ea typeface="Calibri" pitchFamily="34" charset="-122"/>
                <a:cs typeface="Calibri" pitchFamily="34" charset="-120"/>
              </a:rPr>
              <a:t>"Our spicy garlic noodles are made fresh every single order. Come try the bowl everyone's talking about!"</a:t>
            </a:r>
            <a:endParaRPr lang="en-US" sz="1050" dirty="0"/>
          </a:p>
        </p:txBody>
      </p:sp>
      <p:sp>
        <p:nvSpPr>
          <p:cNvPr id="6" name="Text 4"/>
          <p:cNvSpPr/>
          <p:nvPr/>
        </p:nvSpPr>
        <p:spPr>
          <a:xfrm>
            <a:off x="4572000" y="1280160"/>
            <a:ext cx="548640" cy="274320"/>
          </a:xfrm>
          <a:prstGeom prst="rect">
            <a:avLst/>
          </a:prstGeom>
          <a:solidFill>
            <a:srgbClr val="D4451A"/>
          </a:solid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Order Now</a:t>
            </a:r>
            <a:endParaRPr lang="en-US" sz="900" dirty="0"/>
          </a:p>
        </p:txBody>
      </p:sp>
      <p:sp>
        <p:nvSpPr>
          <p:cNvPr id="7" name="Shape 5"/>
          <p:cNvSpPr/>
          <p:nvPr/>
        </p:nvSpPr>
        <p:spPr>
          <a:xfrm>
            <a:off x="457200" y="2468880"/>
            <a:ext cx="475488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8" name="Text 6"/>
          <p:cNvSpPr/>
          <p:nvPr/>
        </p:nvSpPr>
        <p:spPr>
          <a:xfrm>
            <a:off x="640080" y="2560320"/>
            <a:ext cx="1645920" cy="274320"/>
          </a:xfrm>
          <a:prstGeom prst="rect">
            <a:avLst/>
          </a:prstGeom>
          <a:noFill/>
          <a:ln/>
        </p:spPr>
        <p:txBody>
          <a:bodyPr wrap="square" lIns="0" tIns="0" rIns="0" bIns="0" rtlCol="0" anchor="ctr"/>
          <a:lstStyle/>
          <a:p>
            <a:pPr marL="0" indent="0" algn="l">
              <a:buNone/>
            </a:pPr>
            <a:r>
              <a:rPr lang="en-US" sz="1100" b="1" dirty="0">
                <a:solidFill>
                  <a:srgbClr val="D4451A"/>
                </a:solidFill>
                <a:latin typeface="Calibri" pitchFamily="34" charset="0"/>
                <a:ea typeface="Calibri" pitchFamily="34" charset="-122"/>
                <a:cs typeface="Calibri" pitchFamily="34" charset="-120"/>
              </a:rPr>
              <a:t>Video Reel</a:t>
            </a:r>
            <a:endParaRPr lang="en-US" sz="1100" dirty="0"/>
          </a:p>
        </p:txBody>
      </p:sp>
      <p:sp>
        <p:nvSpPr>
          <p:cNvPr id="9" name="Text 7"/>
          <p:cNvSpPr/>
          <p:nvPr/>
        </p:nvSpPr>
        <p:spPr>
          <a:xfrm>
            <a:off x="640080" y="2834640"/>
            <a:ext cx="3840480" cy="457200"/>
          </a:xfrm>
          <a:prstGeom prst="rect">
            <a:avLst/>
          </a:prstGeom>
          <a:noFill/>
          <a:ln/>
        </p:spPr>
        <p:txBody>
          <a:bodyPr wrap="square" lIns="0" tIns="0" rIns="0" bIns="0" rtlCol="0" anchor="ctr"/>
          <a:lstStyle/>
          <a:p>
            <a:pPr marL="0" indent="0" algn="l">
              <a:buNone/>
            </a:pPr>
            <a:r>
              <a:rPr lang="en-US" sz="1050" i="1" dirty="0">
                <a:solidFill>
                  <a:srgbClr val="555555"/>
                </a:solidFill>
                <a:latin typeface="Calibri" pitchFamily="34" charset="0"/>
                <a:ea typeface="Calibri" pitchFamily="34" charset="-122"/>
                <a:cs typeface="Calibri" pitchFamily="34" charset="-120"/>
              </a:rPr>
              <a:t>"60 seconds of noodle magic — watch Chef pull hand-stretched noodles live at Noodle House!"</a:t>
            </a:r>
            <a:endParaRPr lang="en-US" sz="1050" dirty="0"/>
          </a:p>
        </p:txBody>
      </p:sp>
      <p:sp>
        <p:nvSpPr>
          <p:cNvPr id="10" name="Text 8"/>
          <p:cNvSpPr/>
          <p:nvPr/>
        </p:nvSpPr>
        <p:spPr>
          <a:xfrm>
            <a:off x="4572000" y="2560320"/>
            <a:ext cx="548640" cy="274320"/>
          </a:xfrm>
          <a:prstGeom prst="rect">
            <a:avLst/>
          </a:prstGeom>
          <a:solidFill>
            <a:srgbClr val="D4451A"/>
          </a:solid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Watch Now</a:t>
            </a:r>
            <a:endParaRPr lang="en-US" sz="900" dirty="0"/>
          </a:p>
        </p:txBody>
      </p:sp>
      <p:sp>
        <p:nvSpPr>
          <p:cNvPr id="11" name="Shape 9"/>
          <p:cNvSpPr/>
          <p:nvPr/>
        </p:nvSpPr>
        <p:spPr>
          <a:xfrm>
            <a:off x="457200" y="3749040"/>
            <a:ext cx="475488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2" name="Text 10"/>
          <p:cNvSpPr/>
          <p:nvPr/>
        </p:nvSpPr>
        <p:spPr>
          <a:xfrm>
            <a:off x="640080" y="3840480"/>
            <a:ext cx="1645920" cy="274320"/>
          </a:xfrm>
          <a:prstGeom prst="rect">
            <a:avLst/>
          </a:prstGeom>
          <a:noFill/>
          <a:ln/>
        </p:spPr>
        <p:txBody>
          <a:bodyPr wrap="square" lIns="0" tIns="0" rIns="0" bIns="0" rtlCol="0" anchor="ctr"/>
          <a:lstStyle/>
          <a:p>
            <a:pPr marL="0" indent="0" algn="l">
              <a:buNone/>
            </a:pPr>
            <a:r>
              <a:rPr lang="en-US" sz="1100" b="1" dirty="0">
                <a:solidFill>
                  <a:srgbClr val="D4451A"/>
                </a:solidFill>
                <a:latin typeface="Calibri" pitchFamily="34" charset="0"/>
                <a:ea typeface="Calibri" pitchFamily="34" charset="-122"/>
                <a:cs typeface="Calibri" pitchFamily="34" charset="-120"/>
              </a:rPr>
              <a:t>Flash Deal</a:t>
            </a:r>
            <a:endParaRPr lang="en-US" sz="1100" dirty="0"/>
          </a:p>
        </p:txBody>
      </p:sp>
      <p:sp>
        <p:nvSpPr>
          <p:cNvPr id="13" name="Text 11"/>
          <p:cNvSpPr/>
          <p:nvPr/>
        </p:nvSpPr>
        <p:spPr>
          <a:xfrm>
            <a:off x="640080" y="4114800"/>
            <a:ext cx="3840480" cy="457200"/>
          </a:xfrm>
          <a:prstGeom prst="rect">
            <a:avLst/>
          </a:prstGeom>
          <a:noFill/>
          <a:ln/>
        </p:spPr>
        <p:txBody>
          <a:bodyPr wrap="square" lIns="0" tIns="0" rIns="0" bIns="0" rtlCol="0" anchor="ctr"/>
          <a:lstStyle/>
          <a:p>
            <a:pPr marL="0" indent="0" algn="l">
              <a:buNone/>
            </a:pPr>
            <a:r>
              <a:rPr lang="en-US" sz="1050" i="1" dirty="0">
                <a:solidFill>
                  <a:srgbClr val="555555"/>
                </a:solidFill>
                <a:latin typeface="Calibri" pitchFamily="34" charset="0"/>
                <a:ea typeface="Calibri" pitchFamily="34" charset="-122"/>
                <a:cs typeface="Calibri" pitchFamily="34" charset="-120"/>
              </a:rPr>
              <a:t>"This weekend only: Buy 1 Get 1 Free on all signature bowls. Tag your noodle buddy!"</a:t>
            </a:r>
            <a:endParaRPr lang="en-US" sz="1050" dirty="0"/>
          </a:p>
        </p:txBody>
      </p:sp>
      <p:sp>
        <p:nvSpPr>
          <p:cNvPr id="14" name="Text 12"/>
          <p:cNvSpPr/>
          <p:nvPr/>
        </p:nvSpPr>
        <p:spPr>
          <a:xfrm>
            <a:off x="4572000" y="3840480"/>
            <a:ext cx="548640" cy="274320"/>
          </a:xfrm>
          <a:prstGeom prst="rect">
            <a:avLst/>
          </a:prstGeom>
          <a:solidFill>
            <a:srgbClr val="D4451A"/>
          </a:solid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Claim Offer</a:t>
            </a:r>
            <a:endParaRPr lang="en-US" sz="900" dirty="0"/>
          </a:p>
        </p:txBody>
      </p:sp>
      <p:pic>
        <p:nvPicPr>
          <p:cNvPr id="15" name="Image 0" descr="/agent/turn1/workspace/images/professional-overhead-flat-lay-food-photograph-of-_2026-05-05T01-37-20_image_DAS_0.jpg"/>
          <p:cNvPicPr>
            <a:picLocks noChangeAspect="1"/>
          </p:cNvPicPr>
          <p:nvPr/>
        </p:nvPicPr>
        <p:blipFill>
          <a:blip r:embed="rId3"/>
          <a:srcRect l="24704" r="24704"/>
          <a:stretch/>
        </p:blipFill>
        <p:spPr>
          <a:xfrm>
            <a:off x="5486400" y="365760"/>
            <a:ext cx="3383280" cy="4389120"/>
          </a:xfrm>
          <a:prstGeom prst="rect">
            <a:avLst/>
          </a:prstGeom>
        </p:spPr>
      </p:pic>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Facebook Ads Strategy</a:t>
            </a:r>
            <a:endParaRPr lang="en-US" sz="3400" dirty="0"/>
          </a:p>
        </p:txBody>
      </p:sp>
      <p:sp>
        <p:nvSpPr>
          <p:cNvPr id="3" name="Shape 1"/>
          <p:cNvSpPr/>
          <p:nvPr/>
        </p:nvSpPr>
        <p:spPr>
          <a:xfrm>
            <a:off x="457200" y="1280160"/>
            <a:ext cx="2651760" cy="329184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4" name="Shape 2"/>
          <p:cNvSpPr/>
          <p:nvPr/>
        </p:nvSpPr>
        <p:spPr>
          <a:xfrm>
            <a:off x="1417320" y="1554480"/>
            <a:ext cx="731520" cy="731520"/>
          </a:xfrm>
          <a:prstGeom prst="ellipse">
            <a:avLst/>
          </a:prstGeom>
          <a:solidFill>
            <a:srgbClr val="D4451A"/>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536192" y="1673352"/>
            <a:ext cx="493776" cy="493776"/>
          </a:xfrm>
          <a:prstGeom prst="rect">
            <a:avLst/>
          </a:prstGeom>
        </p:spPr>
      </p:pic>
      <p:sp>
        <p:nvSpPr>
          <p:cNvPr id="6" name="Text 3"/>
          <p:cNvSpPr/>
          <p:nvPr/>
        </p:nvSpPr>
        <p:spPr>
          <a:xfrm>
            <a:off x="594360" y="2468880"/>
            <a:ext cx="2377440" cy="411480"/>
          </a:xfrm>
          <a:prstGeom prst="rect">
            <a:avLst/>
          </a:prstGeom>
          <a:noFill/>
          <a:ln/>
        </p:spPr>
        <p:txBody>
          <a:bodyPr wrap="square" lIns="0" tIns="0" rIns="0" bIns="0" rtlCol="0" anchor="ctr"/>
          <a:lstStyle/>
          <a:p>
            <a:pPr marL="0" indent="0" algn="ctr">
              <a:buNone/>
            </a:pPr>
            <a:r>
              <a:rPr lang="en-US" sz="1600" b="1" dirty="0">
                <a:solidFill>
                  <a:srgbClr val="2B1B12"/>
                </a:solidFill>
                <a:latin typeface="Calibri" pitchFamily="34" charset="0"/>
                <a:ea typeface="Calibri" pitchFamily="34" charset="-122"/>
                <a:cs typeface="Calibri" pitchFamily="34" charset="-120"/>
              </a:rPr>
              <a:t>Carousel Ads</a:t>
            </a:r>
            <a:endParaRPr lang="en-US" sz="1600" dirty="0"/>
          </a:p>
        </p:txBody>
      </p:sp>
      <p:sp>
        <p:nvSpPr>
          <p:cNvPr id="7" name="Text 4"/>
          <p:cNvSpPr/>
          <p:nvPr/>
        </p:nvSpPr>
        <p:spPr>
          <a:xfrm>
            <a:off x="640080" y="2926080"/>
            <a:ext cx="2286000" cy="146304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Showcase 3-5 signature dishes in a swipeable format. Each card features one dish with pricing and a direct order link.</a:t>
            </a:r>
            <a:endParaRPr lang="en-US" sz="1100" dirty="0"/>
          </a:p>
        </p:txBody>
      </p:sp>
      <p:sp>
        <p:nvSpPr>
          <p:cNvPr id="8" name="Shape 5"/>
          <p:cNvSpPr/>
          <p:nvPr/>
        </p:nvSpPr>
        <p:spPr>
          <a:xfrm>
            <a:off x="3337560" y="1280160"/>
            <a:ext cx="2651760" cy="329184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9" name="Shape 6"/>
          <p:cNvSpPr/>
          <p:nvPr/>
        </p:nvSpPr>
        <p:spPr>
          <a:xfrm>
            <a:off x="4297680" y="1554480"/>
            <a:ext cx="731520" cy="731520"/>
          </a:xfrm>
          <a:prstGeom prst="ellipse">
            <a:avLst/>
          </a:prstGeom>
          <a:solidFill>
            <a:srgbClr val="1877F2"/>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4416552" y="1673352"/>
            <a:ext cx="493776" cy="493776"/>
          </a:xfrm>
          <a:prstGeom prst="rect">
            <a:avLst/>
          </a:prstGeom>
        </p:spPr>
      </p:pic>
      <p:sp>
        <p:nvSpPr>
          <p:cNvPr id="11" name="Text 7"/>
          <p:cNvSpPr/>
          <p:nvPr/>
        </p:nvSpPr>
        <p:spPr>
          <a:xfrm>
            <a:off x="3474720" y="2468880"/>
            <a:ext cx="2377440" cy="411480"/>
          </a:xfrm>
          <a:prstGeom prst="rect">
            <a:avLst/>
          </a:prstGeom>
          <a:noFill/>
          <a:ln/>
        </p:spPr>
        <p:txBody>
          <a:bodyPr wrap="square" lIns="0" tIns="0" rIns="0" bIns="0" rtlCol="0" anchor="ctr"/>
          <a:lstStyle/>
          <a:p>
            <a:pPr marL="0" indent="0" algn="ctr">
              <a:buNone/>
            </a:pPr>
            <a:r>
              <a:rPr lang="en-US" sz="1600" b="1" dirty="0">
                <a:solidFill>
                  <a:srgbClr val="2B1B12"/>
                </a:solidFill>
                <a:latin typeface="Calibri" pitchFamily="34" charset="0"/>
                <a:ea typeface="Calibri" pitchFamily="34" charset="-122"/>
                <a:cs typeface="Calibri" pitchFamily="34" charset="-120"/>
              </a:rPr>
              <a:t>Video / Reels Ads</a:t>
            </a:r>
            <a:endParaRPr lang="en-US" sz="1600" dirty="0"/>
          </a:p>
        </p:txBody>
      </p:sp>
      <p:sp>
        <p:nvSpPr>
          <p:cNvPr id="12" name="Text 8"/>
          <p:cNvSpPr/>
          <p:nvPr/>
        </p:nvSpPr>
        <p:spPr>
          <a:xfrm>
            <a:off x="3520440" y="2926080"/>
            <a:ext cx="2286000" cy="146304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15-30 second food prep videos or customer experience clips. Video ads get 2x more engagement than static posts.</a:t>
            </a:r>
            <a:endParaRPr lang="en-US" sz="1100" dirty="0"/>
          </a:p>
        </p:txBody>
      </p:sp>
      <p:sp>
        <p:nvSpPr>
          <p:cNvPr id="13" name="Shape 9"/>
          <p:cNvSpPr/>
          <p:nvPr/>
        </p:nvSpPr>
        <p:spPr>
          <a:xfrm>
            <a:off x="6217920" y="1280160"/>
            <a:ext cx="2651760" cy="3291840"/>
          </a:xfrm>
          <a:prstGeom prst="rect">
            <a:avLst/>
          </a:prstGeom>
          <a:solidFill>
            <a:srgbClr val="F5EDE3"/>
          </a:solidFill>
          <a:ln/>
          <a:effectLst>
            <a:outerShdw blurRad="76200" dist="25400" dir="8100000" algn="bl" rotWithShape="0">
              <a:srgbClr val="000000">
                <a:alpha val="12000"/>
              </a:srgbClr>
            </a:outerShdw>
          </a:effectLst>
        </p:spPr>
        <p:txBody>
          <a:bodyPr/>
          <a:lstStyle/>
          <a:p>
            <a:endParaRPr lang="en-IN"/>
          </a:p>
        </p:txBody>
      </p:sp>
      <p:sp>
        <p:nvSpPr>
          <p:cNvPr id="14" name="Shape 10"/>
          <p:cNvSpPr/>
          <p:nvPr/>
        </p:nvSpPr>
        <p:spPr>
          <a:xfrm>
            <a:off x="7178040" y="1554480"/>
            <a:ext cx="731520" cy="731520"/>
          </a:xfrm>
          <a:prstGeom prst="ellipse">
            <a:avLst/>
          </a:prstGeom>
          <a:solidFill>
            <a:srgbClr val="F4A623"/>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7296912" y="1673352"/>
            <a:ext cx="493776" cy="493776"/>
          </a:xfrm>
          <a:prstGeom prst="rect">
            <a:avLst/>
          </a:prstGeom>
        </p:spPr>
      </p:pic>
      <p:sp>
        <p:nvSpPr>
          <p:cNvPr id="16" name="Text 11"/>
          <p:cNvSpPr/>
          <p:nvPr/>
        </p:nvSpPr>
        <p:spPr>
          <a:xfrm>
            <a:off x="6355080" y="2468880"/>
            <a:ext cx="2377440" cy="411480"/>
          </a:xfrm>
          <a:prstGeom prst="rect">
            <a:avLst/>
          </a:prstGeom>
          <a:noFill/>
          <a:ln/>
        </p:spPr>
        <p:txBody>
          <a:bodyPr wrap="square" lIns="0" tIns="0" rIns="0" bIns="0" rtlCol="0" anchor="ctr"/>
          <a:lstStyle/>
          <a:p>
            <a:pPr marL="0" indent="0" algn="ctr">
              <a:buNone/>
            </a:pPr>
            <a:r>
              <a:rPr lang="en-US" sz="1600" b="1" dirty="0">
                <a:solidFill>
                  <a:srgbClr val="2B1B12"/>
                </a:solidFill>
                <a:latin typeface="Calibri" pitchFamily="34" charset="0"/>
                <a:ea typeface="Calibri" pitchFamily="34" charset="-122"/>
                <a:cs typeface="Calibri" pitchFamily="34" charset="-120"/>
              </a:rPr>
              <a:t>Local Awareness Ads</a:t>
            </a:r>
            <a:endParaRPr lang="en-US" sz="1600" dirty="0"/>
          </a:p>
        </p:txBody>
      </p:sp>
      <p:sp>
        <p:nvSpPr>
          <p:cNvPr id="17" name="Text 12"/>
          <p:cNvSpPr/>
          <p:nvPr/>
        </p:nvSpPr>
        <p:spPr>
          <a:xfrm>
            <a:off x="6400800" y="2926080"/>
            <a:ext cx="2286000" cy="146304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Reach people within 5-10 km with special offers. Include map directions and 'Get Directions' CTA button.</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B1B12"/>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Ad Targeting &amp; Budget</a:t>
            </a:r>
            <a:endParaRPr lang="en-US" sz="3400" dirty="0"/>
          </a:p>
        </p:txBody>
      </p:sp>
      <p:sp>
        <p:nvSpPr>
          <p:cNvPr id="3" name="Text 1"/>
          <p:cNvSpPr/>
          <p:nvPr/>
        </p:nvSpPr>
        <p:spPr>
          <a:xfrm>
            <a:off x="640080" y="1097280"/>
            <a:ext cx="3840480" cy="411480"/>
          </a:xfrm>
          <a:prstGeom prst="rect">
            <a:avLst/>
          </a:prstGeom>
          <a:noFill/>
          <a:ln/>
        </p:spPr>
        <p:txBody>
          <a:bodyPr wrap="square" lIns="0" tIns="0" rIns="0" bIns="0" rtlCol="0" anchor="ctr"/>
          <a:lstStyle/>
          <a:p>
            <a:pPr marL="0" indent="0" algn="l">
              <a:buNone/>
            </a:pPr>
            <a:r>
              <a:rPr lang="en-US" sz="1800" b="1" dirty="0">
                <a:solidFill>
                  <a:srgbClr val="F4A623"/>
                </a:solidFill>
                <a:latin typeface="Calibri" pitchFamily="34" charset="0"/>
                <a:ea typeface="Calibri" pitchFamily="34" charset="-122"/>
                <a:cs typeface="Calibri" pitchFamily="34" charset="-120"/>
              </a:rPr>
              <a:t>Targeting Strategy</a:t>
            </a:r>
            <a:endParaRPr lang="en-US" sz="1800" dirty="0"/>
          </a:p>
        </p:txBody>
      </p:sp>
      <p:sp>
        <p:nvSpPr>
          <p:cNvPr id="4" name="Text 2"/>
          <p:cNvSpPr/>
          <p:nvPr/>
        </p:nvSpPr>
        <p:spPr>
          <a:xfrm>
            <a:off x="640080" y="1645920"/>
            <a:ext cx="3840480" cy="2560320"/>
          </a:xfrm>
          <a:prstGeom prst="rect">
            <a:avLst/>
          </a:prstGeom>
          <a:noFill/>
          <a:ln/>
        </p:spPr>
        <p:txBody>
          <a:bodyPr wrap="square" lIns="0" tIns="0" rIns="0" bIns="0" rtlCol="0" anchor="ctr"/>
          <a:lstStyle/>
          <a:p>
            <a:pPr marL="342900" indent="-342900">
              <a:lnSpc>
                <a:spcPct val="140000"/>
              </a:lnSpc>
              <a:buSzPct val="100000"/>
              <a:buChar char="•"/>
            </a:pPr>
            <a:r>
              <a:rPr lang="en-US" sz="1200" dirty="0">
                <a:solidFill>
                  <a:srgbClr val="CCCCCC"/>
                </a:solidFill>
                <a:latin typeface="Calibri" pitchFamily="34" charset="0"/>
                <a:ea typeface="Calibri" pitchFamily="34" charset="-122"/>
                <a:cs typeface="Calibri" pitchFamily="34" charset="-120"/>
              </a:rPr>
              <a:t>Location: 5-10 km radius around each outlet</a:t>
            </a:r>
            <a:endParaRPr lang="en-US" sz="1200" dirty="0"/>
          </a:p>
          <a:p>
            <a:pPr marL="342900" indent="-342900">
              <a:lnSpc>
                <a:spcPct val="140000"/>
              </a:lnSpc>
              <a:buSzPct val="100000"/>
              <a:buChar char="•"/>
            </a:pPr>
            <a:r>
              <a:rPr lang="en-US" sz="1200" dirty="0">
                <a:solidFill>
                  <a:srgbClr val="CCCCCC"/>
                </a:solidFill>
                <a:latin typeface="Calibri" pitchFamily="34" charset="0"/>
                <a:ea typeface="Calibri" pitchFamily="34" charset="-122"/>
                <a:cs typeface="Calibri" pitchFamily="34" charset="-120"/>
              </a:rPr>
              <a:t>Age: 18-45, skewing 22-35 for working professionals</a:t>
            </a:r>
            <a:endParaRPr lang="en-US" sz="1200" dirty="0"/>
          </a:p>
          <a:p>
            <a:pPr marL="342900" indent="-342900">
              <a:lnSpc>
                <a:spcPct val="140000"/>
              </a:lnSpc>
              <a:buSzPct val="100000"/>
              <a:buChar char="•"/>
            </a:pPr>
            <a:r>
              <a:rPr lang="en-US" sz="1200" dirty="0">
                <a:solidFill>
                  <a:srgbClr val="CCCCCC"/>
                </a:solidFill>
                <a:latin typeface="Calibri" pitchFamily="34" charset="0"/>
                <a:ea typeface="Calibri" pitchFamily="34" charset="-122"/>
                <a:cs typeface="Calibri" pitchFamily="34" charset="-120"/>
              </a:rPr>
              <a:t>Interests: Asian cuisine, food delivery, dining out, cooking</a:t>
            </a:r>
            <a:endParaRPr lang="en-US" sz="1200" dirty="0"/>
          </a:p>
          <a:p>
            <a:pPr marL="342900" indent="-342900">
              <a:lnSpc>
                <a:spcPct val="140000"/>
              </a:lnSpc>
              <a:buSzPct val="100000"/>
              <a:buChar char="•"/>
            </a:pPr>
            <a:r>
              <a:rPr lang="en-US" sz="1200" dirty="0">
                <a:solidFill>
                  <a:srgbClr val="CCCCCC"/>
                </a:solidFill>
                <a:latin typeface="Calibri" pitchFamily="34" charset="0"/>
                <a:ea typeface="Calibri" pitchFamily="34" charset="-122"/>
                <a:cs typeface="Calibri" pitchFamily="34" charset="-120"/>
              </a:rPr>
              <a:t>Custom Audiences: Website visitors, page engagers</a:t>
            </a:r>
            <a:endParaRPr lang="en-US" sz="1200" dirty="0"/>
          </a:p>
          <a:p>
            <a:pPr marL="342900" indent="-342900">
              <a:lnSpc>
                <a:spcPct val="140000"/>
              </a:lnSpc>
              <a:buSzPct val="100000"/>
              <a:buChar char="•"/>
            </a:pPr>
            <a:r>
              <a:rPr lang="en-US" sz="1200" dirty="0">
                <a:solidFill>
                  <a:srgbClr val="CCCCCC"/>
                </a:solidFill>
                <a:latin typeface="Calibri" pitchFamily="34" charset="0"/>
                <a:ea typeface="Calibri" pitchFamily="34" charset="-122"/>
                <a:cs typeface="Calibri" pitchFamily="34" charset="-120"/>
              </a:rPr>
              <a:t>Lookalike Audiences: Based on existing customer data</a:t>
            </a:r>
            <a:endParaRPr lang="en-US" sz="1200" dirty="0"/>
          </a:p>
        </p:txBody>
      </p:sp>
      <p:sp>
        <p:nvSpPr>
          <p:cNvPr id="5" name="Text 3"/>
          <p:cNvSpPr/>
          <p:nvPr/>
        </p:nvSpPr>
        <p:spPr>
          <a:xfrm>
            <a:off x="4937760" y="1097280"/>
            <a:ext cx="3840480" cy="411480"/>
          </a:xfrm>
          <a:prstGeom prst="rect">
            <a:avLst/>
          </a:prstGeom>
          <a:noFill/>
          <a:ln/>
        </p:spPr>
        <p:txBody>
          <a:bodyPr wrap="square" lIns="0" tIns="0" rIns="0" bIns="0" rtlCol="0" anchor="ctr"/>
          <a:lstStyle/>
          <a:p>
            <a:pPr marL="0" indent="0" algn="l">
              <a:buNone/>
            </a:pPr>
            <a:r>
              <a:rPr lang="en-US" sz="1800" b="1" dirty="0">
                <a:solidFill>
                  <a:srgbClr val="F4A623"/>
                </a:solidFill>
                <a:latin typeface="Calibri" pitchFamily="34" charset="0"/>
                <a:ea typeface="Calibri" pitchFamily="34" charset="-122"/>
                <a:cs typeface="Calibri" pitchFamily="34" charset="-120"/>
              </a:rPr>
              <a:t>Recommended Budget</a:t>
            </a:r>
            <a:endParaRPr lang="en-US" sz="1800" dirty="0"/>
          </a:p>
        </p:txBody>
      </p:sp>
      <p:sp>
        <p:nvSpPr>
          <p:cNvPr id="6" name="Shape 4"/>
          <p:cNvSpPr/>
          <p:nvPr/>
        </p:nvSpPr>
        <p:spPr>
          <a:xfrm>
            <a:off x="4937760" y="1645920"/>
            <a:ext cx="3840480" cy="822960"/>
          </a:xfrm>
          <a:prstGeom prst="rect">
            <a:avLst/>
          </a:prstGeom>
          <a:solidFill>
            <a:srgbClr val="3D2B1F"/>
          </a:solidFill>
          <a:ln/>
        </p:spPr>
        <p:txBody>
          <a:bodyPr/>
          <a:lstStyle/>
          <a:p>
            <a:endParaRPr lang="en-IN"/>
          </a:p>
        </p:txBody>
      </p:sp>
      <p:sp>
        <p:nvSpPr>
          <p:cNvPr id="7" name="Text 5"/>
          <p:cNvSpPr/>
          <p:nvPr/>
        </p:nvSpPr>
        <p:spPr>
          <a:xfrm>
            <a:off x="5120640" y="1691640"/>
            <a:ext cx="256032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Launch Phase (Month 1-2)</a:t>
            </a:r>
            <a:endParaRPr lang="en-US" sz="1200" dirty="0"/>
          </a:p>
        </p:txBody>
      </p:sp>
      <p:sp>
        <p:nvSpPr>
          <p:cNvPr id="8" name="Text 6"/>
          <p:cNvSpPr/>
          <p:nvPr/>
        </p:nvSpPr>
        <p:spPr>
          <a:xfrm>
            <a:off x="7772400" y="1691640"/>
            <a:ext cx="914400" cy="320040"/>
          </a:xfrm>
          <a:prstGeom prst="rect">
            <a:avLst/>
          </a:prstGeom>
          <a:noFill/>
          <a:ln/>
        </p:spPr>
        <p:txBody>
          <a:bodyPr wrap="square" lIns="0" tIns="0" rIns="0" bIns="0" rtlCol="0" anchor="ctr"/>
          <a:lstStyle/>
          <a:p>
            <a:pPr marL="0" indent="0" algn="r">
              <a:buNone/>
            </a:pPr>
            <a:r>
              <a:rPr lang="en-US" sz="1300" b="1" dirty="0">
                <a:solidFill>
                  <a:srgbClr val="F4A623"/>
                </a:solidFill>
                <a:latin typeface="Calibri" pitchFamily="34" charset="0"/>
                <a:ea typeface="Calibri" pitchFamily="34" charset="-122"/>
                <a:cs typeface="Calibri" pitchFamily="34" charset="-120"/>
              </a:rPr>
              <a:t>$500-800/mo</a:t>
            </a:r>
            <a:endParaRPr lang="en-US" sz="1300" dirty="0"/>
          </a:p>
        </p:txBody>
      </p:sp>
      <p:sp>
        <p:nvSpPr>
          <p:cNvPr id="9" name="Text 7"/>
          <p:cNvSpPr/>
          <p:nvPr/>
        </p:nvSpPr>
        <p:spPr>
          <a:xfrm>
            <a:off x="5120640" y="2057400"/>
            <a:ext cx="3474720" cy="320040"/>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Brand awareness &amp; page growth</a:t>
            </a:r>
            <a:endParaRPr lang="en-US" sz="1100" dirty="0"/>
          </a:p>
        </p:txBody>
      </p:sp>
      <p:sp>
        <p:nvSpPr>
          <p:cNvPr id="10" name="Shape 8"/>
          <p:cNvSpPr/>
          <p:nvPr/>
        </p:nvSpPr>
        <p:spPr>
          <a:xfrm>
            <a:off x="4937760" y="2651760"/>
            <a:ext cx="3840480" cy="822960"/>
          </a:xfrm>
          <a:prstGeom prst="rect">
            <a:avLst/>
          </a:prstGeom>
          <a:solidFill>
            <a:srgbClr val="3D2B1F"/>
          </a:solidFill>
          <a:ln/>
        </p:spPr>
        <p:txBody>
          <a:bodyPr/>
          <a:lstStyle/>
          <a:p>
            <a:endParaRPr lang="en-IN"/>
          </a:p>
        </p:txBody>
      </p:sp>
      <p:sp>
        <p:nvSpPr>
          <p:cNvPr id="11" name="Text 9"/>
          <p:cNvSpPr/>
          <p:nvPr/>
        </p:nvSpPr>
        <p:spPr>
          <a:xfrm>
            <a:off x="5120640" y="2697480"/>
            <a:ext cx="256032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Growth Phase (Month 3-6)</a:t>
            </a:r>
            <a:endParaRPr lang="en-US" sz="1200" dirty="0"/>
          </a:p>
        </p:txBody>
      </p:sp>
      <p:sp>
        <p:nvSpPr>
          <p:cNvPr id="12" name="Text 10"/>
          <p:cNvSpPr/>
          <p:nvPr/>
        </p:nvSpPr>
        <p:spPr>
          <a:xfrm>
            <a:off x="7772400" y="2697480"/>
            <a:ext cx="914400" cy="320040"/>
          </a:xfrm>
          <a:prstGeom prst="rect">
            <a:avLst/>
          </a:prstGeom>
          <a:noFill/>
          <a:ln/>
        </p:spPr>
        <p:txBody>
          <a:bodyPr wrap="square" lIns="0" tIns="0" rIns="0" bIns="0" rtlCol="0" anchor="ctr"/>
          <a:lstStyle/>
          <a:p>
            <a:pPr marL="0" indent="0" algn="r">
              <a:buNone/>
            </a:pPr>
            <a:r>
              <a:rPr lang="en-US" sz="1300" b="1" dirty="0">
                <a:solidFill>
                  <a:srgbClr val="F4A623"/>
                </a:solidFill>
                <a:latin typeface="Calibri" pitchFamily="34" charset="0"/>
                <a:ea typeface="Calibri" pitchFamily="34" charset="-122"/>
                <a:cs typeface="Calibri" pitchFamily="34" charset="-120"/>
              </a:rPr>
              <a:t>$800-1,500/mo</a:t>
            </a:r>
            <a:endParaRPr lang="en-US" sz="1300" dirty="0"/>
          </a:p>
        </p:txBody>
      </p:sp>
      <p:sp>
        <p:nvSpPr>
          <p:cNvPr id="13" name="Text 11"/>
          <p:cNvSpPr/>
          <p:nvPr/>
        </p:nvSpPr>
        <p:spPr>
          <a:xfrm>
            <a:off x="5120640" y="3063240"/>
            <a:ext cx="3474720" cy="320040"/>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Lead gen &amp; order conversions</a:t>
            </a:r>
            <a:endParaRPr lang="en-US" sz="1100" dirty="0"/>
          </a:p>
        </p:txBody>
      </p:sp>
      <p:sp>
        <p:nvSpPr>
          <p:cNvPr id="14" name="Shape 12"/>
          <p:cNvSpPr/>
          <p:nvPr/>
        </p:nvSpPr>
        <p:spPr>
          <a:xfrm>
            <a:off x="4937760" y="3657600"/>
            <a:ext cx="3840480" cy="822960"/>
          </a:xfrm>
          <a:prstGeom prst="rect">
            <a:avLst/>
          </a:prstGeom>
          <a:solidFill>
            <a:srgbClr val="3D2B1F"/>
          </a:solidFill>
          <a:ln/>
        </p:spPr>
        <p:txBody>
          <a:bodyPr/>
          <a:lstStyle/>
          <a:p>
            <a:endParaRPr lang="en-IN"/>
          </a:p>
        </p:txBody>
      </p:sp>
      <p:sp>
        <p:nvSpPr>
          <p:cNvPr id="15" name="Text 13"/>
          <p:cNvSpPr/>
          <p:nvPr/>
        </p:nvSpPr>
        <p:spPr>
          <a:xfrm>
            <a:off x="5120640" y="3703320"/>
            <a:ext cx="256032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Scale Phase (Month 6+)</a:t>
            </a:r>
            <a:endParaRPr lang="en-US" sz="1200" dirty="0"/>
          </a:p>
        </p:txBody>
      </p:sp>
      <p:sp>
        <p:nvSpPr>
          <p:cNvPr id="16" name="Text 14"/>
          <p:cNvSpPr/>
          <p:nvPr/>
        </p:nvSpPr>
        <p:spPr>
          <a:xfrm>
            <a:off x="7772400" y="3703320"/>
            <a:ext cx="914400" cy="320040"/>
          </a:xfrm>
          <a:prstGeom prst="rect">
            <a:avLst/>
          </a:prstGeom>
          <a:noFill/>
          <a:ln/>
        </p:spPr>
        <p:txBody>
          <a:bodyPr wrap="square" lIns="0" tIns="0" rIns="0" bIns="0" rtlCol="0" anchor="ctr"/>
          <a:lstStyle/>
          <a:p>
            <a:pPr marL="0" indent="0" algn="r">
              <a:buNone/>
            </a:pPr>
            <a:r>
              <a:rPr lang="en-US" sz="1300" b="1" dirty="0">
                <a:solidFill>
                  <a:srgbClr val="F4A623"/>
                </a:solidFill>
                <a:latin typeface="Calibri" pitchFamily="34" charset="0"/>
                <a:ea typeface="Calibri" pitchFamily="34" charset="-122"/>
                <a:cs typeface="Calibri" pitchFamily="34" charset="-120"/>
              </a:rPr>
              <a:t>$1,500-2,000/mo</a:t>
            </a:r>
            <a:endParaRPr lang="en-US" sz="1300" dirty="0"/>
          </a:p>
        </p:txBody>
      </p:sp>
      <p:sp>
        <p:nvSpPr>
          <p:cNvPr id="17" name="Text 15"/>
          <p:cNvSpPr/>
          <p:nvPr/>
        </p:nvSpPr>
        <p:spPr>
          <a:xfrm>
            <a:off x="5120640" y="4069080"/>
            <a:ext cx="3474720" cy="320040"/>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Retargeting &amp; loyalty campaigns</a:t>
            </a:r>
            <a:endParaRPr lang="en-US" sz="1100" dirty="0"/>
          </a:p>
        </p:txBody>
      </p:sp>
      <p:sp>
        <p:nvSpPr>
          <p:cNvPr id="18" name="Text 16"/>
          <p:cNvSpPr/>
          <p:nvPr/>
        </p:nvSpPr>
        <p:spPr>
          <a:xfrm>
            <a:off x="457200" y="4709160"/>
            <a:ext cx="8229600" cy="320040"/>
          </a:xfrm>
          <a:prstGeom prst="rect">
            <a:avLst/>
          </a:prstGeom>
          <a:noFill/>
          <a:ln/>
        </p:spPr>
        <p:txBody>
          <a:bodyPr wrap="square" lIns="0" tIns="0" rIns="0" bIns="0" rtlCol="0" anchor="ctr"/>
          <a:lstStyle/>
          <a:p>
            <a:pPr marL="0" indent="0" algn="ctr">
              <a:buNone/>
            </a:pPr>
            <a:r>
              <a:rPr lang="en-US" sz="1100" i="1" dirty="0">
                <a:solidFill>
                  <a:srgbClr val="F4A623"/>
                </a:solidFill>
                <a:latin typeface="Calibri" pitchFamily="34" charset="0"/>
                <a:ea typeface="Calibri" pitchFamily="34" charset="-122"/>
                <a:cs typeface="Calibri" pitchFamily="34" charset="-120"/>
              </a:rPr>
              <a:t>Expected CPC: $0.50-$1.50  |  Expected Cost Per Lead: $3-$15</a:t>
            </a:r>
            <a:endParaRPr lang="en-US" sz="1100" dirty="0"/>
          </a:p>
        </p:txBody>
      </p:sp>
    </p:spTree>
  </p:cSld>
  <p:clrMapOvr>
    <a:masterClrMapping/>
  </p:clrMapOvr>
  <p:transition spd="med">
    <p:wipe dir="d"/>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8F0"/>
        </a:solidFill>
        <a:effectLst/>
      </p:bgPr>
    </p:bg>
    <p:spTree>
      <p:nvGrpSpPr>
        <p:cNvPr id="1" name=""/>
        <p:cNvGrpSpPr/>
        <p:nvPr/>
      </p:nvGrpSpPr>
      <p:grpSpPr>
        <a:xfrm>
          <a:off x="0" y="0"/>
          <a:ext cx="0" cy="0"/>
          <a:chOff x="0" y="0"/>
          <a:chExt cx="0" cy="0"/>
        </a:xfrm>
      </p:grpSpPr>
      <p:pic>
        <p:nvPicPr>
          <p:cNvPr id="2" name="Image 0" descr="/agent/turn1/workspace/images/professional-photograph-of-hands-holding-smartphon_2026-05-05T01-37-07_image_DAS_0.jpg"/>
          <p:cNvPicPr>
            <a:picLocks noChangeAspect="1"/>
          </p:cNvPicPr>
          <p:nvPr/>
        </p:nvPicPr>
        <p:blipFill>
          <a:blip r:embed="rId3"/>
          <a:srcRect l="22487" r="22487"/>
          <a:stretch/>
        </p:blipFill>
        <p:spPr>
          <a:xfrm>
            <a:off x="5029200" y="0"/>
            <a:ext cx="4114800" cy="5143500"/>
          </a:xfrm>
          <a:prstGeom prst="rect">
            <a:avLst/>
          </a:prstGeom>
        </p:spPr>
      </p:pic>
      <p:sp>
        <p:nvSpPr>
          <p:cNvPr id="3" name="Text 0"/>
          <p:cNvSpPr/>
          <p:nvPr/>
        </p:nvSpPr>
        <p:spPr>
          <a:xfrm>
            <a:off x="640080" y="365760"/>
            <a:ext cx="411480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Reels &amp; Video Strategy</a:t>
            </a:r>
            <a:endParaRPr lang="en-US" sz="3400" dirty="0"/>
          </a:p>
        </p:txBody>
      </p:sp>
      <p:sp>
        <p:nvSpPr>
          <p:cNvPr id="4" name="Text 1"/>
          <p:cNvSpPr/>
          <p:nvPr/>
        </p:nvSpPr>
        <p:spPr>
          <a:xfrm>
            <a:off x="640080" y="1097280"/>
            <a:ext cx="4114800" cy="731520"/>
          </a:xfrm>
          <a:prstGeom prst="rect">
            <a:avLst/>
          </a:prstGeom>
          <a:noFill/>
          <a:ln/>
        </p:spPr>
        <p:txBody>
          <a:bodyPr wrap="square" lIns="0" tIns="0" rIns="0" bIns="0" rtlCol="0" anchor="ctr"/>
          <a:lstStyle/>
          <a:p>
            <a:pPr marL="0" indent="0" algn="l">
              <a:lnSpc>
                <a:spcPct val="130000"/>
              </a:lnSpc>
              <a:buNone/>
            </a:pPr>
            <a:r>
              <a:rPr lang="en-US" sz="1200" dirty="0">
                <a:solidFill>
                  <a:srgbClr val="666666"/>
                </a:solidFill>
                <a:latin typeface="Calibri" pitchFamily="34" charset="0"/>
                <a:ea typeface="Calibri" pitchFamily="34" charset="-122"/>
                <a:cs typeface="Calibri" pitchFamily="34" charset="-120"/>
              </a:rPr>
              <a:t>Video content gets 2x more engagement. Meta has made all videos into Reels — making short-form video essential for reach.</a:t>
            </a:r>
            <a:endParaRPr lang="en-US" sz="1200" dirty="0"/>
          </a:p>
        </p:txBody>
      </p:sp>
      <p:sp>
        <p:nvSpPr>
          <p:cNvPr id="5" name="Shape 2"/>
          <p:cNvSpPr/>
          <p:nvPr/>
        </p:nvSpPr>
        <p:spPr>
          <a:xfrm>
            <a:off x="457200" y="2011680"/>
            <a:ext cx="429768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6" name="Text 3"/>
          <p:cNvSpPr/>
          <p:nvPr/>
        </p:nvSpPr>
        <p:spPr>
          <a:xfrm>
            <a:off x="640080" y="2057400"/>
            <a:ext cx="1463040" cy="274320"/>
          </a:xfrm>
          <a:prstGeom prst="rect">
            <a:avLst/>
          </a:prstGeom>
          <a:noFill/>
          <a:ln/>
        </p:spPr>
        <p:txBody>
          <a:bodyPr wrap="square" lIns="0" tIns="0" rIns="0" bIns="0" rtlCol="0" anchor="ctr"/>
          <a:lstStyle/>
          <a:p>
            <a:pPr marL="0" indent="0" algn="l">
              <a:buNone/>
            </a:pPr>
            <a:r>
              <a:rPr lang="en-US" sz="1200" b="1" dirty="0">
                <a:solidFill>
                  <a:srgbClr val="D4451A"/>
                </a:solidFill>
                <a:latin typeface="Calibri" pitchFamily="34" charset="0"/>
                <a:ea typeface="Calibri" pitchFamily="34" charset="-122"/>
                <a:cs typeface="Calibri" pitchFamily="34" charset="-120"/>
              </a:rPr>
              <a:t>Kitchen Action</a:t>
            </a:r>
            <a:endParaRPr lang="en-US" sz="1200" dirty="0"/>
          </a:p>
        </p:txBody>
      </p:sp>
      <p:sp>
        <p:nvSpPr>
          <p:cNvPr id="7" name="Text 4"/>
          <p:cNvSpPr/>
          <p:nvPr/>
        </p:nvSpPr>
        <p:spPr>
          <a:xfrm>
            <a:off x="640080" y="2313432"/>
            <a:ext cx="3931920" cy="256032"/>
          </a:xfrm>
          <a:prstGeom prst="rect">
            <a:avLst/>
          </a:prstGeom>
          <a:noFill/>
          <a:ln/>
        </p:spPr>
        <p:txBody>
          <a:bodyPr wrap="square" lIns="0" tIns="0" rIns="0" bIns="0" rtlCol="0" anchor="ctr"/>
          <a:lstStyle/>
          <a:p>
            <a:pPr marL="0" indent="0" algn="l">
              <a:buNone/>
            </a:pPr>
            <a:r>
              <a:rPr lang="en-US" sz="1050" dirty="0">
                <a:solidFill>
                  <a:srgbClr val="666666"/>
                </a:solidFill>
                <a:latin typeface="Calibri" pitchFamily="34" charset="0"/>
                <a:ea typeface="Calibri" pitchFamily="34" charset="-122"/>
                <a:cs typeface="Calibri" pitchFamily="34" charset="-120"/>
              </a:rPr>
              <a:t>Noodle-pulling, wok-tossing, plating shots — 15-30 sec</a:t>
            </a:r>
            <a:endParaRPr lang="en-US" sz="1050" dirty="0"/>
          </a:p>
        </p:txBody>
      </p:sp>
      <p:sp>
        <p:nvSpPr>
          <p:cNvPr id="8" name="Shape 5"/>
          <p:cNvSpPr/>
          <p:nvPr/>
        </p:nvSpPr>
        <p:spPr>
          <a:xfrm>
            <a:off x="457200" y="2743200"/>
            <a:ext cx="429768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9" name="Text 6"/>
          <p:cNvSpPr/>
          <p:nvPr/>
        </p:nvSpPr>
        <p:spPr>
          <a:xfrm>
            <a:off x="640080" y="2788920"/>
            <a:ext cx="1463040" cy="274320"/>
          </a:xfrm>
          <a:prstGeom prst="rect">
            <a:avLst/>
          </a:prstGeom>
          <a:noFill/>
          <a:ln/>
        </p:spPr>
        <p:txBody>
          <a:bodyPr wrap="square" lIns="0" tIns="0" rIns="0" bIns="0" rtlCol="0" anchor="ctr"/>
          <a:lstStyle/>
          <a:p>
            <a:pPr marL="0" indent="0" algn="l">
              <a:buNone/>
            </a:pPr>
            <a:r>
              <a:rPr lang="en-US" sz="1200" b="1" dirty="0">
                <a:solidFill>
                  <a:srgbClr val="D4451A"/>
                </a:solidFill>
                <a:latin typeface="Calibri" pitchFamily="34" charset="0"/>
                <a:ea typeface="Calibri" pitchFamily="34" charset="-122"/>
                <a:cs typeface="Calibri" pitchFamily="34" charset="-120"/>
              </a:rPr>
              <a:t>Dish of the Day</a:t>
            </a:r>
            <a:endParaRPr lang="en-US" sz="1200" dirty="0"/>
          </a:p>
        </p:txBody>
      </p:sp>
      <p:sp>
        <p:nvSpPr>
          <p:cNvPr id="10" name="Text 7"/>
          <p:cNvSpPr/>
          <p:nvPr/>
        </p:nvSpPr>
        <p:spPr>
          <a:xfrm>
            <a:off x="640080" y="3044952"/>
            <a:ext cx="3931920" cy="256032"/>
          </a:xfrm>
          <a:prstGeom prst="rect">
            <a:avLst/>
          </a:prstGeom>
          <a:noFill/>
          <a:ln/>
        </p:spPr>
        <p:txBody>
          <a:bodyPr wrap="square" lIns="0" tIns="0" rIns="0" bIns="0" rtlCol="0" anchor="ctr"/>
          <a:lstStyle/>
          <a:p>
            <a:pPr marL="0" indent="0" algn="l">
              <a:buNone/>
            </a:pPr>
            <a:r>
              <a:rPr lang="en-US" sz="1050" dirty="0">
                <a:solidFill>
                  <a:srgbClr val="666666"/>
                </a:solidFill>
                <a:latin typeface="Calibri" pitchFamily="34" charset="0"/>
                <a:ea typeface="Calibri" pitchFamily="34" charset="-122"/>
                <a:cs typeface="Calibri" pitchFamily="34" charset="-120"/>
              </a:rPr>
              <a:t>Close-up food ASMR with sizzling sounds</a:t>
            </a:r>
            <a:endParaRPr lang="en-US" sz="1050" dirty="0"/>
          </a:p>
        </p:txBody>
      </p:sp>
      <p:sp>
        <p:nvSpPr>
          <p:cNvPr id="11" name="Shape 8"/>
          <p:cNvSpPr/>
          <p:nvPr/>
        </p:nvSpPr>
        <p:spPr>
          <a:xfrm>
            <a:off x="457200" y="3474720"/>
            <a:ext cx="429768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2" name="Text 9"/>
          <p:cNvSpPr/>
          <p:nvPr/>
        </p:nvSpPr>
        <p:spPr>
          <a:xfrm>
            <a:off x="640080" y="3520440"/>
            <a:ext cx="1463040" cy="274320"/>
          </a:xfrm>
          <a:prstGeom prst="rect">
            <a:avLst/>
          </a:prstGeom>
          <a:noFill/>
          <a:ln/>
        </p:spPr>
        <p:txBody>
          <a:bodyPr wrap="square" lIns="0" tIns="0" rIns="0" bIns="0" rtlCol="0" anchor="ctr"/>
          <a:lstStyle/>
          <a:p>
            <a:pPr marL="0" indent="0" algn="l">
              <a:buNone/>
            </a:pPr>
            <a:r>
              <a:rPr lang="en-US" sz="1200" b="1" dirty="0">
                <a:solidFill>
                  <a:srgbClr val="D4451A"/>
                </a:solidFill>
                <a:latin typeface="Calibri" pitchFamily="34" charset="0"/>
                <a:ea typeface="Calibri" pitchFamily="34" charset="-122"/>
                <a:cs typeface="Calibri" pitchFamily="34" charset="-120"/>
              </a:rPr>
              <a:t>Customer Reactions</a:t>
            </a:r>
            <a:endParaRPr lang="en-US" sz="1200" dirty="0"/>
          </a:p>
        </p:txBody>
      </p:sp>
      <p:sp>
        <p:nvSpPr>
          <p:cNvPr id="13" name="Text 10"/>
          <p:cNvSpPr/>
          <p:nvPr/>
        </p:nvSpPr>
        <p:spPr>
          <a:xfrm>
            <a:off x="640080" y="3776472"/>
            <a:ext cx="3931920" cy="256032"/>
          </a:xfrm>
          <a:prstGeom prst="rect">
            <a:avLst/>
          </a:prstGeom>
          <a:noFill/>
          <a:ln/>
        </p:spPr>
        <p:txBody>
          <a:bodyPr wrap="square" lIns="0" tIns="0" rIns="0" bIns="0" rtlCol="0" anchor="ctr"/>
          <a:lstStyle/>
          <a:p>
            <a:pPr marL="0" indent="0" algn="l">
              <a:buNone/>
            </a:pPr>
            <a:r>
              <a:rPr lang="en-US" sz="1050" dirty="0">
                <a:solidFill>
                  <a:srgbClr val="666666"/>
                </a:solidFill>
                <a:latin typeface="Calibri" pitchFamily="34" charset="0"/>
                <a:ea typeface="Calibri" pitchFamily="34" charset="-122"/>
                <a:cs typeface="Calibri" pitchFamily="34" charset="-120"/>
              </a:rPr>
              <a:t>First-bite reaction videos from real diners</a:t>
            </a:r>
            <a:endParaRPr lang="en-US" sz="1050" dirty="0"/>
          </a:p>
        </p:txBody>
      </p:sp>
      <p:sp>
        <p:nvSpPr>
          <p:cNvPr id="14" name="Shape 11"/>
          <p:cNvSpPr/>
          <p:nvPr/>
        </p:nvSpPr>
        <p:spPr>
          <a:xfrm>
            <a:off x="457200" y="4206240"/>
            <a:ext cx="429768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sp>
        <p:nvSpPr>
          <p:cNvPr id="15" name="Text 12"/>
          <p:cNvSpPr/>
          <p:nvPr/>
        </p:nvSpPr>
        <p:spPr>
          <a:xfrm>
            <a:off x="640080" y="4251960"/>
            <a:ext cx="1463040" cy="274320"/>
          </a:xfrm>
          <a:prstGeom prst="rect">
            <a:avLst/>
          </a:prstGeom>
          <a:noFill/>
          <a:ln/>
        </p:spPr>
        <p:txBody>
          <a:bodyPr wrap="square" lIns="0" tIns="0" rIns="0" bIns="0" rtlCol="0" anchor="ctr"/>
          <a:lstStyle/>
          <a:p>
            <a:pPr marL="0" indent="0" algn="l">
              <a:buNone/>
            </a:pPr>
            <a:r>
              <a:rPr lang="en-US" sz="1200" b="1" dirty="0">
                <a:solidFill>
                  <a:srgbClr val="D4451A"/>
                </a:solidFill>
                <a:latin typeface="Calibri" pitchFamily="34" charset="0"/>
                <a:ea typeface="Calibri" pitchFamily="34" charset="-122"/>
                <a:cs typeface="Calibri" pitchFamily="34" charset="-120"/>
              </a:rPr>
              <a:t>Founder Stories</a:t>
            </a:r>
            <a:endParaRPr lang="en-US" sz="1200" dirty="0"/>
          </a:p>
        </p:txBody>
      </p:sp>
      <p:sp>
        <p:nvSpPr>
          <p:cNvPr id="16" name="Text 13"/>
          <p:cNvSpPr/>
          <p:nvPr/>
        </p:nvSpPr>
        <p:spPr>
          <a:xfrm>
            <a:off x="640080" y="4507992"/>
            <a:ext cx="3931920" cy="256032"/>
          </a:xfrm>
          <a:prstGeom prst="rect">
            <a:avLst/>
          </a:prstGeom>
          <a:noFill/>
          <a:ln/>
        </p:spPr>
        <p:txBody>
          <a:bodyPr wrap="square" lIns="0" tIns="0" rIns="0" bIns="0" rtlCol="0" anchor="ctr"/>
          <a:lstStyle/>
          <a:p>
            <a:pPr marL="0" indent="0" algn="l">
              <a:buNone/>
            </a:pPr>
            <a:r>
              <a:rPr lang="en-US" sz="1050" dirty="0">
                <a:solidFill>
                  <a:srgbClr val="666666"/>
                </a:solidFill>
                <a:latin typeface="Calibri" pitchFamily="34" charset="0"/>
                <a:ea typeface="Calibri" pitchFamily="34" charset="-122"/>
                <a:cs typeface="Calibri" pitchFamily="34" charset="-120"/>
              </a:rPr>
              <a:t>Karan &amp; Rohit sharing the Noodle House journey</a:t>
            </a:r>
            <a:endParaRPr lang="en-US" sz="1050" dirty="0"/>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B1B12"/>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Georgia" pitchFamily="34" charset="0"/>
                <a:ea typeface="Georgia" pitchFamily="34" charset="-122"/>
                <a:cs typeface="Georgia" pitchFamily="34" charset="-120"/>
              </a:rPr>
              <a:t>Community Building &amp; Engagement</a:t>
            </a:r>
            <a:endParaRPr lang="en-US" sz="3200" dirty="0"/>
          </a:p>
        </p:txBody>
      </p:sp>
      <p:pic>
        <p:nvPicPr>
          <p:cNvPr id="3" name="Image 0" descr="/agent/turn1/workspace/images/modern-digital-illustration-of-diverse-local-commu_2026-05-05T01-37-14_image_DAS_0.jpg"/>
          <p:cNvPicPr>
            <a:picLocks noChangeAspect="1"/>
          </p:cNvPicPr>
          <p:nvPr/>
        </p:nvPicPr>
        <p:blipFill>
          <a:blip r:embed="rId3"/>
          <a:srcRect l="16667" r="16667"/>
          <a:stretch/>
        </p:blipFill>
        <p:spPr>
          <a:xfrm>
            <a:off x="457200" y="1097280"/>
            <a:ext cx="3200400" cy="3200400"/>
          </a:xfrm>
          <a:prstGeom prst="rect">
            <a:avLst/>
          </a:prstGeom>
        </p:spPr>
      </p:pic>
      <p:sp>
        <p:nvSpPr>
          <p:cNvPr id="4" name="Shape 1"/>
          <p:cNvSpPr/>
          <p:nvPr/>
        </p:nvSpPr>
        <p:spPr>
          <a:xfrm>
            <a:off x="3931920" y="1097280"/>
            <a:ext cx="4846320" cy="822960"/>
          </a:xfrm>
          <a:prstGeom prst="rect">
            <a:avLst/>
          </a:prstGeom>
          <a:solidFill>
            <a:srgbClr val="3D2B1F"/>
          </a:solidFill>
          <a:ln/>
        </p:spPr>
        <p:txBody>
          <a:bodyPr/>
          <a:lstStyle/>
          <a:p>
            <a:endParaRPr lang="en-IN"/>
          </a:p>
        </p:txBody>
      </p:sp>
      <p:sp>
        <p:nvSpPr>
          <p:cNvPr id="5" name="Shape 2"/>
          <p:cNvSpPr/>
          <p:nvPr/>
        </p:nvSpPr>
        <p:spPr>
          <a:xfrm>
            <a:off x="4069080" y="1261872"/>
            <a:ext cx="502920" cy="502920"/>
          </a:xfrm>
          <a:prstGeom prst="ellipse">
            <a:avLst/>
          </a:prstGeom>
          <a:solidFill>
            <a:srgbClr val="D4451A"/>
          </a:solidFill>
          <a:ln/>
        </p:spPr>
        <p:txBody>
          <a:bodyPr/>
          <a:lstStyle/>
          <a:p>
            <a:endParaRPr lang="en-IN"/>
          </a:p>
        </p:txBody>
      </p:sp>
      <p:pic>
        <p:nvPicPr>
          <p:cNvPr id="6" name="Image 1" descr="preencoded.png"/>
          <p:cNvPicPr>
            <a:picLocks noChangeAspect="1"/>
          </p:cNvPicPr>
          <p:nvPr/>
        </p:nvPicPr>
        <p:blipFill>
          <a:blip r:embed="rId4"/>
          <a:stretch>
            <a:fillRect/>
          </a:stretch>
        </p:blipFill>
        <p:spPr>
          <a:xfrm>
            <a:off x="4169664" y="1353312"/>
            <a:ext cx="301752" cy="301752"/>
          </a:xfrm>
          <a:prstGeom prst="rect">
            <a:avLst/>
          </a:prstGeom>
        </p:spPr>
      </p:pic>
      <p:sp>
        <p:nvSpPr>
          <p:cNvPr id="7" name="Text 3"/>
          <p:cNvSpPr/>
          <p:nvPr/>
        </p:nvSpPr>
        <p:spPr>
          <a:xfrm>
            <a:off x="4754880" y="1143000"/>
            <a:ext cx="384048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Respond to Every Comment</a:t>
            </a:r>
            <a:endParaRPr lang="en-US" sz="1300" dirty="0"/>
          </a:p>
        </p:txBody>
      </p:sp>
      <p:sp>
        <p:nvSpPr>
          <p:cNvPr id="8" name="Text 4"/>
          <p:cNvSpPr/>
          <p:nvPr/>
        </p:nvSpPr>
        <p:spPr>
          <a:xfrm>
            <a:off x="4754880" y="1444752"/>
            <a:ext cx="3840480" cy="411480"/>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Reply within 1 hour. Personalized responses build loyalty and boost algorithmic reach.</a:t>
            </a:r>
            <a:endParaRPr lang="en-US" sz="1050" dirty="0"/>
          </a:p>
        </p:txBody>
      </p:sp>
      <p:sp>
        <p:nvSpPr>
          <p:cNvPr id="9" name="Shape 5"/>
          <p:cNvSpPr/>
          <p:nvPr/>
        </p:nvSpPr>
        <p:spPr>
          <a:xfrm>
            <a:off x="3931920" y="2057400"/>
            <a:ext cx="4846320" cy="822960"/>
          </a:xfrm>
          <a:prstGeom prst="rect">
            <a:avLst/>
          </a:prstGeom>
          <a:solidFill>
            <a:srgbClr val="3D2B1F"/>
          </a:solidFill>
          <a:ln/>
        </p:spPr>
        <p:txBody>
          <a:bodyPr/>
          <a:lstStyle/>
          <a:p>
            <a:endParaRPr lang="en-IN"/>
          </a:p>
        </p:txBody>
      </p:sp>
      <p:sp>
        <p:nvSpPr>
          <p:cNvPr id="10" name="Shape 6"/>
          <p:cNvSpPr/>
          <p:nvPr/>
        </p:nvSpPr>
        <p:spPr>
          <a:xfrm>
            <a:off x="4069080" y="2221992"/>
            <a:ext cx="502920" cy="502920"/>
          </a:xfrm>
          <a:prstGeom prst="ellipse">
            <a:avLst/>
          </a:prstGeom>
          <a:solidFill>
            <a:srgbClr val="D4451A"/>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4169664" y="2313432"/>
            <a:ext cx="301752" cy="301752"/>
          </a:xfrm>
          <a:prstGeom prst="rect">
            <a:avLst/>
          </a:prstGeom>
        </p:spPr>
      </p:pic>
      <p:sp>
        <p:nvSpPr>
          <p:cNvPr id="12" name="Text 7"/>
          <p:cNvSpPr/>
          <p:nvPr/>
        </p:nvSpPr>
        <p:spPr>
          <a:xfrm>
            <a:off x="4754880" y="2103120"/>
            <a:ext cx="384048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Encourage Reviews</a:t>
            </a:r>
            <a:endParaRPr lang="en-US" sz="1300" dirty="0"/>
          </a:p>
        </p:txBody>
      </p:sp>
      <p:sp>
        <p:nvSpPr>
          <p:cNvPr id="13" name="Text 8"/>
          <p:cNvSpPr/>
          <p:nvPr/>
        </p:nvSpPr>
        <p:spPr>
          <a:xfrm>
            <a:off x="4754880" y="2404872"/>
            <a:ext cx="3840480" cy="411480"/>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Ask satisfied diners to leave reviews. Offer a free add-on as a thank-you incentive.</a:t>
            </a:r>
            <a:endParaRPr lang="en-US" sz="1050" dirty="0"/>
          </a:p>
        </p:txBody>
      </p:sp>
      <p:sp>
        <p:nvSpPr>
          <p:cNvPr id="14" name="Shape 9"/>
          <p:cNvSpPr/>
          <p:nvPr/>
        </p:nvSpPr>
        <p:spPr>
          <a:xfrm>
            <a:off x="3931920" y="3017520"/>
            <a:ext cx="4846320" cy="822960"/>
          </a:xfrm>
          <a:prstGeom prst="rect">
            <a:avLst/>
          </a:prstGeom>
          <a:solidFill>
            <a:srgbClr val="3D2B1F"/>
          </a:solidFill>
          <a:ln/>
        </p:spPr>
        <p:txBody>
          <a:bodyPr/>
          <a:lstStyle/>
          <a:p>
            <a:endParaRPr lang="en-IN"/>
          </a:p>
        </p:txBody>
      </p:sp>
      <p:sp>
        <p:nvSpPr>
          <p:cNvPr id="15" name="Shape 10"/>
          <p:cNvSpPr/>
          <p:nvPr/>
        </p:nvSpPr>
        <p:spPr>
          <a:xfrm>
            <a:off x="4069080" y="3182112"/>
            <a:ext cx="502920" cy="502920"/>
          </a:xfrm>
          <a:prstGeom prst="ellipse">
            <a:avLst/>
          </a:prstGeom>
          <a:solidFill>
            <a:srgbClr val="D4451A"/>
          </a:solidFill>
          <a:ln/>
        </p:spPr>
        <p:txBody>
          <a:bodyPr/>
          <a:lstStyle/>
          <a:p>
            <a:endParaRPr lang="en-IN"/>
          </a:p>
        </p:txBody>
      </p:sp>
      <p:pic>
        <p:nvPicPr>
          <p:cNvPr id="16" name="Image 3" descr="preencoded.png"/>
          <p:cNvPicPr>
            <a:picLocks noChangeAspect="1"/>
          </p:cNvPicPr>
          <p:nvPr/>
        </p:nvPicPr>
        <p:blipFill>
          <a:blip r:embed="rId6"/>
          <a:stretch>
            <a:fillRect/>
          </a:stretch>
        </p:blipFill>
        <p:spPr>
          <a:xfrm>
            <a:off x="4169664" y="3273552"/>
            <a:ext cx="301752" cy="301752"/>
          </a:xfrm>
          <a:prstGeom prst="rect">
            <a:avLst/>
          </a:prstGeom>
        </p:spPr>
      </p:pic>
      <p:sp>
        <p:nvSpPr>
          <p:cNvPr id="17" name="Text 11"/>
          <p:cNvSpPr/>
          <p:nvPr/>
        </p:nvSpPr>
        <p:spPr>
          <a:xfrm>
            <a:off x="4754880" y="3063240"/>
            <a:ext cx="384048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Run Contests &amp; Polls</a:t>
            </a:r>
            <a:endParaRPr lang="en-US" sz="1300" dirty="0"/>
          </a:p>
        </p:txBody>
      </p:sp>
      <p:sp>
        <p:nvSpPr>
          <p:cNvPr id="18" name="Text 12"/>
          <p:cNvSpPr/>
          <p:nvPr/>
        </p:nvSpPr>
        <p:spPr>
          <a:xfrm>
            <a:off x="4754880" y="3364992"/>
            <a:ext cx="3840480" cy="411480"/>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'Name our new dish' or 'Pick the next special' — drives massive engagement.</a:t>
            </a:r>
            <a:endParaRPr lang="en-US" sz="1050" dirty="0"/>
          </a:p>
        </p:txBody>
      </p:sp>
      <p:sp>
        <p:nvSpPr>
          <p:cNvPr id="19" name="Shape 13"/>
          <p:cNvSpPr/>
          <p:nvPr/>
        </p:nvSpPr>
        <p:spPr>
          <a:xfrm>
            <a:off x="3931920" y="3977640"/>
            <a:ext cx="4846320" cy="822960"/>
          </a:xfrm>
          <a:prstGeom prst="rect">
            <a:avLst/>
          </a:prstGeom>
          <a:solidFill>
            <a:srgbClr val="3D2B1F"/>
          </a:solidFill>
          <a:ln/>
        </p:spPr>
        <p:txBody>
          <a:bodyPr/>
          <a:lstStyle/>
          <a:p>
            <a:endParaRPr lang="en-IN"/>
          </a:p>
        </p:txBody>
      </p:sp>
      <p:sp>
        <p:nvSpPr>
          <p:cNvPr id="20" name="Shape 14"/>
          <p:cNvSpPr/>
          <p:nvPr/>
        </p:nvSpPr>
        <p:spPr>
          <a:xfrm>
            <a:off x="4069080" y="4142232"/>
            <a:ext cx="502920" cy="502920"/>
          </a:xfrm>
          <a:prstGeom prst="ellipse">
            <a:avLst/>
          </a:prstGeom>
          <a:solidFill>
            <a:srgbClr val="D4451A"/>
          </a:solidFill>
          <a:ln/>
        </p:spPr>
        <p:txBody>
          <a:bodyPr/>
          <a:lstStyle/>
          <a:p>
            <a:endParaRPr lang="en-IN"/>
          </a:p>
        </p:txBody>
      </p:sp>
      <p:pic>
        <p:nvPicPr>
          <p:cNvPr id="21" name="Image 4" descr="preencoded.png"/>
          <p:cNvPicPr>
            <a:picLocks noChangeAspect="1"/>
          </p:cNvPicPr>
          <p:nvPr/>
        </p:nvPicPr>
        <p:blipFill>
          <a:blip r:embed="rId7"/>
          <a:stretch>
            <a:fillRect/>
          </a:stretch>
        </p:blipFill>
        <p:spPr>
          <a:xfrm>
            <a:off x="4169664" y="4233672"/>
            <a:ext cx="301752" cy="301752"/>
          </a:xfrm>
          <a:prstGeom prst="rect">
            <a:avLst/>
          </a:prstGeom>
        </p:spPr>
      </p:pic>
      <p:sp>
        <p:nvSpPr>
          <p:cNvPr id="22" name="Text 15"/>
          <p:cNvSpPr/>
          <p:nvPr/>
        </p:nvSpPr>
        <p:spPr>
          <a:xfrm>
            <a:off x="4754880" y="4023360"/>
            <a:ext cx="384048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Leverage Messenger</a:t>
            </a:r>
            <a:endParaRPr lang="en-US" sz="1300" dirty="0"/>
          </a:p>
        </p:txBody>
      </p:sp>
      <p:sp>
        <p:nvSpPr>
          <p:cNvPr id="23" name="Text 16"/>
          <p:cNvSpPr/>
          <p:nvPr/>
        </p:nvSpPr>
        <p:spPr>
          <a:xfrm>
            <a:off x="4754880" y="4325112"/>
            <a:ext cx="3840480" cy="411480"/>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Set up auto-replies for FAQs: menu, hours, location. Use chatbots for ordering.</a:t>
            </a:r>
            <a:endParaRPr lang="en-US" sz="1050" dirty="0"/>
          </a:p>
        </p:txBody>
      </p:sp>
      <p:sp>
        <p:nvSpPr>
          <p:cNvPr id="24" name="Text 17"/>
          <p:cNvSpPr/>
          <p:nvPr/>
        </p:nvSpPr>
        <p:spPr>
          <a:xfrm>
            <a:off x="457200" y="4663440"/>
            <a:ext cx="8229600" cy="365760"/>
          </a:xfrm>
          <a:prstGeom prst="rect">
            <a:avLst/>
          </a:prstGeom>
          <a:noFill/>
          <a:ln/>
        </p:spPr>
        <p:txBody>
          <a:bodyPr wrap="square" lIns="0" tIns="0" rIns="0" bIns="0" rtlCol="0" anchor="ctr"/>
          <a:lstStyle/>
          <a:p>
            <a:pPr marL="0" indent="0" algn="ctr">
              <a:buNone/>
            </a:pPr>
            <a:r>
              <a:rPr lang="en-US" sz="1200" i="1" dirty="0">
                <a:solidFill>
                  <a:srgbClr val="F4A623"/>
                </a:solidFill>
                <a:latin typeface="Calibri" pitchFamily="34" charset="0"/>
                <a:ea typeface="Calibri" pitchFamily="34" charset="-122"/>
                <a:cs typeface="Calibri" pitchFamily="34" charset="-120"/>
              </a:rPr>
              <a:t>Goal: Build a community of regulars who promote Noodle House organically</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8F0"/>
        </a:solidFill>
        <a:effectLst/>
      </p:bgPr>
    </p:bg>
    <p:spTree>
      <p:nvGrpSpPr>
        <p:cNvPr id="1" name=""/>
        <p:cNvGrpSpPr/>
        <p:nvPr/>
      </p:nvGrpSpPr>
      <p:grpSpPr>
        <a:xfrm>
          <a:off x="0" y="0"/>
          <a:ext cx="0" cy="0"/>
          <a:chOff x="0" y="0"/>
          <a:chExt cx="0" cy="0"/>
        </a:xfrm>
      </p:grpSpPr>
      <p:sp>
        <p:nvSpPr>
          <p:cNvPr id="2" name="Text 0"/>
          <p:cNvSpPr/>
          <p:nvPr/>
        </p:nvSpPr>
        <p:spPr>
          <a:xfrm>
            <a:off x="640080" y="365760"/>
            <a:ext cx="457200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KPIs &amp; Success Metrics</a:t>
            </a:r>
            <a:endParaRPr lang="en-US" sz="3400" dirty="0"/>
          </a:p>
        </p:txBody>
      </p:sp>
      <p:sp>
        <p:nvSpPr>
          <p:cNvPr id="3" name="Shape 1"/>
          <p:cNvSpPr/>
          <p:nvPr/>
        </p:nvSpPr>
        <p:spPr>
          <a:xfrm>
            <a:off x="457200" y="1280160"/>
            <a:ext cx="228600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1325880" y="1417320"/>
            <a:ext cx="457200" cy="457200"/>
          </a:xfrm>
          <a:prstGeom prst="rect">
            <a:avLst/>
          </a:prstGeom>
        </p:spPr>
      </p:pic>
      <p:sp>
        <p:nvSpPr>
          <p:cNvPr id="5" name="Text 2"/>
          <p:cNvSpPr/>
          <p:nvPr/>
        </p:nvSpPr>
        <p:spPr>
          <a:xfrm>
            <a:off x="548640" y="1920240"/>
            <a:ext cx="2103120" cy="274320"/>
          </a:xfrm>
          <a:prstGeom prst="rect">
            <a:avLst/>
          </a:prstGeom>
          <a:noFill/>
          <a:ln/>
        </p:spPr>
        <p:txBody>
          <a:bodyPr wrap="square" lIns="0" tIns="0" rIns="0" bIns="0" rtlCol="0" anchor="ctr"/>
          <a:lstStyle/>
          <a:p>
            <a:pPr marL="0" indent="0" algn="ctr">
              <a:buNone/>
            </a:pPr>
            <a:r>
              <a:rPr lang="en-US" sz="1300" b="1" dirty="0">
                <a:solidFill>
                  <a:srgbClr val="2B1B12"/>
                </a:solidFill>
                <a:latin typeface="Calibri" pitchFamily="34" charset="0"/>
                <a:ea typeface="Calibri" pitchFamily="34" charset="-122"/>
                <a:cs typeface="Calibri" pitchFamily="34" charset="-120"/>
              </a:rPr>
              <a:t>Page Reach</a:t>
            </a:r>
            <a:endParaRPr lang="en-US" sz="1300" dirty="0"/>
          </a:p>
        </p:txBody>
      </p:sp>
      <p:sp>
        <p:nvSpPr>
          <p:cNvPr id="6" name="Text 3"/>
          <p:cNvSpPr/>
          <p:nvPr/>
        </p:nvSpPr>
        <p:spPr>
          <a:xfrm>
            <a:off x="548640" y="2194560"/>
            <a:ext cx="2103120" cy="228600"/>
          </a:xfrm>
          <a:prstGeom prst="rect">
            <a:avLst/>
          </a:prstGeom>
          <a:noFill/>
          <a:ln/>
        </p:spPr>
        <p:txBody>
          <a:bodyPr wrap="square" lIns="0" tIns="0" rIns="0" bIns="0" rtlCol="0" anchor="ctr"/>
          <a:lstStyle/>
          <a:p>
            <a:pPr marL="0" indent="0" algn="ctr">
              <a:buNone/>
            </a:pPr>
            <a:r>
              <a:rPr lang="en-US" sz="1600" b="1" dirty="0">
                <a:solidFill>
                  <a:srgbClr val="D4451A"/>
                </a:solidFill>
                <a:latin typeface="Georgia" pitchFamily="34" charset="0"/>
                <a:ea typeface="Georgia" pitchFamily="34" charset="-122"/>
                <a:cs typeface="Georgia" pitchFamily="34" charset="-120"/>
              </a:rPr>
              <a:t>10K+ monthly</a:t>
            </a:r>
            <a:endParaRPr lang="en-US" sz="1600" dirty="0"/>
          </a:p>
        </p:txBody>
      </p:sp>
      <p:sp>
        <p:nvSpPr>
          <p:cNvPr id="7" name="Text 4"/>
          <p:cNvSpPr/>
          <p:nvPr/>
        </p:nvSpPr>
        <p:spPr>
          <a:xfrm>
            <a:off x="548640" y="2423160"/>
            <a:ext cx="2103120" cy="22860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Organic + paid impressions</a:t>
            </a:r>
            <a:endParaRPr lang="en-US" sz="1000" dirty="0"/>
          </a:p>
        </p:txBody>
      </p:sp>
      <p:sp>
        <p:nvSpPr>
          <p:cNvPr id="8" name="Shape 5"/>
          <p:cNvSpPr/>
          <p:nvPr/>
        </p:nvSpPr>
        <p:spPr>
          <a:xfrm>
            <a:off x="2926080" y="1280160"/>
            <a:ext cx="228600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9" name="Image 1" descr="preencoded.png"/>
          <p:cNvPicPr>
            <a:picLocks noChangeAspect="1"/>
          </p:cNvPicPr>
          <p:nvPr/>
        </p:nvPicPr>
        <p:blipFill>
          <a:blip r:embed="rId4"/>
          <a:stretch>
            <a:fillRect/>
          </a:stretch>
        </p:blipFill>
        <p:spPr>
          <a:xfrm>
            <a:off x="3794760" y="1417320"/>
            <a:ext cx="457200" cy="457200"/>
          </a:xfrm>
          <a:prstGeom prst="rect">
            <a:avLst/>
          </a:prstGeom>
        </p:spPr>
      </p:pic>
      <p:sp>
        <p:nvSpPr>
          <p:cNvPr id="10" name="Text 6"/>
          <p:cNvSpPr/>
          <p:nvPr/>
        </p:nvSpPr>
        <p:spPr>
          <a:xfrm>
            <a:off x="3017520" y="1920240"/>
            <a:ext cx="2103120" cy="274320"/>
          </a:xfrm>
          <a:prstGeom prst="rect">
            <a:avLst/>
          </a:prstGeom>
          <a:noFill/>
          <a:ln/>
        </p:spPr>
        <p:txBody>
          <a:bodyPr wrap="square" lIns="0" tIns="0" rIns="0" bIns="0" rtlCol="0" anchor="ctr"/>
          <a:lstStyle/>
          <a:p>
            <a:pPr marL="0" indent="0" algn="ctr">
              <a:buNone/>
            </a:pPr>
            <a:r>
              <a:rPr lang="en-US" sz="1300" b="1" dirty="0">
                <a:solidFill>
                  <a:srgbClr val="2B1B12"/>
                </a:solidFill>
                <a:latin typeface="Calibri" pitchFamily="34" charset="0"/>
                <a:ea typeface="Calibri" pitchFamily="34" charset="-122"/>
                <a:cs typeface="Calibri" pitchFamily="34" charset="-120"/>
              </a:rPr>
              <a:t>Engagement Rate</a:t>
            </a:r>
            <a:endParaRPr lang="en-US" sz="1300" dirty="0"/>
          </a:p>
        </p:txBody>
      </p:sp>
      <p:sp>
        <p:nvSpPr>
          <p:cNvPr id="11" name="Text 7"/>
          <p:cNvSpPr/>
          <p:nvPr/>
        </p:nvSpPr>
        <p:spPr>
          <a:xfrm>
            <a:off x="3017520" y="2194560"/>
            <a:ext cx="2103120" cy="228600"/>
          </a:xfrm>
          <a:prstGeom prst="rect">
            <a:avLst/>
          </a:prstGeom>
          <a:noFill/>
          <a:ln/>
        </p:spPr>
        <p:txBody>
          <a:bodyPr wrap="square" lIns="0" tIns="0" rIns="0" bIns="0" rtlCol="0" anchor="ctr"/>
          <a:lstStyle/>
          <a:p>
            <a:pPr marL="0" indent="0" algn="ctr">
              <a:buNone/>
            </a:pPr>
            <a:r>
              <a:rPr lang="en-US" sz="1600" b="1" dirty="0">
                <a:solidFill>
                  <a:srgbClr val="D4451A"/>
                </a:solidFill>
                <a:latin typeface="Georgia" pitchFamily="34" charset="0"/>
                <a:ea typeface="Georgia" pitchFamily="34" charset="-122"/>
                <a:cs typeface="Georgia" pitchFamily="34" charset="-120"/>
              </a:rPr>
              <a:t>3-5%</a:t>
            </a:r>
            <a:endParaRPr lang="en-US" sz="1600" dirty="0"/>
          </a:p>
        </p:txBody>
      </p:sp>
      <p:sp>
        <p:nvSpPr>
          <p:cNvPr id="12" name="Text 8"/>
          <p:cNvSpPr/>
          <p:nvPr/>
        </p:nvSpPr>
        <p:spPr>
          <a:xfrm>
            <a:off x="3017520" y="2423160"/>
            <a:ext cx="2103120" cy="22860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Likes, comments, shares</a:t>
            </a:r>
            <a:endParaRPr lang="en-US" sz="1000" dirty="0"/>
          </a:p>
        </p:txBody>
      </p:sp>
      <p:sp>
        <p:nvSpPr>
          <p:cNvPr id="13" name="Shape 9"/>
          <p:cNvSpPr/>
          <p:nvPr/>
        </p:nvSpPr>
        <p:spPr>
          <a:xfrm>
            <a:off x="457200" y="2926080"/>
            <a:ext cx="228600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14" name="Image 2" descr="preencoded.png"/>
          <p:cNvPicPr>
            <a:picLocks noChangeAspect="1"/>
          </p:cNvPicPr>
          <p:nvPr/>
        </p:nvPicPr>
        <p:blipFill>
          <a:blip r:embed="rId5"/>
          <a:stretch>
            <a:fillRect/>
          </a:stretch>
        </p:blipFill>
        <p:spPr>
          <a:xfrm>
            <a:off x="1325880" y="3063240"/>
            <a:ext cx="457200" cy="457200"/>
          </a:xfrm>
          <a:prstGeom prst="rect">
            <a:avLst/>
          </a:prstGeom>
        </p:spPr>
      </p:pic>
      <p:sp>
        <p:nvSpPr>
          <p:cNvPr id="15" name="Text 10"/>
          <p:cNvSpPr/>
          <p:nvPr/>
        </p:nvSpPr>
        <p:spPr>
          <a:xfrm>
            <a:off x="548640" y="3566160"/>
            <a:ext cx="2103120" cy="274320"/>
          </a:xfrm>
          <a:prstGeom prst="rect">
            <a:avLst/>
          </a:prstGeom>
          <a:noFill/>
          <a:ln/>
        </p:spPr>
        <p:txBody>
          <a:bodyPr wrap="square" lIns="0" tIns="0" rIns="0" bIns="0" rtlCol="0" anchor="ctr"/>
          <a:lstStyle/>
          <a:p>
            <a:pPr marL="0" indent="0" algn="ctr">
              <a:buNone/>
            </a:pPr>
            <a:r>
              <a:rPr lang="en-US" sz="1300" b="1" dirty="0">
                <a:solidFill>
                  <a:srgbClr val="2B1B12"/>
                </a:solidFill>
                <a:latin typeface="Calibri" pitchFamily="34" charset="0"/>
                <a:ea typeface="Calibri" pitchFamily="34" charset="-122"/>
                <a:cs typeface="Calibri" pitchFamily="34" charset="-120"/>
              </a:rPr>
              <a:t>Click-Through Rate</a:t>
            </a:r>
            <a:endParaRPr lang="en-US" sz="1300" dirty="0"/>
          </a:p>
        </p:txBody>
      </p:sp>
      <p:sp>
        <p:nvSpPr>
          <p:cNvPr id="16" name="Text 11"/>
          <p:cNvSpPr/>
          <p:nvPr/>
        </p:nvSpPr>
        <p:spPr>
          <a:xfrm>
            <a:off x="548640" y="3840480"/>
            <a:ext cx="2103120" cy="228600"/>
          </a:xfrm>
          <a:prstGeom prst="rect">
            <a:avLst/>
          </a:prstGeom>
          <a:noFill/>
          <a:ln/>
        </p:spPr>
        <p:txBody>
          <a:bodyPr wrap="square" lIns="0" tIns="0" rIns="0" bIns="0" rtlCol="0" anchor="ctr"/>
          <a:lstStyle/>
          <a:p>
            <a:pPr marL="0" indent="0" algn="ctr">
              <a:buNone/>
            </a:pPr>
            <a:r>
              <a:rPr lang="en-US" sz="1600" b="1" dirty="0">
                <a:solidFill>
                  <a:srgbClr val="D4451A"/>
                </a:solidFill>
                <a:latin typeface="Georgia" pitchFamily="34" charset="0"/>
                <a:ea typeface="Georgia" pitchFamily="34" charset="-122"/>
                <a:cs typeface="Georgia" pitchFamily="34" charset="-120"/>
              </a:rPr>
              <a:t>1.5-3%</a:t>
            </a:r>
            <a:endParaRPr lang="en-US" sz="1600" dirty="0"/>
          </a:p>
        </p:txBody>
      </p:sp>
      <p:sp>
        <p:nvSpPr>
          <p:cNvPr id="17" name="Text 12"/>
          <p:cNvSpPr/>
          <p:nvPr/>
        </p:nvSpPr>
        <p:spPr>
          <a:xfrm>
            <a:off x="548640" y="4069080"/>
            <a:ext cx="2103120" cy="22860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Ad CTR benchmark</a:t>
            </a:r>
            <a:endParaRPr lang="en-US" sz="1000" dirty="0"/>
          </a:p>
        </p:txBody>
      </p:sp>
      <p:sp>
        <p:nvSpPr>
          <p:cNvPr id="18" name="Shape 13"/>
          <p:cNvSpPr/>
          <p:nvPr/>
        </p:nvSpPr>
        <p:spPr>
          <a:xfrm>
            <a:off x="2926080" y="2926080"/>
            <a:ext cx="228600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IN"/>
          </a:p>
        </p:txBody>
      </p:sp>
      <p:pic>
        <p:nvPicPr>
          <p:cNvPr id="19" name="Image 3" descr="preencoded.png"/>
          <p:cNvPicPr>
            <a:picLocks noChangeAspect="1"/>
          </p:cNvPicPr>
          <p:nvPr/>
        </p:nvPicPr>
        <p:blipFill>
          <a:blip r:embed="rId6"/>
          <a:stretch>
            <a:fillRect/>
          </a:stretch>
        </p:blipFill>
        <p:spPr>
          <a:xfrm>
            <a:off x="3794760" y="3063240"/>
            <a:ext cx="457200" cy="457200"/>
          </a:xfrm>
          <a:prstGeom prst="rect">
            <a:avLst/>
          </a:prstGeom>
        </p:spPr>
      </p:pic>
      <p:sp>
        <p:nvSpPr>
          <p:cNvPr id="20" name="Text 14"/>
          <p:cNvSpPr/>
          <p:nvPr/>
        </p:nvSpPr>
        <p:spPr>
          <a:xfrm>
            <a:off x="3017520" y="3566160"/>
            <a:ext cx="2103120" cy="274320"/>
          </a:xfrm>
          <a:prstGeom prst="rect">
            <a:avLst/>
          </a:prstGeom>
          <a:noFill/>
          <a:ln/>
        </p:spPr>
        <p:txBody>
          <a:bodyPr wrap="square" lIns="0" tIns="0" rIns="0" bIns="0" rtlCol="0" anchor="ctr"/>
          <a:lstStyle/>
          <a:p>
            <a:pPr marL="0" indent="0" algn="ctr">
              <a:buNone/>
            </a:pPr>
            <a:r>
              <a:rPr lang="en-US" sz="1300" b="1" dirty="0">
                <a:solidFill>
                  <a:srgbClr val="2B1B12"/>
                </a:solidFill>
                <a:latin typeface="Calibri" pitchFamily="34" charset="0"/>
                <a:ea typeface="Calibri" pitchFamily="34" charset="-122"/>
                <a:cs typeface="Calibri" pitchFamily="34" charset="-120"/>
              </a:rPr>
              <a:t>Conversions</a:t>
            </a:r>
            <a:endParaRPr lang="en-US" sz="1300" dirty="0"/>
          </a:p>
        </p:txBody>
      </p:sp>
      <p:sp>
        <p:nvSpPr>
          <p:cNvPr id="21" name="Text 15"/>
          <p:cNvSpPr/>
          <p:nvPr/>
        </p:nvSpPr>
        <p:spPr>
          <a:xfrm>
            <a:off x="3017520" y="3840480"/>
            <a:ext cx="2103120" cy="228600"/>
          </a:xfrm>
          <a:prstGeom prst="rect">
            <a:avLst/>
          </a:prstGeom>
          <a:noFill/>
          <a:ln/>
        </p:spPr>
        <p:txBody>
          <a:bodyPr wrap="square" lIns="0" tIns="0" rIns="0" bIns="0" rtlCol="0" anchor="ctr"/>
          <a:lstStyle/>
          <a:p>
            <a:pPr marL="0" indent="0" algn="ctr">
              <a:buNone/>
            </a:pPr>
            <a:r>
              <a:rPr lang="en-US" sz="1600" b="1" dirty="0">
                <a:solidFill>
                  <a:srgbClr val="D4451A"/>
                </a:solidFill>
                <a:latin typeface="Georgia" pitchFamily="34" charset="0"/>
                <a:ea typeface="Georgia" pitchFamily="34" charset="-122"/>
                <a:cs typeface="Georgia" pitchFamily="34" charset="-120"/>
              </a:rPr>
              <a:t>50-100/mo</a:t>
            </a:r>
            <a:endParaRPr lang="en-US" sz="1600" dirty="0"/>
          </a:p>
        </p:txBody>
      </p:sp>
      <p:sp>
        <p:nvSpPr>
          <p:cNvPr id="22" name="Text 16"/>
          <p:cNvSpPr/>
          <p:nvPr/>
        </p:nvSpPr>
        <p:spPr>
          <a:xfrm>
            <a:off x="3017520" y="4069080"/>
            <a:ext cx="2103120" cy="22860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Orders from Facebook</a:t>
            </a:r>
            <a:endParaRPr lang="en-US" sz="1000" dirty="0"/>
          </a:p>
        </p:txBody>
      </p:sp>
      <p:pic>
        <p:nvPicPr>
          <p:cNvPr id="23" name="Image 4" descr="/agent/turn1/workspace/images/modern-flat-illustration-of-data-analytics-dashboa_2026-05-05T01-37-13_image_DAS_0.jpg"/>
          <p:cNvPicPr>
            <a:picLocks noChangeAspect="1"/>
          </p:cNvPicPr>
          <p:nvPr/>
        </p:nvPicPr>
        <p:blipFill>
          <a:blip r:embed="rId7"/>
          <a:srcRect l="19647" r="19647"/>
          <a:stretch/>
        </p:blipFill>
        <p:spPr>
          <a:xfrm>
            <a:off x="5486400" y="1097280"/>
            <a:ext cx="3291840" cy="3474720"/>
          </a:xfrm>
          <a:prstGeom prst="rect">
            <a:avLst/>
          </a:prstGeom>
        </p:spPr>
      </p:pic>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lgn="l">
              <a:buNone/>
            </a:pPr>
            <a:r>
              <a:rPr lang="en-US" sz="3400" b="1" dirty="0">
                <a:solidFill>
                  <a:srgbClr val="2B1B12"/>
                </a:solidFill>
                <a:latin typeface="Georgia" pitchFamily="34" charset="0"/>
                <a:ea typeface="Georgia" pitchFamily="34" charset="-122"/>
                <a:cs typeface="Georgia" pitchFamily="34" charset="-120"/>
              </a:rPr>
              <a:t>90-Day Roadmap</a:t>
            </a:r>
            <a:endParaRPr lang="en-US" sz="3400" dirty="0"/>
          </a:p>
        </p:txBody>
      </p:sp>
      <p:sp>
        <p:nvSpPr>
          <p:cNvPr id="3" name="Shape 1"/>
          <p:cNvSpPr/>
          <p:nvPr/>
        </p:nvSpPr>
        <p:spPr>
          <a:xfrm>
            <a:off x="365760" y="1188720"/>
            <a:ext cx="2743200" cy="548640"/>
          </a:xfrm>
          <a:prstGeom prst="rect">
            <a:avLst/>
          </a:prstGeom>
          <a:solidFill>
            <a:srgbClr val="D4451A"/>
          </a:solidFill>
          <a:ln/>
        </p:spPr>
        <p:txBody>
          <a:bodyPr/>
          <a:lstStyle/>
          <a:p>
            <a:endParaRPr lang="en-IN"/>
          </a:p>
        </p:txBody>
      </p:sp>
      <p:sp>
        <p:nvSpPr>
          <p:cNvPr id="4" name="Text 2"/>
          <p:cNvSpPr/>
          <p:nvPr/>
        </p:nvSpPr>
        <p:spPr>
          <a:xfrm>
            <a:off x="365760" y="1188720"/>
            <a:ext cx="274320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Month 1: Foundation</a:t>
            </a:r>
            <a:endParaRPr lang="en-US" sz="1500" dirty="0"/>
          </a:p>
        </p:txBody>
      </p:sp>
      <p:sp>
        <p:nvSpPr>
          <p:cNvPr id="5" name="Text 3"/>
          <p:cNvSpPr/>
          <p:nvPr/>
        </p:nvSpPr>
        <p:spPr>
          <a:xfrm>
            <a:off x="502920" y="1920240"/>
            <a:ext cx="2468880" cy="2926080"/>
          </a:xfrm>
          <a:prstGeom prst="rect">
            <a:avLst/>
          </a:prstGeom>
          <a:noFill/>
          <a:ln/>
        </p:spPr>
        <p:txBody>
          <a:bodyPr wrap="square" lIns="0" tIns="0" rIns="0" bIns="0" rtlCol="0" anchor="ctr"/>
          <a:lstStyle/>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Set up &amp; optimize Facebook Business Page</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Create branded content templates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Launch page with 15+ initial posts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Begin $500/mo ad spend on awareness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Set up Messenger auto-replies</a:t>
            </a:r>
            <a:endParaRPr lang="en-US" sz="1050" dirty="0"/>
          </a:p>
        </p:txBody>
      </p:sp>
      <p:sp>
        <p:nvSpPr>
          <p:cNvPr id="6" name="Shape 4"/>
          <p:cNvSpPr/>
          <p:nvPr/>
        </p:nvSpPr>
        <p:spPr>
          <a:xfrm>
            <a:off x="3291840" y="1188720"/>
            <a:ext cx="2743200" cy="548640"/>
          </a:xfrm>
          <a:prstGeom prst="rect">
            <a:avLst/>
          </a:prstGeom>
          <a:solidFill>
            <a:srgbClr val="1877F2"/>
          </a:solidFill>
          <a:ln/>
        </p:spPr>
        <p:txBody>
          <a:bodyPr/>
          <a:lstStyle/>
          <a:p>
            <a:endParaRPr lang="en-IN"/>
          </a:p>
        </p:txBody>
      </p:sp>
      <p:sp>
        <p:nvSpPr>
          <p:cNvPr id="7" name="Text 5"/>
          <p:cNvSpPr/>
          <p:nvPr/>
        </p:nvSpPr>
        <p:spPr>
          <a:xfrm>
            <a:off x="3291840" y="1188720"/>
            <a:ext cx="274320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Month 2: Growth</a:t>
            </a:r>
            <a:endParaRPr lang="en-US" sz="1500" dirty="0"/>
          </a:p>
        </p:txBody>
      </p:sp>
      <p:sp>
        <p:nvSpPr>
          <p:cNvPr id="8" name="Text 6"/>
          <p:cNvSpPr/>
          <p:nvPr/>
        </p:nvSpPr>
        <p:spPr>
          <a:xfrm>
            <a:off x="3429000" y="1920240"/>
            <a:ext cx="2468880" cy="2926080"/>
          </a:xfrm>
          <a:prstGeom prst="rect">
            <a:avLst/>
          </a:prstGeom>
          <a:noFill/>
          <a:ln/>
        </p:spPr>
        <p:txBody>
          <a:bodyPr wrap="square" lIns="0" tIns="0" rIns="0" bIns="0" rtlCol="0" anchor="ctr"/>
          <a:lstStyle/>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Ramp up to daily posting schedule</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Launch carousel &amp; video ad campaigns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Start collecting customer reviews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Run first contest or giveaway</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Increase budget to $800/mo</a:t>
            </a:r>
            <a:endParaRPr lang="en-US" sz="1050" dirty="0"/>
          </a:p>
        </p:txBody>
      </p:sp>
      <p:sp>
        <p:nvSpPr>
          <p:cNvPr id="9" name="Shape 7"/>
          <p:cNvSpPr/>
          <p:nvPr/>
        </p:nvSpPr>
        <p:spPr>
          <a:xfrm>
            <a:off x="6217920" y="1188720"/>
            <a:ext cx="2743200" cy="548640"/>
          </a:xfrm>
          <a:prstGeom prst="rect">
            <a:avLst/>
          </a:prstGeom>
          <a:solidFill>
            <a:srgbClr val="F4A623"/>
          </a:solidFill>
          <a:ln/>
        </p:spPr>
        <p:txBody>
          <a:bodyPr/>
          <a:lstStyle/>
          <a:p>
            <a:endParaRPr lang="en-IN"/>
          </a:p>
        </p:txBody>
      </p:sp>
      <p:sp>
        <p:nvSpPr>
          <p:cNvPr id="10" name="Text 8"/>
          <p:cNvSpPr/>
          <p:nvPr/>
        </p:nvSpPr>
        <p:spPr>
          <a:xfrm>
            <a:off x="6217920" y="1188720"/>
            <a:ext cx="274320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Month 3: Scale</a:t>
            </a:r>
            <a:endParaRPr lang="en-US" sz="1500" dirty="0"/>
          </a:p>
        </p:txBody>
      </p:sp>
      <p:sp>
        <p:nvSpPr>
          <p:cNvPr id="11" name="Text 9"/>
          <p:cNvSpPr/>
          <p:nvPr/>
        </p:nvSpPr>
        <p:spPr>
          <a:xfrm>
            <a:off x="6355080" y="1920240"/>
            <a:ext cx="2468880" cy="2926080"/>
          </a:xfrm>
          <a:prstGeom prst="rect">
            <a:avLst/>
          </a:prstGeom>
          <a:noFill/>
          <a:ln/>
        </p:spPr>
        <p:txBody>
          <a:bodyPr wrap="square" lIns="0" tIns="0" rIns="0" bIns="0" rtlCol="0" anchor="ctr"/>
          <a:lstStyle/>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Introduce retargeting campaigns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Scale budget to $1,200-1,500/mo</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Launch loyalty program promotions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Analyze data &amp; optimize top performers</a:t>
            </a:r>
            <a:endParaRPr lang="en-US" sz="1050" dirty="0"/>
          </a:p>
          <a:p>
            <a:pPr marL="342900" indent="-342900">
              <a:lnSpc>
                <a:spcPct val="140000"/>
              </a:lnSpc>
              <a:buSzPct val="100000"/>
              <a:buChar char="•"/>
            </a:pPr>
            <a:r>
              <a:rPr lang="en-US" sz="1050" dirty="0">
                <a:solidFill>
                  <a:srgbClr val="555555"/>
                </a:solidFill>
                <a:latin typeface="Calibri" pitchFamily="34" charset="0"/>
                <a:ea typeface="Calibri" pitchFamily="34" charset="-122"/>
                <a:cs typeface="Calibri" pitchFamily="34" charset="-120"/>
              </a:rPr>
              <a:t>Plan month 4-6 strategy expansion</a:t>
            </a:r>
            <a:endParaRPr lang="en-US" sz="1050" dirty="0"/>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gent/turn1/workspace/images/professional-photograph-of-a-vibrant-modern-quick-_2026-05-05T01-37-14_image_DAS_0.jpg"/>
          <p:cNvPicPr>
            <a:picLocks noChangeAspect="1"/>
          </p:cNvPicPr>
          <p:nvPr/>
        </p:nvPicPr>
        <p:blipFill>
          <a:blip r:embed="rId3"/>
          <a:srcRect t="7148" b="7148"/>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60000"/>
            </a:srgbClr>
          </a:solidFill>
          <a:ln/>
        </p:spPr>
        <p:txBody>
          <a:bodyPr/>
          <a:lstStyle/>
          <a:p>
            <a:endParaRPr lang="en-IN"/>
          </a:p>
        </p:txBody>
      </p:sp>
      <p:sp>
        <p:nvSpPr>
          <p:cNvPr id="4" name="Text 1"/>
          <p:cNvSpPr/>
          <p:nvPr/>
        </p:nvSpPr>
        <p:spPr>
          <a:xfrm>
            <a:off x="914400" y="1097280"/>
            <a:ext cx="7315200" cy="1371600"/>
          </a:xfrm>
          <a:prstGeom prst="rect">
            <a:avLst/>
          </a:prstGeom>
          <a:noFill/>
          <a:ln/>
        </p:spPr>
        <p:txBody>
          <a:bodyPr wrap="square" lIns="0" tIns="0" rIns="0" bIns="0" rtlCol="0" anchor="ctr"/>
          <a:lstStyle/>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Let's Build Noodle House</a:t>
            </a:r>
            <a:endParaRPr lang="en-US" sz="3800" dirty="0"/>
          </a:p>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Into a Facebook Powerhouse</a:t>
            </a:r>
            <a:endParaRPr lang="en-US" sz="3800" dirty="0"/>
          </a:p>
        </p:txBody>
      </p:sp>
      <p:sp>
        <p:nvSpPr>
          <p:cNvPr id="5" name="Shape 2"/>
          <p:cNvSpPr/>
          <p:nvPr/>
        </p:nvSpPr>
        <p:spPr>
          <a:xfrm>
            <a:off x="3657600" y="2743200"/>
            <a:ext cx="1828800" cy="45720"/>
          </a:xfrm>
          <a:prstGeom prst="rect">
            <a:avLst/>
          </a:prstGeom>
          <a:solidFill>
            <a:srgbClr val="F4A623"/>
          </a:solidFill>
          <a:ln/>
        </p:spPr>
        <p:txBody>
          <a:bodyPr/>
          <a:lstStyle/>
          <a:p>
            <a:endParaRPr lang="en-IN"/>
          </a:p>
        </p:txBody>
      </p:sp>
      <p:sp>
        <p:nvSpPr>
          <p:cNvPr id="6" name="Text 3"/>
          <p:cNvSpPr/>
          <p:nvPr/>
        </p:nvSpPr>
        <p:spPr>
          <a:xfrm>
            <a:off x="914400" y="3017520"/>
            <a:ext cx="7315200" cy="457200"/>
          </a:xfrm>
          <a:prstGeom prst="rect">
            <a:avLst/>
          </a:prstGeom>
          <a:noFill/>
          <a:ln/>
        </p:spPr>
        <p:txBody>
          <a:bodyPr wrap="square" lIns="0" tIns="0" rIns="0" bIns="0" rtlCol="0" anchor="ctr"/>
          <a:lstStyle/>
          <a:p>
            <a:pPr marL="0" indent="0" algn="ctr">
              <a:buNone/>
            </a:pPr>
            <a:r>
              <a:rPr lang="en-US" sz="1800" dirty="0">
                <a:solidFill>
                  <a:srgbClr val="F4A623"/>
                </a:solidFill>
                <a:latin typeface="Calibri" pitchFamily="34" charset="0"/>
                <a:ea typeface="Calibri" pitchFamily="34" charset="-122"/>
                <a:cs typeface="Calibri" pitchFamily="34" charset="-120"/>
              </a:rPr>
              <a:t>Karan &amp; Rohit  |  Noodle House</a:t>
            </a:r>
            <a:endParaRPr lang="en-US" sz="1800" dirty="0"/>
          </a:p>
        </p:txBody>
      </p:sp>
      <p:sp>
        <p:nvSpPr>
          <p:cNvPr id="7" name="Text 4"/>
          <p:cNvSpPr/>
          <p:nvPr/>
        </p:nvSpPr>
        <p:spPr>
          <a:xfrm>
            <a:off x="914400" y="3657600"/>
            <a:ext cx="7315200" cy="457200"/>
          </a:xfrm>
          <a:prstGeom prst="rect">
            <a:avLst/>
          </a:prstGeom>
          <a:noFill/>
          <a:ln/>
        </p:spPr>
        <p:txBody>
          <a:bodyPr wrap="square" lIns="0" tIns="0" rIns="0" bIns="0" rtlCol="0" anchor="ctr"/>
          <a:lstStyle/>
          <a:p>
            <a:pPr marL="0" indent="0" algn="ctr">
              <a:buNone/>
            </a:pPr>
            <a:r>
              <a:rPr lang="en-US" sz="1400" i="1" dirty="0">
                <a:solidFill>
                  <a:srgbClr val="DDDDDD"/>
                </a:solidFill>
                <a:latin typeface="Calibri" pitchFamily="34" charset="0"/>
                <a:ea typeface="Calibri" pitchFamily="34" charset="-122"/>
                <a:cs typeface="Calibri" pitchFamily="34" charset="-120"/>
              </a:rPr>
              <a:t>Ready to serve great noodles — and even better marketing.</a:t>
            </a:r>
            <a:endParaRPr lang="en-US" sz="1400" dirty="0"/>
          </a:p>
        </p:txBody>
      </p:sp>
      <p:sp>
        <p:nvSpPr>
          <p:cNvPr id="8" name="Shape 5"/>
          <p:cNvSpPr/>
          <p:nvPr/>
        </p:nvSpPr>
        <p:spPr>
          <a:xfrm>
            <a:off x="4251960" y="4206240"/>
            <a:ext cx="640080" cy="640080"/>
          </a:xfrm>
          <a:prstGeom prst="ellipse">
            <a:avLst/>
          </a:prstGeom>
          <a:solidFill>
            <a:srgbClr val="1877F2"/>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4389120" y="4297680"/>
            <a:ext cx="365760" cy="36576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2585</Words>
  <Application>Microsoft Office PowerPoint</Application>
  <PresentationFormat>On-screen Show (16:9)</PresentationFormat>
  <Paragraphs>201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2026-05-05T01:42:55Z</dcterms:created>
  <dcterms:modified xsi:type="dcterms:W3CDTF">2026-05-05T02:26:09Z</dcterms:modified>
</cp:coreProperties>
</file>