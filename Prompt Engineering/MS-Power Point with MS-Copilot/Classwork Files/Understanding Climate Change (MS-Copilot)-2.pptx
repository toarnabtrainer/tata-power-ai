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55614" autoAdjust="0"/>
  </p:normalViewPr>
  <p:slideViewPr>
    <p:cSldViewPr snapToGrid="0">
      <p:cViewPr varScale="1">
        <p:scale>
          <a:sx n="60" d="100"/>
          <a:sy n="60" d="100"/>
        </p:scale>
        <p:origin x="112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CO₂ (ppm)</c:v>
                </c:pt>
              </c:strCache>
            </c:strRef>
          </c:tx>
          <c:spPr>
            <a:ln w="38100" cap="flat">
              <a:solidFill>
                <a:srgbClr val="C1666B"/>
              </a:solidFill>
              <a:prstDash val="solid"/>
              <a:round/>
            </a:ln>
            <a:effectLst/>
          </c:spPr>
          <c:marker>
            <c:symbol val="circle"/>
            <c:size val="6"/>
            <c:spPr>
              <a:solidFill>
                <a:srgbClr val="C1666B"/>
              </a:solidFill>
              <a:ln w="9525" cap="flat">
                <a:solidFill>
                  <a:srgbClr val="C1666B"/>
                </a:solidFill>
                <a:prstDash val="solid"/>
                <a:round/>
              </a:ln>
              <a:effectLst/>
            </c:spPr>
          </c:marker>
          <c:cat>
            <c:strRef>
              <c:f>Sheet1!$A$2:$A$9</c:f>
              <c:strCache>
                <c:ptCount val="8"/>
                <c:pt idx="0">
                  <c:v>1960</c:v>
                </c:pt>
                <c:pt idx="1">
                  <c:v>1970</c:v>
                </c:pt>
                <c:pt idx="2">
                  <c:v>1980</c:v>
                </c:pt>
                <c:pt idx="3">
                  <c:v>1990</c:v>
                </c:pt>
                <c:pt idx="4">
                  <c:v>2000</c:v>
                </c:pt>
                <c:pt idx="5">
                  <c:v>2010</c:v>
                </c:pt>
                <c:pt idx="6">
                  <c:v>2020</c:v>
                </c:pt>
                <c:pt idx="7">
                  <c:v>2026</c:v>
                </c:pt>
              </c:strCache>
            </c:strRef>
          </c:cat>
          <c:val>
            <c:numRef>
              <c:f>Sheet1!$B$2:$B$9</c:f>
              <c:numCache>
                <c:formatCode>General</c:formatCode>
                <c:ptCount val="8"/>
                <c:pt idx="0">
                  <c:v>317</c:v>
                </c:pt>
                <c:pt idx="1">
                  <c:v>326</c:v>
                </c:pt>
                <c:pt idx="2">
                  <c:v>339</c:v>
                </c:pt>
                <c:pt idx="3">
                  <c:v>354</c:v>
                </c:pt>
                <c:pt idx="4">
                  <c:v>369</c:v>
                </c:pt>
                <c:pt idx="5">
                  <c:v>390</c:v>
                </c:pt>
                <c:pt idx="6">
                  <c:v>414</c:v>
                </c:pt>
                <c:pt idx="7">
                  <c:v>429</c:v>
                </c:pt>
              </c:numCache>
            </c:numRef>
          </c:val>
          <c:smooth val="1"/>
          <c:extLst>
            <c:ext xmlns:c16="http://schemas.microsoft.com/office/drawing/2014/chart" uri="{C3380CC4-5D6E-409C-BE32-E72D297353CC}">
              <c16:uniqueId val="{00000000-3284-46FC-8270-EF425D662C6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B5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0D8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5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7F9F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Anomaly (°C above pre-industrial)</c:v>
                </c:pt>
              </c:strCache>
            </c:strRef>
          </c:tx>
          <c:spPr>
            <a:solidFill>
              <a:srgbClr val="FFC000"/>
            </a:solidFill>
            <a:effectLst/>
          </c:spPr>
          <c:invertIfNegative val="0"/>
          <c:dLbls>
            <c:numFmt formatCode="#,##0" sourceLinked="0"/>
            <c:spPr>
              <a:noFill/>
              <a:ln>
                <a:noFill/>
              </a:ln>
              <a:effectLst/>
            </c:spPr>
            <c:txPr>
              <a:bodyPr/>
              <a:lstStyle/>
              <a:p>
                <a:pPr>
                  <a:defRPr sz="900" b="0" i="0" u="none" strike="noStrike">
                    <a:solidFill>
                      <a:srgbClr val="84A98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1.1000000000000001</c:v>
                </c:pt>
                <c:pt idx="1">
                  <c:v>1.25</c:v>
                </c:pt>
                <c:pt idx="2">
                  <c:v>1.1200000000000001</c:v>
                </c:pt>
                <c:pt idx="3">
                  <c:v>1.01</c:v>
                </c:pt>
                <c:pt idx="4">
                  <c:v>1.1499999999999999</c:v>
                </c:pt>
                <c:pt idx="5">
                  <c:v>1.25</c:v>
                </c:pt>
                <c:pt idx="6">
                  <c:v>1.1100000000000001</c:v>
                </c:pt>
                <c:pt idx="7">
                  <c:v>1.1299999999999999</c:v>
                </c:pt>
                <c:pt idx="8">
                  <c:v>1.45</c:v>
                </c:pt>
                <c:pt idx="9">
                  <c:v>1.55</c:v>
                </c:pt>
                <c:pt idx="10">
                  <c:v>1.44</c:v>
                </c:pt>
              </c:numCache>
            </c:numRef>
          </c:val>
          <c:extLst>
            <c:ext xmlns:c16="http://schemas.microsoft.com/office/drawing/2014/chart" uri="{C3380CC4-5D6E-409C-BE32-E72D297353CC}">
              <c16:uniqueId val="{00000000-69D5-4BFA-9CEB-96CB6A787176}"/>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4A98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4A3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4A98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B2B1E"/>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9413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explore the science behind climate change — what's causing it, what the evidence tells us, and what we can do about it.</a:t>
            </a:r>
          </a:p>
          <a:p>
            <a:r>
              <a:rPr lang="en-US" dirty="0"/>
              <a:t>Climate change isn't just a topic in the news — it's one of the defining challenges of your generation. By the end of this presentation, you'll understand the science well enough to explain it to anyone.</a:t>
            </a:r>
          </a:p>
          <a:p>
            <a:r>
              <a:rPr lang="en-US" dirty="0"/>
              <a:t>Let's start with the basics.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greenhouse effect is actually a natural and essential process. Without it, Earth's average temperature would be around minus 18 degrees Celsius — that's 0°F. Way too cold for life as we know it.</a:t>
            </a:r>
          </a:p>
          <a:p>
            <a:r>
              <a:rPr lang="en-US" dirty="0"/>
              <a:t>Here's how it works: sunlight passes through the atmosphere and warms the Earth's surface. The surface then radiates that heat back as infrared radiation. Greenhouse gases — carbon dioxide, methane, water vapor, and others — absorb some of that infrared energy and re-emit it in all directions, including back toward the surface. That's the 'blanket' effect.</a:t>
            </a:r>
          </a:p>
          <a:p>
            <a:r>
              <a:rPr lang="en-US" dirty="0"/>
              <a:t>The problem isn't the greenhouse effect itself — it's that human activities, especially burning fossil fuels, have dramatically increased the concentration of these gases. More gas means a thicker blanket, which means more trapped heat.</a:t>
            </a:r>
          </a:p>
          <a:p>
            <a:r>
              <a:rPr lang="en-US" dirty="0"/>
              <a:t>Think of it like adding extra blankets on a warm night — at some point, you start overheating.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know CO2 levels are rising? Two key sources of evidence.</a:t>
            </a:r>
          </a:p>
          <a:p>
            <a:r>
              <a:rPr lang="en-US" dirty="0"/>
              <a:t>First, direct measurements. Since 1958, scientists at the Mauna Loa Observatory in Hawaii have been continuously measuring atmospheric CO2. That's the line chart you see here — a steady, accelerating climb from about 317 parts per million to 429 ppm as of February 2026.</a:t>
            </a:r>
          </a:p>
          <a:p>
            <a:r>
              <a:rPr lang="en-US" dirty="0"/>
              <a:t>Second, ice cores. Scientists drill deep into Antarctic ice sheets and extract cylinders of ancient ice. Tiny air bubbles trapped in these cores preserve samples of Earth's atmosphere going back 800,000 years. These show that CO2 levels naturally fluctuated between about 180 and 280 ppm during ice ages and warm periods. Today's 429 ppm is more than 50% higher than anything in that 800,000-year record.</a:t>
            </a:r>
          </a:p>
          <a:p>
            <a:r>
              <a:rPr lang="en-US" dirty="0"/>
              <a:t>That 50% increase happened in just about 150 years — a blink of an eye in geological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what all that extra CO2 is doing to temperatures.</a:t>
            </a:r>
          </a:p>
          <a:p>
            <a:r>
              <a:rPr lang="en-US" dirty="0"/>
              <a:t>According to the World Meteorological Organization and Berkeley Earth, 2015 through 2025 are the eleven hottest years ever recorded. That's not a coincidence — it's a trend driven by increasing greenhouse gas concentrations.</a:t>
            </a:r>
          </a:p>
          <a:p>
            <a:r>
              <a:rPr lang="en-US" dirty="0"/>
              <a:t>2024 was the hottest year on record at 1.55°C above pre-industrial levels. 2025 came in at 1.44°C — the second or third hottest, even during a La Niña year that typically brings cooler conditions.</a:t>
            </a:r>
          </a:p>
          <a:p>
            <a:r>
              <a:rPr lang="en-US" dirty="0"/>
              <a:t>Some key numbers to remember: 770 million people experienced locally record-warm temperatures in 2025. Land temperatures were a full 2°C above pre-industrial averages. And these observations match almost exactly what climate models predicted decades ago.</a:t>
            </a:r>
          </a:p>
          <a:p>
            <a:r>
              <a:rPr lang="en-US" dirty="0"/>
              <a:t>The science isn't just theory — the predictions are being confirmed by real-world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is all this CO2 coming from? Fossil fuels — coal, oil, and natural gas.</a:t>
            </a:r>
          </a:p>
          <a:p>
            <a:r>
              <a:rPr lang="en-US" dirty="0"/>
              <a:t>In 2025, fossil fuel emissions hit a new record: 38.1 billion tonnes of CO2. That's up 1.1% from the year before. Despite growing awareness and renewable energy adoption, global emissions are still rising.</a:t>
            </a:r>
          </a:p>
          <a:p>
            <a:r>
              <a:rPr lang="en-US" dirty="0"/>
              <a:t>Here's the urgent part: scientists estimate that the remaining carbon budget to keep warming below 1.5°C is virtually exhausted. At current emission rates, we have roughly four years of emissions left before that budget is used up.</a:t>
            </a:r>
          </a:p>
          <a:p>
            <a:r>
              <a:rPr lang="en-US" dirty="0"/>
              <a:t>The good news is that 35 countries have managed to reduce emissions while still growing their economies — proving that decarbonization is possible. But the pace needs to accelerate dramatically.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Climate change isn't something that might happen in the future — it's happening now, and its effects are all around us.</a:t>
            </a:r>
          </a:p>
          <a:p>
            <a:r>
              <a:rPr lang="en-US" dirty="0"/>
              <a:t>Sea levels are rising at about 3.7 millimeters per year, and that rate is accelerating. This threatens coastal communities worldwide — hundreds of millions of people live in areas vulnerable to flooding.</a:t>
            </a:r>
          </a:p>
          <a:p>
            <a:r>
              <a:rPr lang="en-US" dirty="0"/>
              <a:t>The ocean has been absorbing an enormous amount of heat — about 18 times more than all the energy humans use in a year, every year for the past two decades. 2025 set a new record for ocean heat content.</a:t>
            </a:r>
          </a:p>
          <a:p>
            <a:r>
              <a:rPr lang="en-US" dirty="0"/>
              <a:t>Arctic sea ice hit record or near-record lows, and glacier melt continued unabated. Meanwhile, extreme weather events — intense heat waves, heavy rainfall, devastating tropical cyclones — caused widespread disruption and highlighted how vulnerable our interconnected world really 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Climate change doesn't just affect weather and sea levels — it's reshaping the living world.</a:t>
            </a:r>
          </a:p>
          <a:p>
            <a:r>
              <a:rPr lang="en-US" dirty="0"/>
              <a:t>Around 1 million species currently face extinction, and the rate of species loss is accelerating faster than at any point since the dinosaurs disappeared 66 million years ago.</a:t>
            </a:r>
          </a:p>
          <a:p>
            <a:r>
              <a:rPr lang="en-US" dirty="0"/>
              <a:t>Coral reefs are especially vulnerable. At 1.5°C of warming, we could lose 90% of the world's coral reefs. At 2°C, virtually all of them. Reefs support about 25% of all marine species, so losing them would cascade through entire ocean ecosystems.</a:t>
            </a:r>
          </a:p>
          <a:p>
            <a:r>
              <a:rPr lang="en-US" dirty="0"/>
              <a:t>41% of amphibian species are threatened. 70% of freshwater ecosystems are degraded. 30% of marine species are at risk.</a:t>
            </a:r>
          </a:p>
          <a:p>
            <a:r>
              <a:rPr lang="en-US" dirty="0"/>
              <a:t>These aren't just numbers — every species lost weakens the web of life that we all depend on for food, clean water, and a stable climate.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Earth has natural systems — called carbon sinks — that absorb CO2 from the atmosphere. The ocean and land ecosystems together absorb roughly half of our emissions each year.</a:t>
            </a:r>
          </a:p>
          <a:p>
            <a:r>
              <a:rPr lang="en-US" dirty="0"/>
              <a:t>But here's the concerning part: these sinks are weakening. Research published in Nature found that climate change has reduced the effectiveness of land and ocean sinks by about 15% over the past decade. Essentially, the hotter it gets, the less CO2 nature can absorb — creating a feedback loop.</a:t>
            </a:r>
          </a:p>
          <a:p>
            <a:r>
              <a:rPr lang="en-US" dirty="0"/>
              <a:t>In 2025, the oceans absorbed heat equivalent to 39 times total annual human energy use — a staggering figure. And 8% of the rise in atmospheric CO2 since 1960 can be attributed to climate change weakening these natural sinks.</a:t>
            </a:r>
          </a:p>
          <a:p>
            <a:r>
              <a:rPr lang="en-US" dirty="0"/>
              <a:t>This is why scientists say we can't rely on nature alone to solve the problem — we need to dramatically cut emissions at the source.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some encouraging news. The solutions to climate change exist, and progress is real.</a:t>
            </a:r>
          </a:p>
          <a:p>
            <a:r>
              <a:rPr lang="en-US" dirty="0"/>
              <a:t>35 countries have successfully reduced their emissions while growing their economies — that's double the number from just a decade ago. This proves that economic growth and climate action aren't mutually exclusive.</a:t>
            </a:r>
          </a:p>
          <a:p>
            <a:r>
              <a:rPr lang="en-US" dirty="0"/>
              <a:t>Solar and wind energy capacity is growing exponentially. In many parts of the world, renewable energy is now cheaper than fossil fuels. The energy transition is happening — the question is whether it's happening fast enough.</a:t>
            </a:r>
          </a:p>
          <a:p>
            <a:r>
              <a:rPr lang="en-US" dirty="0"/>
              <a:t>Over 100 nations have committed to the 30x30 target — protecting 30% of the world's land and ocean by 2030. Conservation efforts like this help preserve the carbon sinks we just talked about.</a:t>
            </a:r>
          </a:p>
          <a:p>
            <a:r>
              <a:rPr lang="en-US" dirty="0"/>
              <a:t>Technology, policy, and international cooperation are all moving in the right direction. What we need is acceleration.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can you do? More than you might think.</a:t>
            </a:r>
          </a:p>
          <a:p>
            <a:r>
              <a:rPr lang="en-US" dirty="0"/>
              <a:t>First, learn and share. You now understand the science — help others understand it too. Misinformation is one of the biggest barriers to climate action, and informed voices make a difference.</a:t>
            </a:r>
          </a:p>
          <a:p>
            <a:r>
              <a:rPr lang="en-US" dirty="0"/>
              <a:t>Second, reduce your footprint. Transportation choices, energy use at home, food decisions — especially reducing meat consumption — these individual actions add up when millions of people make them.</a:t>
            </a:r>
          </a:p>
          <a:p>
            <a:r>
              <a:rPr lang="en-US" dirty="0"/>
              <a:t>Third, speak up. Advocate for climate policy at your school, in your community, and through your vote. Young people have already shown they can drive political change on climate issues.</a:t>
            </a:r>
          </a:p>
          <a:p>
            <a:r>
              <a:rPr lang="en-US" dirty="0"/>
              <a:t>And finally, think big. The world needs scientists, engineers, policy makers, and entrepreneurs who are focused on sustainability. Your generation will build the clean energy systems, design the sustainable cities, and create the solutions we haven't even imagined yet.</a:t>
            </a:r>
          </a:p>
          <a:p>
            <a:r>
              <a:rPr lang="en-US" dirty="0"/>
              <a:t>The science is clear. The solutions exist. The time to act is now.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55000"/>
            </a:srgbClr>
          </a:solidFill>
          <a:ln/>
        </p:spPr>
        <p:txBody>
          <a:bodyPr/>
          <a:lstStyle/>
          <a:p>
            <a:endParaRPr lang="en-IN"/>
          </a:p>
        </p:txBody>
      </p:sp>
      <p:sp>
        <p:nvSpPr>
          <p:cNvPr id="3" name="Text 1"/>
          <p:cNvSpPr/>
          <p:nvPr/>
        </p:nvSpPr>
        <p:spPr>
          <a:xfrm>
            <a:off x="731520" y="1097280"/>
            <a:ext cx="7680960" cy="1280160"/>
          </a:xfrm>
          <a:prstGeom prst="rect">
            <a:avLst/>
          </a:prstGeom>
          <a:noFill/>
          <a:ln/>
        </p:spPr>
        <p:txBody>
          <a:bodyPr wrap="square" lIns="0" tIns="0" rIns="0" bIns="0" rtlCol="0" anchor="b"/>
          <a:lstStyle/>
          <a:p>
            <a:pPr marL="0" indent="0" algn="l">
              <a:buNone/>
            </a:pPr>
            <a:r>
              <a:rPr lang="en-US" sz="4800" b="1" dirty="0">
                <a:solidFill>
                  <a:srgbClr val="FFFFFF"/>
                </a:solidFill>
                <a:latin typeface="Georgia" pitchFamily="34" charset="0"/>
                <a:ea typeface="Georgia" pitchFamily="34" charset="-122"/>
                <a:cs typeface="Georgia" pitchFamily="34" charset="-120"/>
              </a:rPr>
              <a:t>Climate Change</a:t>
            </a:r>
            <a:endParaRPr lang="en-US" sz="4800" dirty="0"/>
          </a:p>
        </p:txBody>
      </p:sp>
      <p:sp>
        <p:nvSpPr>
          <p:cNvPr id="4" name="Text 2"/>
          <p:cNvSpPr/>
          <p:nvPr/>
        </p:nvSpPr>
        <p:spPr>
          <a:xfrm>
            <a:off x="731520" y="2423160"/>
            <a:ext cx="7680960" cy="640080"/>
          </a:xfrm>
          <a:prstGeom prst="rect">
            <a:avLst/>
          </a:prstGeom>
          <a:noFill/>
          <a:ln/>
        </p:spPr>
        <p:txBody>
          <a:bodyPr wrap="square" lIns="0" tIns="0" rIns="0" bIns="0" rtlCol="0" anchor="t"/>
          <a:lstStyle/>
          <a:p>
            <a:pPr marL="0" indent="0" algn="l">
              <a:buNone/>
            </a:pPr>
            <a:r>
              <a:rPr lang="en-US" sz="2200" dirty="0">
                <a:solidFill>
                  <a:srgbClr val="E8ECE0"/>
                </a:solidFill>
                <a:latin typeface="Calibri" pitchFamily="34" charset="0"/>
                <a:ea typeface="Calibri" pitchFamily="34" charset="-122"/>
                <a:cs typeface="Calibri" pitchFamily="34" charset="-120"/>
              </a:rPr>
              <a:t>The Science Behind Our Warming World</a:t>
            </a:r>
            <a:endParaRPr lang="en-US" sz="2200" dirty="0"/>
          </a:p>
        </p:txBody>
      </p:sp>
      <p:sp>
        <p:nvSpPr>
          <p:cNvPr id="5" name="Text 3"/>
          <p:cNvSpPr/>
          <p:nvPr/>
        </p:nvSpPr>
        <p:spPr>
          <a:xfrm>
            <a:off x="731520" y="4297680"/>
            <a:ext cx="7680960" cy="457200"/>
          </a:xfrm>
          <a:prstGeom prst="rect">
            <a:avLst/>
          </a:prstGeom>
          <a:noFill/>
          <a:ln/>
        </p:spPr>
        <p:txBody>
          <a:bodyPr wrap="square" lIns="0" tIns="0" rIns="0" bIns="0" rtlCol="0" anchor="ctr"/>
          <a:lstStyle/>
          <a:p>
            <a:pPr marL="0" indent="0" algn="l">
              <a:buNone/>
            </a:pPr>
            <a:r>
              <a:rPr lang="en-US" sz="1200" dirty="0">
                <a:solidFill>
                  <a:srgbClr val="84A98C"/>
                </a:solidFill>
                <a:latin typeface="Calibri" pitchFamily="34" charset="0"/>
                <a:ea typeface="Calibri" pitchFamily="34" charset="-122"/>
                <a:cs typeface="Calibri" pitchFamily="34" charset="-120"/>
              </a:rPr>
              <a:t>A Presentation for High School Students  |  2026</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E6"/>
        </a:solidFill>
        <a:effectLst/>
      </p:bgPr>
    </p:bg>
    <p:spTree>
      <p:nvGrpSpPr>
        <p:cNvPr id="1" name=""/>
        <p:cNvGrpSpPr/>
        <p:nvPr/>
      </p:nvGrpSpPr>
      <p:grpSpPr>
        <a:xfrm>
          <a:off x="0" y="0"/>
          <a:ext cx="0" cy="0"/>
          <a:chOff x="0" y="0"/>
          <a:chExt cx="0" cy="0"/>
        </a:xfrm>
      </p:grpSpPr>
      <p:pic>
        <p:nvPicPr>
          <p:cNvPr id="2" name="Image 0" descr="/agent/turn1/workspace/images/scientific-illustration-of-greenhouse-effect-mecha_2026-05-05T01-13-48_image_DAS_0.jpg"/>
          <p:cNvPicPr>
            <a:picLocks noChangeAspect="1"/>
          </p:cNvPicPr>
          <p:nvPr/>
        </p:nvPicPr>
        <p:blipFill>
          <a:blip r:embed="rId3"/>
          <a:srcRect l="23747" r="23747"/>
          <a:stretch/>
        </p:blipFill>
        <p:spPr>
          <a:xfrm>
            <a:off x="0" y="0"/>
            <a:ext cx="4114800" cy="5143500"/>
          </a:xfrm>
          <a:prstGeom prst="rect">
            <a:avLst/>
          </a:prstGeom>
        </p:spPr>
      </p:pic>
      <p:sp>
        <p:nvSpPr>
          <p:cNvPr id="3" name="Text 0"/>
          <p:cNvSpPr/>
          <p:nvPr/>
        </p:nvSpPr>
        <p:spPr>
          <a:xfrm>
            <a:off x="4572000" y="457200"/>
            <a:ext cx="4206240" cy="731520"/>
          </a:xfrm>
          <a:prstGeom prst="rect">
            <a:avLst/>
          </a:prstGeom>
          <a:noFill/>
          <a:ln/>
        </p:spPr>
        <p:txBody>
          <a:bodyPr wrap="square" lIns="0" tIns="0" rIns="0" bIns="0" rtlCol="0" anchor="ctr"/>
          <a:lstStyle/>
          <a:p>
            <a:pPr marL="0" indent="0" algn="l">
              <a:buNone/>
            </a:pPr>
            <a:r>
              <a:rPr lang="en-US" sz="2400" b="1" dirty="0">
                <a:solidFill>
                  <a:srgbClr val="1B4332"/>
                </a:solidFill>
                <a:latin typeface="Georgia" pitchFamily="34" charset="0"/>
                <a:ea typeface="Georgia" pitchFamily="34" charset="-122"/>
                <a:cs typeface="Georgia" pitchFamily="34" charset="-120"/>
              </a:rPr>
              <a:t>The Greenhouse Effect</a:t>
            </a:r>
            <a:endParaRPr lang="en-US" sz="2400" dirty="0"/>
          </a:p>
        </p:txBody>
      </p:sp>
      <p:sp>
        <p:nvSpPr>
          <p:cNvPr id="4" name="Text 1"/>
          <p:cNvSpPr/>
          <p:nvPr/>
        </p:nvSpPr>
        <p:spPr>
          <a:xfrm>
            <a:off x="4572000" y="1280160"/>
            <a:ext cx="4206240" cy="2651760"/>
          </a:xfrm>
          <a:prstGeom prst="rect">
            <a:avLst/>
          </a:prstGeom>
          <a:noFill/>
          <a:ln/>
        </p:spPr>
        <p:txBody>
          <a:bodyPr wrap="square" lIns="0" tIns="0" rIns="0" bIns="0" rtlCol="0" anchor="t"/>
          <a:lstStyle/>
          <a:p>
            <a:pPr marL="342900" indent="-342900" algn="l">
              <a:spcAft>
                <a:spcPts val="400"/>
              </a:spcAft>
              <a:buSzPct val="100000"/>
              <a:buChar char="•"/>
            </a:pPr>
            <a:r>
              <a:rPr lang="en-US" sz="1250" dirty="0">
                <a:solidFill>
                  <a:srgbClr val="2D3B2D"/>
                </a:solidFill>
                <a:latin typeface="Calibri" pitchFamily="34" charset="0"/>
                <a:ea typeface="Calibri" pitchFamily="34" charset="-122"/>
                <a:cs typeface="Calibri" pitchFamily="34" charset="-120"/>
              </a:rPr>
              <a:t>Sunlight passes through the atmosphere and warms Earth's surface</a:t>
            </a:r>
            <a:endParaRPr lang="en-US" sz="1250" dirty="0"/>
          </a:p>
          <a:p>
            <a:pPr marL="0" indent="0" algn="l">
              <a:spcAft>
                <a:spcPts val="400"/>
              </a:spcAft>
              <a:buNone/>
            </a:pPr>
            <a:endParaRPr lang="en-US" sz="1250" dirty="0"/>
          </a:p>
          <a:p>
            <a:pPr marL="342900" indent="-342900" algn="l">
              <a:spcAft>
                <a:spcPts val="400"/>
              </a:spcAft>
              <a:buSzPct val="100000"/>
              <a:buChar char="•"/>
            </a:pPr>
            <a:r>
              <a:rPr lang="en-US" sz="1250" dirty="0">
                <a:solidFill>
                  <a:srgbClr val="2D3B2D"/>
                </a:solidFill>
                <a:latin typeface="Calibri" pitchFamily="34" charset="0"/>
                <a:ea typeface="Calibri" pitchFamily="34" charset="-122"/>
                <a:cs typeface="Calibri" pitchFamily="34" charset="-120"/>
              </a:rPr>
              <a:t>Earth radiates heat back as infrared radiation</a:t>
            </a:r>
            <a:endParaRPr lang="en-US" sz="1250" dirty="0"/>
          </a:p>
          <a:p>
            <a:pPr marL="0" indent="0" algn="l">
              <a:spcAft>
                <a:spcPts val="400"/>
              </a:spcAft>
              <a:buNone/>
            </a:pPr>
            <a:endParaRPr lang="en-US" sz="1250" dirty="0"/>
          </a:p>
          <a:p>
            <a:pPr marL="342900" indent="-342900" algn="l">
              <a:spcAft>
                <a:spcPts val="400"/>
              </a:spcAft>
              <a:buSzPct val="100000"/>
              <a:buChar char="•"/>
            </a:pPr>
            <a:r>
              <a:rPr lang="en-US" sz="1250" dirty="0">
                <a:solidFill>
                  <a:srgbClr val="2D3B2D"/>
                </a:solidFill>
                <a:latin typeface="Calibri" pitchFamily="34" charset="0"/>
                <a:ea typeface="Calibri" pitchFamily="34" charset="-122"/>
                <a:cs typeface="Calibri" pitchFamily="34" charset="-120"/>
              </a:rPr>
              <a:t>Greenhouse gases (CO₂, methane, water vapor) trap this heat</a:t>
            </a:r>
            <a:endParaRPr lang="en-US" sz="1250" dirty="0"/>
          </a:p>
          <a:p>
            <a:pPr marL="0" indent="0" algn="l">
              <a:spcAft>
                <a:spcPts val="400"/>
              </a:spcAft>
              <a:buNone/>
            </a:pPr>
            <a:endParaRPr lang="en-US" sz="1250" dirty="0"/>
          </a:p>
          <a:p>
            <a:pPr marL="342900" indent="-342900" algn="l">
              <a:spcAft>
                <a:spcPts val="400"/>
              </a:spcAft>
              <a:buSzPct val="100000"/>
              <a:buChar char="•"/>
            </a:pPr>
            <a:r>
              <a:rPr lang="en-US" sz="1250" dirty="0">
                <a:solidFill>
                  <a:srgbClr val="2D3B2D"/>
                </a:solidFill>
                <a:latin typeface="Calibri" pitchFamily="34" charset="0"/>
                <a:ea typeface="Calibri" pitchFamily="34" charset="-122"/>
                <a:cs typeface="Calibri" pitchFamily="34" charset="-120"/>
              </a:rPr>
              <a:t>Without it, Earth would be −18°C — too cold for life</a:t>
            </a:r>
            <a:endParaRPr lang="en-US" sz="1250" dirty="0"/>
          </a:p>
          <a:p>
            <a:pPr marL="0" indent="0" algn="l">
              <a:spcAft>
                <a:spcPts val="400"/>
              </a:spcAft>
              <a:buNone/>
            </a:pPr>
            <a:endParaRPr lang="en-US" sz="1250" dirty="0"/>
          </a:p>
          <a:p>
            <a:pPr marL="342900" indent="-342900" algn="l">
              <a:spcAft>
                <a:spcPts val="400"/>
              </a:spcAft>
              <a:buSzPct val="100000"/>
              <a:buChar char="•"/>
            </a:pPr>
            <a:r>
              <a:rPr lang="en-US" sz="1250" dirty="0">
                <a:solidFill>
                  <a:srgbClr val="2D3B2D"/>
                </a:solidFill>
                <a:latin typeface="Calibri" pitchFamily="34" charset="0"/>
                <a:ea typeface="Calibri" pitchFamily="34" charset="-122"/>
                <a:cs typeface="Calibri" pitchFamily="34" charset="-120"/>
              </a:rPr>
              <a:t>Human activity has intensified this process, trapping more heat than ever</a:t>
            </a:r>
            <a:endParaRPr lang="en-US" sz="1250" dirty="0"/>
          </a:p>
        </p:txBody>
      </p:sp>
      <p:sp>
        <p:nvSpPr>
          <p:cNvPr id="5" name="Shape 2"/>
          <p:cNvSpPr/>
          <p:nvPr/>
        </p:nvSpPr>
        <p:spPr>
          <a:xfrm>
            <a:off x="4572000" y="4206240"/>
            <a:ext cx="4114800" cy="640080"/>
          </a:xfrm>
          <a:prstGeom prst="rect">
            <a:avLst/>
          </a:prstGeom>
          <a:solidFill>
            <a:srgbClr val="1B4332"/>
          </a:solidFill>
          <a:ln/>
        </p:spPr>
        <p:txBody>
          <a:bodyPr/>
          <a:lstStyle/>
          <a:p>
            <a:endParaRPr lang="en-IN"/>
          </a:p>
        </p:txBody>
      </p:sp>
      <p:sp>
        <p:nvSpPr>
          <p:cNvPr id="6" name="Text 3"/>
          <p:cNvSpPr/>
          <p:nvPr/>
        </p:nvSpPr>
        <p:spPr>
          <a:xfrm>
            <a:off x="4709160" y="4206240"/>
            <a:ext cx="3840480" cy="640080"/>
          </a:xfrm>
          <a:prstGeom prst="rect">
            <a:avLst/>
          </a:prstGeom>
          <a:noFill/>
          <a:ln/>
        </p:spPr>
        <p:txBody>
          <a:bodyPr wrap="square" lIns="0" tIns="0" rIns="0" bIns="0" rtlCol="0" anchor="ctr"/>
          <a:lstStyle/>
          <a:p>
            <a:pPr marL="0" indent="0" algn="l">
              <a:buNone/>
            </a:pPr>
            <a:r>
              <a:rPr lang="en-US" sz="1100" i="1" dirty="0">
                <a:solidFill>
                  <a:srgbClr val="FFFFFF"/>
                </a:solidFill>
                <a:latin typeface="Calibri" pitchFamily="34" charset="0"/>
                <a:ea typeface="Calibri" pitchFamily="34" charset="-122"/>
                <a:cs typeface="Calibri" pitchFamily="34" charset="-120"/>
              </a:rPr>
              <a:t>Think of greenhouse gases as a blanket around Earth</a:t>
            </a:r>
            <a:endParaRPr lang="en-US" sz="1100" dirty="0"/>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2"/>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lgn="l">
              <a:buNone/>
            </a:pPr>
            <a:r>
              <a:rPr lang="en-US" sz="2800" b="1" dirty="0">
                <a:solidFill>
                  <a:srgbClr val="1B4332"/>
                </a:solidFill>
                <a:latin typeface="Georgia" pitchFamily="34" charset="0"/>
                <a:ea typeface="Georgia" pitchFamily="34" charset="-122"/>
                <a:cs typeface="Georgia" pitchFamily="34" charset="-120"/>
              </a:rPr>
              <a:t>The Evidence: CO₂ Through Time</a:t>
            </a:r>
            <a:endParaRPr lang="en-US" sz="2800" dirty="0"/>
          </a:p>
        </p:txBody>
      </p:sp>
      <p:graphicFrame>
        <p:nvGraphicFramePr>
          <p:cNvPr id="3" name="Chart 0"/>
          <p:cNvGraphicFramePr/>
          <p:nvPr/>
        </p:nvGraphicFramePr>
        <p:xfrm>
          <a:off x="548640" y="1097280"/>
          <a:ext cx="4754880" cy="2926080"/>
        </p:xfrm>
        <a:graphic>
          <a:graphicData uri="http://schemas.openxmlformats.org/drawingml/2006/chart">
            <c:chart xmlns:c="http://schemas.openxmlformats.org/drawingml/2006/chart" xmlns:r="http://schemas.openxmlformats.org/officeDocument/2006/relationships" r:id="rId3"/>
          </a:graphicData>
        </a:graphic>
      </p:graphicFrame>
      <p:pic>
        <p:nvPicPr>
          <p:cNvPr id="4" name="Image 0" descr="/agent/turn1/workspace/images/close-up-photograph-of-antarctic-ice-core-cylinder_2026-05-05T01-13-27_image_DAS_0.jpg"/>
          <p:cNvPicPr>
            <a:picLocks noChangeAspect="1"/>
          </p:cNvPicPr>
          <p:nvPr/>
        </p:nvPicPr>
        <p:blipFill>
          <a:blip r:embed="rId4"/>
          <a:srcRect t="2964" b="2964"/>
          <a:stretch/>
        </p:blipFill>
        <p:spPr>
          <a:xfrm>
            <a:off x="5669280" y="1097280"/>
            <a:ext cx="3108960" cy="2011680"/>
          </a:xfrm>
          <a:prstGeom prst="rect">
            <a:avLst/>
          </a:prstGeom>
        </p:spPr>
      </p:pic>
      <p:sp>
        <p:nvSpPr>
          <p:cNvPr id="5" name="Text 1"/>
          <p:cNvSpPr/>
          <p:nvPr/>
        </p:nvSpPr>
        <p:spPr>
          <a:xfrm>
            <a:off x="5669280" y="3291840"/>
            <a:ext cx="3108960" cy="457200"/>
          </a:xfrm>
          <a:prstGeom prst="rect">
            <a:avLst/>
          </a:prstGeom>
          <a:noFill/>
          <a:ln/>
        </p:spPr>
        <p:txBody>
          <a:bodyPr wrap="square" lIns="0" tIns="0" rIns="0" bIns="0" rtlCol="0" anchor="ctr"/>
          <a:lstStyle/>
          <a:p>
            <a:pPr marL="0" indent="0" algn="l">
              <a:buNone/>
            </a:pPr>
            <a:r>
              <a:rPr lang="en-US" sz="2200" b="1" dirty="0">
                <a:solidFill>
                  <a:srgbClr val="C1666B"/>
                </a:solidFill>
                <a:latin typeface="Calibri" pitchFamily="34" charset="0"/>
                <a:ea typeface="Calibri" pitchFamily="34" charset="-122"/>
                <a:cs typeface="Calibri" pitchFamily="34" charset="-120"/>
              </a:rPr>
              <a:t>429 ppm</a:t>
            </a:r>
            <a:r>
              <a:rPr lang="en-US" sz="1300" dirty="0">
                <a:solidFill>
                  <a:srgbClr val="2D3B2D"/>
                </a:solidFill>
                <a:latin typeface="Calibri" pitchFamily="34" charset="0"/>
                <a:ea typeface="Calibri" pitchFamily="34" charset="-122"/>
                <a:cs typeface="Calibri" pitchFamily="34" charset="-120"/>
              </a:rPr>
              <a:t>  current CO₂ level (Feb 2026)</a:t>
            </a:r>
            <a:endParaRPr lang="en-US" sz="2200" dirty="0"/>
          </a:p>
        </p:txBody>
      </p:sp>
      <p:sp>
        <p:nvSpPr>
          <p:cNvPr id="6" name="Text 2"/>
          <p:cNvSpPr/>
          <p:nvPr/>
        </p:nvSpPr>
        <p:spPr>
          <a:xfrm>
            <a:off x="5669280" y="3749040"/>
            <a:ext cx="3108960" cy="411480"/>
          </a:xfrm>
          <a:prstGeom prst="rect">
            <a:avLst/>
          </a:prstGeom>
          <a:noFill/>
          <a:ln/>
        </p:spPr>
        <p:txBody>
          <a:bodyPr wrap="square" lIns="0" tIns="0" rIns="0" bIns="0" rtlCol="0" anchor="ctr"/>
          <a:lstStyle/>
          <a:p>
            <a:pPr marL="0" indent="0" algn="l">
              <a:buNone/>
            </a:pPr>
            <a:r>
              <a:rPr lang="en-US" sz="1400" b="1" dirty="0">
                <a:solidFill>
                  <a:srgbClr val="1B4332"/>
                </a:solidFill>
                <a:latin typeface="Calibri" pitchFamily="34" charset="0"/>
                <a:ea typeface="Calibri" pitchFamily="34" charset="-122"/>
                <a:cs typeface="Calibri" pitchFamily="34" charset="-120"/>
              </a:rPr>
              <a:t>50%+ increase</a:t>
            </a:r>
            <a:r>
              <a:rPr lang="en-US" sz="1200" dirty="0">
                <a:solidFill>
                  <a:srgbClr val="5A6B5A"/>
                </a:solidFill>
                <a:latin typeface="Calibri" pitchFamily="34" charset="0"/>
                <a:ea typeface="Calibri" pitchFamily="34" charset="-122"/>
                <a:cs typeface="Calibri" pitchFamily="34" charset="-120"/>
              </a:rPr>
              <a:t> since the start of industrialization</a:t>
            </a:r>
            <a:endParaRPr lang="en-US" sz="1400" dirty="0"/>
          </a:p>
        </p:txBody>
      </p:sp>
      <p:sp>
        <p:nvSpPr>
          <p:cNvPr id="7" name="Text 3"/>
          <p:cNvSpPr/>
          <p:nvPr/>
        </p:nvSpPr>
        <p:spPr>
          <a:xfrm>
            <a:off x="548640" y="4572000"/>
            <a:ext cx="8046720" cy="365760"/>
          </a:xfrm>
          <a:prstGeom prst="rect">
            <a:avLst/>
          </a:prstGeom>
          <a:noFill/>
          <a:ln/>
        </p:spPr>
        <p:txBody>
          <a:bodyPr wrap="square" lIns="0" tIns="0" rIns="0" bIns="0" rtlCol="0" anchor="ctr"/>
          <a:lstStyle/>
          <a:p>
            <a:pPr marL="0" indent="0" algn="l">
              <a:buNone/>
            </a:pPr>
            <a:r>
              <a:rPr lang="en-US" sz="1000" i="1" dirty="0">
                <a:solidFill>
                  <a:srgbClr val="5A6B5A"/>
                </a:solidFill>
                <a:latin typeface="Calibri" pitchFamily="34" charset="0"/>
                <a:ea typeface="Calibri" pitchFamily="34" charset="-122"/>
                <a:cs typeface="Calibri" pitchFamily="34" charset="-120"/>
              </a:rPr>
              <a:t>Data: NOAA Mauna Loa Observatory  |  Ice cores extend record back 800,000 years</a:t>
            </a:r>
            <a:endParaRPr lang="en-US"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B1E"/>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640080"/>
          </a:xfrm>
          <a:prstGeom prst="rect">
            <a:avLst/>
          </a:prstGeom>
          <a:noFill/>
          <a:ln/>
        </p:spPr>
        <p:txBody>
          <a:bodyPr wrap="square" lIns="0" tIns="0" rIns="0" bIns="0" rtlCol="0" anchor="ctr"/>
          <a:lstStyle/>
          <a:p>
            <a:pPr marL="0" indent="0" algn="l">
              <a:buNone/>
            </a:pPr>
            <a:r>
              <a:rPr lang="en-US" sz="2800" b="1" dirty="0">
                <a:solidFill>
                  <a:srgbClr val="FFFFFF"/>
                </a:solidFill>
                <a:latin typeface="Georgia" pitchFamily="34" charset="0"/>
                <a:ea typeface="Georgia" pitchFamily="34" charset="-122"/>
                <a:cs typeface="Georgia" pitchFamily="34" charset="-120"/>
              </a:rPr>
              <a:t>A Decade of Record Heat</a:t>
            </a:r>
            <a:endParaRPr lang="en-US" sz="2800" dirty="0"/>
          </a:p>
        </p:txBody>
      </p:sp>
      <p:sp>
        <p:nvSpPr>
          <p:cNvPr id="3" name="Text 1"/>
          <p:cNvSpPr/>
          <p:nvPr/>
        </p:nvSpPr>
        <p:spPr>
          <a:xfrm>
            <a:off x="548640" y="960120"/>
            <a:ext cx="8229600" cy="411480"/>
          </a:xfrm>
          <a:prstGeom prst="rect">
            <a:avLst/>
          </a:prstGeom>
          <a:noFill/>
          <a:ln/>
        </p:spPr>
        <p:txBody>
          <a:bodyPr wrap="square" lIns="0" tIns="0" rIns="0" bIns="0" rtlCol="0" anchor="ctr"/>
          <a:lstStyle/>
          <a:p>
            <a:pPr marL="0" indent="0" algn="l">
              <a:buNone/>
            </a:pPr>
            <a:r>
              <a:rPr lang="en-US" sz="1400" dirty="0">
                <a:solidFill>
                  <a:srgbClr val="84A98C"/>
                </a:solidFill>
                <a:latin typeface="Calibri" pitchFamily="34" charset="0"/>
                <a:ea typeface="Calibri" pitchFamily="34" charset="-122"/>
                <a:cs typeface="Calibri" pitchFamily="34" charset="-120"/>
              </a:rPr>
              <a:t>2015–2025: The hottest 11 consecutive years on record</a:t>
            </a:r>
            <a:endParaRPr lang="en-US" sz="1400" dirty="0"/>
          </a:p>
        </p:txBody>
      </p:sp>
      <p:graphicFrame>
        <p:nvGraphicFramePr>
          <p:cNvPr id="4" name="Chart 0"/>
          <p:cNvGraphicFramePr/>
          <p:nvPr>
            <p:extLst>
              <p:ext uri="{D42A27DB-BD31-4B8C-83A1-F6EECF244321}">
                <p14:modId xmlns:p14="http://schemas.microsoft.com/office/powerpoint/2010/main" val="3503463327"/>
              </p:ext>
            </p:extLst>
          </p:nvPr>
        </p:nvGraphicFramePr>
        <p:xfrm>
          <a:off x="548640" y="1554480"/>
          <a:ext cx="804672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48640" y="4069080"/>
            <a:ext cx="2468880" cy="594360"/>
          </a:xfrm>
          <a:prstGeom prst="rect">
            <a:avLst/>
          </a:prstGeom>
          <a:solidFill>
            <a:srgbClr val="52796F"/>
          </a:solidFill>
          <a:ln/>
        </p:spPr>
        <p:txBody>
          <a:bodyPr/>
          <a:lstStyle/>
          <a:p>
            <a:endParaRPr lang="en-IN"/>
          </a:p>
        </p:txBody>
      </p:sp>
      <p:sp>
        <p:nvSpPr>
          <p:cNvPr id="6" name="Text 3"/>
          <p:cNvSpPr/>
          <p:nvPr/>
        </p:nvSpPr>
        <p:spPr>
          <a:xfrm>
            <a:off x="640080" y="4069080"/>
            <a:ext cx="2286000" cy="594360"/>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+1.44°C</a:t>
            </a:r>
            <a:r>
              <a:rPr lang="en-US" sz="1100" dirty="0">
                <a:solidFill>
                  <a:srgbClr val="E8ECE0"/>
                </a:solidFill>
                <a:latin typeface="Calibri" pitchFamily="34" charset="0"/>
                <a:ea typeface="Calibri" pitchFamily="34" charset="-122"/>
                <a:cs typeface="Calibri" pitchFamily="34" charset="-120"/>
              </a:rPr>
              <a:t>  in 2025</a:t>
            </a:r>
            <a:endParaRPr lang="en-US" sz="1800" dirty="0"/>
          </a:p>
        </p:txBody>
      </p:sp>
      <p:sp>
        <p:nvSpPr>
          <p:cNvPr id="7" name="Shape 4"/>
          <p:cNvSpPr/>
          <p:nvPr/>
        </p:nvSpPr>
        <p:spPr>
          <a:xfrm>
            <a:off x="3291840" y="4069080"/>
            <a:ext cx="2743200" cy="594360"/>
          </a:xfrm>
          <a:prstGeom prst="rect">
            <a:avLst/>
          </a:prstGeom>
          <a:solidFill>
            <a:srgbClr val="52796F"/>
          </a:solidFill>
          <a:ln/>
        </p:spPr>
        <p:txBody>
          <a:bodyPr/>
          <a:lstStyle/>
          <a:p>
            <a:endParaRPr lang="en-IN"/>
          </a:p>
        </p:txBody>
      </p:sp>
      <p:sp>
        <p:nvSpPr>
          <p:cNvPr id="8" name="Text 5"/>
          <p:cNvSpPr/>
          <p:nvPr/>
        </p:nvSpPr>
        <p:spPr>
          <a:xfrm>
            <a:off x="3383280" y="4069080"/>
            <a:ext cx="2560320" cy="594360"/>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770M</a:t>
            </a:r>
            <a:r>
              <a:rPr lang="en-US" sz="1100" dirty="0">
                <a:solidFill>
                  <a:srgbClr val="E8ECE0"/>
                </a:solidFill>
                <a:latin typeface="Calibri" pitchFamily="34" charset="0"/>
                <a:ea typeface="Calibri" pitchFamily="34" charset="-122"/>
                <a:cs typeface="Calibri" pitchFamily="34" charset="-120"/>
              </a:rPr>
              <a:t>  felt record warmth</a:t>
            </a:r>
            <a:endParaRPr lang="en-US" sz="1800" dirty="0"/>
          </a:p>
        </p:txBody>
      </p:sp>
      <p:sp>
        <p:nvSpPr>
          <p:cNvPr id="9" name="Shape 6"/>
          <p:cNvSpPr/>
          <p:nvPr/>
        </p:nvSpPr>
        <p:spPr>
          <a:xfrm>
            <a:off x="6309360" y="4069080"/>
            <a:ext cx="2468880" cy="594360"/>
          </a:xfrm>
          <a:prstGeom prst="rect">
            <a:avLst/>
          </a:prstGeom>
          <a:solidFill>
            <a:srgbClr val="52796F"/>
          </a:solidFill>
          <a:ln/>
        </p:spPr>
        <p:txBody>
          <a:bodyPr/>
          <a:lstStyle/>
          <a:p>
            <a:endParaRPr lang="en-IN"/>
          </a:p>
        </p:txBody>
      </p:sp>
      <p:sp>
        <p:nvSpPr>
          <p:cNvPr id="10" name="Text 7"/>
          <p:cNvSpPr/>
          <p:nvPr/>
        </p:nvSpPr>
        <p:spPr>
          <a:xfrm>
            <a:off x="6400800" y="4069080"/>
            <a:ext cx="2286000" cy="594360"/>
          </a:xfrm>
          <a:prstGeom prst="rect">
            <a:avLst/>
          </a:prstGeom>
          <a:noFill/>
          <a:ln/>
        </p:spPr>
        <p:txBody>
          <a:bodyPr wrap="square" lIns="0" tIns="0" rIns="0" bIns="0"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2°C</a:t>
            </a:r>
            <a:r>
              <a:rPr lang="en-US" sz="1100" dirty="0">
                <a:solidFill>
                  <a:srgbClr val="E8ECE0"/>
                </a:solidFill>
                <a:latin typeface="Calibri" pitchFamily="34" charset="0"/>
                <a:ea typeface="Calibri" pitchFamily="34" charset="-122"/>
                <a:cs typeface="Calibri" pitchFamily="34" charset="-120"/>
              </a:rPr>
              <a:t>  over land in 2025</a:t>
            </a:r>
            <a:endParaRPr lang="en-US" sz="1800" dirty="0"/>
          </a:p>
        </p:txBody>
      </p:sp>
      <p:sp>
        <p:nvSpPr>
          <p:cNvPr id="11" name="Text 8"/>
          <p:cNvSpPr/>
          <p:nvPr/>
        </p:nvSpPr>
        <p:spPr>
          <a:xfrm>
            <a:off x="548640" y="4892040"/>
            <a:ext cx="8046720" cy="228600"/>
          </a:xfrm>
          <a:prstGeom prst="rect">
            <a:avLst/>
          </a:prstGeom>
          <a:noFill/>
          <a:ln/>
        </p:spPr>
        <p:txBody>
          <a:bodyPr wrap="square" lIns="0" tIns="0" rIns="0" bIns="0" rtlCol="0" anchor="ctr"/>
          <a:lstStyle/>
          <a:p>
            <a:pPr marL="0" indent="0" algn="l">
              <a:buNone/>
            </a:pPr>
            <a:r>
              <a:rPr lang="en-US" sz="900" i="1" dirty="0">
                <a:solidFill>
                  <a:srgbClr val="5A6B5A"/>
                </a:solidFill>
                <a:latin typeface="Calibri" pitchFamily="34" charset="0"/>
                <a:ea typeface="Calibri" pitchFamily="34" charset="-122"/>
                <a:cs typeface="Calibri" pitchFamily="34" charset="-120"/>
              </a:rPr>
              <a:t>Source: WMO State of the Global Climate 2025  |  Berkeley Earth</a:t>
            </a:r>
            <a:endParaRPr lang="en-US" sz="900" dirty="0"/>
          </a:p>
        </p:txBody>
      </p:sp>
    </p:spTree>
  </p:cSld>
  <p:clrMapOvr>
    <a:masterClrMapping/>
  </p:clrMapOvr>
  <p:transition spd="med">
    <p:wipe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E6"/>
        </a:solidFill>
        <a:effectLst/>
      </p:bgPr>
    </p:bg>
    <p:spTree>
      <p:nvGrpSpPr>
        <p:cNvPr id="1" name=""/>
        <p:cNvGrpSpPr/>
        <p:nvPr/>
      </p:nvGrpSpPr>
      <p:grpSpPr>
        <a:xfrm>
          <a:off x="0" y="0"/>
          <a:ext cx="0" cy="0"/>
          <a:chOff x="0" y="0"/>
          <a:chExt cx="0" cy="0"/>
        </a:xfrm>
      </p:grpSpPr>
      <p:pic>
        <p:nvPicPr>
          <p:cNvPr id="2" name="Image 0" descr="/agent/turn1/workspace/images/photorealistic-image-of-industrial-smokestacks-and_2026-05-05T01-13-27_image_DAS_0.jpg"/>
          <p:cNvPicPr>
            <a:picLocks noChangeAspect="1"/>
          </p:cNvPicPr>
          <p:nvPr/>
        </p:nvPicPr>
        <p:blipFill>
          <a:blip r:embed="rId3"/>
          <a:srcRect l="22487" r="22487"/>
          <a:stretch/>
        </p:blipFill>
        <p:spPr>
          <a:xfrm>
            <a:off x="5029200" y="0"/>
            <a:ext cx="4114800" cy="5143500"/>
          </a:xfrm>
          <a:prstGeom prst="rect">
            <a:avLst/>
          </a:prstGeom>
        </p:spPr>
      </p:pic>
      <p:sp>
        <p:nvSpPr>
          <p:cNvPr id="3" name="Shape 0"/>
          <p:cNvSpPr/>
          <p:nvPr/>
        </p:nvSpPr>
        <p:spPr>
          <a:xfrm>
            <a:off x="5029200" y="0"/>
            <a:ext cx="4114800" cy="5143500"/>
          </a:xfrm>
          <a:prstGeom prst="rect">
            <a:avLst/>
          </a:prstGeom>
          <a:solidFill>
            <a:srgbClr val="000000">
              <a:alpha val="70000"/>
            </a:srgbClr>
          </a:solidFill>
          <a:ln/>
        </p:spPr>
        <p:txBody>
          <a:bodyPr/>
          <a:lstStyle/>
          <a:p>
            <a:endParaRPr lang="en-IN"/>
          </a:p>
        </p:txBody>
      </p:sp>
      <p:sp>
        <p:nvSpPr>
          <p:cNvPr id="4" name="Text 1"/>
          <p:cNvSpPr/>
          <p:nvPr/>
        </p:nvSpPr>
        <p:spPr>
          <a:xfrm>
            <a:off x="548640" y="457200"/>
            <a:ext cx="4206240" cy="640080"/>
          </a:xfrm>
          <a:prstGeom prst="rect">
            <a:avLst/>
          </a:prstGeom>
          <a:noFill/>
          <a:ln/>
        </p:spPr>
        <p:txBody>
          <a:bodyPr wrap="square" lIns="0" tIns="0" rIns="0" bIns="0" rtlCol="0" anchor="ctr"/>
          <a:lstStyle/>
          <a:p>
            <a:pPr marL="0" indent="0" algn="l">
              <a:buNone/>
            </a:pPr>
            <a:r>
              <a:rPr lang="en-US" sz="2800" b="1" dirty="0">
                <a:solidFill>
                  <a:srgbClr val="1B4332"/>
                </a:solidFill>
                <a:latin typeface="Georgia" pitchFamily="34" charset="0"/>
                <a:ea typeface="Georgia" pitchFamily="34" charset="-122"/>
                <a:cs typeface="Georgia" pitchFamily="34" charset="-120"/>
              </a:rPr>
              <a:t>The Carbon Problem</a:t>
            </a:r>
            <a:endParaRPr lang="en-US" sz="2800" dirty="0"/>
          </a:p>
        </p:txBody>
      </p:sp>
      <p:sp>
        <p:nvSpPr>
          <p:cNvPr id="5" name="Text 2"/>
          <p:cNvSpPr/>
          <p:nvPr/>
        </p:nvSpPr>
        <p:spPr>
          <a:xfrm>
            <a:off x="548640" y="1371600"/>
            <a:ext cx="4023360" cy="1097280"/>
          </a:xfrm>
          <a:prstGeom prst="rect">
            <a:avLst/>
          </a:prstGeom>
          <a:noFill/>
          <a:ln/>
        </p:spPr>
        <p:txBody>
          <a:bodyPr wrap="square" lIns="0" tIns="0" rIns="0" bIns="0" rtlCol="0" anchor="ctr"/>
          <a:lstStyle/>
          <a:p>
            <a:pPr marL="0" indent="0" algn="l">
              <a:buNone/>
            </a:pPr>
            <a:r>
              <a:rPr lang="en-US" sz="7200" b="1" dirty="0">
                <a:solidFill>
                  <a:srgbClr val="C1666B"/>
                </a:solidFill>
                <a:latin typeface="Georgia" pitchFamily="34" charset="0"/>
                <a:ea typeface="Georgia" pitchFamily="34" charset="-122"/>
                <a:cs typeface="Georgia" pitchFamily="34" charset="-120"/>
              </a:rPr>
              <a:t>38.1</a:t>
            </a:r>
            <a:endParaRPr lang="en-US" sz="7200" dirty="0"/>
          </a:p>
        </p:txBody>
      </p:sp>
      <p:sp>
        <p:nvSpPr>
          <p:cNvPr id="6" name="Text 3"/>
          <p:cNvSpPr/>
          <p:nvPr/>
        </p:nvSpPr>
        <p:spPr>
          <a:xfrm>
            <a:off x="548640" y="2423160"/>
            <a:ext cx="4023360" cy="457200"/>
          </a:xfrm>
          <a:prstGeom prst="rect">
            <a:avLst/>
          </a:prstGeom>
          <a:noFill/>
          <a:ln/>
        </p:spPr>
        <p:txBody>
          <a:bodyPr wrap="square" lIns="0" tIns="0" rIns="0" bIns="0" rtlCol="0" anchor="ctr"/>
          <a:lstStyle/>
          <a:p>
            <a:pPr marL="0" indent="0" algn="l">
              <a:buNone/>
            </a:pPr>
            <a:r>
              <a:rPr lang="en-US" sz="1400" dirty="0">
                <a:solidFill>
                  <a:srgbClr val="2D3B2D"/>
                </a:solidFill>
                <a:latin typeface="Calibri" pitchFamily="34" charset="0"/>
                <a:ea typeface="Calibri" pitchFamily="34" charset="-122"/>
                <a:cs typeface="Calibri" pitchFamily="34" charset="-120"/>
              </a:rPr>
              <a:t>billion tonnes of CO₂ from fossil fuels in 2025</a:t>
            </a:r>
            <a:endParaRPr lang="en-US" sz="1400" dirty="0"/>
          </a:p>
        </p:txBody>
      </p:sp>
      <p:sp>
        <p:nvSpPr>
          <p:cNvPr id="7" name="Text 4"/>
          <p:cNvSpPr/>
          <p:nvPr/>
        </p:nvSpPr>
        <p:spPr>
          <a:xfrm>
            <a:off x="548640" y="3017520"/>
            <a:ext cx="4023360" cy="1920240"/>
          </a:xfrm>
          <a:prstGeom prst="rect">
            <a:avLst/>
          </a:prstGeom>
          <a:noFill/>
          <a:ln/>
        </p:spPr>
        <p:txBody>
          <a:bodyPr wrap="square" lIns="0" tIns="0" rIns="0" bIns="0" rtlCol="0" anchor="t"/>
          <a:lstStyle/>
          <a:p>
            <a:pPr marL="0" indent="0" algn="l">
              <a:spcAft>
                <a:spcPts val="200"/>
              </a:spcAft>
              <a:buNone/>
            </a:pPr>
            <a:r>
              <a:rPr lang="en-US" sz="1300" b="1" dirty="0">
                <a:solidFill>
                  <a:srgbClr val="1B4332"/>
                </a:solidFill>
                <a:latin typeface="Calibri" pitchFamily="34" charset="0"/>
                <a:ea typeface="Calibri" pitchFamily="34" charset="-122"/>
                <a:cs typeface="Calibri" pitchFamily="34" charset="-120"/>
              </a:rPr>
              <a:t>A new record high</a:t>
            </a:r>
            <a:endParaRPr lang="en-US" sz="1300" dirty="0"/>
          </a:p>
          <a:p>
            <a:pPr marL="0" indent="0" algn="l">
              <a:spcAft>
                <a:spcPts val="200"/>
              </a:spcAft>
              <a:buNone/>
            </a:pPr>
            <a:r>
              <a:rPr lang="en-US" sz="1200" dirty="0">
                <a:solidFill>
                  <a:srgbClr val="5A6B5A"/>
                </a:solidFill>
                <a:latin typeface="Calibri" pitchFamily="34" charset="0"/>
                <a:ea typeface="Calibri" pitchFamily="34" charset="-122"/>
                <a:cs typeface="Calibri" pitchFamily="34" charset="-120"/>
              </a:rPr>
              <a:t>up 1.1% from the previous year</a:t>
            </a:r>
            <a:endParaRPr lang="en-US" sz="1300" dirty="0"/>
          </a:p>
          <a:p>
            <a:pPr marL="0" indent="0" algn="l">
              <a:spcAft>
                <a:spcPts val="200"/>
              </a:spcAft>
              <a:buNone/>
            </a:pPr>
            <a:endParaRPr lang="en-US" sz="1300" dirty="0"/>
          </a:p>
          <a:p>
            <a:pPr marL="0" indent="0" algn="l">
              <a:spcAft>
                <a:spcPts val="200"/>
              </a:spcAft>
              <a:buNone/>
            </a:pPr>
            <a:r>
              <a:rPr lang="en-US" sz="1300" b="1" dirty="0">
                <a:solidFill>
                  <a:srgbClr val="1B4332"/>
                </a:solidFill>
                <a:latin typeface="Calibri" pitchFamily="34" charset="0"/>
                <a:ea typeface="Calibri" pitchFamily="34" charset="-122"/>
                <a:cs typeface="Calibri" pitchFamily="34" charset="-120"/>
              </a:rPr>
              <a:t>Main sources: coal, oil, and natural gas</a:t>
            </a:r>
            <a:endParaRPr lang="en-US" sz="1300" dirty="0"/>
          </a:p>
          <a:p>
            <a:pPr marL="0" indent="0" algn="l">
              <a:spcAft>
                <a:spcPts val="200"/>
              </a:spcAft>
              <a:buNone/>
            </a:pPr>
            <a:r>
              <a:rPr lang="en-US" sz="1200" dirty="0">
                <a:solidFill>
                  <a:srgbClr val="5A6B5A"/>
                </a:solidFill>
                <a:latin typeface="Calibri" pitchFamily="34" charset="0"/>
                <a:ea typeface="Calibri" pitchFamily="34" charset="-122"/>
                <a:cs typeface="Calibri" pitchFamily="34" charset="-120"/>
              </a:rPr>
              <a:t>Burning fossil fuels releases stored carbon</a:t>
            </a:r>
            <a:endParaRPr lang="en-US" sz="1300" dirty="0"/>
          </a:p>
          <a:p>
            <a:pPr marL="0" indent="0" algn="l">
              <a:spcAft>
                <a:spcPts val="200"/>
              </a:spcAft>
              <a:buNone/>
            </a:pPr>
            <a:endParaRPr lang="en-US" sz="1300" dirty="0"/>
          </a:p>
          <a:p>
            <a:pPr marL="0" indent="0" algn="l">
              <a:spcAft>
                <a:spcPts val="200"/>
              </a:spcAft>
              <a:buNone/>
            </a:pPr>
            <a:r>
              <a:rPr lang="en-US" sz="1300" b="1" dirty="0">
                <a:solidFill>
                  <a:srgbClr val="C1666B"/>
                </a:solidFill>
                <a:latin typeface="Calibri" pitchFamily="34" charset="0"/>
                <a:ea typeface="Calibri" pitchFamily="34" charset="-122"/>
                <a:cs typeface="Calibri" pitchFamily="34" charset="-120"/>
              </a:rPr>
              <a:t>1.5°C carbon budget virtually exhausted</a:t>
            </a:r>
            <a:endParaRPr lang="en-US" sz="1300" dirty="0"/>
          </a:p>
          <a:p>
            <a:pPr marL="0" indent="0" algn="l">
              <a:spcAft>
                <a:spcPts val="200"/>
              </a:spcAft>
              <a:buNone/>
            </a:pPr>
            <a:r>
              <a:rPr lang="en-US" sz="1200" dirty="0">
                <a:solidFill>
                  <a:srgbClr val="5A6B5A"/>
                </a:solidFill>
                <a:latin typeface="Calibri" pitchFamily="34" charset="0"/>
                <a:ea typeface="Calibri" pitchFamily="34" charset="-122"/>
                <a:cs typeface="Calibri" pitchFamily="34" charset="-120"/>
              </a:rPr>
              <a:t>Only ~4 years of emissions remain at current rate</a:t>
            </a:r>
            <a:endParaRPr lang="en-US" sz="1300" dirty="0"/>
          </a:p>
        </p:txBody>
      </p:sp>
      <p:sp>
        <p:nvSpPr>
          <p:cNvPr id="8" name="Text 5"/>
          <p:cNvSpPr/>
          <p:nvPr/>
        </p:nvSpPr>
        <p:spPr>
          <a:xfrm>
            <a:off x="5303520" y="3931920"/>
            <a:ext cx="3474720" cy="91440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52% higher</a:t>
            </a:r>
            <a:endParaRPr lang="en-US" sz="2400" dirty="0"/>
          </a:p>
          <a:p>
            <a:pPr marL="0" indent="0" algn="l">
              <a:buNone/>
            </a:pPr>
            <a:r>
              <a:rPr lang="en-US" sz="1200" dirty="0">
                <a:solidFill>
                  <a:srgbClr val="E8ECE0"/>
                </a:solidFill>
                <a:latin typeface="Calibri" pitchFamily="34" charset="0"/>
                <a:ea typeface="Calibri" pitchFamily="34" charset="-122"/>
                <a:cs typeface="Calibri" pitchFamily="34" charset="-120"/>
              </a:rPr>
              <a:t>than pre-industrial CO₂ levels</a:t>
            </a:r>
            <a:endParaRPr lang="en-US" sz="2400" dirty="0"/>
          </a:p>
        </p:txBody>
      </p:sp>
    </p:spTree>
  </p:cSld>
  <p:clrMapOvr>
    <a:masterClrMapping/>
  </p:clrMapOvr>
  <p:transition spd="med">
    <p:push dir="r"/>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60000"/>
            </a:srgbClr>
          </a:solidFill>
          <a:ln/>
        </p:spPr>
        <p:txBody>
          <a:bodyPr/>
          <a:lstStyle/>
          <a:p>
            <a:endParaRPr lang="en-IN"/>
          </a:p>
        </p:txBody>
      </p:sp>
      <p:sp>
        <p:nvSpPr>
          <p:cNvPr id="3" name="Text 1"/>
          <p:cNvSpPr/>
          <p:nvPr/>
        </p:nvSpPr>
        <p:spPr>
          <a:xfrm>
            <a:off x="548640" y="365760"/>
            <a:ext cx="822960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Rising Seas &amp; Extreme Weather</a:t>
            </a:r>
            <a:endParaRPr lang="en-US" sz="3000" dirty="0"/>
          </a:p>
        </p:txBody>
      </p:sp>
      <p:sp>
        <p:nvSpPr>
          <p:cNvPr id="4" name="Shape 2"/>
          <p:cNvSpPr/>
          <p:nvPr/>
        </p:nvSpPr>
        <p:spPr>
          <a:xfrm>
            <a:off x="548640" y="1463040"/>
            <a:ext cx="2377440" cy="1371600"/>
          </a:xfrm>
          <a:prstGeom prst="rect">
            <a:avLst/>
          </a:prstGeom>
          <a:solidFill>
            <a:srgbClr val="1B6B6D">
              <a:alpha val="92000"/>
            </a:srgbClr>
          </a:solidFill>
          <a:ln/>
        </p:spPr>
        <p:txBody>
          <a:bodyPr/>
          <a:lstStyle/>
          <a:p>
            <a:endParaRPr lang="en-IN"/>
          </a:p>
        </p:txBody>
      </p:sp>
      <p:sp>
        <p:nvSpPr>
          <p:cNvPr id="5" name="Text 3"/>
          <p:cNvSpPr/>
          <p:nvPr/>
        </p:nvSpPr>
        <p:spPr>
          <a:xfrm>
            <a:off x="685800" y="1554480"/>
            <a:ext cx="2103120" cy="118872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3.7mm</a:t>
            </a:r>
            <a:endParaRPr lang="en-US" sz="3000" dirty="0"/>
          </a:p>
          <a:p>
            <a:pPr marL="0" indent="0" algn="l">
              <a:buNone/>
            </a:pPr>
            <a:r>
              <a:rPr lang="en-US" sz="1100" dirty="0">
                <a:solidFill>
                  <a:srgbClr val="E8ECE0"/>
                </a:solidFill>
                <a:latin typeface="Calibri" pitchFamily="34" charset="0"/>
                <a:ea typeface="Calibri" pitchFamily="34" charset="-122"/>
                <a:cs typeface="Calibri" pitchFamily="34" charset="-120"/>
              </a:rPr>
              <a:t>per year</a:t>
            </a:r>
            <a:endParaRPr lang="en-US" sz="3000" dirty="0"/>
          </a:p>
          <a:p>
            <a:pPr marL="0" indent="0" algn="l">
              <a:buNone/>
            </a:pPr>
            <a:endParaRPr lang="en-US" sz="3000" dirty="0"/>
          </a:p>
          <a:p>
            <a:pPr marL="0" indent="0" algn="l">
              <a:buNone/>
            </a:pPr>
            <a:r>
              <a:rPr lang="en-US" sz="1100" dirty="0">
                <a:solidFill>
                  <a:srgbClr val="E8ECE0"/>
                </a:solidFill>
                <a:latin typeface="Calibri" pitchFamily="34" charset="0"/>
                <a:ea typeface="Calibri" pitchFamily="34" charset="-122"/>
                <a:cs typeface="Calibri" pitchFamily="34" charset="-120"/>
              </a:rPr>
              <a:t>Sea level rise rate,</a:t>
            </a:r>
            <a:endParaRPr lang="en-US" sz="3000" dirty="0"/>
          </a:p>
          <a:p>
            <a:pPr marL="0" indent="0" algn="l">
              <a:buNone/>
            </a:pPr>
            <a:r>
              <a:rPr lang="en-US" sz="1100" dirty="0">
                <a:solidFill>
                  <a:srgbClr val="E8ECE0"/>
                </a:solidFill>
                <a:latin typeface="Calibri" pitchFamily="34" charset="0"/>
                <a:ea typeface="Calibri" pitchFamily="34" charset="-122"/>
                <a:cs typeface="Calibri" pitchFamily="34" charset="-120"/>
              </a:rPr>
              <a:t>accelerating since 1993</a:t>
            </a:r>
            <a:endParaRPr lang="en-US" sz="3000" dirty="0"/>
          </a:p>
        </p:txBody>
      </p:sp>
      <p:sp>
        <p:nvSpPr>
          <p:cNvPr id="6" name="Shape 4"/>
          <p:cNvSpPr/>
          <p:nvPr/>
        </p:nvSpPr>
        <p:spPr>
          <a:xfrm>
            <a:off x="3383280" y="1463040"/>
            <a:ext cx="2377440" cy="1371600"/>
          </a:xfrm>
          <a:prstGeom prst="rect">
            <a:avLst/>
          </a:prstGeom>
          <a:solidFill>
            <a:srgbClr val="1B4332">
              <a:alpha val="92000"/>
            </a:srgbClr>
          </a:solidFill>
          <a:ln/>
        </p:spPr>
        <p:txBody>
          <a:bodyPr/>
          <a:lstStyle/>
          <a:p>
            <a:endParaRPr lang="en-IN"/>
          </a:p>
        </p:txBody>
      </p:sp>
      <p:sp>
        <p:nvSpPr>
          <p:cNvPr id="7" name="Text 5"/>
          <p:cNvSpPr/>
          <p:nvPr/>
        </p:nvSpPr>
        <p:spPr>
          <a:xfrm>
            <a:off x="3520440" y="1554480"/>
            <a:ext cx="2103120" cy="118872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18x</a:t>
            </a:r>
            <a:endParaRPr lang="en-US" sz="3000" dirty="0"/>
          </a:p>
          <a:p>
            <a:pPr marL="0" indent="0" algn="l">
              <a:buNone/>
            </a:pPr>
            <a:r>
              <a:rPr lang="en-US" sz="1100" dirty="0">
                <a:solidFill>
                  <a:srgbClr val="E8ECE0"/>
                </a:solidFill>
                <a:latin typeface="Calibri" pitchFamily="34" charset="0"/>
                <a:ea typeface="Calibri" pitchFamily="34" charset="-122"/>
                <a:cs typeface="Calibri" pitchFamily="34" charset="-120"/>
              </a:rPr>
              <a:t>human energy use</a:t>
            </a:r>
            <a:endParaRPr lang="en-US" sz="3000" dirty="0"/>
          </a:p>
          <a:p>
            <a:pPr marL="0" indent="0" algn="l">
              <a:buNone/>
            </a:pPr>
            <a:endParaRPr lang="en-US" sz="3000" dirty="0"/>
          </a:p>
          <a:p>
            <a:pPr marL="0" indent="0" algn="l">
              <a:buNone/>
            </a:pPr>
            <a:r>
              <a:rPr lang="en-US" sz="1100" dirty="0">
                <a:solidFill>
                  <a:srgbClr val="E8ECE0"/>
                </a:solidFill>
                <a:latin typeface="Calibri" pitchFamily="34" charset="0"/>
                <a:ea typeface="Calibri" pitchFamily="34" charset="-122"/>
                <a:cs typeface="Calibri" pitchFamily="34" charset="-120"/>
              </a:rPr>
              <a:t>Ocean heat absorbed</a:t>
            </a:r>
            <a:endParaRPr lang="en-US" sz="3000" dirty="0"/>
          </a:p>
          <a:p>
            <a:pPr marL="0" indent="0" algn="l">
              <a:buNone/>
            </a:pPr>
            <a:r>
              <a:rPr lang="en-US" sz="1100" dirty="0">
                <a:solidFill>
                  <a:srgbClr val="E8ECE0"/>
                </a:solidFill>
                <a:latin typeface="Calibri" pitchFamily="34" charset="0"/>
                <a:ea typeface="Calibri" pitchFamily="34" charset="-122"/>
                <a:cs typeface="Calibri" pitchFamily="34" charset="-120"/>
              </a:rPr>
              <a:t>each year for 20 years</a:t>
            </a:r>
            <a:endParaRPr lang="en-US" sz="3000" dirty="0"/>
          </a:p>
        </p:txBody>
      </p:sp>
      <p:sp>
        <p:nvSpPr>
          <p:cNvPr id="8" name="Shape 6"/>
          <p:cNvSpPr/>
          <p:nvPr/>
        </p:nvSpPr>
        <p:spPr>
          <a:xfrm>
            <a:off x="6217920" y="1463040"/>
            <a:ext cx="2377440" cy="1371600"/>
          </a:xfrm>
          <a:prstGeom prst="rect">
            <a:avLst/>
          </a:prstGeom>
          <a:solidFill>
            <a:srgbClr val="6B4226">
              <a:alpha val="92000"/>
            </a:srgbClr>
          </a:solidFill>
          <a:ln/>
        </p:spPr>
        <p:txBody>
          <a:bodyPr/>
          <a:lstStyle/>
          <a:p>
            <a:endParaRPr lang="en-IN"/>
          </a:p>
        </p:txBody>
      </p:sp>
      <p:sp>
        <p:nvSpPr>
          <p:cNvPr id="9" name="Text 7"/>
          <p:cNvSpPr/>
          <p:nvPr/>
        </p:nvSpPr>
        <p:spPr>
          <a:xfrm>
            <a:off x="6355080" y="1554480"/>
            <a:ext cx="2103120" cy="1188720"/>
          </a:xfrm>
          <a:prstGeom prst="rect">
            <a:avLst/>
          </a:prstGeom>
          <a:noFill/>
          <a:ln/>
        </p:spPr>
        <p:txBody>
          <a:bodyPr wrap="square" lIns="0" tIns="0" rIns="0" bIns="0"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Record</a:t>
            </a:r>
            <a:endParaRPr lang="en-US" sz="3000" dirty="0"/>
          </a:p>
          <a:p>
            <a:pPr marL="0" indent="0" algn="l">
              <a:buNone/>
            </a:pPr>
            <a:r>
              <a:rPr lang="en-US" sz="1100" dirty="0">
                <a:solidFill>
                  <a:srgbClr val="E8ECE0"/>
                </a:solidFill>
                <a:latin typeface="Calibri" pitchFamily="34" charset="0"/>
                <a:ea typeface="Calibri" pitchFamily="34" charset="-122"/>
                <a:cs typeface="Calibri" pitchFamily="34" charset="-120"/>
              </a:rPr>
              <a:t>low Arctic ice</a:t>
            </a:r>
            <a:endParaRPr lang="en-US" sz="3000" dirty="0"/>
          </a:p>
          <a:p>
            <a:pPr marL="0" indent="0" algn="l">
              <a:buNone/>
            </a:pPr>
            <a:endParaRPr lang="en-US" sz="3000" dirty="0"/>
          </a:p>
          <a:p>
            <a:pPr marL="0" indent="0" algn="l">
              <a:buNone/>
            </a:pPr>
            <a:r>
              <a:rPr lang="en-US" sz="1100" dirty="0">
                <a:solidFill>
                  <a:srgbClr val="E8ECE0"/>
                </a:solidFill>
                <a:latin typeface="Calibri" pitchFamily="34" charset="0"/>
                <a:ea typeface="Calibri" pitchFamily="34" charset="-122"/>
                <a:cs typeface="Calibri" pitchFamily="34" charset="-120"/>
              </a:rPr>
              <a:t>Annual sea ice extent</a:t>
            </a:r>
            <a:endParaRPr lang="en-US" sz="3000" dirty="0"/>
          </a:p>
          <a:p>
            <a:pPr marL="0" indent="0" algn="l">
              <a:buNone/>
            </a:pPr>
            <a:r>
              <a:rPr lang="en-US" sz="1100" dirty="0">
                <a:solidFill>
                  <a:srgbClr val="E8ECE0"/>
                </a:solidFill>
                <a:latin typeface="Calibri" pitchFamily="34" charset="0"/>
                <a:ea typeface="Calibri" pitchFamily="34" charset="-122"/>
                <a:cs typeface="Calibri" pitchFamily="34" charset="-120"/>
              </a:rPr>
              <a:t>at or near all-time low</a:t>
            </a:r>
            <a:endParaRPr lang="en-US" sz="3000" dirty="0"/>
          </a:p>
        </p:txBody>
      </p:sp>
      <p:sp>
        <p:nvSpPr>
          <p:cNvPr id="10" name="Text 8"/>
          <p:cNvSpPr/>
          <p:nvPr/>
        </p:nvSpPr>
        <p:spPr>
          <a:xfrm>
            <a:off x="548640" y="3291840"/>
            <a:ext cx="8046720" cy="822960"/>
          </a:xfrm>
          <a:prstGeom prst="rect">
            <a:avLst/>
          </a:prstGeom>
          <a:noFill/>
          <a:ln/>
        </p:spPr>
        <p:txBody>
          <a:bodyPr wrap="square" lIns="0" tIns="0" rIns="0" bIns="0" rtlCol="0" anchor="ctr"/>
          <a:lstStyle/>
          <a:p>
            <a:pPr marL="0" indent="0" algn="l">
              <a:buNone/>
            </a:pPr>
            <a:r>
              <a:rPr lang="en-US" sz="1300" i="1" dirty="0">
                <a:solidFill>
                  <a:srgbClr val="E8ECE0"/>
                </a:solidFill>
                <a:latin typeface="Calibri" pitchFamily="34" charset="0"/>
                <a:ea typeface="Calibri" pitchFamily="34" charset="-122"/>
                <a:cs typeface="Calibri" pitchFamily="34" charset="-120"/>
              </a:rPr>
              <a:t>Extreme events around the world caused disruption and devastation,</a:t>
            </a:r>
            <a:endParaRPr lang="en-US" sz="1300" dirty="0"/>
          </a:p>
          <a:p>
            <a:pPr marL="0" indent="0" algn="l">
              <a:buNone/>
            </a:pPr>
            <a:r>
              <a:rPr lang="en-US" sz="1300" i="1" dirty="0">
                <a:solidFill>
                  <a:srgbClr val="E8ECE0"/>
                </a:solidFill>
                <a:latin typeface="Calibri" pitchFamily="34" charset="0"/>
                <a:ea typeface="Calibri" pitchFamily="34" charset="-122"/>
                <a:cs typeface="Calibri" pitchFamily="34" charset="-120"/>
              </a:rPr>
              <a:t>highlighting the vulnerability of interconnected economies and societies.</a:t>
            </a:r>
            <a:endParaRPr lang="en-US" sz="1300" dirty="0"/>
          </a:p>
        </p:txBody>
      </p:sp>
      <p:sp>
        <p:nvSpPr>
          <p:cNvPr id="11" name="Text 9"/>
          <p:cNvSpPr/>
          <p:nvPr/>
        </p:nvSpPr>
        <p:spPr>
          <a:xfrm>
            <a:off x="548640" y="4663440"/>
            <a:ext cx="8046720" cy="274320"/>
          </a:xfrm>
          <a:prstGeom prst="rect">
            <a:avLst/>
          </a:prstGeom>
          <a:noFill/>
          <a:ln/>
        </p:spPr>
        <p:txBody>
          <a:bodyPr wrap="square" lIns="0" tIns="0" rIns="0" bIns="0" rtlCol="0" anchor="ctr"/>
          <a:lstStyle/>
          <a:p>
            <a:pPr marL="0" indent="0" algn="l">
              <a:buNone/>
            </a:pPr>
            <a:r>
              <a:rPr lang="en-US" sz="900" i="1" dirty="0">
                <a:solidFill>
                  <a:srgbClr val="5A6B5A"/>
                </a:solidFill>
                <a:latin typeface="Calibri" pitchFamily="34" charset="0"/>
                <a:ea typeface="Calibri" pitchFamily="34" charset="-122"/>
                <a:cs typeface="Calibri" pitchFamily="34" charset="-120"/>
              </a:rPr>
              <a:t>WMO State of the Global Climate 2025</a:t>
            </a:r>
            <a:endParaRPr lang="en-US" sz="900" dirty="0"/>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2"/>
        </a:solidFill>
        <a:effectLst/>
      </p:bgPr>
    </p:bg>
    <p:spTree>
      <p:nvGrpSpPr>
        <p:cNvPr id="1" name=""/>
        <p:cNvGrpSpPr/>
        <p:nvPr/>
      </p:nvGrpSpPr>
      <p:grpSpPr>
        <a:xfrm>
          <a:off x="0" y="0"/>
          <a:ext cx="0" cy="0"/>
          <a:chOff x="0" y="0"/>
          <a:chExt cx="0" cy="0"/>
        </a:xfrm>
      </p:grpSpPr>
      <p:pic>
        <p:nvPicPr>
          <p:cNvPr id="2" name="Image 0" descr="/agent/turn1/workspace/images/beautiful-photograph-of-vibrant-coral-reef-underwa_2026-05-05T01-13-41_image_DAS_0.jpg"/>
          <p:cNvPicPr>
            <a:picLocks noChangeAspect="1"/>
          </p:cNvPicPr>
          <p:nvPr/>
        </p:nvPicPr>
        <p:blipFill>
          <a:blip r:embed="rId3"/>
          <a:srcRect t="3119" b="3119"/>
          <a:stretch/>
        </p:blipFill>
        <p:spPr>
          <a:xfrm>
            <a:off x="4389120" y="0"/>
            <a:ext cx="4754880" cy="2926080"/>
          </a:xfrm>
          <a:prstGeom prst="rect">
            <a:avLst/>
          </a:prstGeom>
        </p:spPr>
      </p:pic>
      <p:sp>
        <p:nvSpPr>
          <p:cNvPr id="3" name="Text 0"/>
          <p:cNvSpPr/>
          <p:nvPr/>
        </p:nvSpPr>
        <p:spPr>
          <a:xfrm>
            <a:off x="548640" y="365760"/>
            <a:ext cx="3840480" cy="640080"/>
          </a:xfrm>
          <a:prstGeom prst="rect">
            <a:avLst/>
          </a:prstGeom>
          <a:noFill/>
          <a:ln/>
        </p:spPr>
        <p:txBody>
          <a:bodyPr wrap="square" lIns="0" tIns="0" rIns="0" bIns="0" rtlCol="0" anchor="ctr"/>
          <a:lstStyle/>
          <a:p>
            <a:pPr marL="0" indent="0" algn="l">
              <a:buNone/>
            </a:pPr>
            <a:r>
              <a:rPr lang="en-US" sz="2400" b="1" dirty="0">
                <a:solidFill>
                  <a:srgbClr val="1B4332"/>
                </a:solidFill>
                <a:latin typeface="Georgia" pitchFamily="34" charset="0"/>
                <a:ea typeface="Georgia" pitchFamily="34" charset="-122"/>
                <a:cs typeface="Georgia" pitchFamily="34" charset="-120"/>
              </a:rPr>
              <a:t>Biodiversity Under Threat</a:t>
            </a:r>
            <a:endParaRPr lang="en-US" sz="2400" dirty="0"/>
          </a:p>
        </p:txBody>
      </p:sp>
      <p:sp>
        <p:nvSpPr>
          <p:cNvPr id="4" name="Text 1"/>
          <p:cNvSpPr/>
          <p:nvPr/>
        </p:nvSpPr>
        <p:spPr>
          <a:xfrm>
            <a:off x="548640" y="1188720"/>
            <a:ext cx="3657600" cy="365760"/>
          </a:xfrm>
          <a:prstGeom prst="rect">
            <a:avLst/>
          </a:prstGeom>
          <a:noFill/>
          <a:ln/>
        </p:spPr>
        <p:txBody>
          <a:bodyPr wrap="square" lIns="0" tIns="0" rIns="0" bIns="0" rtlCol="0" anchor="ctr"/>
          <a:lstStyle/>
          <a:p>
            <a:pPr marL="0" indent="0" algn="l">
              <a:buNone/>
            </a:pPr>
            <a:r>
              <a:rPr lang="en-US" sz="2200" b="1" dirty="0">
                <a:solidFill>
                  <a:srgbClr val="C1666B"/>
                </a:solidFill>
                <a:latin typeface="Georgia" pitchFamily="34" charset="0"/>
                <a:ea typeface="Georgia" pitchFamily="34" charset="-122"/>
                <a:cs typeface="Georgia" pitchFamily="34" charset="-120"/>
              </a:rPr>
              <a:t>1 million</a:t>
            </a:r>
            <a:endParaRPr lang="en-US" sz="2200" dirty="0"/>
          </a:p>
        </p:txBody>
      </p:sp>
      <p:sp>
        <p:nvSpPr>
          <p:cNvPr id="5" name="Text 2"/>
          <p:cNvSpPr/>
          <p:nvPr/>
        </p:nvSpPr>
        <p:spPr>
          <a:xfrm>
            <a:off x="548640" y="1536192"/>
            <a:ext cx="3657600" cy="320040"/>
          </a:xfrm>
          <a:prstGeom prst="rect">
            <a:avLst/>
          </a:prstGeom>
          <a:noFill/>
          <a:ln/>
        </p:spPr>
        <p:txBody>
          <a:bodyPr wrap="square" lIns="0" tIns="0" rIns="0" bIns="0" rtlCol="0" anchor="t"/>
          <a:lstStyle/>
          <a:p>
            <a:pPr marL="0" indent="0" algn="l">
              <a:buNone/>
            </a:pPr>
            <a:r>
              <a:rPr lang="en-US" sz="1300" dirty="0">
                <a:solidFill>
                  <a:srgbClr val="2D3B2D"/>
                </a:solidFill>
                <a:latin typeface="Calibri" pitchFamily="34" charset="0"/>
                <a:ea typeface="Calibri" pitchFamily="34" charset="-122"/>
                <a:cs typeface="Calibri" pitchFamily="34" charset="-120"/>
              </a:rPr>
              <a:t>species face extinction</a:t>
            </a:r>
            <a:endParaRPr lang="en-US" sz="1300" dirty="0"/>
          </a:p>
        </p:txBody>
      </p:sp>
      <p:sp>
        <p:nvSpPr>
          <p:cNvPr id="6" name="Text 3"/>
          <p:cNvSpPr/>
          <p:nvPr/>
        </p:nvSpPr>
        <p:spPr>
          <a:xfrm>
            <a:off x="548640" y="1938528"/>
            <a:ext cx="3657600" cy="365760"/>
          </a:xfrm>
          <a:prstGeom prst="rect">
            <a:avLst/>
          </a:prstGeom>
          <a:noFill/>
          <a:ln/>
        </p:spPr>
        <p:txBody>
          <a:bodyPr wrap="square" lIns="0" tIns="0" rIns="0" bIns="0" rtlCol="0" anchor="ctr"/>
          <a:lstStyle/>
          <a:p>
            <a:pPr marL="0" indent="0" algn="l">
              <a:buNone/>
            </a:pPr>
            <a:r>
              <a:rPr lang="en-US" sz="2200" b="1" dirty="0">
                <a:solidFill>
                  <a:srgbClr val="C1666B"/>
                </a:solidFill>
                <a:latin typeface="Georgia" pitchFamily="34" charset="0"/>
                <a:ea typeface="Georgia" pitchFamily="34" charset="-122"/>
                <a:cs typeface="Georgia" pitchFamily="34" charset="-120"/>
              </a:rPr>
              <a:t>90%</a:t>
            </a:r>
            <a:endParaRPr lang="en-US" sz="2200" dirty="0"/>
          </a:p>
        </p:txBody>
      </p:sp>
      <p:sp>
        <p:nvSpPr>
          <p:cNvPr id="7" name="Text 4"/>
          <p:cNvSpPr/>
          <p:nvPr/>
        </p:nvSpPr>
        <p:spPr>
          <a:xfrm>
            <a:off x="548640" y="2286000"/>
            <a:ext cx="3657600" cy="320040"/>
          </a:xfrm>
          <a:prstGeom prst="rect">
            <a:avLst/>
          </a:prstGeom>
          <a:noFill/>
          <a:ln/>
        </p:spPr>
        <p:txBody>
          <a:bodyPr wrap="square" lIns="0" tIns="0" rIns="0" bIns="0" rtlCol="0" anchor="t"/>
          <a:lstStyle/>
          <a:p>
            <a:pPr marL="0" indent="0" algn="l">
              <a:buNone/>
            </a:pPr>
            <a:r>
              <a:rPr lang="en-US" sz="1300" dirty="0">
                <a:solidFill>
                  <a:srgbClr val="2D3B2D"/>
                </a:solidFill>
                <a:latin typeface="Calibri" pitchFamily="34" charset="0"/>
                <a:ea typeface="Calibri" pitchFamily="34" charset="-122"/>
                <a:cs typeface="Calibri" pitchFamily="34" charset="-120"/>
              </a:rPr>
              <a:t>coral reefs lost at 1.5°C</a:t>
            </a:r>
            <a:endParaRPr lang="en-US" sz="1300" dirty="0"/>
          </a:p>
        </p:txBody>
      </p:sp>
      <p:sp>
        <p:nvSpPr>
          <p:cNvPr id="8" name="Text 5"/>
          <p:cNvSpPr/>
          <p:nvPr/>
        </p:nvSpPr>
        <p:spPr>
          <a:xfrm>
            <a:off x="548640" y="2688336"/>
            <a:ext cx="3657600" cy="365760"/>
          </a:xfrm>
          <a:prstGeom prst="rect">
            <a:avLst/>
          </a:prstGeom>
          <a:noFill/>
          <a:ln/>
        </p:spPr>
        <p:txBody>
          <a:bodyPr wrap="square" lIns="0" tIns="0" rIns="0" bIns="0" rtlCol="0" anchor="ctr"/>
          <a:lstStyle/>
          <a:p>
            <a:pPr marL="0" indent="0" algn="l">
              <a:buNone/>
            </a:pPr>
            <a:r>
              <a:rPr lang="en-US" sz="2200" b="1" dirty="0">
                <a:solidFill>
                  <a:srgbClr val="C1666B"/>
                </a:solidFill>
                <a:latin typeface="Georgia" pitchFamily="34" charset="0"/>
                <a:ea typeface="Georgia" pitchFamily="34" charset="-122"/>
                <a:cs typeface="Georgia" pitchFamily="34" charset="-120"/>
              </a:rPr>
              <a:t>41%</a:t>
            </a:r>
            <a:endParaRPr lang="en-US" sz="2200" dirty="0"/>
          </a:p>
        </p:txBody>
      </p:sp>
      <p:sp>
        <p:nvSpPr>
          <p:cNvPr id="9" name="Text 6"/>
          <p:cNvSpPr/>
          <p:nvPr/>
        </p:nvSpPr>
        <p:spPr>
          <a:xfrm>
            <a:off x="548640" y="3035808"/>
            <a:ext cx="3657600" cy="320040"/>
          </a:xfrm>
          <a:prstGeom prst="rect">
            <a:avLst/>
          </a:prstGeom>
          <a:noFill/>
          <a:ln/>
        </p:spPr>
        <p:txBody>
          <a:bodyPr wrap="square" lIns="0" tIns="0" rIns="0" bIns="0" rtlCol="0" anchor="t"/>
          <a:lstStyle/>
          <a:p>
            <a:pPr marL="0" indent="0" algn="l">
              <a:buNone/>
            </a:pPr>
            <a:r>
              <a:rPr lang="en-US" sz="1300" dirty="0">
                <a:solidFill>
                  <a:srgbClr val="2D3B2D"/>
                </a:solidFill>
                <a:latin typeface="Calibri" pitchFamily="34" charset="0"/>
                <a:ea typeface="Calibri" pitchFamily="34" charset="-122"/>
                <a:cs typeface="Calibri" pitchFamily="34" charset="-120"/>
              </a:rPr>
              <a:t>of amphibians threatened</a:t>
            </a:r>
            <a:endParaRPr lang="en-US" sz="1300" dirty="0"/>
          </a:p>
        </p:txBody>
      </p:sp>
      <p:sp>
        <p:nvSpPr>
          <p:cNvPr id="10" name="Text 7"/>
          <p:cNvSpPr/>
          <p:nvPr/>
        </p:nvSpPr>
        <p:spPr>
          <a:xfrm>
            <a:off x="548640" y="3438144"/>
            <a:ext cx="3657600" cy="365760"/>
          </a:xfrm>
          <a:prstGeom prst="rect">
            <a:avLst/>
          </a:prstGeom>
          <a:noFill/>
          <a:ln/>
        </p:spPr>
        <p:txBody>
          <a:bodyPr wrap="square" lIns="0" tIns="0" rIns="0" bIns="0" rtlCol="0" anchor="ctr"/>
          <a:lstStyle/>
          <a:p>
            <a:pPr marL="0" indent="0" algn="l">
              <a:buNone/>
            </a:pPr>
            <a:r>
              <a:rPr lang="en-US" sz="2200" b="1" dirty="0">
                <a:solidFill>
                  <a:srgbClr val="C1666B"/>
                </a:solidFill>
                <a:latin typeface="Georgia" pitchFamily="34" charset="0"/>
                <a:ea typeface="Georgia" pitchFamily="34" charset="-122"/>
                <a:cs typeface="Georgia" pitchFamily="34" charset="-120"/>
              </a:rPr>
              <a:t>70%</a:t>
            </a:r>
            <a:endParaRPr lang="en-US" sz="2200" dirty="0"/>
          </a:p>
        </p:txBody>
      </p:sp>
      <p:sp>
        <p:nvSpPr>
          <p:cNvPr id="11" name="Text 8"/>
          <p:cNvSpPr/>
          <p:nvPr/>
        </p:nvSpPr>
        <p:spPr>
          <a:xfrm>
            <a:off x="548640" y="3785616"/>
            <a:ext cx="3657600" cy="320040"/>
          </a:xfrm>
          <a:prstGeom prst="rect">
            <a:avLst/>
          </a:prstGeom>
          <a:noFill/>
          <a:ln/>
        </p:spPr>
        <p:txBody>
          <a:bodyPr wrap="square" lIns="0" tIns="0" rIns="0" bIns="0" rtlCol="0" anchor="t"/>
          <a:lstStyle/>
          <a:p>
            <a:pPr marL="0" indent="0" algn="l">
              <a:buNone/>
            </a:pPr>
            <a:r>
              <a:rPr lang="en-US" sz="1300" dirty="0">
                <a:solidFill>
                  <a:srgbClr val="2D3B2D"/>
                </a:solidFill>
                <a:latin typeface="Calibri" pitchFamily="34" charset="0"/>
                <a:ea typeface="Calibri" pitchFamily="34" charset="-122"/>
                <a:cs typeface="Calibri" pitchFamily="34" charset="-120"/>
              </a:rPr>
              <a:t>of freshwater ecosystems degraded</a:t>
            </a:r>
            <a:endParaRPr lang="en-US" sz="1300" dirty="0"/>
          </a:p>
        </p:txBody>
      </p:sp>
      <p:sp>
        <p:nvSpPr>
          <p:cNvPr id="12" name="Shape 9"/>
          <p:cNvSpPr/>
          <p:nvPr/>
        </p:nvSpPr>
        <p:spPr>
          <a:xfrm>
            <a:off x="0" y="4297680"/>
            <a:ext cx="9144000" cy="845820"/>
          </a:xfrm>
          <a:prstGeom prst="rect">
            <a:avLst/>
          </a:prstGeom>
          <a:solidFill>
            <a:srgbClr val="1B4332"/>
          </a:solidFill>
          <a:ln/>
        </p:spPr>
        <p:txBody>
          <a:bodyPr/>
          <a:lstStyle/>
          <a:p>
            <a:endParaRPr lang="en-IN"/>
          </a:p>
        </p:txBody>
      </p:sp>
      <p:sp>
        <p:nvSpPr>
          <p:cNvPr id="13" name="Text 10"/>
          <p:cNvSpPr/>
          <p:nvPr/>
        </p:nvSpPr>
        <p:spPr>
          <a:xfrm>
            <a:off x="548640" y="4297680"/>
            <a:ext cx="8046720" cy="845820"/>
          </a:xfrm>
          <a:prstGeom prst="rect">
            <a:avLst/>
          </a:prstGeom>
          <a:noFill/>
          <a:ln/>
        </p:spPr>
        <p:txBody>
          <a:bodyPr wrap="square" lIns="0" tIns="0" rIns="0" bIns="0" rtlCol="0" anchor="ctr"/>
          <a:lstStyle/>
          <a:p>
            <a:pPr marL="0" indent="0" algn="l">
              <a:buNone/>
            </a:pPr>
            <a:r>
              <a:rPr lang="en-US" sz="1300" i="1" dirty="0">
                <a:solidFill>
                  <a:srgbClr val="FFFFFF"/>
                </a:solidFill>
                <a:latin typeface="Calibri" pitchFamily="34" charset="0"/>
                <a:ea typeface="Calibri" pitchFamily="34" charset="-122"/>
                <a:cs typeface="Calibri" pitchFamily="34" charset="-120"/>
              </a:rPr>
              <a:t>Habitat loss, warming oceans, and shifting weather patterns are pushing species toward extinction faster than at any point since the age of dinosaurs.</a:t>
            </a:r>
            <a:endParaRPr lang="en-US" sz="1300" dirty="0"/>
          </a:p>
        </p:txBody>
      </p:sp>
    </p:spTree>
  </p:cSld>
  <p:clrMapOvr>
    <a:masterClrMapping/>
  </p:clrMapOvr>
  <p:transition spd="med">
    <p:wip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B1E"/>
        </a:solidFill>
        <a:effectLst/>
      </p:bgPr>
    </p:bg>
    <p:spTree>
      <p:nvGrpSpPr>
        <p:cNvPr id="1" name=""/>
        <p:cNvGrpSpPr/>
        <p:nvPr/>
      </p:nvGrpSpPr>
      <p:grpSpPr>
        <a:xfrm>
          <a:off x="0" y="0"/>
          <a:ext cx="0" cy="0"/>
          <a:chOff x="0" y="0"/>
          <a:chExt cx="0" cy="0"/>
        </a:xfrm>
      </p:grpSpPr>
      <p:pic>
        <p:nvPicPr>
          <p:cNvPr id="2" name="Image 0" descr="/agent/turn1/workspace/images/dramatic-aerial-photograph-of-cracked-dry-earth-me_2026-05-05T01-13-35_image_DAS_0.jpg"/>
          <p:cNvPicPr>
            <a:picLocks noChangeAspect="1"/>
          </p:cNvPicPr>
          <p:nvPr/>
        </p:nvPicPr>
        <p:blipFill>
          <a:blip r:embed="rId3"/>
          <a:srcRect l="23333" r="23333"/>
          <a:stretch/>
        </p:blipFill>
        <p:spPr>
          <a:xfrm>
            <a:off x="0" y="0"/>
            <a:ext cx="4114800" cy="5143500"/>
          </a:xfrm>
          <a:prstGeom prst="rect">
            <a:avLst/>
          </a:prstGeom>
        </p:spPr>
      </p:pic>
      <p:sp>
        <p:nvSpPr>
          <p:cNvPr id="3" name="Shape 0"/>
          <p:cNvSpPr/>
          <p:nvPr/>
        </p:nvSpPr>
        <p:spPr>
          <a:xfrm>
            <a:off x="0" y="0"/>
            <a:ext cx="4114800" cy="5143500"/>
          </a:xfrm>
          <a:prstGeom prst="rect">
            <a:avLst/>
          </a:prstGeom>
          <a:solidFill>
            <a:srgbClr val="000000">
              <a:alpha val="75000"/>
            </a:srgbClr>
          </a:solidFill>
          <a:ln/>
        </p:spPr>
        <p:txBody>
          <a:bodyPr/>
          <a:lstStyle/>
          <a:p>
            <a:endParaRPr lang="en-IN"/>
          </a:p>
        </p:txBody>
      </p:sp>
      <p:sp>
        <p:nvSpPr>
          <p:cNvPr id="4" name="Text 1"/>
          <p:cNvSpPr/>
          <p:nvPr/>
        </p:nvSpPr>
        <p:spPr>
          <a:xfrm>
            <a:off x="4389120" y="457200"/>
            <a:ext cx="438912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Georgia" pitchFamily="34" charset="0"/>
                <a:ea typeface="Georgia" pitchFamily="34" charset="-122"/>
                <a:cs typeface="Georgia" pitchFamily="34" charset="-120"/>
              </a:rPr>
              <a:t>Earth's Carbon Cycle</a:t>
            </a:r>
            <a:endParaRPr lang="en-US" sz="2600" dirty="0"/>
          </a:p>
        </p:txBody>
      </p:sp>
      <p:sp>
        <p:nvSpPr>
          <p:cNvPr id="5" name="Text 2"/>
          <p:cNvSpPr/>
          <p:nvPr/>
        </p:nvSpPr>
        <p:spPr>
          <a:xfrm>
            <a:off x="4389120" y="1554480"/>
            <a:ext cx="4389120" cy="3200400"/>
          </a:xfrm>
          <a:prstGeom prst="rect">
            <a:avLst/>
          </a:prstGeom>
          <a:noFill/>
          <a:ln/>
        </p:spPr>
        <p:txBody>
          <a:bodyPr wrap="square" lIns="0" tIns="0" rIns="0" bIns="0" rtlCol="0" anchor="t"/>
          <a:lstStyle/>
          <a:p>
            <a:pPr marL="0" indent="0" algn="l">
              <a:spcAft>
                <a:spcPts val="200"/>
              </a:spcAft>
              <a:buNone/>
            </a:pPr>
            <a:r>
              <a:rPr lang="en-US" sz="1400" b="1" dirty="0">
                <a:solidFill>
                  <a:srgbClr val="84A98C"/>
                </a:solidFill>
                <a:latin typeface="Calibri" pitchFamily="34" charset="0"/>
                <a:ea typeface="Calibri" pitchFamily="34" charset="-122"/>
                <a:cs typeface="Calibri" pitchFamily="34" charset="-120"/>
              </a:rPr>
              <a:t>The ocean absorbs over 90% of trapped heat</a:t>
            </a:r>
            <a:endParaRPr lang="en-US" sz="1400" dirty="0"/>
          </a:p>
          <a:p>
            <a:pPr marL="0" indent="0" algn="l">
              <a:spcAft>
                <a:spcPts val="200"/>
              </a:spcAft>
              <a:buNone/>
            </a:pPr>
            <a:r>
              <a:rPr lang="en-US" sz="1300" dirty="0">
                <a:solidFill>
                  <a:srgbClr val="E8ECE0"/>
                </a:solidFill>
                <a:latin typeface="Calibri" pitchFamily="34" charset="0"/>
                <a:ea typeface="Calibri" pitchFamily="34" charset="-122"/>
                <a:cs typeface="Calibri" pitchFamily="34" charset="-120"/>
              </a:rPr>
              <a:t>and about 25% of human CO₂ emissions each year</a:t>
            </a:r>
            <a:endParaRPr lang="en-US" sz="1400" dirty="0"/>
          </a:p>
          <a:p>
            <a:pPr marL="0" indent="0" algn="l">
              <a:spcAft>
                <a:spcPts val="200"/>
              </a:spcAft>
              <a:buNone/>
            </a:pPr>
            <a:endParaRPr lang="en-US" sz="1400" dirty="0"/>
          </a:p>
          <a:p>
            <a:pPr marL="0" indent="0" algn="l">
              <a:spcAft>
                <a:spcPts val="200"/>
              </a:spcAft>
              <a:buNone/>
            </a:pPr>
            <a:r>
              <a:rPr lang="en-US" sz="1400" b="1" dirty="0">
                <a:solidFill>
                  <a:srgbClr val="D4A373"/>
                </a:solidFill>
                <a:latin typeface="Calibri" pitchFamily="34" charset="0"/>
                <a:ea typeface="Calibri" pitchFamily="34" charset="-122"/>
                <a:cs typeface="Calibri" pitchFamily="34" charset="-120"/>
              </a:rPr>
              <a:t>But sinks are weakening</a:t>
            </a:r>
            <a:endParaRPr lang="en-US" sz="1400" dirty="0"/>
          </a:p>
          <a:p>
            <a:pPr marL="0" indent="0" algn="l">
              <a:spcAft>
                <a:spcPts val="200"/>
              </a:spcAft>
              <a:buNone/>
            </a:pPr>
            <a:r>
              <a:rPr lang="en-US" sz="1300" dirty="0">
                <a:solidFill>
                  <a:srgbClr val="E8ECE0"/>
                </a:solidFill>
                <a:latin typeface="Calibri" pitchFamily="34" charset="0"/>
                <a:ea typeface="Calibri" pitchFamily="34" charset="-122"/>
                <a:cs typeface="Calibri" pitchFamily="34" charset="-120"/>
              </a:rPr>
              <a:t>Climate change has reduced land and ocean sinks by ~15% over the past decade</a:t>
            </a:r>
            <a:endParaRPr lang="en-US" sz="1400" dirty="0"/>
          </a:p>
          <a:p>
            <a:pPr marL="0" indent="0" algn="l">
              <a:spcAft>
                <a:spcPts val="200"/>
              </a:spcAft>
              <a:buNone/>
            </a:pPr>
            <a:endParaRPr lang="en-US" sz="1400" dirty="0"/>
          </a:p>
          <a:p>
            <a:pPr marL="0" indent="0" algn="l">
              <a:spcAft>
                <a:spcPts val="200"/>
              </a:spcAft>
              <a:buNone/>
            </a:pPr>
            <a:r>
              <a:rPr lang="en-US" sz="1400" b="1" dirty="0">
                <a:solidFill>
                  <a:srgbClr val="84A98C"/>
                </a:solidFill>
                <a:latin typeface="Calibri" pitchFamily="34" charset="0"/>
                <a:ea typeface="Calibri" pitchFamily="34" charset="-122"/>
                <a:cs typeface="Calibri" pitchFamily="34" charset="-120"/>
              </a:rPr>
              <a:t>2025: Record ocean heat content</a:t>
            </a:r>
            <a:endParaRPr lang="en-US" sz="1400" dirty="0"/>
          </a:p>
          <a:p>
            <a:pPr marL="0" indent="0" algn="l">
              <a:spcAft>
                <a:spcPts val="200"/>
              </a:spcAft>
              <a:buNone/>
            </a:pPr>
            <a:r>
              <a:rPr lang="en-US" sz="1300" dirty="0">
                <a:solidFill>
                  <a:srgbClr val="E8ECE0"/>
                </a:solidFill>
                <a:latin typeface="Calibri" pitchFamily="34" charset="0"/>
                <a:ea typeface="Calibri" pitchFamily="34" charset="-122"/>
                <a:cs typeface="Calibri" pitchFamily="34" charset="-120"/>
              </a:rPr>
              <a:t>Oceans added 39x more heat than all annual human energy use</a:t>
            </a:r>
            <a:endParaRPr lang="en-US" sz="1400" dirty="0"/>
          </a:p>
          <a:p>
            <a:pPr marL="0" indent="0" algn="l">
              <a:spcAft>
                <a:spcPts val="200"/>
              </a:spcAft>
              <a:buNone/>
            </a:pPr>
            <a:endParaRPr lang="en-US" sz="1400" dirty="0"/>
          </a:p>
          <a:p>
            <a:pPr marL="0" indent="0" algn="l">
              <a:spcAft>
                <a:spcPts val="200"/>
              </a:spcAft>
              <a:buNone/>
            </a:pPr>
            <a:r>
              <a:rPr lang="en-US" sz="1400" b="1" dirty="0">
                <a:solidFill>
                  <a:srgbClr val="D4A373"/>
                </a:solidFill>
                <a:latin typeface="Calibri" pitchFamily="34" charset="0"/>
                <a:ea typeface="Calibri" pitchFamily="34" charset="-122"/>
                <a:cs typeface="Calibri" pitchFamily="34" charset="-120"/>
              </a:rPr>
              <a:t>8% of atmospheric CO₂ rise since 1960</a:t>
            </a:r>
            <a:endParaRPr lang="en-US" sz="1400" dirty="0"/>
          </a:p>
          <a:p>
            <a:pPr marL="0" indent="0" algn="l">
              <a:spcAft>
                <a:spcPts val="200"/>
              </a:spcAft>
              <a:buNone/>
            </a:pPr>
            <a:r>
              <a:rPr lang="en-US" sz="1300" dirty="0">
                <a:solidFill>
                  <a:srgbClr val="E8ECE0"/>
                </a:solidFill>
                <a:latin typeface="Calibri" pitchFamily="34" charset="0"/>
                <a:ea typeface="Calibri" pitchFamily="34" charset="-122"/>
                <a:cs typeface="Calibri" pitchFamily="34" charset="-120"/>
              </a:rPr>
              <a:t>is due to climate change weakening natural sinks</a:t>
            </a:r>
            <a:endParaRPr lang="en-US" sz="14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2E6"/>
        </a:solidFill>
        <a:effectLst/>
      </p:bgPr>
    </p:bg>
    <p:spTree>
      <p:nvGrpSpPr>
        <p:cNvPr id="1" name=""/>
        <p:cNvGrpSpPr/>
        <p:nvPr/>
      </p:nvGrpSpPr>
      <p:grpSpPr>
        <a:xfrm>
          <a:off x="0" y="0"/>
          <a:ext cx="0" cy="0"/>
          <a:chOff x="0" y="0"/>
          <a:chExt cx="0" cy="0"/>
        </a:xfrm>
      </p:grpSpPr>
      <p:pic>
        <p:nvPicPr>
          <p:cNvPr id="2" name="Image 0" descr="/agent/turn1/workspace/images/aerial-photograph-of-vast-solar-panel-farm-stretch_2026-05-05T01-13-40_image_DAS_0.jpg"/>
          <p:cNvPicPr>
            <a:picLocks noChangeAspect="1"/>
          </p:cNvPicPr>
          <p:nvPr/>
        </p:nvPicPr>
        <p:blipFill>
          <a:blip r:embed="rId3"/>
          <a:srcRect t="28669" b="28669"/>
          <a:stretch/>
        </p:blipFill>
        <p:spPr>
          <a:xfrm>
            <a:off x="0" y="0"/>
            <a:ext cx="9144000" cy="2560320"/>
          </a:xfrm>
          <a:prstGeom prst="rect">
            <a:avLst/>
          </a:prstGeom>
        </p:spPr>
      </p:pic>
      <p:sp>
        <p:nvSpPr>
          <p:cNvPr id="3" name="Shape 0"/>
          <p:cNvSpPr/>
          <p:nvPr/>
        </p:nvSpPr>
        <p:spPr>
          <a:xfrm>
            <a:off x="0" y="0"/>
            <a:ext cx="9144000" cy="2560320"/>
          </a:xfrm>
          <a:prstGeom prst="rect">
            <a:avLst/>
          </a:prstGeom>
          <a:solidFill>
            <a:srgbClr val="000000">
              <a:alpha val="65000"/>
            </a:srgbClr>
          </a:solidFill>
          <a:ln/>
        </p:spPr>
        <p:txBody>
          <a:bodyPr/>
          <a:lstStyle/>
          <a:p>
            <a:endParaRPr lang="en-IN"/>
          </a:p>
        </p:txBody>
      </p:sp>
      <p:sp>
        <p:nvSpPr>
          <p:cNvPr id="4" name="Text 1"/>
          <p:cNvSpPr/>
          <p:nvPr/>
        </p:nvSpPr>
        <p:spPr>
          <a:xfrm>
            <a:off x="548640" y="548640"/>
            <a:ext cx="804672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Solutions &amp; Clean Energy</a:t>
            </a:r>
            <a:endParaRPr lang="en-US" sz="3000" dirty="0"/>
          </a:p>
        </p:txBody>
      </p:sp>
      <p:sp>
        <p:nvSpPr>
          <p:cNvPr id="5" name="Text 2"/>
          <p:cNvSpPr/>
          <p:nvPr/>
        </p:nvSpPr>
        <p:spPr>
          <a:xfrm>
            <a:off x="548640" y="1280160"/>
            <a:ext cx="8046720" cy="457200"/>
          </a:xfrm>
          <a:prstGeom prst="rect">
            <a:avLst/>
          </a:prstGeom>
          <a:noFill/>
          <a:ln/>
        </p:spPr>
        <p:txBody>
          <a:bodyPr wrap="square" lIns="0" tIns="0" rIns="0" bIns="0" rtlCol="0" anchor="ctr"/>
          <a:lstStyle/>
          <a:p>
            <a:pPr marL="0" indent="0" algn="l">
              <a:buNone/>
            </a:pPr>
            <a:r>
              <a:rPr lang="en-US" sz="1500" dirty="0">
                <a:solidFill>
                  <a:srgbClr val="E8ECE0"/>
                </a:solidFill>
                <a:latin typeface="Calibri" pitchFamily="34" charset="0"/>
                <a:ea typeface="Calibri" pitchFamily="34" charset="-122"/>
                <a:cs typeface="Calibri" pitchFamily="34" charset="-120"/>
              </a:rPr>
              <a:t>The path forward is clear — and progress is happening</a:t>
            </a:r>
            <a:endParaRPr lang="en-US" sz="1500" dirty="0"/>
          </a:p>
        </p:txBody>
      </p:sp>
      <p:sp>
        <p:nvSpPr>
          <p:cNvPr id="6" name="Shape 3"/>
          <p:cNvSpPr/>
          <p:nvPr/>
        </p:nvSpPr>
        <p:spPr>
          <a:xfrm>
            <a:off x="548640" y="2834640"/>
            <a:ext cx="2468880" cy="19659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N"/>
          </a:p>
        </p:txBody>
      </p:sp>
      <p:sp>
        <p:nvSpPr>
          <p:cNvPr id="7" name="Text 4"/>
          <p:cNvSpPr/>
          <p:nvPr/>
        </p:nvSpPr>
        <p:spPr>
          <a:xfrm>
            <a:off x="731520" y="2971800"/>
            <a:ext cx="2194560" cy="548640"/>
          </a:xfrm>
          <a:prstGeom prst="rect">
            <a:avLst/>
          </a:prstGeom>
          <a:noFill/>
          <a:ln/>
        </p:spPr>
        <p:txBody>
          <a:bodyPr wrap="square" lIns="0" tIns="0" rIns="0" bIns="0" rtlCol="0" anchor="ctr"/>
          <a:lstStyle/>
          <a:p>
            <a:pPr marL="0" indent="0" algn="l">
              <a:buNone/>
            </a:pPr>
            <a:r>
              <a:rPr lang="en-US" sz="2000" b="1" dirty="0">
                <a:solidFill>
                  <a:srgbClr val="1B4332"/>
                </a:solidFill>
                <a:latin typeface="Georgia" pitchFamily="34" charset="0"/>
                <a:ea typeface="Georgia" pitchFamily="34" charset="-122"/>
                <a:cs typeface="Georgia" pitchFamily="34" charset="-120"/>
              </a:rPr>
              <a:t>35 Countries</a:t>
            </a:r>
            <a:endParaRPr lang="en-US" sz="2000" dirty="0"/>
          </a:p>
        </p:txBody>
      </p:sp>
      <p:sp>
        <p:nvSpPr>
          <p:cNvPr id="8" name="Text 5"/>
          <p:cNvSpPr/>
          <p:nvPr/>
        </p:nvSpPr>
        <p:spPr>
          <a:xfrm>
            <a:off x="731520" y="3566160"/>
            <a:ext cx="2194560" cy="1005840"/>
          </a:xfrm>
          <a:prstGeom prst="rect">
            <a:avLst/>
          </a:prstGeom>
          <a:noFill/>
          <a:ln/>
        </p:spPr>
        <p:txBody>
          <a:bodyPr wrap="square" lIns="0" tIns="0" rIns="0" bIns="0" rtlCol="0" anchor="t"/>
          <a:lstStyle/>
          <a:p>
            <a:pPr marL="0" indent="0" algn="l">
              <a:buNone/>
            </a:pPr>
            <a:r>
              <a:rPr lang="en-US" sz="1300" dirty="0">
                <a:solidFill>
                  <a:srgbClr val="2D3B2D"/>
                </a:solidFill>
                <a:latin typeface="Calibri" pitchFamily="34" charset="0"/>
                <a:ea typeface="Calibri" pitchFamily="34" charset="-122"/>
                <a:cs typeface="Calibri" pitchFamily="34" charset="-120"/>
              </a:rPr>
              <a:t>have reduced emissions while growing their economies</a:t>
            </a:r>
            <a:endParaRPr lang="en-US" sz="1300" dirty="0"/>
          </a:p>
        </p:txBody>
      </p:sp>
      <p:sp>
        <p:nvSpPr>
          <p:cNvPr id="9" name="Shape 6"/>
          <p:cNvSpPr/>
          <p:nvPr/>
        </p:nvSpPr>
        <p:spPr>
          <a:xfrm>
            <a:off x="3246120" y="2834640"/>
            <a:ext cx="2468880" cy="19659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N"/>
          </a:p>
        </p:txBody>
      </p:sp>
      <p:sp>
        <p:nvSpPr>
          <p:cNvPr id="10" name="Text 7"/>
          <p:cNvSpPr/>
          <p:nvPr/>
        </p:nvSpPr>
        <p:spPr>
          <a:xfrm>
            <a:off x="3429000" y="2971800"/>
            <a:ext cx="2194560" cy="548640"/>
          </a:xfrm>
          <a:prstGeom prst="rect">
            <a:avLst/>
          </a:prstGeom>
          <a:noFill/>
          <a:ln/>
        </p:spPr>
        <p:txBody>
          <a:bodyPr wrap="square" lIns="0" tIns="0" rIns="0" bIns="0" rtlCol="0" anchor="ctr"/>
          <a:lstStyle/>
          <a:p>
            <a:pPr marL="0" indent="0" algn="l">
              <a:buNone/>
            </a:pPr>
            <a:r>
              <a:rPr lang="en-US" sz="2000" b="1" dirty="0">
                <a:solidFill>
                  <a:srgbClr val="1B4332"/>
                </a:solidFill>
                <a:latin typeface="Georgia" pitchFamily="34" charset="0"/>
                <a:ea typeface="Georgia" pitchFamily="34" charset="-122"/>
                <a:cs typeface="Georgia" pitchFamily="34" charset="-120"/>
              </a:rPr>
              <a:t>Clean Energy</a:t>
            </a:r>
            <a:endParaRPr lang="en-US" sz="2000" dirty="0"/>
          </a:p>
        </p:txBody>
      </p:sp>
      <p:sp>
        <p:nvSpPr>
          <p:cNvPr id="11" name="Text 8"/>
          <p:cNvSpPr/>
          <p:nvPr/>
        </p:nvSpPr>
        <p:spPr>
          <a:xfrm>
            <a:off x="3429000" y="3566160"/>
            <a:ext cx="2194560" cy="1005840"/>
          </a:xfrm>
          <a:prstGeom prst="rect">
            <a:avLst/>
          </a:prstGeom>
          <a:noFill/>
          <a:ln/>
        </p:spPr>
        <p:txBody>
          <a:bodyPr wrap="square" lIns="0" tIns="0" rIns="0" bIns="0" rtlCol="0" anchor="t"/>
          <a:lstStyle/>
          <a:p>
            <a:pPr marL="0" indent="0" algn="l">
              <a:buNone/>
            </a:pPr>
            <a:r>
              <a:rPr lang="en-US" sz="1300" dirty="0">
                <a:solidFill>
                  <a:srgbClr val="2D3B2D"/>
                </a:solidFill>
                <a:latin typeface="Calibri" pitchFamily="34" charset="0"/>
                <a:ea typeface="Calibri" pitchFamily="34" charset="-122"/>
                <a:cs typeface="Calibri" pitchFamily="34" charset="-120"/>
              </a:rPr>
              <a:t>Solar and wind capacity growing exponentially worldwide</a:t>
            </a:r>
            <a:endParaRPr lang="en-US" sz="1300" dirty="0"/>
          </a:p>
        </p:txBody>
      </p:sp>
      <p:sp>
        <p:nvSpPr>
          <p:cNvPr id="12" name="Shape 9"/>
          <p:cNvSpPr/>
          <p:nvPr/>
        </p:nvSpPr>
        <p:spPr>
          <a:xfrm>
            <a:off x="5943600" y="2834640"/>
            <a:ext cx="2468880" cy="19659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N"/>
          </a:p>
        </p:txBody>
      </p:sp>
      <p:sp>
        <p:nvSpPr>
          <p:cNvPr id="13" name="Text 10"/>
          <p:cNvSpPr/>
          <p:nvPr/>
        </p:nvSpPr>
        <p:spPr>
          <a:xfrm>
            <a:off x="6126480" y="2971800"/>
            <a:ext cx="2194560" cy="548640"/>
          </a:xfrm>
          <a:prstGeom prst="rect">
            <a:avLst/>
          </a:prstGeom>
          <a:noFill/>
          <a:ln/>
        </p:spPr>
        <p:txBody>
          <a:bodyPr wrap="square" lIns="0" tIns="0" rIns="0" bIns="0" rtlCol="0" anchor="ctr"/>
          <a:lstStyle/>
          <a:p>
            <a:pPr marL="0" indent="0" algn="l">
              <a:buNone/>
            </a:pPr>
            <a:r>
              <a:rPr lang="en-US" sz="2000" b="1" dirty="0">
                <a:solidFill>
                  <a:srgbClr val="1B4332"/>
                </a:solidFill>
                <a:latin typeface="Georgia" pitchFamily="34" charset="0"/>
                <a:ea typeface="Georgia" pitchFamily="34" charset="-122"/>
                <a:cs typeface="Georgia" pitchFamily="34" charset="-120"/>
              </a:rPr>
              <a:t>100+ Nations</a:t>
            </a:r>
            <a:endParaRPr lang="en-US" sz="2000" dirty="0"/>
          </a:p>
        </p:txBody>
      </p:sp>
      <p:sp>
        <p:nvSpPr>
          <p:cNvPr id="14" name="Text 11"/>
          <p:cNvSpPr/>
          <p:nvPr/>
        </p:nvSpPr>
        <p:spPr>
          <a:xfrm>
            <a:off x="6126480" y="3566160"/>
            <a:ext cx="2194560" cy="1005840"/>
          </a:xfrm>
          <a:prstGeom prst="rect">
            <a:avLst/>
          </a:prstGeom>
          <a:noFill/>
          <a:ln/>
        </p:spPr>
        <p:txBody>
          <a:bodyPr wrap="square" lIns="0" tIns="0" rIns="0" bIns="0" rtlCol="0" anchor="t"/>
          <a:lstStyle/>
          <a:p>
            <a:pPr marL="0" indent="0" algn="l">
              <a:buNone/>
            </a:pPr>
            <a:r>
              <a:rPr lang="en-US" sz="1300" dirty="0">
                <a:solidFill>
                  <a:srgbClr val="2D3B2D"/>
                </a:solidFill>
                <a:latin typeface="Calibri" pitchFamily="34" charset="0"/>
                <a:ea typeface="Calibri" pitchFamily="34" charset="-122"/>
                <a:cs typeface="Calibri" pitchFamily="34" charset="-120"/>
              </a:rPr>
              <a:t>committed to protecting 30% of land and ocean by 2030</a:t>
            </a:r>
            <a:endParaRPr lang="en-US" sz="1300" dirty="0"/>
          </a:p>
        </p:txBody>
      </p:sp>
    </p:spTree>
  </p:cSld>
  <p:clrMapOvr>
    <a:masterClrMapping/>
  </p:clrMapOvr>
  <p:transition spd="med">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2B1E">
              <a:alpha val="65000"/>
            </a:srgbClr>
          </a:solidFill>
          <a:ln/>
        </p:spPr>
        <p:txBody>
          <a:bodyPr/>
          <a:lstStyle/>
          <a:p>
            <a:endParaRPr lang="en-IN"/>
          </a:p>
        </p:txBody>
      </p:sp>
      <p:sp>
        <p:nvSpPr>
          <p:cNvPr id="3" name="Text 1"/>
          <p:cNvSpPr/>
          <p:nvPr/>
        </p:nvSpPr>
        <p:spPr>
          <a:xfrm>
            <a:off x="548640" y="548640"/>
            <a:ext cx="8046720" cy="822960"/>
          </a:xfrm>
          <a:prstGeom prst="rect">
            <a:avLst/>
          </a:prstGeom>
          <a:noFill/>
          <a:ln/>
        </p:spPr>
        <p:txBody>
          <a:bodyPr wrap="square" lIns="0" tIns="0" rIns="0" bIns="0" rtlCol="0" anchor="ctr"/>
          <a:lstStyle/>
          <a:p>
            <a:pPr marL="0" indent="0" algn="l">
              <a:buNone/>
            </a:pPr>
            <a:r>
              <a:rPr lang="en-US" sz="3200" b="1" dirty="0">
                <a:solidFill>
                  <a:srgbClr val="FFFFFF"/>
                </a:solidFill>
                <a:latin typeface="Georgia" pitchFamily="34" charset="0"/>
                <a:ea typeface="Georgia" pitchFamily="34" charset="-122"/>
                <a:cs typeface="Georgia" pitchFamily="34" charset="-120"/>
              </a:rPr>
              <a:t>Your Generation, Your Future</a:t>
            </a:r>
            <a:endParaRPr lang="en-US" sz="3200" dirty="0"/>
          </a:p>
        </p:txBody>
      </p:sp>
      <p:sp>
        <p:nvSpPr>
          <p:cNvPr id="4" name="Text 2"/>
          <p:cNvSpPr/>
          <p:nvPr/>
        </p:nvSpPr>
        <p:spPr>
          <a:xfrm>
            <a:off x="548640" y="1645920"/>
            <a:ext cx="5029200" cy="3017520"/>
          </a:xfrm>
          <a:prstGeom prst="rect">
            <a:avLst/>
          </a:prstGeom>
          <a:noFill/>
          <a:ln/>
        </p:spPr>
        <p:txBody>
          <a:bodyPr wrap="square" lIns="0" tIns="0" rIns="0" bIns="0" rtlCol="0" anchor="t"/>
          <a:lstStyle/>
          <a:p>
            <a:pPr marL="0" indent="0" algn="l">
              <a:spcAft>
                <a:spcPts val="200"/>
              </a:spcAft>
              <a:buNone/>
            </a:pPr>
            <a:r>
              <a:rPr lang="en-US" sz="1600" b="1" dirty="0">
                <a:solidFill>
                  <a:srgbClr val="FFFFFF"/>
                </a:solidFill>
                <a:latin typeface="Calibri" pitchFamily="34" charset="0"/>
                <a:ea typeface="Calibri" pitchFamily="34" charset="-122"/>
                <a:cs typeface="Calibri" pitchFamily="34" charset="-120"/>
              </a:rPr>
              <a:t>Learn &amp; Share</a:t>
            </a:r>
            <a:endParaRPr lang="en-US" sz="1600" dirty="0"/>
          </a:p>
          <a:p>
            <a:pPr marL="0" indent="0" algn="l">
              <a:spcAft>
                <a:spcPts val="200"/>
              </a:spcAft>
              <a:buNone/>
            </a:pPr>
            <a:r>
              <a:rPr lang="en-US" sz="1300" dirty="0">
                <a:solidFill>
                  <a:srgbClr val="E8ECE0"/>
                </a:solidFill>
                <a:latin typeface="Calibri" pitchFamily="34" charset="0"/>
                <a:ea typeface="Calibri" pitchFamily="34" charset="-122"/>
                <a:cs typeface="Calibri" pitchFamily="34" charset="-120"/>
              </a:rPr>
              <a:t>Understand the science — and help others understand it too</a:t>
            </a:r>
            <a:endParaRPr lang="en-US" sz="1600" dirty="0"/>
          </a:p>
          <a:p>
            <a:pPr marL="0" indent="0" algn="l">
              <a:spcAft>
                <a:spcPts val="200"/>
              </a:spcAft>
              <a:buNone/>
            </a:pPr>
            <a:endParaRPr lang="en-US" sz="1600" dirty="0"/>
          </a:p>
          <a:p>
            <a:pPr marL="0" indent="0" algn="l">
              <a:spcAft>
                <a:spcPts val="200"/>
              </a:spcAft>
              <a:buNone/>
            </a:pPr>
            <a:r>
              <a:rPr lang="en-US" sz="1600" b="1" dirty="0">
                <a:solidFill>
                  <a:srgbClr val="FFFFFF"/>
                </a:solidFill>
                <a:latin typeface="Calibri" pitchFamily="34" charset="0"/>
                <a:ea typeface="Calibri" pitchFamily="34" charset="-122"/>
                <a:cs typeface="Calibri" pitchFamily="34" charset="-120"/>
              </a:rPr>
              <a:t>Reduce Your Footprint</a:t>
            </a:r>
            <a:endParaRPr lang="en-US" sz="1600" dirty="0"/>
          </a:p>
          <a:p>
            <a:pPr marL="0" indent="0" algn="l">
              <a:spcAft>
                <a:spcPts val="200"/>
              </a:spcAft>
              <a:buNone/>
            </a:pPr>
            <a:r>
              <a:rPr lang="en-US" sz="1300" dirty="0">
                <a:solidFill>
                  <a:srgbClr val="E8ECE0"/>
                </a:solidFill>
                <a:latin typeface="Calibri" pitchFamily="34" charset="0"/>
                <a:ea typeface="Calibri" pitchFamily="34" charset="-122"/>
                <a:cs typeface="Calibri" pitchFamily="34" charset="-120"/>
              </a:rPr>
              <a:t>Transportation, energy use, food choices — small changes add up</a:t>
            </a:r>
            <a:endParaRPr lang="en-US" sz="1600" dirty="0"/>
          </a:p>
          <a:p>
            <a:pPr marL="0" indent="0" algn="l">
              <a:spcAft>
                <a:spcPts val="200"/>
              </a:spcAft>
              <a:buNone/>
            </a:pPr>
            <a:endParaRPr lang="en-US" sz="1600" dirty="0"/>
          </a:p>
          <a:p>
            <a:pPr marL="0" indent="0" algn="l">
              <a:spcAft>
                <a:spcPts val="200"/>
              </a:spcAft>
              <a:buNone/>
            </a:pPr>
            <a:r>
              <a:rPr lang="en-US" sz="1600" b="1" dirty="0">
                <a:solidFill>
                  <a:srgbClr val="FFFFFF"/>
                </a:solidFill>
                <a:latin typeface="Calibri" pitchFamily="34" charset="0"/>
                <a:ea typeface="Calibri" pitchFamily="34" charset="-122"/>
                <a:cs typeface="Calibri" pitchFamily="34" charset="-120"/>
              </a:rPr>
              <a:t>Speak Up</a:t>
            </a:r>
            <a:endParaRPr lang="en-US" sz="1600" dirty="0"/>
          </a:p>
          <a:p>
            <a:pPr marL="0" indent="0" algn="l">
              <a:spcAft>
                <a:spcPts val="200"/>
              </a:spcAft>
              <a:buNone/>
            </a:pPr>
            <a:r>
              <a:rPr lang="en-US" sz="1300" dirty="0">
                <a:solidFill>
                  <a:srgbClr val="E8ECE0"/>
                </a:solidFill>
                <a:latin typeface="Calibri" pitchFamily="34" charset="0"/>
                <a:ea typeface="Calibri" pitchFamily="34" charset="-122"/>
                <a:cs typeface="Calibri" pitchFamily="34" charset="-120"/>
              </a:rPr>
              <a:t>Advocate for climate policy, support clean energy, vote for the planet</a:t>
            </a:r>
            <a:endParaRPr lang="en-US" sz="1600" dirty="0"/>
          </a:p>
          <a:p>
            <a:pPr marL="0" indent="0" algn="l">
              <a:spcAft>
                <a:spcPts val="200"/>
              </a:spcAft>
              <a:buNone/>
            </a:pPr>
            <a:endParaRPr lang="en-US" sz="1600" dirty="0"/>
          </a:p>
          <a:p>
            <a:pPr marL="0" indent="0" algn="l">
              <a:spcAft>
                <a:spcPts val="200"/>
              </a:spcAft>
              <a:buNone/>
            </a:pPr>
            <a:r>
              <a:rPr lang="en-US" sz="1600" b="1" dirty="0">
                <a:solidFill>
                  <a:srgbClr val="FFFFFF"/>
                </a:solidFill>
                <a:latin typeface="Calibri" pitchFamily="34" charset="0"/>
                <a:ea typeface="Calibri" pitchFamily="34" charset="-122"/>
                <a:cs typeface="Calibri" pitchFamily="34" charset="-120"/>
              </a:rPr>
              <a:t>Think Big</a:t>
            </a:r>
            <a:endParaRPr lang="en-US" sz="1600" dirty="0"/>
          </a:p>
          <a:p>
            <a:pPr marL="0" indent="0" algn="l">
              <a:spcAft>
                <a:spcPts val="200"/>
              </a:spcAft>
              <a:buNone/>
            </a:pPr>
            <a:r>
              <a:rPr lang="en-US" sz="1300" dirty="0">
                <a:solidFill>
                  <a:srgbClr val="E8ECE0"/>
                </a:solidFill>
                <a:latin typeface="Calibri" pitchFamily="34" charset="0"/>
                <a:ea typeface="Calibri" pitchFamily="34" charset="-122"/>
                <a:cs typeface="Calibri" pitchFamily="34" charset="-120"/>
              </a:rPr>
              <a:t>Pursue careers in science, engineering, and sustainability</a:t>
            </a:r>
            <a:endParaRPr lang="en-US" sz="1600" dirty="0"/>
          </a:p>
        </p:txBody>
      </p:sp>
      <p:sp>
        <p:nvSpPr>
          <p:cNvPr id="5" name="Shape 3"/>
          <p:cNvSpPr/>
          <p:nvPr/>
        </p:nvSpPr>
        <p:spPr>
          <a:xfrm>
            <a:off x="0" y="4434840"/>
            <a:ext cx="9144000" cy="708660"/>
          </a:xfrm>
          <a:prstGeom prst="rect">
            <a:avLst/>
          </a:prstGeom>
          <a:solidFill>
            <a:srgbClr val="000000">
              <a:alpha val="60000"/>
            </a:srgbClr>
          </a:solidFill>
          <a:ln/>
        </p:spPr>
        <p:txBody>
          <a:bodyPr/>
          <a:lstStyle/>
          <a:p>
            <a:endParaRPr lang="en-IN"/>
          </a:p>
        </p:txBody>
      </p:sp>
      <p:sp>
        <p:nvSpPr>
          <p:cNvPr id="6" name="Text 4"/>
          <p:cNvSpPr/>
          <p:nvPr/>
        </p:nvSpPr>
        <p:spPr>
          <a:xfrm>
            <a:off x="548640" y="4434840"/>
            <a:ext cx="8046720" cy="708660"/>
          </a:xfrm>
          <a:prstGeom prst="rect">
            <a:avLst/>
          </a:prstGeom>
          <a:noFill/>
          <a:ln/>
        </p:spPr>
        <p:txBody>
          <a:bodyPr wrap="square" lIns="0" tIns="0" rIns="0" bIns="0" rtlCol="0" anchor="ctr"/>
          <a:lstStyle/>
          <a:p>
            <a:pPr marL="0" indent="0" algn="l">
              <a:buNone/>
            </a:pPr>
            <a:r>
              <a:rPr lang="en-US" sz="1400" i="1" dirty="0">
                <a:solidFill>
                  <a:srgbClr val="FFFFFF"/>
                </a:solidFill>
                <a:latin typeface="Georgia" pitchFamily="34" charset="0"/>
                <a:ea typeface="Georgia" pitchFamily="34" charset="-122"/>
                <a:cs typeface="Georgia" pitchFamily="34" charset="-120"/>
              </a:rPr>
              <a:t>The science is clear. The solutions exist. The time to act is now.</a:t>
            </a:r>
            <a:endParaRPr lang="en-US" sz="1400" dirty="0"/>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2034</Words>
  <Application>Microsoft Office PowerPoint</Application>
  <PresentationFormat>On-screen Show (16:9)</PresentationFormat>
  <Paragraphs>153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1</cp:revision>
  <dcterms:created xsi:type="dcterms:W3CDTF">2026-05-05T01:21:47Z</dcterms:created>
  <dcterms:modified xsi:type="dcterms:W3CDTF">2026-05-05T01:32:23Z</dcterms:modified>
</cp:coreProperties>
</file>