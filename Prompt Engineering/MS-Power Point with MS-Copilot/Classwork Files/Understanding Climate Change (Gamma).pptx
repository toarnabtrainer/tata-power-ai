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embeddedFontLst>
    <p:embeddedFont>
      <p:font typeface="Funnel Sans Bold"/>
      <p:regular r:id="rId201314"/>
    </p:embeddedFont>
    <p:embeddedFont>
      <p:font typeface="Funnel Sans ExtraBold"/>
      <p:regular r:id="rId201315"/>
    </p:embeddedFont>
    <p:embeddedFont>
      <p:font typeface="Funnel Sans Light"/>
      <p:regular r:id="rId201316"/>
    </p:embeddedFont>
    <p:embeddedFont>
      <p:font typeface="Funnel Sans"/>
      <p:regular r:id="rId201317"/>
    </p:embeddedFont>
    <p:embeddedFont>
      <p:font typeface="Funnel Sans Medium"/>
      <p:regular r:id="rId201318"/>
    </p:embeddedFont>
    <p:embeddedFont>
      <p:font typeface="Funnel Sans SemiBold"/>
      <p:regular r:id="rId201319"/>
    </p:embeddedFont>
    <p:embeddedFont>
      <p:font typeface="Mona Sans Bold"/>
      <p:regular r:id="rId201320"/>
    </p:embeddedFont>
    <p:embeddedFont>
      <p:font typeface="Mona Sans ExtraBold"/>
      <p:regular r:id="rId201321"/>
    </p:embeddedFont>
    <p:embeddedFont>
      <p:font typeface="Mona Sans Black"/>
      <p:regular r:id="rId201322"/>
    </p:embeddedFont>
    <p:embeddedFont>
      <p:font typeface="Mona Sans ExtraLight"/>
      <p:regular r:id="rId201323"/>
    </p:embeddedFont>
    <p:embeddedFont>
      <p:font typeface="Mona Sans Light"/>
      <p:regular r:id="rId201324"/>
    </p:embeddedFont>
    <p:embeddedFont>
      <p:font typeface="Mona Sans"/>
      <p:regular r:id="rId201325"/>
    </p:embeddedFont>
    <p:embeddedFont>
      <p:font typeface="Mona Sans Medium"/>
      <p:regular r:id="rId201326"/>
    </p:embeddedFont>
    <p:embeddedFont>
      <p:font typeface="Mona Sans SemiBold"/>
      <p:regular r:id="rId20132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 Id="rId201322" Target="fonts/201322.fntdata" Type="http://schemas.openxmlformats.org/officeDocument/2006/relationships/font"/><Relationship Id="rId201323" Target="fonts/201323.fntdata" Type="http://schemas.openxmlformats.org/officeDocument/2006/relationships/font"/><Relationship Id="rId201324" Target="fonts/201324.fntdata" Type="http://schemas.openxmlformats.org/officeDocument/2006/relationships/font"/><Relationship Id="rId201325" Target="fonts/201325.fntdata" Type="http://schemas.openxmlformats.org/officeDocument/2006/relationships/font"/><Relationship Id="rId201326" Target="fonts/201326.fntdata" Type="http://schemas.openxmlformats.org/officeDocument/2006/relationships/font"/><Relationship Id="rId201327" Target="fonts/201327.fntdata" Type="http://schemas.openxmlformats.org/officeDocument/2006/relationships/font"/><Relationship Id="rId201328" Target="fonts/201328.fntdata" Type="http://schemas.openxmlformats.org/officeDocument/2006/relationships/font"/><Relationship Id="rId201329" Target="fonts/201329.fntdata" Type="http://schemas.openxmlformats.org/officeDocument/2006/relationships/font"/><Relationship Id="rId201330" Target="fonts/201330.fntdata" Type="http://schemas.openxmlformats.org/officeDocument/2006/relationships/font"/><Relationship Id="rId201331" Target="fonts/201331.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pn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181616">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image" Target="../media/image-8-3.png"/><Relationship Id="rId4" Type="http://schemas.openxmlformats.org/officeDocument/2006/relationships/image" Target="../media/image-8-4.svg"/><Relationship Id="rId5" Type="http://schemas.openxmlformats.org/officeDocument/2006/relationships/image" Target="../media/image-8-5.png"/><Relationship Id="rId6" Type="http://schemas.openxmlformats.org/officeDocument/2006/relationships/image" Target="../media/image-8-6.svg"/><Relationship Id="rId7" Type="http://schemas.openxmlformats.org/officeDocument/2006/relationships/image" Target="../media/image-8-7.png"/><Relationship Id="rId8" Type="http://schemas.openxmlformats.org/officeDocument/2006/relationships/image" Target="../media/image-8-8.svg"/><Relationship Id="rId9" Type="http://schemas.openxmlformats.org/officeDocument/2006/relationships/image" Target="../media/image-8-9.png"/><Relationship Id="rId10" Type="http://schemas.openxmlformats.org/officeDocument/2006/relationships/slideLayout" Target="../slideLayouts/slideLayout2.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svg"/><Relationship Id="rId4" Type="http://schemas.openxmlformats.org/officeDocument/2006/relationships/image" Target="../media/image-9-4.png"/><Relationship Id="rId5" Type="http://schemas.openxmlformats.org/officeDocument/2006/relationships/image" Target="../media/image-9-5.svg"/><Relationship Id="rId6" Type="http://schemas.openxmlformats.org/officeDocument/2006/relationships/image" Target="../media/image-9-6.png"/><Relationship Id="rId7" Type="http://schemas.openxmlformats.org/officeDocument/2006/relationships/image" Target="../media/image-9-7.svg"/><Relationship Id="rId8" Type="http://schemas.openxmlformats.org/officeDocument/2006/relationships/image" Target="../media/image-9-8.png"/><Relationship Id="rId9" Type="http://schemas.openxmlformats.org/officeDocument/2006/relationships/slideLayout" Target="../slideLayouts/slideLayout2.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372100" y="0"/>
            <a:ext cx="3771900" cy="5143500"/>
          </a:xfrm>
          <a:prstGeom prst="rect">
            <a:avLst/>
          </a:prstGeom>
        </p:spPr>
      </p:pic>
      <p:sp>
        <p:nvSpPr>
          <p:cNvPr id="3" name="Text 0"/>
          <p:cNvSpPr/>
          <p:nvPr/>
        </p:nvSpPr>
        <p:spPr>
          <a:xfrm>
            <a:off x="496119" y="565919"/>
            <a:ext cx="4722763" cy="885974"/>
          </a:xfrm>
          <a:prstGeom prst="rect">
            <a:avLst/>
          </a:prstGeom>
          <a:noFill/>
          <a:ln/>
        </p:spPr>
        <p:txBody>
          <a:bodyPr wrap="square" lIns="0" tIns="0" rIns="0" bIns="0" rtlCol="0" anchor="t">
            <a:normAutofit/>
          </a:bodyPr>
          <a:lstStyle/>
          <a:p>
            <a:pPr algn="l" indent="0" marL="0">
              <a:lnSpc>
                <a:spcPct val="104000"/>
              </a:lnSpc>
              <a:buNone/>
            </a:pPr>
            <a:r>
              <a:rPr lang="en-US" sz="2750" dirty="0">
                <a:solidFill>
                  <a:srgbClr val="DDDDDD"/>
                </a:solidFill>
                <a:latin typeface="Mona Sans SemiBold" pitchFamily="34" charset="0"/>
                <a:ea typeface="Mona Sans SemiBold" pitchFamily="34" charset="-122"/>
                <a:cs typeface="Mona Sans SemiBold" pitchFamily="34" charset="-120"/>
              </a:rPr>
              <a:t>Climate Change: Our Planet, Our Future</a:t>
            </a:r>
            <a:endParaRPr lang="en-US" sz="2750" dirty="0"/>
          </a:p>
        </p:txBody>
      </p:sp>
      <p:sp>
        <p:nvSpPr>
          <p:cNvPr id="4" name="Text 1"/>
          <p:cNvSpPr/>
          <p:nvPr/>
        </p:nvSpPr>
        <p:spPr>
          <a:xfrm>
            <a:off x="496119" y="1664494"/>
            <a:ext cx="4722763" cy="453628"/>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8F8F8F"/>
                </a:solidFill>
                <a:latin typeface="Funnel Sans" pitchFamily="34" charset="0"/>
                <a:ea typeface="Funnel Sans" pitchFamily="34" charset="-122"/>
                <a:cs typeface="Funnel Sans" pitchFamily="34" charset="-120"/>
              </a:rPr>
              <a:t>A science-based guide for high school students — understanding the crisis, the causes, and what we can do about it.</a:t>
            </a:r>
            <a:endParaRPr lang="en-US" sz="1100" dirty="0"/>
          </a:p>
        </p:txBody>
      </p:sp>
      <p:sp>
        <p:nvSpPr>
          <p:cNvPr id="5" name="Shape 2"/>
          <p:cNvSpPr/>
          <p:nvPr/>
        </p:nvSpPr>
        <p:spPr>
          <a:xfrm>
            <a:off x="496119" y="2277591"/>
            <a:ext cx="4722763" cy="2140446"/>
          </a:xfrm>
          <a:prstGeom prst="roundRect">
            <a:avLst>
              <a:gd name="adj" fmla="val 2782"/>
            </a:avLst>
          </a:prstGeom>
          <a:solidFill>
            <a:srgbClr val="262626"/>
          </a:solidFill>
          <a:ln/>
        </p:spPr>
      </p:sp>
      <p:pic>
        <p:nvPicPr>
          <p:cNvPr id="6" name="Image 1" descr="preencoded.png">    </p:cNvPr>
          <p:cNvPicPr>
            <a:picLocks noChangeAspect="1"/>
          </p:cNvPicPr>
          <p:nvPr/>
        </p:nvPicPr>
        <p:blipFill>
          <a:blip r:embed="rId2"/>
          <a:stretch>
            <a:fillRect/>
          </a:stretch>
        </p:blipFill>
        <p:spPr>
          <a:xfrm>
            <a:off x="637877" y="2478360"/>
            <a:ext cx="177180" cy="141759"/>
          </a:xfrm>
          <a:prstGeom prst="rect">
            <a:avLst/>
          </a:prstGeom>
        </p:spPr>
      </p:pic>
      <p:sp>
        <p:nvSpPr>
          <p:cNvPr id="7" name="Text 3"/>
          <p:cNvSpPr/>
          <p:nvPr/>
        </p:nvSpPr>
        <p:spPr>
          <a:xfrm>
            <a:off x="956816" y="2440558"/>
            <a:ext cx="4120307" cy="1814513"/>
          </a:xfrm>
          <a:prstGeom prst="rect">
            <a:avLst/>
          </a:prstGeom>
          <a:noFill/>
          <a:ln/>
        </p:spPr>
        <p:txBody>
          <a:bodyPr wrap="square" lIns="0" tIns="0" rIns="0" bIns="0" rtlCol="0" anchor="t">
            <a:normAutofit/>
          </a:bodyPr>
          <a:lstStyle/>
          <a:p>
            <a:pPr algn="l" indent="0" marL="0">
              <a:lnSpc>
                <a:spcPct val="133000"/>
              </a:lnSpc>
              <a:buNone/>
            </a:pPr>
            <a:r>
              <a:rPr lang="en-US" sz="1100" b="1" dirty="0">
                <a:solidFill>
                  <a:srgbClr val="FFFFFF"/>
                </a:solidFill>
                <a:latin typeface="Funnel Sans" pitchFamily="34" charset="0"/>
                <a:ea typeface="Funnel Sans" pitchFamily="34" charset="-122"/>
                <a:cs typeface="Funnel Sans" pitchFamily="34" charset="-120"/>
              </a:rPr>
              <a:t>Speaker Notes:</a:t>
            </a:r>
            <a:pPr algn="l" indent="0" marL="0">
              <a:lnSpc>
                <a:spcPct val="133000"/>
              </a:lnSpc>
              <a:buNone/>
            </a:pPr>
            <a:r>
              <a:rPr lang="en-US" sz="1100" dirty="0">
                <a:solidFill>
                  <a:srgbClr val="FFFFFF"/>
                </a:solidFill>
                <a:latin typeface="Funnel Sans" pitchFamily="34" charset="0"/>
                <a:ea typeface="Funnel Sans" pitchFamily="34" charset="-122"/>
                <a:cs typeface="Funnel Sans" pitchFamily="34" charset="-120"/>
              </a:rPr>
              <a:t> Welcome students and set a positive, curious tone. This presentation covers the science of climate change in clear, accessible language. It is designed to inform and empower — not overwhelm. Encourage students to ask questions throughout. Key themes include: what climate change is, why it is happening, its real-world impacts, and what actions — big and small — can make a difference. Total presentation time: approximately 45–60 minutes with discussion.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980182" y="394246"/>
            <a:ext cx="582513" cy="177850"/>
          </a:xfrm>
          <a:prstGeom prst="roundRect">
            <a:avLst>
              <a:gd name="adj" fmla="val 19669"/>
            </a:avLst>
          </a:prstGeom>
          <a:solidFill>
            <a:srgbClr val="262626"/>
          </a:solidFill>
          <a:ln/>
        </p:spPr>
      </p:sp>
      <p:sp>
        <p:nvSpPr>
          <p:cNvPr id="3" name="Text 1"/>
          <p:cNvSpPr/>
          <p:nvPr/>
        </p:nvSpPr>
        <p:spPr>
          <a:xfrm>
            <a:off x="1042615" y="425425"/>
            <a:ext cx="914846" cy="115491"/>
          </a:xfrm>
          <a:prstGeom prst="rect">
            <a:avLst/>
          </a:prstGeom>
          <a:noFill/>
          <a:ln/>
        </p:spPr>
        <p:txBody>
          <a:bodyPr wrap="none" lIns="0" tIns="0" rIns="0" bIns="0" rtlCol="0" anchor="t"/>
          <a:lstStyle/>
          <a:p>
            <a:pPr algn="l" indent="0" marL="0">
              <a:lnSpc>
                <a:spcPct val="116000"/>
              </a:lnSpc>
              <a:buNone/>
            </a:pPr>
            <a:r>
              <a:rPr lang="en-US" sz="650" dirty="0">
                <a:solidFill>
                  <a:srgbClr val="8F8F8F"/>
                </a:solidFill>
                <a:latin typeface="Funnel Sans" pitchFamily="34" charset="0"/>
                <a:ea typeface="Funnel Sans" pitchFamily="34" charset="-122"/>
                <a:cs typeface="Funnel Sans" pitchFamily="34" charset="-120"/>
              </a:rPr>
              <a:t>THE BASICS</a:t>
            </a:r>
            <a:endParaRPr lang="en-US" sz="650" dirty="0"/>
          </a:p>
        </p:txBody>
      </p:sp>
      <p:sp>
        <p:nvSpPr>
          <p:cNvPr id="4" name="Text 2"/>
          <p:cNvSpPr/>
          <p:nvPr/>
        </p:nvSpPr>
        <p:spPr>
          <a:xfrm>
            <a:off x="980182" y="602605"/>
            <a:ext cx="3651796" cy="325338"/>
          </a:xfrm>
          <a:prstGeom prst="rect">
            <a:avLst/>
          </a:prstGeom>
          <a:noFill/>
          <a:ln/>
        </p:spPr>
        <p:txBody>
          <a:bodyPr wrap="none" lIns="0" tIns="0" rIns="0" bIns="0" rtlCol="0" anchor="t"/>
          <a:lstStyle/>
          <a:p>
            <a:pPr algn="l" indent="0" marL="0">
              <a:lnSpc>
                <a:spcPct val="104000"/>
              </a:lnSpc>
              <a:buNone/>
            </a:pPr>
            <a:r>
              <a:rPr lang="en-US" sz="2000" dirty="0">
                <a:solidFill>
                  <a:srgbClr val="DDDDDD"/>
                </a:solidFill>
                <a:latin typeface="Mona Sans SemiBold" pitchFamily="34" charset="0"/>
                <a:ea typeface="Mona Sans SemiBold" pitchFamily="34" charset="-122"/>
                <a:cs typeface="Mona Sans SemiBold" pitchFamily="34" charset="-120"/>
              </a:rPr>
              <a:t>What Is Climate Change?</a:t>
            </a:r>
            <a:endParaRPr lang="en-US" sz="2000" dirty="0"/>
          </a:p>
        </p:txBody>
      </p:sp>
      <p:pic>
        <p:nvPicPr>
          <p:cNvPr id="5" name="Image 0" descr="preencoded.png">    </p:cNvPr>
          <p:cNvPicPr>
            <a:picLocks noChangeAspect="1"/>
          </p:cNvPicPr>
          <p:nvPr/>
        </p:nvPicPr>
        <p:blipFill>
          <a:blip r:embed="rId1"/>
          <a:stretch>
            <a:fillRect/>
          </a:stretch>
        </p:blipFill>
        <p:spPr>
          <a:xfrm>
            <a:off x="980182" y="1128564"/>
            <a:ext cx="4580409" cy="2595563"/>
          </a:xfrm>
          <a:prstGeom prst="rect">
            <a:avLst/>
          </a:prstGeom>
        </p:spPr>
      </p:pic>
      <p:sp>
        <p:nvSpPr>
          <p:cNvPr id="6" name="Text 3"/>
          <p:cNvSpPr/>
          <p:nvPr/>
        </p:nvSpPr>
        <p:spPr>
          <a:xfrm>
            <a:off x="5819254" y="1680865"/>
            <a:ext cx="2349178" cy="577751"/>
          </a:xfrm>
          <a:prstGeom prst="rect">
            <a:avLst/>
          </a:prstGeom>
          <a:noFill/>
          <a:ln/>
        </p:spPr>
        <p:txBody>
          <a:bodyPr wrap="square" lIns="0" tIns="0" rIns="0" bIns="0" rtlCol="0" anchor="t">
            <a:normAutofit/>
          </a:bodyPr>
          <a:lstStyle/>
          <a:p>
            <a:pPr algn="l" indent="0" marL="0">
              <a:lnSpc>
                <a:spcPct val="116000"/>
              </a:lnSpc>
              <a:buNone/>
            </a:pPr>
            <a:r>
              <a:rPr lang="en-US" sz="800" dirty="0">
                <a:solidFill>
                  <a:srgbClr val="8F8F8F"/>
                </a:solidFill>
                <a:latin typeface="Funnel Sans" pitchFamily="34" charset="0"/>
                <a:ea typeface="Funnel Sans" pitchFamily="34" charset="-122"/>
                <a:cs typeface="Funnel Sans" pitchFamily="34" charset="-120"/>
              </a:rPr>
              <a:t>Climate change refers to </a:t>
            </a:r>
            <a:pPr algn="l" indent="0" marL="0">
              <a:lnSpc>
                <a:spcPct val="116000"/>
              </a:lnSpc>
              <a:buNone/>
            </a:pPr>
            <a:r>
              <a:rPr lang="en-US" sz="800" b="1" dirty="0">
                <a:solidFill>
                  <a:srgbClr val="8F8F8F"/>
                </a:solidFill>
                <a:latin typeface="Funnel Sans" pitchFamily="34" charset="0"/>
                <a:ea typeface="Funnel Sans" pitchFamily="34" charset="-122"/>
                <a:cs typeface="Funnel Sans" pitchFamily="34" charset="-120"/>
              </a:rPr>
              <a:t>long-term shifts in global temperatures and weather patterns</a:t>
            </a:r>
            <a:pPr algn="l" indent="0" marL="0">
              <a:lnSpc>
                <a:spcPct val="116000"/>
              </a:lnSpc>
              <a:buNone/>
            </a:pPr>
            <a:r>
              <a:rPr lang="en-US" sz="800" dirty="0">
                <a:solidFill>
                  <a:srgbClr val="8F8F8F"/>
                </a:solidFill>
                <a:latin typeface="Funnel Sans" pitchFamily="34" charset="0"/>
                <a:ea typeface="Funnel Sans" pitchFamily="34" charset="-122"/>
                <a:cs typeface="Funnel Sans" pitchFamily="34" charset="-120"/>
              </a:rPr>
              <a:t>. While some variation is natural, since the 1800s, </a:t>
            </a:r>
            <a:pPr algn="l" indent="0" marL="0">
              <a:lnSpc>
                <a:spcPct val="116000"/>
              </a:lnSpc>
              <a:buNone/>
            </a:pPr>
            <a:r>
              <a:rPr lang="en-US" sz="800" b="1" dirty="0">
                <a:solidFill>
                  <a:srgbClr val="8F8F8F"/>
                </a:solidFill>
                <a:latin typeface="Funnel Sans" pitchFamily="34" charset="0"/>
                <a:ea typeface="Funnel Sans" pitchFamily="34" charset="-122"/>
                <a:cs typeface="Funnel Sans" pitchFamily="34" charset="-120"/>
              </a:rPr>
              <a:t>human activities</a:t>
            </a:r>
            <a:pPr algn="l" indent="0" marL="0">
              <a:lnSpc>
                <a:spcPct val="116000"/>
              </a:lnSpc>
              <a:buNone/>
            </a:pPr>
            <a:r>
              <a:rPr lang="en-US" sz="800" dirty="0">
                <a:solidFill>
                  <a:srgbClr val="8F8F8F"/>
                </a:solidFill>
                <a:latin typeface="Funnel Sans" pitchFamily="34" charset="0"/>
                <a:ea typeface="Funnel Sans" pitchFamily="34" charset="-122"/>
                <a:cs typeface="Funnel Sans" pitchFamily="34" charset="-120"/>
              </a:rPr>
              <a:t> have been the primary driver.</a:t>
            </a:r>
            <a:endParaRPr lang="en-US" sz="800" dirty="0"/>
          </a:p>
        </p:txBody>
      </p:sp>
      <p:sp>
        <p:nvSpPr>
          <p:cNvPr id="7" name="Text 4"/>
          <p:cNvSpPr/>
          <p:nvPr/>
        </p:nvSpPr>
        <p:spPr>
          <a:xfrm>
            <a:off x="5819254" y="2327374"/>
            <a:ext cx="2349178" cy="631180"/>
          </a:xfrm>
          <a:prstGeom prst="rect">
            <a:avLst/>
          </a:prstGeom>
          <a:noFill/>
          <a:ln/>
        </p:spPr>
        <p:txBody>
          <a:bodyPr wrap="square" lIns="0" tIns="0" rIns="0" bIns="0" rtlCol="0" anchor="t">
            <a:normAutofit/>
          </a:bodyPr>
          <a:lstStyle/>
          <a:p>
            <a:pPr algn="l" marL="342900" indent="-342900">
              <a:lnSpc>
                <a:spcPct val="116000"/>
              </a:lnSpc>
              <a:buSzPct val="100000"/>
              <a:buChar char="•"/>
            </a:pPr>
            <a:r>
              <a:rPr lang="en-US" sz="800" dirty="0">
                <a:solidFill>
                  <a:srgbClr val="8F8F8F"/>
                </a:solidFill>
                <a:latin typeface="Funnel Sans" pitchFamily="34" charset="0"/>
                <a:ea typeface="Funnel Sans" pitchFamily="34" charset="-122"/>
                <a:cs typeface="Funnel Sans" pitchFamily="34" charset="-120"/>
              </a:rPr>
              <a:t>Burning fossil fuels releases greenhouse gases</a:t>
            </a:r>
            <a:endParaRPr lang="en-US" sz="800" dirty="0"/>
          </a:p>
          <a:p>
            <a:pPr algn="l" marL="342900" indent="-342900">
              <a:lnSpc>
                <a:spcPct val="116000"/>
              </a:lnSpc>
              <a:buSzPct val="100000"/>
              <a:buChar char="•"/>
            </a:pPr>
            <a:r>
              <a:rPr lang="en-US" sz="800" dirty="0">
                <a:solidFill>
                  <a:srgbClr val="8F8F8F"/>
                </a:solidFill>
                <a:latin typeface="Funnel Sans" pitchFamily="34" charset="0"/>
                <a:ea typeface="Funnel Sans" pitchFamily="34" charset="-122"/>
                <a:cs typeface="Funnel Sans" pitchFamily="34" charset="-120"/>
              </a:rPr>
              <a:t>These gases trap heat in the atmosphere</a:t>
            </a:r>
            <a:endParaRPr lang="en-US" sz="800" dirty="0"/>
          </a:p>
          <a:p>
            <a:pPr algn="l" marL="342900" indent="-342900">
              <a:lnSpc>
                <a:spcPct val="116000"/>
              </a:lnSpc>
              <a:buSzPct val="100000"/>
              <a:buChar char="•"/>
            </a:pPr>
            <a:r>
              <a:rPr lang="en-US" sz="800" dirty="0">
                <a:solidFill>
                  <a:srgbClr val="8F8F8F"/>
                </a:solidFill>
                <a:latin typeface="Funnel Sans" pitchFamily="34" charset="0"/>
                <a:ea typeface="Funnel Sans" pitchFamily="34" charset="-122"/>
                <a:cs typeface="Funnel Sans" pitchFamily="34" charset="-120"/>
              </a:rPr>
              <a:t>The planet warms — disrupting weather, oceans, and ecosystems</a:t>
            </a:r>
            <a:endParaRPr lang="en-US" sz="800" dirty="0"/>
          </a:p>
        </p:txBody>
      </p:sp>
      <p:sp>
        <p:nvSpPr>
          <p:cNvPr id="8" name="Text 5"/>
          <p:cNvSpPr/>
          <p:nvPr/>
        </p:nvSpPr>
        <p:spPr>
          <a:xfrm>
            <a:off x="5819254" y="3027313"/>
            <a:ext cx="2806378" cy="144438"/>
          </a:xfrm>
          <a:prstGeom prst="rect">
            <a:avLst/>
          </a:prstGeom>
          <a:noFill/>
          <a:ln/>
        </p:spPr>
        <p:txBody>
          <a:bodyPr wrap="none" lIns="0" tIns="0" rIns="0" bIns="0" rtlCol="0" anchor="t"/>
          <a:lstStyle/>
          <a:p>
            <a:pPr algn="l" indent="0" marL="0">
              <a:lnSpc>
                <a:spcPct val="116000"/>
              </a:lnSpc>
              <a:buNone/>
            </a:pPr>
            <a:r>
              <a:rPr lang="en-US" sz="800" i="1" dirty="0">
                <a:solidFill>
                  <a:srgbClr val="8F8F8F"/>
                </a:solidFill>
                <a:latin typeface="Funnel Sans" pitchFamily="34" charset="0"/>
                <a:ea typeface="Funnel Sans" pitchFamily="34" charset="-122"/>
                <a:cs typeface="Funnel Sans" pitchFamily="34" charset="-120"/>
              </a:rPr>
              <a:t>Source: NASA Global Climate Change</a:t>
            </a:r>
            <a:endParaRPr lang="en-US" sz="800" dirty="0"/>
          </a:p>
        </p:txBody>
      </p:sp>
      <p:sp>
        <p:nvSpPr>
          <p:cNvPr id="9" name="Shape 6"/>
          <p:cNvSpPr/>
          <p:nvPr/>
        </p:nvSpPr>
        <p:spPr>
          <a:xfrm>
            <a:off x="980182" y="3896023"/>
            <a:ext cx="7183562" cy="767209"/>
          </a:xfrm>
          <a:prstGeom prst="roundRect">
            <a:avLst>
              <a:gd name="adj" fmla="val 5699"/>
            </a:avLst>
          </a:prstGeom>
          <a:solidFill>
            <a:srgbClr val="262626"/>
          </a:solidFill>
          <a:ln/>
        </p:spPr>
      </p:sp>
      <p:pic>
        <p:nvPicPr>
          <p:cNvPr id="10" name="Image 1" descr="preencoded.png">    </p:cNvPr>
          <p:cNvPicPr>
            <a:picLocks noChangeAspect="1"/>
          </p:cNvPicPr>
          <p:nvPr/>
        </p:nvPicPr>
        <p:blipFill>
          <a:blip r:embed="rId2"/>
          <a:stretch>
            <a:fillRect/>
          </a:stretch>
        </p:blipFill>
        <p:spPr>
          <a:xfrm>
            <a:off x="1084287" y="4034954"/>
            <a:ext cx="130076" cy="104105"/>
          </a:xfrm>
          <a:prstGeom prst="rect">
            <a:avLst/>
          </a:prstGeom>
        </p:spPr>
      </p:pic>
      <p:sp>
        <p:nvSpPr>
          <p:cNvPr id="11" name="Text 7"/>
          <p:cNvSpPr/>
          <p:nvPr/>
        </p:nvSpPr>
        <p:spPr>
          <a:xfrm>
            <a:off x="1318468" y="3990752"/>
            <a:ext cx="6741170" cy="577751"/>
          </a:xfrm>
          <a:prstGeom prst="rect">
            <a:avLst/>
          </a:prstGeom>
          <a:noFill/>
          <a:ln/>
        </p:spPr>
        <p:txBody>
          <a:bodyPr wrap="square" lIns="0" tIns="0" rIns="0" bIns="0" rtlCol="0" anchor="t">
            <a:normAutofit/>
          </a:bodyPr>
          <a:lstStyle/>
          <a:p>
            <a:pPr algn="l" indent="0" marL="0">
              <a:lnSpc>
                <a:spcPct val="116000"/>
              </a:lnSpc>
              <a:buNone/>
            </a:pPr>
            <a:r>
              <a:rPr lang="en-US" sz="800" b="1" dirty="0">
                <a:solidFill>
                  <a:srgbClr val="FFFFFF"/>
                </a:solidFill>
                <a:latin typeface="Funnel Sans" pitchFamily="34" charset="0"/>
                <a:ea typeface="Funnel Sans" pitchFamily="34" charset="-122"/>
                <a:cs typeface="Funnel Sans" pitchFamily="34" charset="-120"/>
              </a:rPr>
              <a:t>Speaker Notes:</a:t>
            </a:r>
            <a:pPr algn="l" indent="0" marL="0">
              <a:lnSpc>
                <a:spcPct val="116000"/>
              </a:lnSpc>
              <a:buNone/>
            </a:pPr>
            <a:r>
              <a:rPr lang="en-US" sz="800" dirty="0">
                <a:solidFill>
                  <a:srgbClr val="FFFFFF"/>
                </a:solidFill>
                <a:latin typeface="Funnel Sans" pitchFamily="34" charset="0"/>
                <a:ea typeface="Funnel Sans" pitchFamily="34" charset="-122"/>
                <a:cs typeface="Funnel Sans" pitchFamily="34" charset="-120"/>
              </a:rPr>
              <a:t> Distinguish "climate" from "weather" — weather is short-term (today's forecast), while climate is the long-term average of weather over decades. A helpful analogy: weather is your outfit today; climate is your entire wardrobe. The Industrial Revolution (circa 1800s) marks the turning point when human activity began significantly altering atmospheric composition. This slide sets the foundation for everything that follows.</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1285875" y="441871"/>
            <a:ext cx="584969" cy="159023"/>
          </a:xfrm>
          <a:prstGeom prst="roundRect">
            <a:avLst>
              <a:gd name="adj" fmla="val 20125"/>
            </a:avLst>
          </a:prstGeom>
          <a:solidFill>
            <a:srgbClr val="262626"/>
          </a:solidFill>
          <a:ln/>
        </p:spPr>
      </p:sp>
      <p:sp>
        <p:nvSpPr>
          <p:cNvPr id="3" name="Text 1"/>
          <p:cNvSpPr/>
          <p:nvPr/>
        </p:nvSpPr>
        <p:spPr>
          <a:xfrm>
            <a:off x="1343025" y="470446"/>
            <a:ext cx="927869" cy="101873"/>
          </a:xfrm>
          <a:prstGeom prst="rect">
            <a:avLst/>
          </a:prstGeom>
          <a:noFill/>
          <a:ln/>
        </p:spPr>
        <p:txBody>
          <a:bodyPr wrap="none" lIns="0" tIns="0" rIns="0" bIns="0" rtlCol="0" anchor="t"/>
          <a:lstStyle/>
          <a:p>
            <a:pPr algn="l" indent="0" marL="0">
              <a:lnSpc>
                <a:spcPct val="111000"/>
              </a:lnSpc>
              <a:buNone/>
            </a:pPr>
            <a:r>
              <a:rPr lang="en-US" sz="600" dirty="0">
                <a:solidFill>
                  <a:srgbClr val="8F8F8F"/>
                </a:solidFill>
                <a:latin typeface="Funnel Sans" pitchFamily="34" charset="0"/>
                <a:ea typeface="Funnel Sans" pitchFamily="34" charset="-122"/>
                <a:cs typeface="Funnel Sans" pitchFamily="34" charset="-120"/>
              </a:rPr>
              <a:t>THE SCIENCE</a:t>
            </a:r>
            <a:endParaRPr lang="en-US" sz="600" dirty="0"/>
          </a:p>
        </p:txBody>
      </p:sp>
      <p:sp>
        <p:nvSpPr>
          <p:cNvPr id="4" name="Text 2"/>
          <p:cNvSpPr/>
          <p:nvPr/>
        </p:nvSpPr>
        <p:spPr>
          <a:xfrm>
            <a:off x="1285875" y="626492"/>
            <a:ext cx="3070399" cy="297656"/>
          </a:xfrm>
          <a:prstGeom prst="rect">
            <a:avLst/>
          </a:prstGeom>
          <a:noFill/>
          <a:ln/>
        </p:spPr>
        <p:txBody>
          <a:bodyPr wrap="none" lIns="0" tIns="0" rIns="0" bIns="0" rtlCol="0" anchor="t"/>
          <a:lstStyle/>
          <a:p>
            <a:pPr algn="l" indent="0" marL="0">
              <a:lnSpc>
                <a:spcPct val="104000"/>
              </a:lnSpc>
              <a:buNone/>
            </a:pPr>
            <a:r>
              <a:rPr lang="en-US" sz="1850" dirty="0">
                <a:solidFill>
                  <a:srgbClr val="DDDDDD"/>
                </a:solidFill>
                <a:latin typeface="Mona Sans SemiBold" pitchFamily="34" charset="0"/>
                <a:ea typeface="Mona Sans SemiBold" pitchFamily="34" charset="-122"/>
                <a:cs typeface="Mona Sans SemiBold" pitchFamily="34" charset="-120"/>
              </a:rPr>
              <a:t>The Greenhouse Effect</a:t>
            </a:r>
            <a:endParaRPr lang="en-US" sz="1850" dirty="0"/>
          </a:p>
        </p:txBody>
      </p:sp>
      <p:pic>
        <p:nvPicPr>
          <p:cNvPr id="5" name="Image 0" descr="preencoded.png">    </p:cNvPr>
          <p:cNvPicPr>
            <a:picLocks noChangeAspect="1"/>
          </p:cNvPicPr>
          <p:nvPr/>
        </p:nvPicPr>
        <p:blipFill>
          <a:blip r:embed="rId1"/>
          <a:stretch>
            <a:fillRect/>
          </a:stretch>
        </p:blipFill>
        <p:spPr>
          <a:xfrm>
            <a:off x="2016547" y="1020142"/>
            <a:ext cx="5110907" cy="2339057"/>
          </a:xfrm>
          <a:prstGeom prst="rect">
            <a:avLst/>
          </a:prstGeom>
        </p:spPr>
      </p:pic>
      <p:sp>
        <p:nvSpPr>
          <p:cNvPr id="6" name="Text 3"/>
          <p:cNvSpPr/>
          <p:nvPr/>
        </p:nvSpPr>
        <p:spPr>
          <a:xfrm>
            <a:off x="5929969" y="2711328"/>
            <a:ext cx="959520" cy="369678"/>
          </a:xfrm>
          <a:prstGeom prst="rect">
            <a:avLst/>
          </a:prstGeom>
          <a:noFill/>
          <a:ln/>
        </p:spPr>
        <p:txBody>
          <a:bodyPr wrap="square" lIns="0" tIns="0" rIns="0" bIns="0" rtlCol="0" anchor="t">
            <a:normAutofit/>
          </a:bodyPr>
          <a:lstStyle/>
          <a:p>
            <a:pPr algn="ctr" indent="0" marL="0">
              <a:lnSpc>
                <a:spcPct val="104000"/>
              </a:lnSpc>
              <a:buNone/>
            </a:pPr>
            <a:r>
              <a:rPr lang="en-US" sz="1150" dirty="0">
                <a:solidFill>
                  <a:srgbClr val="8F8F8F"/>
                </a:solidFill>
                <a:latin typeface="Mona Sans SemiBold" pitchFamily="34" charset="0"/>
                <a:ea typeface="Mona Sans SemiBold" pitchFamily="34" charset="-122"/>
                <a:cs typeface="Mona Sans SemiBold" pitchFamily="34" charset="-120"/>
              </a:rPr>
              <a:t>Human Boost</a:t>
            </a:r>
            <a:endParaRPr lang="en-US" sz="1150" dirty="0"/>
          </a:p>
        </p:txBody>
      </p:sp>
      <p:sp>
        <p:nvSpPr>
          <p:cNvPr id="7" name="Text 4"/>
          <p:cNvSpPr/>
          <p:nvPr/>
        </p:nvSpPr>
        <p:spPr>
          <a:xfrm>
            <a:off x="4720712" y="2711328"/>
            <a:ext cx="959520" cy="369678"/>
          </a:xfrm>
          <a:prstGeom prst="rect">
            <a:avLst/>
          </a:prstGeom>
          <a:noFill/>
          <a:ln/>
        </p:spPr>
        <p:txBody>
          <a:bodyPr wrap="square" lIns="0" tIns="0" rIns="0" bIns="0" rtlCol="0" anchor="t">
            <a:normAutofit/>
          </a:bodyPr>
          <a:lstStyle/>
          <a:p>
            <a:pPr algn="ctr" indent="0" marL="0">
              <a:lnSpc>
                <a:spcPct val="104000"/>
              </a:lnSpc>
              <a:buNone/>
            </a:pPr>
            <a:r>
              <a:rPr lang="en-US" sz="1150" dirty="0">
                <a:solidFill>
                  <a:srgbClr val="8F8F8F"/>
                </a:solidFill>
                <a:latin typeface="Mona Sans SemiBold" pitchFamily="34" charset="0"/>
                <a:ea typeface="Mona Sans SemiBold" pitchFamily="34" charset="-122"/>
                <a:cs typeface="Mona Sans SemiBold" pitchFamily="34" charset="-120"/>
              </a:rPr>
              <a:t>Gases Trap Heat</a:t>
            </a:r>
            <a:endParaRPr lang="en-US" sz="1150" dirty="0"/>
          </a:p>
        </p:txBody>
      </p:sp>
      <p:sp>
        <p:nvSpPr>
          <p:cNvPr id="8" name="Text 5"/>
          <p:cNvSpPr/>
          <p:nvPr/>
        </p:nvSpPr>
        <p:spPr>
          <a:xfrm>
            <a:off x="3518027" y="2711328"/>
            <a:ext cx="959519" cy="369678"/>
          </a:xfrm>
          <a:prstGeom prst="rect">
            <a:avLst/>
          </a:prstGeom>
          <a:noFill/>
          <a:ln/>
        </p:spPr>
        <p:txBody>
          <a:bodyPr wrap="square" lIns="0" tIns="0" rIns="0" bIns="0" rtlCol="0" anchor="t">
            <a:normAutofit/>
          </a:bodyPr>
          <a:lstStyle/>
          <a:p>
            <a:pPr algn="ctr" indent="0" marL="0">
              <a:lnSpc>
                <a:spcPct val="104000"/>
              </a:lnSpc>
              <a:buNone/>
            </a:pPr>
            <a:r>
              <a:rPr lang="en-US" sz="1150" dirty="0">
                <a:solidFill>
                  <a:srgbClr val="8F8F8F"/>
                </a:solidFill>
                <a:latin typeface="Mona Sans SemiBold" pitchFamily="34" charset="0"/>
                <a:ea typeface="Mona Sans SemiBold" pitchFamily="34" charset="-122"/>
                <a:cs typeface="Mona Sans SemiBold" pitchFamily="34" charset="-120"/>
              </a:rPr>
              <a:t>Earth Radiates</a:t>
            </a:r>
            <a:endParaRPr lang="en-US" sz="1150" dirty="0"/>
          </a:p>
        </p:txBody>
      </p:sp>
      <p:sp>
        <p:nvSpPr>
          <p:cNvPr id="9" name="Text 6"/>
          <p:cNvSpPr/>
          <p:nvPr/>
        </p:nvSpPr>
        <p:spPr>
          <a:xfrm>
            <a:off x="2289053" y="2803747"/>
            <a:ext cx="959519" cy="184839"/>
          </a:xfrm>
          <a:prstGeom prst="rect">
            <a:avLst/>
          </a:prstGeom>
          <a:noFill/>
          <a:ln/>
        </p:spPr>
        <p:txBody>
          <a:bodyPr wrap="none" lIns="0" tIns="0" rIns="0" bIns="0" rtlCol="0" anchor="t"/>
          <a:lstStyle/>
          <a:p>
            <a:pPr algn="ctr" indent="0" marL="0">
              <a:lnSpc>
                <a:spcPct val="104000"/>
              </a:lnSpc>
              <a:buNone/>
            </a:pPr>
            <a:r>
              <a:rPr lang="en-US" sz="1150" dirty="0">
                <a:solidFill>
                  <a:srgbClr val="8F8F8F"/>
                </a:solidFill>
                <a:latin typeface="Mona Sans SemiBold" pitchFamily="34" charset="0"/>
                <a:ea typeface="Mona Sans SemiBold" pitchFamily="34" charset="-122"/>
                <a:cs typeface="Mona Sans SemiBold" pitchFamily="34" charset="-120"/>
              </a:rPr>
              <a:t>Sunlight</a:t>
            </a:r>
            <a:endParaRPr lang="en-US" sz="1150" dirty="0"/>
          </a:p>
        </p:txBody>
      </p:sp>
      <p:sp>
        <p:nvSpPr>
          <p:cNvPr id="10" name="Text 7"/>
          <p:cNvSpPr/>
          <p:nvPr/>
        </p:nvSpPr>
        <p:spPr>
          <a:xfrm>
            <a:off x="1285875" y="3431158"/>
            <a:ext cx="6572250" cy="454149"/>
          </a:xfrm>
          <a:prstGeom prst="rect">
            <a:avLst/>
          </a:prstGeom>
          <a:noFill/>
          <a:ln/>
        </p:spPr>
        <p:txBody>
          <a:bodyPr wrap="square" lIns="0" tIns="0" rIns="0" bIns="0" rtlCol="0" anchor="t">
            <a:normAutofit/>
          </a:bodyPr>
          <a:lstStyle/>
          <a:p>
            <a:pPr algn="l" indent="0" marL="0">
              <a:lnSpc>
                <a:spcPct val="111000"/>
              </a:lnSpc>
              <a:buNone/>
            </a:pPr>
            <a:r>
              <a:rPr lang="en-US" sz="750" dirty="0">
                <a:solidFill>
                  <a:srgbClr val="8F8F8F"/>
                </a:solidFill>
                <a:latin typeface="Funnel Sans" pitchFamily="34" charset="0"/>
                <a:ea typeface="Funnel Sans" pitchFamily="34" charset="-122"/>
                <a:cs typeface="Funnel Sans" pitchFamily="34" charset="-120"/>
              </a:rPr>
              <a:t>The greenhouse effect is </a:t>
            </a:r>
            <a:pPr algn="l" indent="0" marL="0">
              <a:lnSpc>
                <a:spcPct val="111000"/>
              </a:lnSpc>
              <a:buNone/>
            </a:pPr>
            <a:r>
              <a:rPr lang="en-US" sz="750" b="1" dirty="0">
                <a:solidFill>
                  <a:srgbClr val="8F8F8F"/>
                </a:solidFill>
                <a:latin typeface="Funnel Sans" pitchFamily="34" charset="0"/>
                <a:ea typeface="Funnel Sans" pitchFamily="34" charset="-122"/>
                <a:cs typeface="Funnel Sans" pitchFamily="34" charset="-120"/>
              </a:rPr>
              <a:t>natural and necessary</a:t>
            </a:r>
            <a:pPr algn="l" indent="0" marL="0">
              <a:lnSpc>
                <a:spcPct val="111000"/>
              </a:lnSpc>
              <a:buNone/>
            </a:pPr>
            <a:r>
              <a:rPr lang="en-US" sz="750" dirty="0">
                <a:solidFill>
                  <a:srgbClr val="8F8F8F"/>
                </a:solidFill>
                <a:latin typeface="Funnel Sans" pitchFamily="34" charset="0"/>
                <a:ea typeface="Funnel Sans" pitchFamily="34" charset="-122"/>
                <a:cs typeface="Funnel Sans" pitchFamily="34" charset="-120"/>
              </a:rPr>
              <a:t> — without it, Earth would be frozen. The problem is that human activities have </a:t>
            </a:r>
            <a:pPr algn="l" indent="0" marL="0">
              <a:lnSpc>
                <a:spcPct val="111000"/>
              </a:lnSpc>
              <a:buNone/>
            </a:pPr>
            <a:r>
              <a:rPr lang="en-US" sz="750" b="1" dirty="0">
                <a:solidFill>
                  <a:srgbClr val="8F8F8F"/>
                </a:solidFill>
                <a:latin typeface="Funnel Sans" pitchFamily="34" charset="0"/>
                <a:ea typeface="Funnel Sans" pitchFamily="34" charset="-122"/>
                <a:cs typeface="Funnel Sans" pitchFamily="34" charset="-120"/>
              </a:rPr>
              <a:t>supercharged</a:t>
            </a:r>
            <a:pPr algn="l" indent="0" marL="0">
              <a:lnSpc>
                <a:spcPct val="111000"/>
              </a:lnSpc>
              <a:spcAft>
                <a:spcPts val="550"/>
              </a:spcAft>
              <a:buNone/>
            </a:pPr>
            <a:r>
              <a:rPr lang="en-US" sz="750" dirty="0">
                <a:solidFill>
                  <a:srgbClr val="8F8F8F"/>
                </a:solidFill>
                <a:latin typeface="Funnel Sans" pitchFamily="34" charset="0"/>
                <a:ea typeface="Funnel Sans" pitchFamily="34" charset="-122"/>
                <a:cs typeface="Funnel Sans" pitchFamily="34" charset="-120"/>
              </a:rPr>
              <a:t> it, trapping far more heat than the planet can handle.</a:t>
            </a:r>
            <a:endParaRPr lang="en-US" sz="750" dirty="0"/>
          </a:p>
          <a:p>
            <a:pPr algn="l" indent="0" marL="0">
              <a:lnSpc>
                <a:spcPct val="111000"/>
              </a:lnSpc>
              <a:buNone/>
            </a:pPr>
            <a:r>
              <a:rPr lang="en-US" sz="750" i="1" dirty="0">
                <a:solidFill>
                  <a:srgbClr val="8F8F8F"/>
                </a:solidFill>
                <a:latin typeface="Funnel Sans" pitchFamily="34" charset="0"/>
                <a:ea typeface="Funnel Sans" pitchFamily="34" charset="-122"/>
                <a:cs typeface="Funnel Sans" pitchFamily="34" charset="-120"/>
              </a:rPr>
              <a:t>Source: EPA Climate Change Science</a:t>
            </a:r>
            <a:endParaRPr lang="en-US" sz="750" dirty="0"/>
          </a:p>
        </p:txBody>
      </p:sp>
      <p:sp>
        <p:nvSpPr>
          <p:cNvPr id="11" name="Shape 8"/>
          <p:cNvSpPr/>
          <p:nvPr/>
        </p:nvSpPr>
        <p:spPr>
          <a:xfrm>
            <a:off x="1285875" y="3957265"/>
            <a:ext cx="6572250" cy="672405"/>
          </a:xfrm>
          <a:prstGeom prst="roundRect">
            <a:avLst>
              <a:gd name="adj" fmla="val 5950"/>
            </a:avLst>
          </a:prstGeom>
          <a:solidFill>
            <a:srgbClr val="262626"/>
          </a:solidFill>
          <a:ln/>
        </p:spPr>
      </p:sp>
      <p:pic>
        <p:nvPicPr>
          <p:cNvPr id="12" name="Image 1" descr="preencoded.png">    </p:cNvPr>
          <p:cNvPicPr>
            <a:picLocks noChangeAspect="1"/>
          </p:cNvPicPr>
          <p:nvPr/>
        </p:nvPicPr>
        <p:blipFill>
          <a:blip r:embed="rId2"/>
          <a:stretch>
            <a:fillRect/>
          </a:stretch>
        </p:blipFill>
        <p:spPr>
          <a:xfrm>
            <a:off x="1381125" y="4078709"/>
            <a:ext cx="119062" cy="95250"/>
          </a:xfrm>
          <a:prstGeom prst="rect">
            <a:avLst/>
          </a:prstGeom>
        </p:spPr>
      </p:pic>
      <p:sp>
        <p:nvSpPr>
          <p:cNvPr id="13" name="Text 9"/>
          <p:cNvSpPr/>
          <p:nvPr/>
        </p:nvSpPr>
        <p:spPr>
          <a:xfrm>
            <a:off x="1595438" y="4038674"/>
            <a:ext cx="6167438" cy="509587"/>
          </a:xfrm>
          <a:prstGeom prst="rect">
            <a:avLst/>
          </a:prstGeom>
          <a:noFill/>
          <a:ln/>
        </p:spPr>
        <p:txBody>
          <a:bodyPr wrap="square" lIns="0" tIns="0" rIns="0" bIns="0" rtlCol="0" anchor="t">
            <a:normAutofit/>
          </a:bodyPr>
          <a:lstStyle/>
          <a:p>
            <a:pPr algn="l" indent="0" marL="0">
              <a:lnSpc>
                <a:spcPct val="111000"/>
              </a:lnSpc>
              <a:buNone/>
            </a:pPr>
            <a:r>
              <a:rPr lang="en-US" sz="750" b="1" dirty="0">
                <a:solidFill>
                  <a:srgbClr val="FFFFFF"/>
                </a:solidFill>
                <a:latin typeface="Funnel Sans" pitchFamily="34" charset="0"/>
                <a:ea typeface="Funnel Sans" pitchFamily="34" charset="-122"/>
                <a:cs typeface="Funnel Sans" pitchFamily="34" charset="-120"/>
              </a:rPr>
              <a:t>Speaker Notes:</a:t>
            </a:r>
            <a:pPr algn="l" indent="0" marL="0">
              <a:lnSpc>
                <a:spcPct val="111000"/>
              </a:lnSpc>
              <a:buNone/>
            </a:pPr>
            <a:r>
              <a:rPr lang="en-US" sz="750" dirty="0">
                <a:solidFill>
                  <a:srgbClr val="FFFFFF"/>
                </a:solidFill>
                <a:latin typeface="Funnel Sans" pitchFamily="34" charset="0"/>
                <a:ea typeface="Funnel Sans" pitchFamily="34" charset="-122"/>
                <a:cs typeface="Funnel Sans" pitchFamily="34" charset="-120"/>
              </a:rPr>
              <a:t> Use the car-in-the-sunshine analogy: sunlight enters through the windows, warms the interior, but the heat cannot escape — the car gets hotter and hotter. That is essentially what greenhouse gases do to our atmosphere. Emphasize that the greenhouse effect itself is not bad; it is what keeps Earth habitable. The crisis is the excess caused by human emissions. Invite students to think about what "too much of a good thing" looks like in this context.</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96119" y="438969"/>
            <a:ext cx="727025" cy="223317"/>
          </a:xfrm>
          <a:prstGeom prst="roundRect">
            <a:avLst>
              <a:gd name="adj" fmla="val 18664"/>
            </a:avLst>
          </a:prstGeom>
          <a:solidFill>
            <a:srgbClr val="262626"/>
          </a:solidFill>
          <a:ln/>
        </p:spPr>
      </p:sp>
      <p:sp>
        <p:nvSpPr>
          <p:cNvPr id="3" name="Text 1"/>
          <p:cNvSpPr/>
          <p:nvPr/>
        </p:nvSpPr>
        <p:spPr>
          <a:xfrm>
            <a:off x="570533" y="476176"/>
            <a:ext cx="1035397" cy="148903"/>
          </a:xfrm>
          <a:prstGeom prst="rect">
            <a:avLst/>
          </a:prstGeom>
          <a:noFill/>
          <a:ln/>
        </p:spPr>
        <p:txBody>
          <a:bodyPr wrap="none" lIns="0" tIns="0" rIns="0" bIns="0" rtlCol="0" anchor="t"/>
          <a:lstStyle/>
          <a:p>
            <a:pPr algn="l" indent="0" marL="0">
              <a:lnSpc>
                <a:spcPct val="125000"/>
              </a:lnSpc>
              <a:buNone/>
            </a:pPr>
            <a:r>
              <a:rPr lang="en-US" sz="750" dirty="0">
                <a:solidFill>
                  <a:srgbClr val="8F8F8F"/>
                </a:solidFill>
                <a:latin typeface="Funnel Sans" pitchFamily="34" charset="0"/>
                <a:ea typeface="Funnel Sans" pitchFamily="34" charset="-122"/>
                <a:cs typeface="Funnel Sans" pitchFamily="34" charset="-120"/>
              </a:rPr>
              <a:t>THE CAUSES</a:t>
            </a:r>
            <a:endParaRPr lang="en-US" sz="750" dirty="0"/>
          </a:p>
        </p:txBody>
      </p:sp>
      <p:sp>
        <p:nvSpPr>
          <p:cNvPr id="4" name="Text 2"/>
          <p:cNvSpPr/>
          <p:nvPr/>
        </p:nvSpPr>
        <p:spPr>
          <a:xfrm>
            <a:off x="496119" y="705669"/>
            <a:ext cx="5300737" cy="387548"/>
          </a:xfrm>
          <a:prstGeom prst="rect">
            <a:avLst/>
          </a:prstGeom>
          <a:noFill/>
          <a:ln/>
        </p:spPr>
        <p:txBody>
          <a:bodyPr wrap="none" lIns="0" tIns="0" rIns="0" bIns="0" rtlCol="0" anchor="t"/>
          <a:lstStyle/>
          <a:p>
            <a:pPr algn="l" indent="0" marL="0">
              <a:lnSpc>
                <a:spcPct val="104000"/>
              </a:lnSpc>
              <a:buNone/>
            </a:pPr>
            <a:r>
              <a:rPr lang="en-US" sz="2400" dirty="0">
                <a:solidFill>
                  <a:srgbClr val="DDDDDD"/>
                </a:solidFill>
                <a:latin typeface="Mona Sans SemiBold" pitchFamily="34" charset="0"/>
                <a:ea typeface="Mona Sans SemiBold" pitchFamily="34" charset="-122"/>
                <a:cs typeface="Mona Sans SemiBold" pitchFamily="34" charset="-120"/>
              </a:rPr>
              <a:t>What's Driving Climate Change?</a:t>
            </a:r>
            <a:endParaRPr lang="en-US" sz="2400" dirty="0"/>
          </a:p>
        </p:txBody>
      </p:sp>
      <p:sp>
        <p:nvSpPr>
          <p:cNvPr id="5" name="Shape 3"/>
          <p:cNvSpPr/>
          <p:nvPr/>
        </p:nvSpPr>
        <p:spPr>
          <a:xfrm>
            <a:off x="496119" y="1255961"/>
            <a:ext cx="4021634" cy="893266"/>
          </a:xfrm>
          <a:prstGeom prst="roundRect">
            <a:avLst>
              <a:gd name="adj" fmla="val 5832"/>
            </a:avLst>
          </a:prstGeom>
          <a:solidFill>
            <a:srgbClr val="404040"/>
          </a:solidFill>
          <a:ln w="4763">
            <a:solidFill>
              <a:srgbClr val="595959"/>
            </a:solidFill>
            <a:prstDash val="solid"/>
          </a:ln>
        </p:spPr>
      </p:sp>
      <p:sp>
        <p:nvSpPr>
          <p:cNvPr id="6" name="Text 4"/>
          <p:cNvSpPr/>
          <p:nvPr/>
        </p:nvSpPr>
        <p:spPr>
          <a:xfrm>
            <a:off x="624855" y="1384697"/>
            <a:ext cx="1550566" cy="198611"/>
          </a:xfrm>
          <a:prstGeom prst="rect">
            <a:avLst/>
          </a:prstGeom>
          <a:noFill/>
          <a:ln/>
        </p:spPr>
        <p:txBody>
          <a:bodyPr wrap="none" lIns="0" tIns="0" rIns="0" bIns="0" rtlCol="0" anchor="t"/>
          <a:lstStyle/>
          <a:p>
            <a:pPr algn="l" indent="0" marL="0">
              <a:lnSpc>
                <a:spcPct val="104000"/>
              </a:lnSpc>
              <a:buNone/>
            </a:pPr>
            <a:r>
              <a:rPr lang="en-US" sz="1200" dirty="0">
                <a:solidFill>
                  <a:srgbClr val="000000"/>
                </a:solidFill>
                <a:latin typeface="Mona Sans SemiBold" pitchFamily="34" charset="0"/>
                <a:ea typeface="Mona Sans SemiBold" pitchFamily="34" charset="-122"/>
                <a:cs typeface="Mona Sans SemiBold" pitchFamily="34" charset="-120"/>
              </a:rPr>
              <a:t>🏭</a:t>
            </a:r>
            <a:pPr algn="l" indent="0" marL="0">
              <a:lnSpc>
                <a:spcPct val="104000"/>
              </a:lnSpc>
              <a:buNone/>
            </a:pPr>
            <a:r>
              <a:rPr lang="en-US" sz="1200" dirty="0">
                <a:solidFill>
                  <a:srgbClr val="FFFFFF"/>
                </a:solidFill>
                <a:latin typeface="Mona Sans SemiBold" pitchFamily="34" charset="0"/>
                <a:ea typeface="Mona Sans SemiBold" pitchFamily="34" charset="-122"/>
                <a:cs typeface="Mona Sans SemiBold" pitchFamily="34" charset="-120"/>
              </a:rPr>
              <a:t> Fossil Fuels</a:t>
            </a:r>
            <a:endParaRPr lang="en-US" sz="1200" dirty="0"/>
          </a:p>
        </p:txBody>
      </p:sp>
      <p:sp>
        <p:nvSpPr>
          <p:cNvPr id="7" name="Text 5"/>
          <p:cNvSpPr/>
          <p:nvPr/>
        </p:nvSpPr>
        <p:spPr>
          <a:xfrm>
            <a:off x="624855" y="1648420"/>
            <a:ext cx="3764161" cy="372070"/>
          </a:xfrm>
          <a:prstGeom prst="rect">
            <a:avLst/>
          </a:prstGeom>
          <a:noFill/>
          <a:ln/>
        </p:spPr>
        <p:txBody>
          <a:bodyPr wrap="square" lIns="0" tIns="0" rIns="0" bIns="0" rtlCol="0" anchor="t">
            <a:normAutofit/>
          </a:bodyPr>
          <a:lstStyle/>
          <a:p>
            <a:pPr algn="l" indent="0" marL="0">
              <a:lnSpc>
                <a:spcPct val="125000"/>
              </a:lnSpc>
              <a:buNone/>
            </a:pPr>
            <a:r>
              <a:rPr lang="en-US" sz="950" dirty="0">
                <a:solidFill>
                  <a:srgbClr val="FFFFFF"/>
                </a:solidFill>
                <a:latin typeface="Funnel Sans" pitchFamily="34" charset="0"/>
                <a:ea typeface="Funnel Sans" pitchFamily="34" charset="-122"/>
                <a:cs typeface="Funnel Sans" pitchFamily="34" charset="-120"/>
              </a:rPr>
              <a:t>Coal, oil, and gas burned for energy are the </a:t>
            </a:r>
            <a:pPr algn="l" indent="0" marL="0">
              <a:lnSpc>
                <a:spcPct val="125000"/>
              </a:lnSpc>
              <a:buNone/>
            </a:pPr>
            <a:r>
              <a:rPr lang="en-US" sz="950" b="1" dirty="0">
                <a:solidFill>
                  <a:srgbClr val="FFFFFF"/>
                </a:solidFill>
                <a:latin typeface="Funnel Sans" pitchFamily="34" charset="0"/>
                <a:ea typeface="Funnel Sans" pitchFamily="34" charset="-122"/>
                <a:cs typeface="Funnel Sans" pitchFamily="34" charset="-120"/>
              </a:rPr>
              <a:t>#1 source</a:t>
            </a:r>
            <a:pPr algn="l" indent="0" marL="0">
              <a:lnSpc>
                <a:spcPct val="125000"/>
              </a:lnSpc>
              <a:buNone/>
            </a:pPr>
            <a:r>
              <a:rPr lang="en-US" sz="950" dirty="0">
                <a:solidFill>
                  <a:srgbClr val="FFFFFF"/>
                </a:solidFill>
                <a:latin typeface="Funnel Sans" pitchFamily="34" charset="0"/>
                <a:ea typeface="Funnel Sans" pitchFamily="34" charset="-122"/>
                <a:cs typeface="Funnel Sans" pitchFamily="34" charset="-120"/>
              </a:rPr>
              <a:t> of CO₂ emissions worldwide.</a:t>
            </a:r>
            <a:endParaRPr lang="en-US" sz="950" dirty="0"/>
          </a:p>
        </p:txBody>
      </p:sp>
      <p:sp>
        <p:nvSpPr>
          <p:cNvPr id="8" name="Shape 6"/>
          <p:cNvSpPr/>
          <p:nvPr/>
        </p:nvSpPr>
        <p:spPr>
          <a:xfrm>
            <a:off x="4626248" y="1255961"/>
            <a:ext cx="4021634" cy="893266"/>
          </a:xfrm>
          <a:prstGeom prst="roundRect">
            <a:avLst>
              <a:gd name="adj" fmla="val 5832"/>
            </a:avLst>
          </a:prstGeom>
          <a:solidFill>
            <a:srgbClr val="404040"/>
          </a:solidFill>
          <a:ln w="4763">
            <a:solidFill>
              <a:srgbClr val="595959"/>
            </a:solidFill>
            <a:prstDash val="solid"/>
          </a:ln>
        </p:spPr>
      </p:sp>
      <p:sp>
        <p:nvSpPr>
          <p:cNvPr id="9" name="Text 7"/>
          <p:cNvSpPr/>
          <p:nvPr/>
        </p:nvSpPr>
        <p:spPr>
          <a:xfrm>
            <a:off x="4754984" y="1384697"/>
            <a:ext cx="1550566" cy="198611"/>
          </a:xfrm>
          <a:prstGeom prst="rect">
            <a:avLst/>
          </a:prstGeom>
          <a:noFill/>
          <a:ln/>
        </p:spPr>
        <p:txBody>
          <a:bodyPr wrap="none" lIns="0" tIns="0" rIns="0" bIns="0" rtlCol="0" anchor="t"/>
          <a:lstStyle/>
          <a:p>
            <a:pPr algn="l" indent="0" marL="0">
              <a:lnSpc>
                <a:spcPct val="104000"/>
              </a:lnSpc>
              <a:buNone/>
            </a:pPr>
            <a:r>
              <a:rPr lang="en-US" sz="1200" dirty="0">
                <a:solidFill>
                  <a:srgbClr val="000000"/>
                </a:solidFill>
                <a:latin typeface="Mona Sans SemiBold" pitchFamily="34" charset="0"/>
                <a:ea typeface="Mona Sans SemiBold" pitchFamily="34" charset="-122"/>
                <a:cs typeface="Mona Sans SemiBold" pitchFamily="34" charset="-120"/>
              </a:rPr>
              <a:t>🌳</a:t>
            </a:r>
            <a:pPr algn="l" indent="0" marL="0">
              <a:lnSpc>
                <a:spcPct val="104000"/>
              </a:lnSpc>
              <a:buNone/>
            </a:pPr>
            <a:r>
              <a:rPr lang="en-US" sz="1200" dirty="0">
                <a:solidFill>
                  <a:srgbClr val="FFFFFF"/>
                </a:solidFill>
                <a:latin typeface="Mona Sans SemiBold" pitchFamily="34" charset="0"/>
                <a:ea typeface="Mona Sans SemiBold" pitchFamily="34" charset="-122"/>
                <a:cs typeface="Mona Sans SemiBold" pitchFamily="34" charset="-120"/>
              </a:rPr>
              <a:t> Deforestation</a:t>
            </a:r>
            <a:endParaRPr lang="en-US" sz="1200" dirty="0"/>
          </a:p>
        </p:txBody>
      </p:sp>
      <p:sp>
        <p:nvSpPr>
          <p:cNvPr id="10" name="Text 8"/>
          <p:cNvSpPr/>
          <p:nvPr/>
        </p:nvSpPr>
        <p:spPr>
          <a:xfrm>
            <a:off x="4754984" y="1648420"/>
            <a:ext cx="3764161" cy="372070"/>
          </a:xfrm>
          <a:prstGeom prst="rect">
            <a:avLst/>
          </a:prstGeom>
          <a:noFill/>
          <a:ln/>
        </p:spPr>
        <p:txBody>
          <a:bodyPr wrap="square" lIns="0" tIns="0" rIns="0" bIns="0" rtlCol="0" anchor="t">
            <a:normAutofit/>
          </a:bodyPr>
          <a:lstStyle/>
          <a:p>
            <a:pPr algn="l" indent="0" marL="0">
              <a:lnSpc>
                <a:spcPct val="125000"/>
              </a:lnSpc>
              <a:buNone/>
            </a:pPr>
            <a:r>
              <a:rPr lang="en-US" sz="950" dirty="0">
                <a:solidFill>
                  <a:srgbClr val="FFFFFF"/>
                </a:solidFill>
                <a:latin typeface="Funnel Sans" pitchFamily="34" charset="0"/>
                <a:ea typeface="Funnel Sans" pitchFamily="34" charset="-122"/>
                <a:cs typeface="Funnel Sans" pitchFamily="34" charset="-120"/>
              </a:rPr>
              <a:t>Trees absorb CO₂. When forests are cut down, that stored carbon is </a:t>
            </a:r>
            <a:pPr algn="l" indent="0" marL="0">
              <a:lnSpc>
                <a:spcPct val="125000"/>
              </a:lnSpc>
              <a:buNone/>
            </a:pPr>
            <a:r>
              <a:rPr lang="en-US" sz="950" b="1" dirty="0">
                <a:solidFill>
                  <a:srgbClr val="FFFFFF"/>
                </a:solidFill>
                <a:latin typeface="Funnel Sans" pitchFamily="34" charset="0"/>
                <a:ea typeface="Funnel Sans" pitchFamily="34" charset="-122"/>
                <a:cs typeface="Funnel Sans" pitchFamily="34" charset="-120"/>
              </a:rPr>
              <a:t>released into the air</a:t>
            </a:r>
            <a:pPr algn="l" indent="0" marL="0">
              <a:lnSpc>
                <a:spcPct val="125000"/>
              </a:lnSpc>
              <a:buNone/>
            </a:pPr>
            <a:r>
              <a:rPr lang="en-US" sz="950" dirty="0">
                <a:solidFill>
                  <a:srgbClr val="FFFFFF"/>
                </a:solidFill>
                <a:latin typeface="Funnel Sans" pitchFamily="34" charset="0"/>
                <a:ea typeface="Funnel Sans" pitchFamily="34" charset="-122"/>
                <a:cs typeface="Funnel Sans" pitchFamily="34" charset="-120"/>
              </a:rPr>
              <a:t>.</a:t>
            </a:r>
            <a:endParaRPr lang="en-US" sz="950" dirty="0"/>
          </a:p>
        </p:txBody>
      </p:sp>
      <p:sp>
        <p:nvSpPr>
          <p:cNvPr id="11" name="Shape 9"/>
          <p:cNvSpPr/>
          <p:nvPr/>
        </p:nvSpPr>
        <p:spPr>
          <a:xfrm>
            <a:off x="496119" y="2257723"/>
            <a:ext cx="4021634" cy="893266"/>
          </a:xfrm>
          <a:prstGeom prst="roundRect">
            <a:avLst>
              <a:gd name="adj" fmla="val 5832"/>
            </a:avLst>
          </a:prstGeom>
          <a:solidFill>
            <a:srgbClr val="404040"/>
          </a:solidFill>
          <a:ln w="4763">
            <a:solidFill>
              <a:srgbClr val="595959"/>
            </a:solidFill>
            <a:prstDash val="solid"/>
          </a:ln>
        </p:spPr>
      </p:sp>
      <p:sp>
        <p:nvSpPr>
          <p:cNvPr id="12" name="Text 10"/>
          <p:cNvSpPr/>
          <p:nvPr/>
        </p:nvSpPr>
        <p:spPr>
          <a:xfrm>
            <a:off x="624855" y="2386459"/>
            <a:ext cx="1550566" cy="198611"/>
          </a:xfrm>
          <a:prstGeom prst="rect">
            <a:avLst/>
          </a:prstGeom>
          <a:noFill/>
          <a:ln/>
        </p:spPr>
        <p:txBody>
          <a:bodyPr wrap="none" lIns="0" tIns="0" rIns="0" bIns="0" rtlCol="0" anchor="t"/>
          <a:lstStyle/>
          <a:p>
            <a:pPr algn="l" indent="0" marL="0">
              <a:lnSpc>
                <a:spcPct val="104000"/>
              </a:lnSpc>
              <a:buNone/>
            </a:pPr>
            <a:r>
              <a:rPr lang="en-US" sz="1200" dirty="0">
                <a:solidFill>
                  <a:srgbClr val="000000"/>
                </a:solidFill>
                <a:latin typeface="Mona Sans SemiBold" pitchFamily="34" charset="0"/>
                <a:ea typeface="Mona Sans SemiBold" pitchFamily="34" charset="-122"/>
                <a:cs typeface="Mona Sans SemiBold" pitchFamily="34" charset="-120"/>
              </a:rPr>
              <a:t>🐄</a:t>
            </a:r>
            <a:pPr algn="l" indent="0" marL="0">
              <a:lnSpc>
                <a:spcPct val="104000"/>
              </a:lnSpc>
              <a:buNone/>
            </a:pPr>
            <a:r>
              <a:rPr lang="en-US" sz="1200" dirty="0">
                <a:solidFill>
                  <a:srgbClr val="FFFFFF"/>
                </a:solidFill>
                <a:latin typeface="Mona Sans SemiBold" pitchFamily="34" charset="0"/>
                <a:ea typeface="Mona Sans SemiBold" pitchFamily="34" charset="-122"/>
                <a:cs typeface="Mona Sans SemiBold" pitchFamily="34" charset="-120"/>
              </a:rPr>
              <a:t> Agriculture</a:t>
            </a:r>
            <a:endParaRPr lang="en-US" sz="1200" dirty="0"/>
          </a:p>
        </p:txBody>
      </p:sp>
      <p:sp>
        <p:nvSpPr>
          <p:cNvPr id="13" name="Text 11"/>
          <p:cNvSpPr/>
          <p:nvPr/>
        </p:nvSpPr>
        <p:spPr>
          <a:xfrm>
            <a:off x="624855" y="2650182"/>
            <a:ext cx="3764161" cy="372070"/>
          </a:xfrm>
          <a:prstGeom prst="rect">
            <a:avLst/>
          </a:prstGeom>
          <a:noFill/>
          <a:ln/>
        </p:spPr>
        <p:txBody>
          <a:bodyPr wrap="square" lIns="0" tIns="0" rIns="0" bIns="0" rtlCol="0" anchor="t">
            <a:normAutofit/>
          </a:bodyPr>
          <a:lstStyle/>
          <a:p>
            <a:pPr algn="l" indent="0" marL="0">
              <a:lnSpc>
                <a:spcPct val="125000"/>
              </a:lnSpc>
              <a:buNone/>
            </a:pPr>
            <a:r>
              <a:rPr lang="en-US" sz="950" dirty="0">
                <a:solidFill>
                  <a:srgbClr val="FFFFFF"/>
                </a:solidFill>
                <a:latin typeface="Funnel Sans" pitchFamily="34" charset="0"/>
                <a:ea typeface="Funnel Sans" pitchFamily="34" charset="-122"/>
                <a:cs typeface="Funnel Sans" pitchFamily="34" charset="-120"/>
              </a:rPr>
              <a:t>Livestock produce </a:t>
            </a:r>
            <a:pPr algn="l" indent="0" marL="0">
              <a:lnSpc>
                <a:spcPct val="125000"/>
              </a:lnSpc>
              <a:buNone/>
            </a:pPr>
            <a:r>
              <a:rPr lang="en-US" sz="950" b="1" dirty="0">
                <a:solidFill>
                  <a:srgbClr val="FFFFFF"/>
                </a:solidFill>
                <a:latin typeface="Funnel Sans" pitchFamily="34" charset="0"/>
                <a:ea typeface="Funnel Sans" pitchFamily="34" charset="-122"/>
                <a:cs typeface="Funnel Sans" pitchFamily="34" charset="-120"/>
              </a:rPr>
              <a:t>methane</a:t>
            </a:r>
            <a:pPr algn="l" indent="0" marL="0">
              <a:lnSpc>
                <a:spcPct val="125000"/>
              </a:lnSpc>
              <a:buNone/>
            </a:pPr>
            <a:r>
              <a:rPr lang="en-US" sz="950" dirty="0">
                <a:solidFill>
                  <a:srgbClr val="FFFFFF"/>
                </a:solidFill>
                <a:latin typeface="Funnel Sans" pitchFamily="34" charset="0"/>
                <a:ea typeface="Funnel Sans" pitchFamily="34" charset="-122"/>
                <a:cs typeface="Funnel Sans" pitchFamily="34" charset="-120"/>
              </a:rPr>
              <a:t>, a greenhouse gas 25× more powerful than CO₂.</a:t>
            </a:r>
            <a:endParaRPr lang="en-US" sz="950" dirty="0"/>
          </a:p>
        </p:txBody>
      </p:sp>
      <p:sp>
        <p:nvSpPr>
          <p:cNvPr id="14" name="Shape 12"/>
          <p:cNvSpPr/>
          <p:nvPr/>
        </p:nvSpPr>
        <p:spPr>
          <a:xfrm>
            <a:off x="4626248" y="2257723"/>
            <a:ext cx="4021634" cy="893266"/>
          </a:xfrm>
          <a:prstGeom prst="roundRect">
            <a:avLst>
              <a:gd name="adj" fmla="val 5832"/>
            </a:avLst>
          </a:prstGeom>
          <a:solidFill>
            <a:srgbClr val="404040"/>
          </a:solidFill>
          <a:ln w="4763">
            <a:solidFill>
              <a:srgbClr val="595959"/>
            </a:solidFill>
            <a:prstDash val="solid"/>
          </a:ln>
        </p:spPr>
      </p:sp>
      <p:sp>
        <p:nvSpPr>
          <p:cNvPr id="15" name="Text 13"/>
          <p:cNvSpPr/>
          <p:nvPr/>
        </p:nvSpPr>
        <p:spPr>
          <a:xfrm>
            <a:off x="4754984" y="2386459"/>
            <a:ext cx="1550566" cy="198611"/>
          </a:xfrm>
          <a:prstGeom prst="rect">
            <a:avLst/>
          </a:prstGeom>
          <a:noFill/>
          <a:ln/>
        </p:spPr>
        <p:txBody>
          <a:bodyPr wrap="none" lIns="0" tIns="0" rIns="0" bIns="0" rtlCol="0" anchor="t"/>
          <a:lstStyle/>
          <a:p>
            <a:pPr algn="l" indent="0" marL="0">
              <a:lnSpc>
                <a:spcPct val="104000"/>
              </a:lnSpc>
              <a:buNone/>
            </a:pPr>
            <a:r>
              <a:rPr lang="en-US" sz="1200" dirty="0">
                <a:solidFill>
                  <a:srgbClr val="000000"/>
                </a:solidFill>
                <a:latin typeface="Mona Sans SemiBold" pitchFamily="34" charset="0"/>
                <a:ea typeface="Mona Sans SemiBold" pitchFamily="34" charset="-122"/>
                <a:cs typeface="Mona Sans SemiBold" pitchFamily="34" charset="-120"/>
              </a:rPr>
              <a:t>🚗</a:t>
            </a:r>
            <a:pPr algn="l" indent="0" marL="0">
              <a:lnSpc>
                <a:spcPct val="104000"/>
              </a:lnSpc>
              <a:buNone/>
            </a:pPr>
            <a:r>
              <a:rPr lang="en-US" sz="1200" dirty="0">
                <a:solidFill>
                  <a:srgbClr val="FFFFFF"/>
                </a:solidFill>
                <a:latin typeface="Mona Sans SemiBold" pitchFamily="34" charset="0"/>
                <a:ea typeface="Mona Sans SemiBold" pitchFamily="34" charset="-122"/>
                <a:cs typeface="Mona Sans SemiBold" pitchFamily="34" charset="-120"/>
              </a:rPr>
              <a:t> Transportation</a:t>
            </a:r>
            <a:endParaRPr lang="en-US" sz="1200" dirty="0"/>
          </a:p>
        </p:txBody>
      </p:sp>
      <p:sp>
        <p:nvSpPr>
          <p:cNvPr id="16" name="Text 14"/>
          <p:cNvSpPr/>
          <p:nvPr/>
        </p:nvSpPr>
        <p:spPr>
          <a:xfrm>
            <a:off x="4754984" y="2650182"/>
            <a:ext cx="3764161" cy="372070"/>
          </a:xfrm>
          <a:prstGeom prst="rect">
            <a:avLst/>
          </a:prstGeom>
          <a:noFill/>
          <a:ln/>
        </p:spPr>
        <p:txBody>
          <a:bodyPr wrap="square" lIns="0" tIns="0" rIns="0" bIns="0" rtlCol="0" anchor="t">
            <a:normAutofit/>
          </a:bodyPr>
          <a:lstStyle/>
          <a:p>
            <a:pPr algn="l" indent="0" marL="0">
              <a:lnSpc>
                <a:spcPct val="125000"/>
              </a:lnSpc>
              <a:buNone/>
            </a:pPr>
            <a:r>
              <a:rPr lang="en-US" sz="950" dirty="0">
                <a:solidFill>
                  <a:srgbClr val="FFFFFF"/>
                </a:solidFill>
                <a:latin typeface="Funnel Sans" pitchFamily="34" charset="0"/>
                <a:ea typeface="Funnel Sans" pitchFamily="34" charset="-122"/>
                <a:cs typeface="Funnel Sans" pitchFamily="34" charset="-120"/>
              </a:rPr>
              <a:t>Cars, trucks, ships, and planes account for nearly </a:t>
            </a:r>
            <a:pPr algn="l" indent="0" marL="0">
              <a:lnSpc>
                <a:spcPct val="125000"/>
              </a:lnSpc>
              <a:buNone/>
            </a:pPr>
            <a:r>
              <a:rPr lang="en-US" sz="950" b="1" dirty="0">
                <a:solidFill>
                  <a:srgbClr val="FFFFFF"/>
                </a:solidFill>
                <a:latin typeface="Funnel Sans" pitchFamily="34" charset="0"/>
                <a:ea typeface="Funnel Sans" pitchFamily="34" charset="-122"/>
                <a:cs typeface="Funnel Sans" pitchFamily="34" charset="-120"/>
              </a:rPr>
              <a:t>16%</a:t>
            </a:r>
            <a:pPr algn="l" indent="0" marL="0">
              <a:lnSpc>
                <a:spcPct val="125000"/>
              </a:lnSpc>
              <a:buNone/>
            </a:pPr>
            <a:r>
              <a:rPr lang="en-US" sz="950" dirty="0">
                <a:solidFill>
                  <a:srgbClr val="FFFFFF"/>
                </a:solidFill>
                <a:latin typeface="Funnel Sans" pitchFamily="34" charset="0"/>
                <a:ea typeface="Funnel Sans" pitchFamily="34" charset="-122"/>
                <a:cs typeface="Funnel Sans" pitchFamily="34" charset="-120"/>
              </a:rPr>
              <a:t> of global emissions.</a:t>
            </a:r>
            <a:endParaRPr lang="en-US" sz="950" dirty="0"/>
          </a:p>
        </p:txBody>
      </p:sp>
      <p:sp>
        <p:nvSpPr>
          <p:cNvPr id="17" name="Text 15"/>
          <p:cNvSpPr/>
          <p:nvPr/>
        </p:nvSpPr>
        <p:spPr>
          <a:xfrm>
            <a:off x="496119" y="3273028"/>
            <a:ext cx="8608963" cy="186035"/>
          </a:xfrm>
          <a:prstGeom prst="rect">
            <a:avLst/>
          </a:prstGeom>
          <a:noFill/>
          <a:ln/>
        </p:spPr>
        <p:txBody>
          <a:bodyPr wrap="none" lIns="0" tIns="0" rIns="0" bIns="0" rtlCol="0" anchor="t"/>
          <a:lstStyle/>
          <a:p>
            <a:pPr algn="l" indent="0" marL="0">
              <a:lnSpc>
                <a:spcPct val="125000"/>
              </a:lnSpc>
              <a:buNone/>
            </a:pPr>
            <a:r>
              <a:rPr lang="en-US" sz="950" i="1" dirty="0">
                <a:solidFill>
                  <a:srgbClr val="8F8F8F"/>
                </a:solidFill>
                <a:latin typeface="Funnel Sans" pitchFamily="34" charset="0"/>
                <a:ea typeface="Funnel Sans" pitchFamily="34" charset="-122"/>
                <a:cs typeface="Funnel Sans" pitchFamily="34" charset="-120"/>
              </a:rPr>
              <a:t>Source: IPCC Sixth Assessment Report, 2021</a:t>
            </a:r>
            <a:endParaRPr lang="en-US" sz="950" dirty="0"/>
          </a:p>
        </p:txBody>
      </p:sp>
      <p:sp>
        <p:nvSpPr>
          <p:cNvPr id="18" name="Shape 16"/>
          <p:cNvSpPr/>
          <p:nvPr/>
        </p:nvSpPr>
        <p:spPr>
          <a:xfrm>
            <a:off x="496119" y="3581102"/>
            <a:ext cx="8151763" cy="1001316"/>
          </a:xfrm>
          <a:prstGeom prst="roundRect">
            <a:avLst>
              <a:gd name="adj" fmla="val 5203"/>
            </a:avLst>
          </a:prstGeom>
          <a:solidFill>
            <a:srgbClr val="262626"/>
          </a:solidFill>
          <a:ln/>
        </p:spPr>
      </p:sp>
      <p:pic>
        <p:nvPicPr>
          <p:cNvPr id="19" name="Image 0" descr="preencoded.png">    </p:cNvPr>
          <p:cNvPicPr>
            <a:picLocks noChangeAspect="1"/>
          </p:cNvPicPr>
          <p:nvPr/>
        </p:nvPicPr>
        <p:blipFill>
          <a:blip r:embed="rId1"/>
          <a:stretch>
            <a:fillRect/>
          </a:stretch>
        </p:blipFill>
        <p:spPr>
          <a:xfrm>
            <a:off x="620092" y="3756124"/>
            <a:ext cx="155004" cy="123974"/>
          </a:xfrm>
          <a:prstGeom prst="rect">
            <a:avLst/>
          </a:prstGeom>
        </p:spPr>
      </p:pic>
      <p:sp>
        <p:nvSpPr>
          <p:cNvPr id="20" name="Text 17"/>
          <p:cNvSpPr/>
          <p:nvPr/>
        </p:nvSpPr>
        <p:spPr>
          <a:xfrm>
            <a:off x="899071" y="3709690"/>
            <a:ext cx="7624837" cy="744141"/>
          </a:xfrm>
          <a:prstGeom prst="rect">
            <a:avLst/>
          </a:prstGeom>
          <a:noFill/>
          <a:ln/>
        </p:spPr>
        <p:txBody>
          <a:bodyPr wrap="square" lIns="0" tIns="0" rIns="0" bIns="0" rtlCol="0" anchor="t">
            <a:normAutofit/>
          </a:bodyPr>
          <a:lstStyle/>
          <a:p>
            <a:pPr algn="l" indent="0" marL="0">
              <a:lnSpc>
                <a:spcPct val="125000"/>
              </a:lnSpc>
              <a:buNone/>
            </a:pPr>
            <a:r>
              <a:rPr lang="en-US" sz="950" b="1" dirty="0">
                <a:solidFill>
                  <a:srgbClr val="FFFFFF"/>
                </a:solidFill>
                <a:latin typeface="Funnel Sans" pitchFamily="34" charset="0"/>
                <a:ea typeface="Funnel Sans" pitchFamily="34" charset="-122"/>
                <a:cs typeface="Funnel Sans" pitchFamily="34" charset="-120"/>
              </a:rPr>
              <a:t>Speaker Notes:</a:t>
            </a:r>
            <a:pPr algn="l" indent="0" marL="0">
              <a:lnSpc>
                <a:spcPct val="125000"/>
              </a:lnSpc>
              <a:buNone/>
            </a:pPr>
            <a:r>
              <a:rPr lang="en-US" sz="950" dirty="0">
                <a:solidFill>
                  <a:srgbClr val="FFFFFF"/>
                </a:solidFill>
                <a:latin typeface="Funnel Sans" pitchFamily="34" charset="0"/>
                <a:ea typeface="Funnel Sans" pitchFamily="34" charset="-122"/>
                <a:cs typeface="Funnel Sans" pitchFamily="34" charset="-120"/>
              </a:rPr>
              <a:t> Walk through each driver one at a time. Fossil fuels are the dominant cause — about 75% of global CO₂ comes from burning them. Deforestation is especially significant in the Amazon and Southeast Asia. For agriculture, note that methane comes from livestock digestion and rice paddies. Transportation is a major contributor in developed countries. Ask students: Which of these do you interact with every day? This makes the issue personal and relatable.</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674489" y="426765"/>
            <a:ext cx="749945" cy="197644"/>
          </a:xfrm>
          <a:prstGeom prst="roundRect">
            <a:avLst>
              <a:gd name="adj" fmla="val 19205"/>
            </a:avLst>
          </a:prstGeom>
          <a:solidFill>
            <a:srgbClr val="262626"/>
          </a:solidFill>
          <a:ln/>
        </p:spPr>
      </p:sp>
      <p:sp>
        <p:nvSpPr>
          <p:cNvPr id="3" name="Text 1"/>
          <p:cNvSpPr/>
          <p:nvPr/>
        </p:nvSpPr>
        <p:spPr>
          <a:xfrm>
            <a:off x="742206" y="460623"/>
            <a:ext cx="1071711" cy="129927"/>
          </a:xfrm>
          <a:prstGeom prst="rect">
            <a:avLst/>
          </a:prstGeom>
          <a:noFill/>
          <a:ln/>
        </p:spPr>
        <p:txBody>
          <a:bodyPr wrap="none" lIns="0" tIns="0" rIns="0" bIns="0" rtlCol="0" anchor="t"/>
          <a:lstStyle/>
          <a:p>
            <a:pPr algn="l" indent="0" marL="0">
              <a:lnSpc>
                <a:spcPct val="120000"/>
              </a:lnSpc>
              <a:buNone/>
            </a:pPr>
            <a:r>
              <a:rPr lang="en-US" sz="700" dirty="0">
                <a:solidFill>
                  <a:srgbClr val="8F8F8F"/>
                </a:solidFill>
                <a:latin typeface="Funnel Sans" pitchFamily="34" charset="0"/>
                <a:ea typeface="Funnel Sans" pitchFamily="34" charset="-122"/>
                <a:cs typeface="Funnel Sans" pitchFamily="34" charset="-120"/>
              </a:rPr>
              <a:t>THE EVIDENCE</a:t>
            </a:r>
            <a:endParaRPr lang="en-US" sz="700" dirty="0"/>
          </a:p>
        </p:txBody>
      </p:sp>
      <p:sp>
        <p:nvSpPr>
          <p:cNvPr id="4" name="Text 2"/>
          <p:cNvSpPr/>
          <p:nvPr/>
        </p:nvSpPr>
        <p:spPr>
          <a:xfrm>
            <a:off x="674489" y="660350"/>
            <a:ext cx="3526929" cy="352946"/>
          </a:xfrm>
          <a:prstGeom prst="rect">
            <a:avLst/>
          </a:prstGeom>
          <a:noFill/>
          <a:ln/>
        </p:spPr>
        <p:txBody>
          <a:bodyPr wrap="none" lIns="0" tIns="0" rIns="0" bIns="0" rtlCol="0" anchor="t"/>
          <a:lstStyle/>
          <a:p>
            <a:pPr algn="l" indent="0" marL="0">
              <a:lnSpc>
                <a:spcPct val="104000"/>
              </a:lnSpc>
              <a:buNone/>
            </a:pPr>
            <a:r>
              <a:rPr lang="en-US" sz="2200" dirty="0">
                <a:solidFill>
                  <a:srgbClr val="DDDDDD"/>
                </a:solidFill>
                <a:latin typeface="Mona Sans SemiBold" pitchFamily="34" charset="0"/>
                <a:ea typeface="Mona Sans SemiBold" pitchFamily="34" charset="-122"/>
                <a:cs typeface="Mona Sans SemiBold" pitchFamily="34" charset="-120"/>
              </a:rPr>
              <a:t>The Numbers Don't Lie</a:t>
            </a:r>
            <a:endParaRPr lang="en-US" sz="2200" dirty="0"/>
          </a:p>
        </p:txBody>
      </p:sp>
      <p:sp>
        <p:nvSpPr>
          <p:cNvPr id="5" name="Text 3"/>
          <p:cNvSpPr/>
          <p:nvPr/>
        </p:nvSpPr>
        <p:spPr>
          <a:xfrm>
            <a:off x="674489" y="1204764"/>
            <a:ext cx="3841179" cy="372814"/>
          </a:xfrm>
          <a:prstGeom prst="rect">
            <a:avLst/>
          </a:prstGeom>
          <a:noFill/>
          <a:ln/>
        </p:spPr>
        <p:txBody>
          <a:bodyPr wrap="none" lIns="0" tIns="0" rIns="0" bIns="0" rtlCol="0" anchor="t"/>
          <a:lstStyle/>
          <a:p>
            <a:pPr algn="ctr" indent="0" marL="0">
              <a:lnSpc>
                <a:spcPct val="83000"/>
              </a:lnSpc>
              <a:buNone/>
            </a:pPr>
            <a:r>
              <a:rPr lang="en-US" sz="2900" dirty="0">
                <a:solidFill>
                  <a:srgbClr val="8F8F8F"/>
                </a:solidFill>
                <a:latin typeface="Mona Sans SemiBold" pitchFamily="34" charset="0"/>
                <a:ea typeface="Mona Sans SemiBold" pitchFamily="34" charset="-122"/>
                <a:cs typeface="Mona Sans SemiBold" pitchFamily="34" charset="-120"/>
              </a:rPr>
              <a:t>1.2°C</a:t>
            </a:r>
            <a:endParaRPr lang="en-US" sz="2900" dirty="0"/>
          </a:p>
        </p:txBody>
      </p:sp>
      <p:sp>
        <p:nvSpPr>
          <p:cNvPr id="6" name="Text 4"/>
          <p:cNvSpPr/>
          <p:nvPr/>
        </p:nvSpPr>
        <p:spPr>
          <a:xfrm>
            <a:off x="1889001" y="1701552"/>
            <a:ext cx="1412081" cy="176510"/>
          </a:xfrm>
          <a:prstGeom prst="rect">
            <a:avLst/>
          </a:prstGeom>
          <a:noFill/>
          <a:ln/>
        </p:spPr>
        <p:txBody>
          <a:bodyPr wrap="none" lIns="0" tIns="0" rIns="0" bIns="0" rtlCol="0" anchor="t"/>
          <a:lstStyle/>
          <a:p>
            <a:pPr algn="ctr" indent="0" marL="0">
              <a:lnSpc>
                <a:spcPct val="104000"/>
              </a:lnSpc>
              <a:buNone/>
            </a:pPr>
            <a:r>
              <a:rPr lang="en-US" sz="1100" dirty="0">
                <a:solidFill>
                  <a:srgbClr val="8F8F8F"/>
                </a:solidFill>
                <a:latin typeface="Mona Sans SemiBold" pitchFamily="34" charset="0"/>
                <a:ea typeface="Mona Sans SemiBold" pitchFamily="34" charset="-122"/>
                <a:cs typeface="Mona Sans SemiBold" pitchFamily="34" charset="-120"/>
              </a:rPr>
              <a:t>Temperature Rise</a:t>
            </a:r>
            <a:endParaRPr lang="en-US" sz="1100" dirty="0"/>
          </a:p>
        </p:txBody>
      </p:sp>
      <p:sp>
        <p:nvSpPr>
          <p:cNvPr id="7" name="Text 5"/>
          <p:cNvSpPr/>
          <p:nvPr/>
        </p:nvSpPr>
        <p:spPr>
          <a:xfrm>
            <a:off x="674489" y="1932012"/>
            <a:ext cx="3841179" cy="162371"/>
          </a:xfrm>
          <a:prstGeom prst="rect">
            <a:avLst/>
          </a:prstGeom>
          <a:noFill/>
          <a:ln/>
        </p:spPr>
        <p:txBody>
          <a:bodyPr wrap="none" lIns="0" tIns="0" rIns="0" bIns="0" rtlCol="0" anchor="t"/>
          <a:lstStyle/>
          <a:p>
            <a:pPr algn="ctr" indent="0" marL="0">
              <a:lnSpc>
                <a:spcPct val="120000"/>
              </a:lnSpc>
              <a:buNone/>
            </a:pPr>
            <a:r>
              <a:rPr lang="en-US" sz="850" dirty="0">
                <a:solidFill>
                  <a:srgbClr val="8F8F8F"/>
                </a:solidFill>
                <a:latin typeface="Funnel Sans" pitchFamily="34" charset="0"/>
                <a:ea typeface="Funnel Sans" pitchFamily="34" charset="-122"/>
                <a:cs typeface="Funnel Sans" pitchFamily="34" charset="-120"/>
              </a:rPr>
              <a:t>Global average temperature increase since pre-industrial times</a:t>
            </a:r>
            <a:endParaRPr lang="en-US" sz="850" dirty="0"/>
          </a:p>
        </p:txBody>
      </p:sp>
      <p:sp>
        <p:nvSpPr>
          <p:cNvPr id="8" name="Text 6"/>
          <p:cNvSpPr/>
          <p:nvPr/>
        </p:nvSpPr>
        <p:spPr>
          <a:xfrm>
            <a:off x="4628183" y="1204764"/>
            <a:ext cx="3841254" cy="372814"/>
          </a:xfrm>
          <a:prstGeom prst="rect">
            <a:avLst/>
          </a:prstGeom>
          <a:noFill/>
          <a:ln/>
        </p:spPr>
        <p:txBody>
          <a:bodyPr wrap="none" lIns="0" tIns="0" rIns="0" bIns="0" rtlCol="0" anchor="t"/>
          <a:lstStyle/>
          <a:p>
            <a:pPr algn="ctr" indent="0" marL="0">
              <a:lnSpc>
                <a:spcPct val="83000"/>
              </a:lnSpc>
              <a:buNone/>
            </a:pPr>
            <a:r>
              <a:rPr lang="en-US" sz="2900" dirty="0">
                <a:solidFill>
                  <a:srgbClr val="8F8F8F"/>
                </a:solidFill>
                <a:latin typeface="Mona Sans SemiBold" pitchFamily="34" charset="0"/>
                <a:ea typeface="Mona Sans SemiBold" pitchFamily="34" charset="-122"/>
                <a:cs typeface="Mona Sans SemiBold" pitchFamily="34" charset="-120"/>
              </a:rPr>
              <a:t>420ppm</a:t>
            </a:r>
            <a:endParaRPr lang="en-US" sz="2900" dirty="0"/>
          </a:p>
        </p:txBody>
      </p:sp>
      <p:sp>
        <p:nvSpPr>
          <p:cNvPr id="9" name="Text 7"/>
          <p:cNvSpPr/>
          <p:nvPr/>
        </p:nvSpPr>
        <p:spPr>
          <a:xfrm>
            <a:off x="5842769" y="1701552"/>
            <a:ext cx="1412081" cy="176510"/>
          </a:xfrm>
          <a:prstGeom prst="rect">
            <a:avLst/>
          </a:prstGeom>
          <a:noFill/>
          <a:ln/>
        </p:spPr>
        <p:txBody>
          <a:bodyPr wrap="none" lIns="0" tIns="0" rIns="0" bIns="0" rtlCol="0" anchor="t"/>
          <a:lstStyle/>
          <a:p>
            <a:pPr algn="ctr" indent="0" marL="0">
              <a:lnSpc>
                <a:spcPct val="104000"/>
              </a:lnSpc>
              <a:buNone/>
            </a:pPr>
            <a:r>
              <a:rPr lang="en-US" sz="1100" dirty="0">
                <a:solidFill>
                  <a:srgbClr val="8F8F8F"/>
                </a:solidFill>
                <a:latin typeface="Mona Sans SemiBold" pitchFamily="34" charset="0"/>
                <a:ea typeface="Mona Sans SemiBold" pitchFamily="34" charset="-122"/>
                <a:cs typeface="Mona Sans SemiBold" pitchFamily="34" charset="-120"/>
              </a:rPr>
              <a:t>CO₂ Concentration</a:t>
            </a:r>
            <a:endParaRPr lang="en-US" sz="1100" dirty="0"/>
          </a:p>
        </p:txBody>
      </p:sp>
      <p:sp>
        <p:nvSpPr>
          <p:cNvPr id="10" name="Text 8"/>
          <p:cNvSpPr/>
          <p:nvPr/>
        </p:nvSpPr>
        <p:spPr>
          <a:xfrm>
            <a:off x="4628183" y="1932012"/>
            <a:ext cx="3841254" cy="162371"/>
          </a:xfrm>
          <a:prstGeom prst="rect">
            <a:avLst/>
          </a:prstGeom>
          <a:noFill/>
          <a:ln/>
        </p:spPr>
        <p:txBody>
          <a:bodyPr wrap="none" lIns="0" tIns="0" rIns="0" bIns="0" rtlCol="0" anchor="t"/>
          <a:lstStyle/>
          <a:p>
            <a:pPr algn="ctr" indent="0" marL="0">
              <a:lnSpc>
                <a:spcPct val="120000"/>
              </a:lnSpc>
              <a:buNone/>
            </a:pPr>
            <a:r>
              <a:rPr lang="en-US" sz="850" dirty="0">
                <a:solidFill>
                  <a:srgbClr val="8F8F8F"/>
                </a:solidFill>
                <a:latin typeface="Funnel Sans" pitchFamily="34" charset="0"/>
                <a:ea typeface="Funnel Sans" pitchFamily="34" charset="-122"/>
                <a:cs typeface="Funnel Sans" pitchFamily="34" charset="-120"/>
              </a:rPr>
              <a:t>Highest level in over </a:t>
            </a:r>
            <a:pPr algn="ctr" indent="0" marL="0">
              <a:lnSpc>
                <a:spcPct val="120000"/>
              </a:lnSpc>
              <a:buNone/>
            </a:pPr>
            <a:r>
              <a:rPr lang="en-US" sz="850" b="1" dirty="0">
                <a:solidFill>
                  <a:srgbClr val="8F8F8F"/>
                </a:solidFill>
                <a:latin typeface="Funnel Sans" pitchFamily="34" charset="0"/>
                <a:ea typeface="Funnel Sans" pitchFamily="34" charset="-122"/>
                <a:cs typeface="Funnel Sans" pitchFamily="34" charset="-120"/>
              </a:rPr>
              <a:t>800,000 years</a:t>
            </a:r>
            <a:endParaRPr lang="en-US" sz="850" dirty="0"/>
          </a:p>
        </p:txBody>
      </p:sp>
      <p:sp>
        <p:nvSpPr>
          <p:cNvPr id="11" name="Text 9"/>
          <p:cNvSpPr/>
          <p:nvPr/>
        </p:nvSpPr>
        <p:spPr>
          <a:xfrm>
            <a:off x="674489" y="2330872"/>
            <a:ext cx="3841179" cy="372814"/>
          </a:xfrm>
          <a:prstGeom prst="rect">
            <a:avLst/>
          </a:prstGeom>
          <a:noFill/>
          <a:ln/>
        </p:spPr>
        <p:txBody>
          <a:bodyPr wrap="none" lIns="0" tIns="0" rIns="0" bIns="0" rtlCol="0" anchor="t"/>
          <a:lstStyle/>
          <a:p>
            <a:pPr algn="ctr" indent="0" marL="0">
              <a:lnSpc>
                <a:spcPct val="83000"/>
              </a:lnSpc>
              <a:buNone/>
            </a:pPr>
            <a:r>
              <a:rPr lang="en-US" sz="2900" dirty="0">
                <a:solidFill>
                  <a:srgbClr val="8F8F8F"/>
                </a:solidFill>
                <a:latin typeface="Mona Sans SemiBold" pitchFamily="34" charset="0"/>
                <a:ea typeface="Mona Sans SemiBold" pitchFamily="34" charset="-122"/>
                <a:cs typeface="Mona Sans SemiBold" pitchFamily="34" charset="-120"/>
              </a:rPr>
              <a:t>3.7mm</a:t>
            </a:r>
            <a:endParaRPr lang="en-US" sz="2900" dirty="0"/>
          </a:p>
        </p:txBody>
      </p:sp>
      <p:sp>
        <p:nvSpPr>
          <p:cNvPr id="12" name="Text 10"/>
          <p:cNvSpPr/>
          <p:nvPr/>
        </p:nvSpPr>
        <p:spPr>
          <a:xfrm>
            <a:off x="1889001" y="2827660"/>
            <a:ext cx="1412081" cy="176510"/>
          </a:xfrm>
          <a:prstGeom prst="rect">
            <a:avLst/>
          </a:prstGeom>
          <a:noFill/>
          <a:ln/>
        </p:spPr>
        <p:txBody>
          <a:bodyPr wrap="none" lIns="0" tIns="0" rIns="0" bIns="0" rtlCol="0" anchor="t"/>
          <a:lstStyle/>
          <a:p>
            <a:pPr algn="ctr" indent="0" marL="0">
              <a:lnSpc>
                <a:spcPct val="104000"/>
              </a:lnSpc>
              <a:buNone/>
            </a:pPr>
            <a:r>
              <a:rPr lang="en-US" sz="1100" dirty="0">
                <a:solidFill>
                  <a:srgbClr val="8F8F8F"/>
                </a:solidFill>
                <a:latin typeface="Mona Sans SemiBold" pitchFamily="34" charset="0"/>
                <a:ea typeface="Mona Sans SemiBold" pitchFamily="34" charset="-122"/>
                <a:cs typeface="Mona Sans SemiBold" pitchFamily="34" charset="-120"/>
              </a:rPr>
              <a:t>Sea Level Rise</a:t>
            </a:r>
            <a:endParaRPr lang="en-US" sz="1100" dirty="0"/>
          </a:p>
        </p:txBody>
      </p:sp>
      <p:sp>
        <p:nvSpPr>
          <p:cNvPr id="13" name="Text 11"/>
          <p:cNvSpPr/>
          <p:nvPr/>
        </p:nvSpPr>
        <p:spPr>
          <a:xfrm>
            <a:off x="674489" y="3058120"/>
            <a:ext cx="3841179" cy="162371"/>
          </a:xfrm>
          <a:prstGeom prst="rect">
            <a:avLst/>
          </a:prstGeom>
          <a:noFill/>
          <a:ln/>
        </p:spPr>
        <p:txBody>
          <a:bodyPr wrap="none" lIns="0" tIns="0" rIns="0" bIns="0" rtlCol="0" anchor="t"/>
          <a:lstStyle/>
          <a:p>
            <a:pPr algn="ctr" indent="0" marL="0">
              <a:lnSpc>
                <a:spcPct val="120000"/>
              </a:lnSpc>
              <a:buNone/>
            </a:pPr>
            <a:r>
              <a:rPr lang="en-US" sz="850" dirty="0">
                <a:solidFill>
                  <a:srgbClr val="8F8F8F"/>
                </a:solidFill>
                <a:latin typeface="Funnel Sans" pitchFamily="34" charset="0"/>
                <a:ea typeface="Funnel Sans" pitchFamily="34" charset="-122"/>
                <a:cs typeface="Funnel Sans" pitchFamily="34" charset="-120"/>
              </a:rPr>
              <a:t>Average annual rise — accelerating every decade</a:t>
            </a:r>
            <a:endParaRPr lang="en-US" sz="850" dirty="0"/>
          </a:p>
        </p:txBody>
      </p:sp>
      <p:sp>
        <p:nvSpPr>
          <p:cNvPr id="14" name="Text 12"/>
          <p:cNvSpPr/>
          <p:nvPr/>
        </p:nvSpPr>
        <p:spPr>
          <a:xfrm>
            <a:off x="4628183" y="2330872"/>
            <a:ext cx="3841254" cy="372814"/>
          </a:xfrm>
          <a:prstGeom prst="rect">
            <a:avLst/>
          </a:prstGeom>
          <a:noFill/>
          <a:ln/>
        </p:spPr>
        <p:txBody>
          <a:bodyPr wrap="none" lIns="0" tIns="0" rIns="0" bIns="0" rtlCol="0" anchor="t"/>
          <a:lstStyle/>
          <a:p>
            <a:pPr algn="ctr" indent="0" marL="0">
              <a:lnSpc>
                <a:spcPct val="83000"/>
              </a:lnSpc>
              <a:buNone/>
            </a:pPr>
            <a:r>
              <a:rPr lang="en-US" sz="2900" dirty="0">
                <a:solidFill>
                  <a:srgbClr val="8F8F8F"/>
                </a:solidFill>
                <a:latin typeface="Mona Sans SemiBold" pitchFamily="34" charset="0"/>
                <a:ea typeface="Mona Sans SemiBold" pitchFamily="34" charset="-122"/>
                <a:cs typeface="Mona Sans SemiBold" pitchFamily="34" charset="-120"/>
              </a:rPr>
              <a:t>90%</a:t>
            </a:r>
            <a:endParaRPr lang="en-US" sz="2900" dirty="0"/>
          </a:p>
        </p:txBody>
      </p:sp>
      <p:sp>
        <p:nvSpPr>
          <p:cNvPr id="15" name="Text 13"/>
          <p:cNvSpPr/>
          <p:nvPr/>
        </p:nvSpPr>
        <p:spPr>
          <a:xfrm>
            <a:off x="5842769" y="2827660"/>
            <a:ext cx="1412081" cy="176510"/>
          </a:xfrm>
          <a:prstGeom prst="rect">
            <a:avLst/>
          </a:prstGeom>
          <a:noFill/>
          <a:ln/>
        </p:spPr>
        <p:txBody>
          <a:bodyPr wrap="none" lIns="0" tIns="0" rIns="0" bIns="0" rtlCol="0" anchor="t"/>
          <a:lstStyle/>
          <a:p>
            <a:pPr algn="ctr" indent="0" marL="0">
              <a:lnSpc>
                <a:spcPct val="104000"/>
              </a:lnSpc>
              <a:buNone/>
            </a:pPr>
            <a:r>
              <a:rPr lang="en-US" sz="1100" dirty="0">
                <a:solidFill>
                  <a:srgbClr val="8F8F8F"/>
                </a:solidFill>
                <a:latin typeface="Mona Sans SemiBold" pitchFamily="34" charset="0"/>
                <a:ea typeface="Mona Sans SemiBold" pitchFamily="34" charset="-122"/>
                <a:cs typeface="Mona Sans SemiBold" pitchFamily="34" charset="-120"/>
              </a:rPr>
              <a:t>Ocean Heat</a:t>
            </a:r>
            <a:endParaRPr lang="en-US" sz="1100" dirty="0"/>
          </a:p>
        </p:txBody>
      </p:sp>
      <p:sp>
        <p:nvSpPr>
          <p:cNvPr id="16" name="Text 14"/>
          <p:cNvSpPr/>
          <p:nvPr/>
        </p:nvSpPr>
        <p:spPr>
          <a:xfrm>
            <a:off x="4628183" y="3058120"/>
            <a:ext cx="3841254" cy="162371"/>
          </a:xfrm>
          <a:prstGeom prst="rect">
            <a:avLst/>
          </a:prstGeom>
          <a:noFill/>
          <a:ln/>
        </p:spPr>
        <p:txBody>
          <a:bodyPr wrap="none" lIns="0" tIns="0" rIns="0" bIns="0" rtlCol="0" anchor="t"/>
          <a:lstStyle/>
          <a:p>
            <a:pPr algn="ctr" indent="0" marL="0">
              <a:lnSpc>
                <a:spcPct val="120000"/>
              </a:lnSpc>
              <a:buNone/>
            </a:pPr>
            <a:r>
              <a:rPr lang="en-US" sz="850" dirty="0">
                <a:solidFill>
                  <a:srgbClr val="8F8F8F"/>
                </a:solidFill>
                <a:latin typeface="Funnel Sans" pitchFamily="34" charset="0"/>
                <a:ea typeface="Funnel Sans" pitchFamily="34" charset="-122"/>
                <a:cs typeface="Funnel Sans" pitchFamily="34" charset="-120"/>
              </a:rPr>
              <a:t>Of excess heat trapped is absorbed by our oceans</a:t>
            </a:r>
            <a:endParaRPr lang="en-US" sz="850" dirty="0"/>
          </a:p>
        </p:txBody>
      </p:sp>
      <p:sp>
        <p:nvSpPr>
          <p:cNvPr id="17" name="Text 15"/>
          <p:cNvSpPr/>
          <p:nvPr/>
        </p:nvSpPr>
        <p:spPr>
          <a:xfrm>
            <a:off x="674489" y="3321695"/>
            <a:ext cx="8252147" cy="162371"/>
          </a:xfrm>
          <a:prstGeom prst="rect">
            <a:avLst/>
          </a:prstGeom>
          <a:noFill/>
          <a:ln/>
        </p:spPr>
        <p:txBody>
          <a:bodyPr wrap="none" lIns="0" tIns="0" rIns="0" bIns="0" rtlCol="0" anchor="t"/>
          <a:lstStyle/>
          <a:p>
            <a:pPr algn="l" indent="0" marL="0">
              <a:lnSpc>
                <a:spcPct val="120000"/>
              </a:lnSpc>
              <a:buNone/>
            </a:pPr>
            <a:r>
              <a:rPr lang="en-US" sz="850" i="1" dirty="0">
                <a:solidFill>
                  <a:srgbClr val="8F8F8F"/>
                </a:solidFill>
                <a:latin typeface="Funnel Sans" pitchFamily="34" charset="0"/>
                <a:ea typeface="Funnel Sans" pitchFamily="34" charset="-122"/>
                <a:cs typeface="Funnel Sans" pitchFamily="34" charset="-120"/>
              </a:rPr>
              <a:t>Sources: NASA, NOAA, IPCC AR6 (2021)</a:t>
            </a:r>
            <a:endParaRPr lang="en-US" sz="850" dirty="0"/>
          </a:p>
        </p:txBody>
      </p:sp>
      <p:sp>
        <p:nvSpPr>
          <p:cNvPr id="18" name="Shape 16"/>
          <p:cNvSpPr/>
          <p:nvPr/>
        </p:nvSpPr>
        <p:spPr>
          <a:xfrm>
            <a:off x="674489" y="3585270"/>
            <a:ext cx="7794947" cy="1030188"/>
          </a:xfrm>
          <a:prstGeom prst="roundRect">
            <a:avLst>
              <a:gd name="adj" fmla="val 4606"/>
            </a:avLst>
          </a:prstGeom>
          <a:solidFill>
            <a:srgbClr val="262626"/>
          </a:solidFill>
          <a:ln/>
        </p:spPr>
      </p:sp>
      <p:pic>
        <p:nvPicPr>
          <p:cNvPr id="19" name="Image 0" descr="preencoded.png">    </p:cNvPr>
          <p:cNvPicPr>
            <a:picLocks noChangeAspect="1"/>
          </p:cNvPicPr>
          <p:nvPr/>
        </p:nvPicPr>
        <p:blipFill>
          <a:blip r:embed="rId1"/>
          <a:stretch>
            <a:fillRect/>
          </a:stretch>
        </p:blipFill>
        <p:spPr>
          <a:xfrm>
            <a:off x="787450" y="3737074"/>
            <a:ext cx="141163" cy="112961"/>
          </a:xfrm>
          <a:prstGeom prst="rect">
            <a:avLst/>
          </a:prstGeom>
        </p:spPr>
      </p:pic>
      <p:sp>
        <p:nvSpPr>
          <p:cNvPr id="20" name="Text 17"/>
          <p:cNvSpPr/>
          <p:nvPr/>
        </p:nvSpPr>
        <p:spPr>
          <a:xfrm>
            <a:off x="1041574" y="3694435"/>
            <a:ext cx="7314902" cy="811857"/>
          </a:xfrm>
          <a:prstGeom prst="rect">
            <a:avLst/>
          </a:prstGeom>
          <a:noFill/>
          <a:ln/>
        </p:spPr>
        <p:txBody>
          <a:bodyPr wrap="square" lIns="0" tIns="0" rIns="0" bIns="0" rtlCol="0" anchor="t">
            <a:normAutofit/>
          </a:bodyPr>
          <a:lstStyle/>
          <a:p>
            <a:pPr algn="l" indent="0" marL="0">
              <a:lnSpc>
                <a:spcPct val="120000"/>
              </a:lnSpc>
              <a:buNone/>
            </a:pPr>
            <a:r>
              <a:rPr lang="en-US" sz="850" b="1" dirty="0">
                <a:solidFill>
                  <a:srgbClr val="FFFFFF"/>
                </a:solidFill>
                <a:latin typeface="Funnel Sans" pitchFamily="34" charset="0"/>
                <a:ea typeface="Funnel Sans" pitchFamily="34" charset="-122"/>
                <a:cs typeface="Funnel Sans" pitchFamily="34" charset="-120"/>
              </a:rPr>
              <a:t>Speaker Notes:</a:t>
            </a:r>
            <a:pPr algn="l" indent="0" marL="0">
              <a:lnSpc>
                <a:spcPct val="120000"/>
              </a:lnSpc>
              <a:buNone/>
            </a:pPr>
            <a:r>
              <a:rPr lang="en-US" sz="850" dirty="0">
                <a:solidFill>
                  <a:srgbClr val="FFFFFF"/>
                </a:solidFill>
                <a:latin typeface="Funnel Sans" pitchFamily="34" charset="0"/>
                <a:ea typeface="Funnel Sans" pitchFamily="34" charset="-122"/>
                <a:cs typeface="Funnel Sans" pitchFamily="34" charset="-120"/>
              </a:rPr>
              <a:t> These four numbers tell the story of climate change in data form. 1.2°C may sound small, but on a global scale, it represents an enormous amount of energy. For context, the difference between today and the last Ice Age was only about 5°C. CO₂ at 420 ppm is unprecedented in human history — previous peaks were around 300 ppm. Sea level rise seems slow but is accelerating, threatening coastal communities. The ocean absorbing 90% of heat explains why marine ecosystems are under such stress. Consider asking: Which of these numbers surprises you most?</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96119" y="394320"/>
            <a:ext cx="776511" cy="228451"/>
          </a:xfrm>
          <a:prstGeom prst="roundRect">
            <a:avLst>
              <a:gd name="adj" fmla="val 18570"/>
            </a:avLst>
          </a:prstGeom>
          <a:solidFill>
            <a:srgbClr val="262626"/>
          </a:solidFill>
          <a:ln/>
        </p:spPr>
      </p:sp>
      <p:sp>
        <p:nvSpPr>
          <p:cNvPr id="3" name="Text 1"/>
          <p:cNvSpPr/>
          <p:nvPr/>
        </p:nvSpPr>
        <p:spPr>
          <a:xfrm>
            <a:off x="571872" y="432197"/>
            <a:ext cx="1082204" cy="152698"/>
          </a:xfrm>
          <a:prstGeom prst="rect">
            <a:avLst/>
          </a:prstGeom>
          <a:noFill/>
          <a:ln/>
        </p:spPr>
        <p:txBody>
          <a:bodyPr wrap="none" lIns="0" tIns="0" rIns="0" bIns="0" rtlCol="0" anchor="t"/>
          <a:lstStyle/>
          <a:p>
            <a:pPr algn="l" indent="0" marL="0">
              <a:lnSpc>
                <a:spcPct val="126000"/>
              </a:lnSpc>
              <a:buNone/>
            </a:pPr>
            <a:r>
              <a:rPr lang="en-US" sz="750" dirty="0">
                <a:solidFill>
                  <a:srgbClr val="8F8F8F"/>
                </a:solidFill>
                <a:latin typeface="Funnel Sans" pitchFamily="34" charset="0"/>
                <a:ea typeface="Funnel Sans" pitchFamily="34" charset="-122"/>
                <a:cs typeface="Funnel Sans" pitchFamily="34" charset="-120"/>
              </a:rPr>
              <a:t>THE IMPACTS</a:t>
            </a:r>
            <a:endParaRPr lang="en-US" sz="750" dirty="0"/>
          </a:p>
        </p:txBody>
      </p:sp>
      <p:sp>
        <p:nvSpPr>
          <p:cNvPr id="4" name="Text 2"/>
          <p:cNvSpPr/>
          <p:nvPr/>
        </p:nvSpPr>
        <p:spPr>
          <a:xfrm>
            <a:off x="496119" y="667717"/>
            <a:ext cx="5304383" cy="394543"/>
          </a:xfrm>
          <a:prstGeom prst="rect">
            <a:avLst/>
          </a:prstGeom>
          <a:noFill/>
          <a:ln/>
        </p:spPr>
        <p:txBody>
          <a:bodyPr wrap="none" lIns="0" tIns="0" rIns="0" bIns="0" rtlCol="0" anchor="t"/>
          <a:lstStyle/>
          <a:p>
            <a:pPr algn="l" indent="0" marL="0">
              <a:lnSpc>
                <a:spcPct val="104000"/>
              </a:lnSpc>
              <a:buNone/>
            </a:pPr>
            <a:r>
              <a:rPr lang="en-US" sz="2450" dirty="0">
                <a:solidFill>
                  <a:srgbClr val="DDDDDD"/>
                </a:solidFill>
                <a:latin typeface="Mona Sans SemiBold" pitchFamily="34" charset="0"/>
                <a:ea typeface="Mona Sans SemiBold" pitchFamily="34" charset="-122"/>
                <a:cs typeface="Mona Sans SemiBold" pitchFamily="34" charset="-120"/>
              </a:rPr>
              <a:t>Climate Change Is Already Here</a:t>
            </a:r>
            <a:endParaRPr lang="en-US" sz="2450" dirty="0"/>
          </a:p>
        </p:txBody>
      </p:sp>
      <p:pic>
        <p:nvPicPr>
          <p:cNvPr id="5" name="Image 0" descr="preencoded.png">    </p:cNvPr>
          <p:cNvPicPr>
            <a:picLocks noChangeAspect="1"/>
          </p:cNvPicPr>
          <p:nvPr/>
        </p:nvPicPr>
        <p:blipFill>
          <a:blip r:embed="rId1"/>
          <a:stretch>
            <a:fillRect/>
          </a:stretch>
        </p:blipFill>
        <p:spPr>
          <a:xfrm>
            <a:off x="496119" y="1230883"/>
            <a:ext cx="1521619" cy="940371"/>
          </a:xfrm>
          <a:prstGeom prst="rect">
            <a:avLst/>
          </a:prstGeom>
        </p:spPr>
      </p:pic>
      <p:sp>
        <p:nvSpPr>
          <p:cNvPr id="6" name="Text 3"/>
          <p:cNvSpPr/>
          <p:nvPr/>
        </p:nvSpPr>
        <p:spPr>
          <a:xfrm>
            <a:off x="496119" y="2311747"/>
            <a:ext cx="1903661" cy="197272"/>
          </a:xfrm>
          <a:prstGeom prst="rect">
            <a:avLst/>
          </a:prstGeom>
          <a:noFill/>
          <a:ln/>
        </p:spPr>
        <p:txBody>
          <a:bodyPr wrap="none" lIns="0" tIns="0" rIns="0" bIns="0" rtlCol="0" anchor="t"/>
          <a:lstStyle/>
          <a:p>
            <a:pPr algn="l" indent="0" marL="0">
              <a:lnSpc>
                <a:spcPct val="104000"/>
              </a:lnSpc>
              <a:buNone/>
            </a:pPr>
            <a:r>
              <a:rPr lang="en-US" sz="1200" dirty="0">
                <a:solidFill>
                  <a:srgbClr val="8F8F8F"/>
                </a:solidFill>
                <a:latin typeface="Mona Sans SemiBold" pitchFamily="34" charset="0"/>
                <a:ea typeface="Mona Sans SemiBold" pitchFamily="34" charset="-122"/>
                <a:cs typeface="Mona Sans SemiBold" pitchFamily="34" charset="-120"/>
              </a:rPr>
              <a:t>Melting Ice &amp; Rising Seas</a:t>
            </a:r>
            <a:endParaRPr lang="en-US" sz="1200" dirty="0"/>
          </a:p>
        </p:txBody>
      </p:sp>
      <p:sp>
        <p:nvSpPr>
          <p:cNvPr id="7" name="Text 4"/>
          <p:cNvSpPr/>
          <p:nvPr/>
        </p:nvSpPr>
        <p:spPr>
          <a:xfrm>
            <a:off x="496119" y="2576438"/>
            <a:ext cx="2623542" cy="381893"/>
          </a:xfrm>
          <a:prstGeom prst="rect">
            <a:avLst/>
          </a:prstGeom>
          <a:noFill/>
          <a:ln/>
        </p:spPr>
        <p:txBody>
          <a:bodyPr wrap="square" lIns="0" tIns="0" rIns="0" bIns="0" rtlCol="0" anchor="t">
            <a:normAutofit/>
          </a:bodyPr>
          <a:lstStyle/>
          <a:p>
            <a:pPr algn="l" indent="0" marL="0">
              <a:lnSpc>
                <a:spcPct val="126000"/>
              </a:lnSpc>
              <a:buNone/>
            </a:pPr>
            <a:r>
              <a:rPr lang="en-US" sz="950" dirty="0">
                <a:solidFill>
                  <a:srgbClr val="8F8F8F"/>
                </a:solidFill>
                <a:latin typeface="Funnel Sans" pitchFamily="34" charset="0"/>
                <a:ea typeface="Funnel Sans" pitchFamily="34" charset="-122"/>
                <a:cs typeface="Funnel Sans" pitchFamily="34" charset="-120"/>
              </a:rPr>
              <a:t>Glaciers and ice sheets are disappearing, threatening coastal cities worldwide.</a:t>
            </a:r>
            <a:endParaRPr lang="en-US" sz="950" dirty="0"/>
          </a:p>
        </p:txBody>
      </p:sp>
      <p:pic>
        <p:nvPicPr>
          <p:cNvPr id="8" name="Image 1" descr="preencoded.png">    </p:cNvPr>
          <p:cNvPicPr>
            <a:picLocks noChangeAspect="1"/>
          </p:cNvPicPr>
          <p:nvPr/>
        </p:nvPicPr>
        <p:blipFill>
          <a:blip r:embed="rId2"/>
          <a:stretch>
            <a:fillRect/>
          </a:stretch>
        </p:blipFill>
        <p:spPr>
          <a:xfrm>
            <a:off x="3260154" y="1230883"/>
            <a:ext cx="1521693" cy="940445"/>
          </a:xfrm>
          <a:prstGeom prst="rect">
            <a:avLst/>
          </a:prstGeom>
        </p:spPr>
      </p:pic>
      <p:sp>
        <p:nvSpPr>
          <p:cNvPr id="9" name="Text 5"/>
          <p:cNvSpPr/>
          <p:nvPr/>
        </p:nvSpPr>
        <p:spPr>
          <a:xfrm>
            <a:off x="3260154" y="2311822"/>
            <a:ext cx="1578248" cy="197272"/>
          </a:xfrm>
          <a:prstGeom prst="rect">
            <a:avLst/>
          </a:prstGeom>
          <a:noFill/>
          <a:ln/>
        </p:spPr>
        <p:txBody>
          <a:bodyPr wrap="none" lIns="0" tIns="0" rIns="0" bIns="0" rtlCol="0" anchor="t"/>
          <a:lstStyle/>
          <a:p>
            <a:pPr algn="l" indent="0" marL="0">
              <a:lnSpc>
                <a:spcPct val="104000"/>
              </a:lnSpc>
              <a:buNone/>
            </a:pPr>
            <a:r>
              <a:rPr lang="en-US" sz="1200" dirty="0">
                <a:solidFill>
                  <a:srgbClr val="8F8F8F"/>
                </a:solidFill>
                <a:latin typeface="Mona Sans SemiBold" pitchFamily="34" charset="0"/>
                <a:ea typeface="Mona Sans SemiBold" pitchFamily="34" charset="-122"/>
                <a:cs typeface="Mona Sans SemiBold" pitchFamily="34" charset="-120"/>
              </a:rPr>
              <a:t>Extreme Weather</a:t>
            </a:r>
            <a:endParaRPr lang="en-US" sz="1200" dirty="0"/>
          </a:p>
        </p:txBody>
      </p:sp>
      <p:sp>
        <p:nvSpPr>
          <p:cNvPr id="10" name="Text 6"/>
          <p:cNvSpPr/>
          <p:nvPr/>
        </p:nvSpPr>
        <p:spPr>
          <a:xfrm>
            <a:off x="3260154" y="2576513"/>
            <a:ext cx="2623617" cy="381893"/>
          </a:xfrm>
          <a:prstGeom prst="rect">
            <a:avLst/>
          </a:prstGeom>
          <a:noFill/>
          <a:ln/>
        </p:spPr>
        <p:txBody>
          <a:bodyPr wrap="square" lIns="0" tIns="0" rIns="0" bIns="0" rtlCol="0" anchor="t">
            <a:normAutofit/>
          </a:bodyPr>
          <a:lstStyle/>
          <a:p>
            <a:pPr algn="l" indent="0" marL="0">
              <a:lnSpc>
                <a:spcPct val="126000"/>
              </a:lnSpc>
              <a:buNone/>
            </a:pPr>
            <a:r>
              <a:rPr lang="en-US" sz="950" dirty="0">
                <a:solidFill>
                  <a:srgbClr val="8F8F8F"/>
                </a:solidFill>
                <a:latin typeface="Funnel Sans" pitchFamily="34" charset="0"/>
                <a:ea typeface="Funnel Sans" pitchFamily="34" charset="-122"/>
                <a:cs typeface="Funnel Sans" pitchFamily="34" charset="-120"/>
              </a:rPr>
              <a:t>Heatwaves, floods, droughts, and hurricanes are becoming </a:t>
            </a:r>
            <a:pPr algn="l" indent="0" marL="0">
              <a:lnSpc>
                <a:spcPct val="126000"/>
              </a:lnSpc>
              <a:buNone/>
            </a:pPr>
            <a:r>
              <a:rPr lang="en-US" sz="950" b="1" dirty="0">
                <a:solidFill>
                  <a:srgbClr val="8F8F8F"/>
                </a:solidFill>
                <a:latin typeface="Funnel Sans" pitchFamily="34" charset="0"/>
                <a:ea typeface="Funnel Sans" pitchFamily="34" charset="-122"/>
                <a:cs typeface="Funnel Sans" pitchFamily="34" charset="-120"/>
              </a:rPr>
              <a:t>more frequent and intense</a:t>
            </a:r>
            <a:pPr algn="l" indent="0" marL="0">
              <a:lnSpc>
                <a:spcPct val="126000"/>
              </a:lnSpc>
              <a:buNone/>
            </a:pPr>
            <a:r>
              <a:rPr lang="en-US" sz="950" dirty="0">
                <a:solidFill>
                  <a:srgbClr val="8F8F8F"/>
                </a:solidFill>
                <a:latin typeface="Funnel Sans" pitchFamily="34" charset="0"/>
                <a:ea typeface="Funnel Sans" pitchFamily="34" charset="-122"/>
                <a:cs typeface="Funnel Sans" pitchFamily="34" charset="-120"/>
              </a:rPr>
              <a:t>.</a:t>
            </a:r>
            <a:endParaRPr lang="en-US" sz="950" dirty="0"/>
          </a:p>
        </p:txBody>
      </p:sp>
      <p:pic>
        <p:nvPicPr>
          <p:cNvPr id="11" name="Image 2" descr="preencoded.png">    </p:cNvPr>
          <p:cNvPicPr>
            <a:picLocks noChangeAspect="1"/>
          </p:cNvPicPr>
          <p:nvPr/>
        </p:nvPicPr>
        <p:blipFill>
          <a:blip r:embed="rId3"/>
          <a:stretch>
            <a:fillRect/>
          </a:stretch>
        </p:blipFill>
        <p:spPr>
          <a:xfrm>
            <a:off x="6024265" y="1230883"/>
            <a:ext cx="1521693" cy="940445"/>
          </a:xfrm>
          <a:prstGeom prst="rect">
            <a:avLst/>
          </a:prstGeom>
        </p:spPr>
      </p:pic>
      <p:sp>
        <p:nvSpPr>
          <p:cNvPr id="12" name="Text 7"/>
          <p:cNvSpPr/>
          <p:nvPr/>
        </p:nvSpPr>
        <p:spPr>
          <a:xfrm>
            <a:off x="6024265" y="2311822"/>
            <a:ext cx="1578248" cy="197272"/>
          </a:xfrm>
          <a:prstGeom prst="rect">
            <a:avLst/>
          </a:prstGeom>
          <a:noFill/>
          <a:ln/>
        </p:spPr>
        <p:txBody>
          <a:bodyPr wrap="none" lIns="0" tIns="0" rIns="0" bIns="0" rtlCol="0" anchor="t"/>
          <a:lstStyle/>
          <a:p>
            <a:pPr algn="l" indent="0" marL="0">
              <a:lnSpc>
                <a:spcPct val="104000"/>
              </a:lnSpc>
              <a:buNone/>
            </a:pPr>
            <a:r>
              <a:rPr lang="en-US" sz="1200" dirty="0">
                <a:solidFill>
                  <a:srgbClr val="8F8F8F"/>
                </a:solidFill>
                <a:latin typeface="Mona Sans SemiBold" pitchFamily="34" charset="0"/>
                <a:ea typeface="Mona Sans SemiBold" pitchFamily="34" charset="-122"/>
                <a:cs typeface="Mona Sans SemiBold" pitchFamily="34" charset="-120"/>
              </a:rPr>
              <a:t>Ocean Crisis</a:t>
            </a:r>
            <a:endParaRPr lang="en-US" sz="1200" dirty="0"/>
          </a:p>
        </p:txBody>
      </p:sp>
      <p:sp>
        <p:nvSpPr>
          <p:cNvPr id="13" name="Text 8"/>
          <p:cNvSpPr/>
          <p:nvPr/>
        </p:nvSpPr>
        <p:spPr>
          <a:xfrm>
            <a:off x="6024265" y="2576513"/>
            <a:ext cx="2623617" cy="381893"/>
          </a:xfrm>
          <a:prstGeom prst="rect">
            <a:avLst/>
          </a:prstGeom>
          <a:noFill/>
          <a:ln/>
        </p:spPr>
        <p:txBody>
          <a:bodyPr wrap="square" lIns="0" tIns="0" rIns="0" bIns="0" rtlCol="0" anchor="t">
            <a:normAutofit/>
          </a:bodyPr>
          <a:lstStyle/>
          <a:p>
            <a:pPr algn="l" indent="0" marL="0">
              <a:lnSpc>
                <a:spcPct val="126000"/>
              </a:lnSpc>
              <a:buNone/>
            </a:pPr>
            <a:r>
              <a:rPr lang="en-US" sz="950" dirty="0">
                <a:solidFill>
                  <a:srgbClr val="8F8F8F"/>
                </a:solidFill>
                <a:latin typeface="Funnel Sans" pitchFamily="34" charset="0"/>
                <a:ea typeface="Funnel Sans" pitchFamily="34" charset="-122"/>
                <a:cs typeface="Funnel Sans" pitchFamily="34" charset="-120"/>
              </a:rPr>
              <a:t>Warmer, more acidic oceans are destroying coral reefs and marine ecosystems.</a:t>
            </a:r>
            <a:endParaRPr lang="en-US" sz="950" dirty="0"/>
          </a:p>
        </p:txBody>
      </p:sp>
      <p:sp>
        <p:nvSpPr>
          <p:cNvPr id="14" name="Text 9"/>
          <p:cNvSpPr/>
          <p:nvPr/>
        </p:nvSpPr>
        <p:spPr>
          <a:xfrm>
            <a:off x="496119" y="3084909"/>
            <a:ext cx="8608963" cy="190946"/>
          </a:xfrm>
          <a:prstGeom prst="rect">
            <a:avLst/>
          </a:prstGeom>
          <a:noFill/>
          <a:ln/>
        </p:spPr>
        <p:txBody>
          <a:bodyPr wrap="none" lIns="0" tIns="0" rIns="0" bIns="0" rtlCol="0" anchor="t"/>
          <a:lstStyle/>
          <a:p>
            <a:pPr algn="l" indent="0" marL="0">
              <a:lnSpc>
                <a:spcPct val="126000"/>
              </a:lnSpc>
              <a:buNone/>
            </a:pPr>
            <a:r>
              <a:rPr lang="en-US" sz="950" i="1" dirty="0">
                <a:solidFill>
                  <a:srgbClr val="8F8F8F"/>
                </a:solidFill>
                <a:latin typeface="Funnel Sans" pitchFamily="34" charset="0"/>
                <a:ea typeface="Funnel Sans" pitchFamily="34" charset="-122"/>
                <a:cs typeface="Funnel Sans" pitchFamily="34" charset="-120"/>
              </a:rPr>
              <a:t>Source: IPCC Sixth Assessment Report, 2021</a:t>
            </a:r>
            <a:endParaRPr lang="en-US" sz="950" dirty="0"/>
          </a:p>
        </p:txBody>
      </p:sp>
      <p:sp>
        <p:nvSpPr>
          <p:cNvPr id="15" name="Shape 10"/>
          <p:cNvSpPr/>
          <p:nvPr/>
        </p:nvSpPr>
        <p:spPr>
          <a:xfrm>
            <a:off x="496119" y="3402360"/>
            <a:ext cx="8151763" cy="1220242"/>
          </a:xfrm>
          <a:prstGeom prst="roundRect">
            <a:avLst>
              <a:gd name="adj" fmla="val 4346"/>
            </a:avLst>
          </a:prstGeom>
          <a:solidFill>
            <a:srgbClr val="262626"/>
          </a:solidFill>
          <a:ln/>
        </p:spPr>
      </p:sp>
      <p:pic>
        <p:nvPicPr>
          <p:cNvPr id="16" name="Image 3" descr="preencoded.png">    </p:cNvPr>
          <p:cNvPicPr>
            <a:picLocks noChangeAspect="1"/>
          </p:cNvPicPr>
          <p:nvPr/>
        </p:nvPicPr>
        <p:blipFill>
          <a:blip r:embed="rId4"/>
          <a:stretch>
            <a:fillRect/>
          </a:stretch>
        </p:blipFill>
        <p:spPr>
          <a:xfrm>
            <a:off x="622325" y="3578275"/>
            <a:ext cx="157758" cy="126206"/>
          </a:xfrm>
          <a:prstGeom prst="rect">
            <a:avLst/>
          </a:prstGeom>
        </p:spPr>
      </p:pic>
      <p:sp>
        <p:nvSpPr>
          <p:cNvPr id="17" name="Text 11"/>
          <p:cNvSpPr/>
          <p:nvPr/>
        </p:nvSpPr>
        <p:spPr>
          <a:xfrm>
            <a:off x="906289" y="3535114"/>
            <a:ext cx="7615386" cy="954732"/>
          </a:xfrm>
          <a:prstGeom prst="rect">
            <a:avLst/>
          </a:prstGeom>
          <a:noFill/>
          <a:ln/>
        </p:spPr>
        <p:txBody>
          <a:bodyPr wrap="square" lIns="0" tIns="0" rIns="0" bIns="0" rtlCol="0" anchor="t">
            <a:normAutofit/>
          </a:bodyPr>
          <a:lstStyle/>
          <a:p>
            <a:pPr algn="l" indent="0" marL="0">
              <a:lnSpc>
                <a:spcPct val="126000"/>
              </a:lnSpc>
              <a:buNone/>
            </a:pPr>
            <a:r>
              <a:rPr lang="en-US" sz="950" b="1" dirty="0">
                <a:solidFill>
                  <a:srgbClr val="FFFFFF"/>
                </a:solidFill>
                <a:latin typeface="Funnel Sans" pitchFamily="34" charset="0"/>
                <a:ea typeface="Funnel Sans" pitchFamily="34" charset="-122"/>
                <a:cs typeface="Funnel Sans" pitchFamily="34" charset="-120"/>
              </a:rPr>
              <a:t>Speaker Notes:</a:t>
            </a:r>
            <a:pPr algn="l" indent="0" marL="0">
              <a:lnSpc>
                <a:spcPct val="126000"/>
              </a:lnSpc>
              <a:buNone/>
            </a:pPr>
            <a:r>
              <a:rPr lang="en-US" sz="950" dirty="0">
                <a:solidFill>
                  <a:srgbClr val="FFFFFF"/>
                </a:solidFill>
                <a:latin typeface="Funnel Sans" pitchFamily="34" charset="0"/>
                <a:ea typeface="Funnel Sans" pitchFamily="34" charset="-122"/>
                <a:cs typeface="Funnel Sans" pitchFamily="34" charset="-120"/>
              </a:rPr>
              <a:t> These are not future predictions — they are happening now. Melting ice contributes to sea level rise, which already affects places like Miami, Bangladesh, and Pacific Island nations. Extreme weather events have increased in both frequency and severity; for example, the 2023 Canadian wildfires and Pakistan floods were linked to climate change. Ocean acidification (caused by absorbed CO₂) is bleaching coral reefs — the Great Barrier Reef has suffered multiple mass bleaching events. Ask students: Have you or someone you know been affected by extreme weather?</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1515145" y="406822"/>
            <a:ext cx="709910" cy="145256"/>
          </a:xfrm>
          <a:prstGeom prst="roundRect">
            <a:avLst>
              <a:gd name="adj" fmla="val 20496"/>
            </a:avLst>
          </a:prstGeom>
          <a:solidFill>
            <a:srgbClr val="262626"/>
          </a:solidFill>
          <a:ln/>
        </p:spPr>
      </p:sp>
      <p:sp>
        <p:nvSpPr>
          <p:cNvPr id="3" name="Text 1"/>
          <p:cNvSpPr/>
          <p:nvPr/>
        </p:nvSpPr>
        <p:spPr>
          <a:xfrm>
            <a:off x="1568276" y="433388"/>
            <a:ext cx="1060847" cy="92125"/>
          </a:xfrm>
          <a:prstGeom prst="rect">
            <a:avLst/>
          </a:prstGeom>
          <a:noFill/>
          <a:ln/>
        </p:spPr>
        <p:txBody>
          <a:bodyPr wrap="none" lIns="0" tIns="0" rIns="0" bIns="0" rtlCol="0" anchor="t"/>
          <a:lstStyle/>
          <a:p>
            <a:pPr algn="l" indent="0" marL="0">
              <a:lnSpc>
                <a:spcPct val="108000"/>
              </a:lnSpc>
              <a:buNone/>
            </a:pPr>
            <a:r>
              <a:rPr lang="en-US" sz="550" dirty="0">
                <a:solidFill>
                  <a:srgbClr val="8F8F8F"/>
                </a:solidFill>
                <a:latin typeface="Funnel Sans" pitchFamily="34" charset="0"/>
                <a:ea typeface="Funnel Sans" pitchFamily="34" charset="-122"/>
                <a:cs typeface="Funnel Sans" pitchFamily="34" charset="-120"/>
              </a:rPr>
              <a:t>THE HUMAN COST</a:t>
            </a:r>
            <a:endParaRPr lang="en-US" sz="550" dirty="0"/>
          </a:p>
        </p:txBody>
      </p:sp>
      <p:sp>
        <p:nvSpPr>
          <p:cNvPr id="4" name="Text 2"/>
          <p:cNvSpPr/>
          <p:nvPr/>
        </p:nvSpPr>
        <p:spPr>
          <a:xfrm>
            <a:off x="1515145" y="574179"/>
            <a:ext cx="2844329" cy="276895"/>
          </a:xfrm>
          <a:prstGeom prst="rect">
            <a:avLst/>
          </a:prstGeom>
          <a:noFill/>
          <a:ln/>
        </p:spPr>
        <p:txBody>
          <a:bodyPr wrap="none" lIns="0" tIns="0" rIns="0" bIns="0" rtlCol="0" anchor="t"/>
          <a:lstStyle/>
          <a:p>
            <a:pPr algn="l" indent="0" marL="0">
              <a:lnSpc>
                <a:spcPct val="104000"/>
              </a:lnSpc>
              <a:buNone/>
            </a:pPr>
            <a:r>
              <a:rPr lang="en-US" sz="1700" dirty="0">
                <a:solidFill>
                  <a:srgbClr val="DDDDDD"/>
                </a:solidFill>
                <a:latin typeface="Mona Sans SemiBold" pitchFamily="34" charset="0"/>
                <a:ea typeface="Mona Sans SemiBold" pitchFamily="34" charset="-122"/>
                <a:cs typeface="Mona Sans SemiBold" pitchFamily="34" charset="-120"/>
              </a:rPr>
              <a:t>Who Is Most Affected?</a:t>
            </a:r>
            <a:endParaRPr lang="en-US" sz="1700" dirty="0"/>
          </a:p>
        </p:txBody>
      </p:sp>
      <p:pic>
        <p:nvPicPr>
          <p:cNvPr id="5" name="Image 0" descr="preencoded.png">    </p:cNvPr>
          <p:cNvPicPr>
            <a:picLocks noChangeAspect="1"/>
          </p:cNvPicPr>
          <p:nvPr/>
        </p:nvPicPr>
        <p:blipFill>
          <a:blip r:embed="rId1"/>
          <a:stretch>
            <a:fillRect/>
          </a:stretch>
        </p:blipFill>
        <p:spPr>
          <a:xfrm>
            <a:off x="1515145" y="996404"/>
            <a:ext cx="2948806" cy="2948806"/>
          </a:xfrm>
          <a:prstGeom prst="rect">
            <a:avLst/>
          </a:prstGeom>
        </p:spPr>
      </p:pic>
      <p:sp>
        <p:nvSpPr>
          <p:cNvPr id="6" name="Text 3"/>
          <p:cNvSpPr/>
          <p:nvPr/>
        </p:nvSpPr>
        <p:spPr>
          <a:xfrm>
            <a:off x="4684812" y="1998464"/>
            <a:ext cx="2948806" cy="345579"/>
          </a:xfrm>
          <a:prstGeom prst="rect">
            <a:avLst/>
          </a:prstGeom>
          <a:noFill/>
          <a:ln/>
        </p:spPr>
        <p:txBody>
          <a:bodyPr wrap="square" lIns="0" tIns="0" rIns="0" bIns="0" rtlCol="0" anchor="t">
            <a:normAutofit/>
          </a:bodyPr>
          <a:lstStyle/>
          <a:p>
            <a:pPr algn="l" indent="0" marL="0">
              <a:lnSpc>
                <a:spcPct val="108000"/>
              </a:lnSpc>
              <a:buNone/>
            </a:pPr>
            <a:r>
              <a:rPr lang="en-US" sz="650" dirty="0">
                <a:solidFill>
                  <a:srgbClr val="8F8F8F"/>
                </a:solidFill>
                <a:latin typeface="Funnel Sans" pitchFamily="34" charset="0"/>
                <a:ea typeface="Funnel Sans" pitchFamily="34" charset="-122"/>
                <a:cs typeface="Funnel Sans" pitchFamily="34" charset="-120"/>
              </a:rPr>
              <a:t>Climate change is not just an environmental issue — it is a </a:t>
            </a:r>
            <a:pPr algn="l" indent="0" marL="0">
              <a:lnSpc>
                <a:spcPct val="108000"/>
              </a:lnSpc>
              <a:buNone/>
            </a:pPr>
            <a:r>
              <a:rPr lang="en-US" sz="650" b="1" dirty="0">
                <a:solidFill>
                  <a:srgbClr val="8F8F8F"/>
                </a:solidFill>
                <a:latin typeface="Funnel Sans" pitchFamily="34" charset="0"/>
                <a:ea typeface="Funnel Sans" pitchFamily="34" charset="-122"/>
                <a:cs typeface="Funnel Sans" pitchFamily="34" charset="-120"/>
              </a:rPr>
              <a:t>social justice issue</a:t>
            </a:r>
            <a:pPr algn="l" indent="0" marL="0">
              <a:lnSpc>
                <a:spcPct val="108000"/>
              </a:lnSpc>
              <a:buNone/>
            </a:pPr>
            <a:r>
              <a:rPr lang="en-US" sz="650" dirty="0">
                <a:solidFill>
                  <a:srgbClr val="8F8F8F"/>
                </a:solidFill>
                <a:latin typeface="Funnel Sans" pitchFamily="34" charset="0"/>
                <a:ea typeface="Funnel Sans" pitchFamily="34" charset="-122"/>
                <a:cs typeface="Funnel Sans" pitchFamily="34" charset="-120"/>
              </a:rPr>
              <a:t>. The communities that contributed the </a:t>
            </a:r>
            <a:pPr algn="l" indent="0" marL="0">
              <a:lnSpc>
                <a:spcPct val="108000"/>
              </a:lnSpc>
              <a:buNone/>
            </a:pPr>
            <a:r>
              <a:rPr lang="en-US" sz="650" b="1" dirty="0">
                <a:solidFill>
                  <a:srgbClr val="8F8F8F"/>
                </a:solidFill>
                <a:latin typeface="Funnel Sans" pitchFamily="34" charset="0"/>
                <a:ea typeface="Funnel Sans" pitchFamily="34" charset="-122"/>
                <a:cs typeface="Funnel Sans" pitchFamily="34" charset="-120"/>
              </a:rPr>
              <a:t>least</a:t>
            </a:r>
            <a:pPr algn="l" indent="0" marL="0">
              <a:lnSpc>
                <a:spcPct val="108000"/>
              </a:lnSpc>
              <a:buNone/>
            </a:pPr>
            <a:r>
              <a:rPr lang="en-US" sz="650" dirty="0">
                <a:solidFill>
                  <a:srgbClr val="8F8F8F"/>
                </a:solidFill>
                <a:latin typeface="Funnel Sans" pitchFamily="34" charset="0"/>
                <a:ea typeface="Funnel Sans" pitchFamily="34" charset="-122"/>
                <a:cs typeface="Funnel Sans" pitchFamily="34" charset="-120"/>
              </a:rPr>
              <a:t> to emissions often face the </a:t>
            </a:r>
            <a:pPr algn="l" indent="0" marL="0">
              <a:lnSpc>
                <a:spcPct val="108000"/>
              </a:lnSpc>
              <a:buNone/>
            </a:pPr>
            <a:r>
              <a:rPr lang="en-US" sz="650" b="1" dirty="0">
                <a:solidFill>
                  <a:srgbClr val="8F8F8F"/>
                </a:solidFill>
                <a:latin typeface="Funnel Sans" pitchFamily="34" charset="0"/>
                <a:ea typeface="Funnel Sans" pitchFamily="34" charset="-122"/>
                <a:cs typeface="Funnel Sans" pitchFamily="34" charset="-120"/>
              </a:rPr>
              <a:t>harshest consequences</a:t>
            </a:r>
            <a:pPr algn="l" indent="0" marL="0">
              <a:lnSpc>
                <a:spcPct val="108000"/>
              </a:lnSpc>
              <a:buNone/>
            </a:pPr>
            <a:r>
              <a:rPr lang="en-US" sz="650" dirty="0">
                <a:solidFill>
                  <a:srgbClr val="8F8F8F"/>
                </a:solidFill>
                <a:latin typeface="Funnel Sans" pitchFamily="34" charset="0"/>
                <a:ea typeface="Funnel Sans" pitchFamily="34" charset="-122"/>
                <a:cs typeface="Funnel Sans" pitchFamily="34" charset="-120"/>
              </a:rPr>
              <a:t>.</a:t>
            </a:r>
            <a:endParaRPr lang="en-US" sz="650" dirty="0"/>
          </a:p>
        </p:txBody>
      </p:sp>
      <p:sp>
        <p:nvSpPr>
          <p:cNvPr id="7" name="Text 4"/>
          <p:cNvSpPr/>
          <p:nvPr/>
        </p:nvSpPr>
        <p:spPr>
          <a:xfrm>
            <a:off x="4684812" y="2393826"/>
            <a:ext cx="2948806" cy="384274"/>
          </a:xfrm>
          <a:prstGeom prst="rect">
            <a:avLst/>
          </a:prstGeom>
          <a:noFill/>
          <a:ln/>
        </p:spPr>
        <p:txBody>
          <a:bodyPr wrap="square" lIns="0" tIns="0" rIns="0" bIns="0" rtlCol="0" anchor="t">
            <a:normAutofit/>
          </a:bodyPr>
          <a:lstStyle/>
          <a:p>
            <a:pPr algn="l" marL="342900" indent="-342900">
              <a:lnSpc>
                <a:spcPct val="108000"/>
              </a:lnSpc>
              <a:buSzPct val="100000"/>
              <a:buChar char="•"/>
            </a:pPr>
            <a:r>
              <a:rPr lang="en-US" sz="650" dirty="0">
                <a:solidFill>
                  <a:srgbClr val="8F8F8F"/>
                </a:solidFill>
                <a:latin typeface="Funnel Sans" pitchFamily="34" charset="0"/>
                <a:ea typeface="Funnel Sans" pitchFamily="34" charset="-122"/>
                <a:cs typeface="Funnel Sans" pitchFamily="34" charset="-120"/>
              </a:rPr>
              <a:t>Small island nations face complete submersion</a:t>
            </a:r>
            <a:endParaRPr lang="en-US" sz="650" dirty="0"/>
          </a:p>
          <a:p>
            <a:pPr algn="l" marL="342900" indent="-342900">
              <a:lnSpc>
                <a:spcPct val="108000"/>
              </a:lnSpc>
              <a:buSzPct val="100000"/>
              <a:buChar char="•"/>
            </a:pPr>
            <a:r>
              <a:rPr lang="en-US" sz="650" dirty="0">
                <a:solidFill>
                  <a:srgbClr val="8F8F8F"/>
                </a:solidFill>
                <a:latin typeface="Funnel Sans" pitchFamily="34" charset="0"/>
                <a:ea typeface="Funnel Sans" pitchFamily="34" charset="-122"/>
                <a:cs typeface="Funnel Sans" pitchFamily="34" charset="-120"/>
              </a:rPr>
              <a:t>Droughts threaten food security across Africa and Asia</a:t>
            </a:r>
            <a:endParaRPr lang="en-US" sz="650" dirty="0"/>
          </a:p>
          <a:p>
            <a:pPr algn="l" marL="342900" indent="-342900">
              <a:lnSpc>
                <a:spcPct val="108000"/>
              </a:lnSpc>
              <a:buSzPct val="100000"/>
              <a:buChar char="•"/>
            </a:pPr>
            <a:r>
              <a:rPr lang="en-US" sz="650" dirty="0">
                <a:solidFill>
                  <a:srgbClr val="8F8F8F"/>
                </a:solidFill>
                <a:latin typeface="Funnel Sans" pitchFamily="34" charset="0"/>
                <a:ea typeface="Funnel Sans" pitchFamily="34" charset="-122"/>
                <a:cs typeface="Funnel Sans" pitchFamily="34" charset="-120"/>
              </a:rPr>
              <a:t>Heatwaves disproportionately affect urban, low-income areas</a:t>
            </a:r>
            <a:endParaRPr lang="en-US" sz="650" dirty="0"/>
          </a:p>
        </p:txBody>
      </p:sp>
      <p:sp>
        <p:nvSpPr>
          <p:cNvPr id="8" name="Text 5"/>
          <p:cNvSpPr/>
          <p:nvPr/>
        </p:nvSpPr>
        <p:spPr>
          <a:xfrm>
            <a:off x="4684812" y="2827883"/>
            <a:ext cx="3406006" cy="115193"/>
          </a:xfrm>
          <a:prstGeom prst="rect">
            <a:avLst/>
          </a:prstGeom>
          <a:noFill/>
          <a:ln/>
        </p:spPr>
        <p:txBody>
          <a:bodyPr wrap="none" lIns="0" tIns="0" rIns="0" bIns="0" rtlCol="0" anchor="t"/>
          <a:lstStyle/>
          <a:p>
            <a:pPr algn="l" indent="0" marL="0">
              <a:lnSpc>
                <a:spcPct val="108000"/>
              </a:lnSpc>
              <a:buNone/>
            </a:pPr>
            <a:r>
              <a:rPr lang="en-US" sz="650" i="1" dirty="0">
                <a:solidFill>
                  <a:srgbClr val="8F8F8F"/>
                </a:solidFill>
                <a:latin typeface="Funnel Sans" pitchFamily="34" charset="0"/>
                <a:ea typeface="Funnel Sans" pitchFamily="34" charset="-122"/>
                <a:cs typeface="Funnel Sans" pitchFamily="34" charset="-120"/>
              </a:rPr>
              <a:t>Source: United Nations Framework Convention on Climate Change</a:t>
            </a:r>
            <a:endParaRPr lang="en-US" sz="650" dirty="0"/>
          </a:p>
        </p:txBody>
      </p:sp>
      <p:sp>
        <p:nvSpPr>
          <p:cNvPr id="9" name="Shape 6"/>
          <p:cNvSpPr/>
          <p:nvPr/>
        </p:nvSpPr>
        <p:spPr>
          <a:xfrm>
            <a:off x="1515145" y="4069779"/>
            <a:ext cx="6113711" cy="604540"/>
          </a:xfrm>
          <a:prstGeom prst="roundRect">
            <a:avLst>
              <a:gd name="adj" fmla="val 6156"/>
            </a:avLst>
          </a:prstGeom>
          <a:solidFill>
            <a:srgbClr val="262626"/>
          </a:solidFill>
          <a:ln/>
        </p:spPr>
      </p:sp>
      <p:pic>
        <p:nvPicPr>
          <p:cNvPr id="10" name="Image 1" descr="preencoded.png">    </p:cNvPr>
          <p:cNvPicPr>
            <a:picLocks noChangeAspect="1"/>
          </p:cNvPicPr>
          <p:nvPr/>
        </p:nvPicPr>
        <p:blipFill>
          <a:blip r:embed="rId2"/>
          <a:stretch>
            <a:fillRect/>
          </a:stretch>
        </p:blipFill>
        <p:spPr>
          <a:xfrm>
            <a:off x="1603697" y="4183856"/>
            <a:ext cx="110728" cy="88553"/>
          </a:xfrm>
          <a:prstGeom prst="rect">
            <a:avLst/>
          </a:prstGeom>
        </p:spPr>
      </p:pic>
      <p:sp>
        <p:nvSpPr>
          <p:cNvPr id="11" name="Text 7"/>
          <p:cNvSpPr/>
          <p:nvPr/>
        </p:nvSpPr>
        <p:spPr>
          <a:xfrm>
            <a:off x="1802978" y="4141663"/>
            <a:ext cx="5737324" cy="460772"/>
          </a:xfrm>
          <a:prstGeom prst="rect">
            <a:avLst/>
          </a:prstGeom>
          <a:noFill/>
          <a:ln/>
        </p:spPr>
        <p:txBody>
          <a:bodyPr wrap="square" lIns="0" tIns="0" rIns="0" bIns="0" rtlCol="0" anchor="t">
            <a:normAutofit/>
          </a:bodyPr>
          <a:lstStyle/>
          <a:p>
            <a:pPr algn="l" indent="0" marL="0">
              <a:lnSpc>
                <a:spcPct val="108000"/>
              </a:lnSpc>
              <a:buNone/>
            </a:pPr>
            <a:r>
              <a:rPr lang="en-US" sz="650" b="1" dirty="0">
                <a:solidFill>
                  <a:srgbClr val="FFFFFF"/>
                </a:solidFill>
                <a:latin typeface="Funnel Sans" pitchFamily="34" charset="0"/>
                <a:ea typeface="Funnel Sans" pitchFamily="34" charset="-122"/>
                <a:cs typeface="Funnel Sans" pitchFamily="34" charset="-120"/>
              </a:rPr>
              <a:t>Speaker Notes:</a:t>
            </a:r>
            <a:pPr algn="l" indent="0" marL="0">
              <a:lnSpc>
                <a:spcPct val="108000"/>
              </a:lnSpc>
              <a:buNone/>
            </a:pPr>
            <a:r>
              <a:rPr lang="en-US" sz="650" dirty="0">
                <a:solidFill>
                  <a:srgbClr val="FFFFFF"/>
                </a:solidFill>
                <a:latin typeface="Funnel Sans" pitchFamily="34" charset="0"/>
                <a:ea typeface="Funnel Sans" pitchFamily="34" charset="-122"/>
                <a:cs typeface="Funnel Sans" pitchFamily="34" charset="-120"/>
              </a:rPr>
              <a:t> This is a critical equity discussion. Countries in the Global South — like Bangladesh, Nigeria, and Pacific Island nations — emit very little CO₂ but suffer the worst flooding, droughts, and storms. Indigenous communities, from the Arctic to the Amazon, are losing traditional lands and ways of life. Young people will inherit the consequences of decisions made today. This framing helps students understand that climate action is also about fairness and responsibility. Encourage empathy and global thinking.</a:t>
            </a:r>
            <a:endParaRPr lang="en-US" sz="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496119" y="399604"/>
            <a:ext cx="930325" cy="233660"/>
          </a:xfrm>
          <a:prstGeom prst="roundRect">
            <a:avLst>
              <a:gd name="adj" fmla="val 18475"/>
            </a:avLst>
          </a:prstGeom>
          <a:solidFill>
            <a:srgbClr val="262626"/>
          </a:solidFill>
          <a:ln/>
        </p:spPr>
      </p:sp>
      <p:sp>
        <p:nvSpPr>
          <p:cNvPr id="3" name="Text 1"/>
          <p:cNvSpPr/>
          <p:nvPr/>
        </p:nvSpPr>
        <p:spPr>
          <a:xfrm>
            <a:off x="573137" y="438076"/>
            <a:ext cx="1233488" cy="156716"/>
          </a:xfrm>
          <a:prstGeom prst="rect">
            <a:avLst/>
          </a:prstGeom>
          <a:noFill/>
          <a:ln/>
        </p:spPr>
        <p:txBody>
          <a:bodyPr wrap="none" lIns="0" tIns="0" rIns="0" bIns="0" rtlCol="0" anchor="t"/>
          <a:lstStyle/>
          <a:p>
            <a:pPr algn="l" indent="0" marL="0">
              <a:lnSpc>
                <a:spcPct val="127000"/>
              </a:lnSpc>
              <a:buNone/>
            </a:pPr>
            <a:r>
              <a:rPr lang="en-US" sz="800" dirty="0">
                <a:solidFill>
                  <a:srgbClr val="8F8F8F"/>
                </a:solidFill>
                <a:latin typeface="Funnel Sans" pitchFamily="34" charset="0"/>
                <a:ea typeface="Funnel Sans" pitchFamily="34" charset="-122"/>
                <a:cs typeface="Funnel Sans" pitchFamily="34" charset="-120"/>
              </a:rPr>
              <a:t>THE SOLUTIONS</a:t>
            </a:r>
            <a:endParaRPr lang="en-US" sz="800" dirty="0"/>
          </a:p>
        </p:txBody>
      </p:sp>
      <p:sp>
        <p:nvSpPr>
          <p:cNvPr id="4" name="Text 2"/>
          <p:cNvSpPr/>
          <p:nvPr/>
        </p:nvSpPr>
        <p:spPr>
          <a:xfrm>
            <a:off x="496119" y="679772"/>
            <a:ext cx="4937224" cy="401464"/>
          </a:xfrm>
          <a:prstGeom prst="rect">
            <a:avLst/>
          </a:prstGeom>
          <a:noFill/>
          <a:ln/>
        </p:spPr>
        <p:txBody>
          <a:bodyPr wrap="none" lIns="0" tIns="0" rIns="0" bIns="0" rtlCol="0" anchor="t"/>
          <a:lstStyle/>
          <a:p>
            <a:pPr algn="l" indent="0" marL="0">
              <a:lnSpc>
                <a:spcPct val="104000"/>
              </a:lnSpc>
              <a:buNone/>
            </a:pPr>
            <a:r>
              <a:rPr lang="en-US" sz="2500" dirty="0">
                <a:solidFill>
                  <a:srgbClr val="DDDDDD"/>
                </a:solidFill>
                <a:latin typeface="Mona Sans SemiBold" pitchFamily="34" charset="0"/>
                <a:ea typeface="Mona Sans SemiBold" pitchFamily="34" charset="-122"/>
                <a:cs typeface="Mona Sans SemiBold" pitchFamily="34" charset="-120"/>
              </a:rPr>
              <a:t>We Have the Tools to Fix This</a:t>
            </a:r>
            <a:endParaRPr lang="en-US" sz="2500" dirty="0"/>
          </a:p>
        </p:txBody>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96119" y="1255812"/>
            <a:ext cx="256952" cy="256952"/>
          </a:xfrm>
          <a:prstGeom prst="rect">
            <a:avLst/>
          </a:prstGeom>
        </p:spPr>
      </p:pic>
      <p:sp>
        <p:nvSpPr>
          <p:cNvPr id="6" name="Text 3"/>
          <p:cNvSpPr/>
          <p:nvPr/>
        </p:nvSpPr>
        <p:spPr>
          <a:xfrm>
            <a:off x="898550" y="1299939"/>
            <a:ext cx="1605930" cy="200695"/>
          </a:xfrm>
          <a:prstGeom prst="rect">
            <a:avLst/>
          </a:prstGeom>
          <a:noFill/>
          <a:ln/>
        </p:spPr>
        <p:txBody>
          <a:bodyPr wrap="none" lIns="0" tIns="0" rIns="0" bIns="0" rtlCol="0" anchor="t"/>
          <a:lstStyle/>
          <a:p>
            <a:pPr algn="l" indent="0" marL="0">
              <a:lnSpc>
                <a:spcPct val="104000"/>
              </a:lnSpc>
              <a:buNone/>
            </a:pPr>
            <a:r>
              <a:rPr lang="en-US" sz="1250" dirty="0">
                <a:solidFill>
                  <a:srgbClr val="8F8F8F"/>
                </a:solidFill>
                <a:latin typeface="Mona Sans SemiBold" pitchFamily="34" charset="0"/>
                <a:ea typeface="Mona Sans SemiBold" pitchFamily="34" charset="-122"/>
                <a:cs typeface="Mona Sans SemiBold" pitchFamily="34" charset="-120"/>
              </a:rPr>
              <a:t>Renewable Energy</a:t>
            </a:r>
            <a:endParaRPr lang="en-US" sz="1250" dirty="0"/>
          </a:p>
        </p:txBody>
      </p:sp>
      <p:sp>
        <p:nvSpPr>
          <p:cNvPr id="7" name="Text 4"/>
          <p:cNvSpPr/>
          <p:nvPr/>
        </p:nvSpPr>
        <p:spPr>
          <a:xfrm>
            <a:off x="898550" y="1570434"/>
            <a:ext cx="3600673" cy="391864"/>
          </a:xfrm>
          <a:prstGeom prst="rect">
            <a:avLst/>
          </a:prstGeom>
          <a:noFill/>
          <a:ln/>
        </p:spPr>
        <p:txBody>
          <a:bodyPr wrap="square" lIns="0" tIns="0" rIns="0" bIns="0" rtlCol="0" anchor="t">
            <a:normAutofit/>
          </a:bodyPr>
          <a:lstStyle/>
          <a:p>
            <a:pPr algn="l" indent="0" marL="0">
              <a:lnSpc>
                <a:spcPct val="127000"/>
              </a:lnSpc>
              <a:buNone/>
            </a:pPr>
            <a:r>
              <a:rPr lang="en-US" sz="1000" dirty="0">
                <a:solidFill>
                  <a:srgbClr val="8F8F8F"/>
                </a:solidFill>
                <a:latin typeface="Funnel Sans" pitchFamily="34" charset="0"/>
                <a:ea typeface="Funnel Sans" pitchFamily="34" charset="-122"/>
                <a:cs typeface="Funnel Sans" pitchFamily="34" charset="-120"/>
              </a:rPr>
              <a:t>Solar, wind, and hydropower can replace fossil fuels. Costs have dropped </a:t>
            </a:r>
            <a:pPr algn="l" indent="0" marL="0">
              <a:lnSpc>
                <a:spcPct val="127000"/>
              </a:lnSpc>
              <a:buNone/>
            </a:pPr>
            <a:r>
              <a:rPr lang="en-US" sz="1000" b="1" dirty="0">
                <a:solidFill>
                  <a:srgbClr val="8F8F8F"/>
                </a:solidFill>
                <a:latin typeface="Funnel Sans" pitchFamily="34" charset="0"/>
                <a:ea typeface="Funnel Sans" pitchFamily="34" charset="-122"/>
                <a:cs typeface="Funnel Sans" pitchFamily="34" charset="-120"/>
              </a:rPr>
              <a:t>90%</a:t>
            </a:r>
            <a:pPr algn="l" indent="0" marL="0">
              <a:lnSpc>
                <a:spcPct val="127000"/>
              </a:lnSpc>
              <a:buNone/>
            </a:pPr>
            <a:r>
              <a:rPr lang="en-US" sz="1000" dirty="0">
                <a:solidFill>
                  <a:srgbClr val="8F8F8F"/>
                </a:solidFill>
                <a:latin typeface="Funnel Sans" pitchFamily="34" charset="0"/>
                <a:ea typeface="Funnel Sans" pitchFamily="34" charset="-122"/>
                <a:cs typeface="Funnel Sans" pitchFamily="34" charset="-120"/>
              </a:rPr>
              <a:t> since 2010.</a:t>
            </a:r>
            <a:endParaRPr lang="en-US" sz="1000" dirty="0"/>
          </a:p>
        </p:txBody>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44703" y="1255812"/>
            <a:ext cx="256952" cy="256952"/>
          </a:xfrm>
          <a:prstGeom prst="rect">
            <a:avLst/>
          </a:prstGeom>
        </p:spPr>
      </p:pic>
      <p:sp>
        <p:nvSpPr>
          <p:cNvPr id="9" name="Text 5"/>
          <p:cNvSpPr/>
          <p:nvPr/>
        </p:nvSpPr>
        <p:spPr>
          <a:xfrm>
            <a:off x="5047134" y="1299939"/>
            <a:ext cx="1865114" cy="200695"/>
          </a:xfrm>
          <a:prstGeom prst="rect">
            <a:avLst/>
          </a:prstGeom>
          <a:noFill/>
          <a:ln/>
        </p:spPr>
        <p:txBody>
          <a:bodyPr wrap="none" lIns="0" tIns="0" rIns="0" bIns="0" rtlCol="0" anchor="t"/>
          <a:lstStyle/>
          <a:p>
            <a:pPr algn="l" indent="0" marL="0">
              <a:lnSpc>
                <a:spcPct val="104000"/>
              </a:lnSpc>
              <a:buNone/>
            </a:pPr>
            <a:r>
              <a:rPr lang="en-US" sz="1250" dirty="0">
                <a:solidFill>
                  <a:srgbClr val="8F8F8F"/>
                </a:solidFill>
                <a:latin typeface="Mona Sans SemiBold" pitchFamily="34" charset="0"/>
                <a:ea typeface="Mona Sans SemiBold" pitchFamily="34" charset="-122"/>
                <a:cs typeface="Mona Sans SemiBold" pitchFamily="34" charset="-120"/>
              </a:rPr>
              <a:t>Nature-Based Solutions</a:t>
            </a:r>
            <a:endParaRPr lang="en-US" sz="1250" dirty="0"/>
          </a:p>
        </p:txBody>
      </p:sp>
      <p:sp>
        <p:nvSpPr>
          <p:cNvPr id="10" name="Text 6"/>
          <p:cNvSpPr/>
          <p:nvPr/>
        </p:nvSpPr>
        <p:spPr>
          <a:xfrm>
            <a:off x="5047134" y="1570434"/>
            <a:ext cx="3600748" cy="391864"/>
          </a:xfrm>
          <a:prstGeom prst="rect">
            <a:avLst/>
          </a:prstGeom>
          <a:noFill/>
          <a:ln/>
        </p:spPr>
        <p:txBody>
          <a:bodyPr wrap="square" lIns="0" tIns="0" rIns="0" bIns="0" rtlCol="0" anchor="t">
            <a:normAutofit/>
          </a:bodyPr>
          <a:lstStyle/>
          <a:p>
            <a:pPr algn="l" indent="0" marL="0">
              <a:lnSpc>
                <a:spcPct val="127000"/>
              </a:lnSpc>
              <a:buNone/>
            </a:pPr>
            <a:r>
              <a:rPr lang="en-US" sz="1000" dirty="0">
                <a:solidFill>
                  <a:srgbClr val="8F8F8F"/>
                </a:solidFill>
                <a:latin typeface="Funnel Sans" pitchFamily="34" charset="0"/>
                <a:ea typeface="Funnel Sans" pitchFamily="34" charset="-122"/>
                <a:cs typeface="Funnel Sans" pitchFamily="34" charset="-120"/>
              </a:rPr>
              <a:t>Reforestation, wetland restoration, and sustainable farming absorb CO₂ and protect biodiversity.</a:t>
            </a:r>
            <a:endParaRPr lang="en-US" sz="1000" dirty="0"/>
          </a:p>
        </p:txBody>
      </p:sp>
      <p:pic>
        <p:nvPicPr>
          <p:cNvPr id="1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96119" y="2195140"/>
            <a:ext cx="256952" cy="256952"/>
          </a:xfrm>
          <a:prstGeom prst="rect">
            <a:avLst/>
          </a:prstGeom>
        </p:spPr>
      </p:pic>
      <p:sp>
        <p:nvSpPr>
          <p:cNvPr id="12" name="Text 7"/>
          <p:cNvSpPr/>
          <p:nvPr/>
        </p:nvSpPr>
        <p:spPr>
          <a:xfrm>
            <a:off x="898550" y="2239268"/>
            <a:ext cx="1654373" cy="200695"/>
          </a:xfrm>
          <a:prstGeom prst="rect">
            <a:avLst/>
          </a:prstGeom>
          <a:noFill/>
          <a:ln/>
        </p:spPr>
        <p:txBody>
          <a:bodyPr wrap="none" lIns="0" tIns="0" rIns="0" bIns="0" rtlCol="0" anchor="t"/>
          <a:lstStyle/>
          <a:p>
            <a:pPr algn="l" indent="0" marL="0">
              <a:lnSpc>
                <a:spcPct val="104000"/>
              </a:lnSpc>
              <a:buNone/>
            </a:pPr>
            <a:r>
              <a:rPr lang="en-US" sz="1250" dirty="0">
                <a:solidFill>
                  <a:srgbClr val="8F8F8F"/>
                </a:solidFill>
                <a:latin typeface="Mona Sans SemiBold" pitchFamily="34" charset="0"/>
                <a:ea typeface="Mona Sans SemiBold" pitchFamily="34" charset="-122"/>
                <a:cs typeface="Mona Sans SemiBold" pitchFamily="34" charset="-120"/>
              </a:rPr>
              <a:t>Clean Transportation</a:t>
            </a:r>
            <a:endParaRPr lang="en-US" sz="1250" dirty="0"/>
          </a:p>
        </p:txBody>
      </p:sp>
      <p:sp>
        <p:nvSpPr>
          <p:cNvPr id="13" name="Text 8"/>
          <p:cNvSpPr/>
          <p:nvPr/>
        </p:nvSpPr>
        <p:spPr>
          <a:xfrm>
            <a:off x="898550" y="2509763"/>
            <a:ext cx="3600673" cy="391864"/>
          </a:xfrm>
          <a:prstGeom prst="rect">
            <a:avLst/>
          </a:prstGeom>
          <a:noFill/>
          <a:ln/>
        </p:spPr>
        <p:txBody>
          <a:bodyPr wrap="square" lIns="0" tIns="0" rIns="0" bIns="0" rtlCol="0" anchor="t">
            <a:normAutofit/>
          </a:bodyPr>
          <a:lstStyle/>
          <a:p>
            <a:pPr algn="l" indent="0" marL="0">
              <a:lnSpc>
                <a:spcPct val="127000"/>
              </a:lnSpc>
              <a:buNone/>
            </a:pPr>
            <a:r>
              <a:rPr lang="en-US" sz="1000" dirty="0">
                <a:solidFill>
                  <a:srgbClr val="8F8F8F"/>
                </a:solidFill>
                <a:latin typeface="Funnel Sans" pitchFamily="34" charset="0"/>
                <a:ea typeface="Funnel Sans" pitchFamily="34" charset="-122"/>
                <a:cs typeface="Funnel Sans" pitchFamily="34" charset="-120"/>
              </a:rPr>
              <a:t>Electric vehicles, public transit, and walkable cities can slash emissions from transport.</a:t>
            </a:r>
            <a:endParaRPr lang="en-US" sz="1000" dirty="0"/>
          </a:p>
        </p:txBody>
      </p:sp>
      <p:pic>
        <p:nvPicPr>
          <p:cNvPr id="14"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644703" y="2195140"/>
            <a:ext cx="256952" cy="256952"/>
          </a:xfrm>
          <a:prstGeom prst="rect">
            <a:avLst/>
          </a:prstGeom>
        </p:spPr>
      </p:pic>
      <p:sp>
        <p:nvSpPr>
          <p:cNvPr id="15" name="Text 9"/>
          <p:cNvSpPr/>
          <p:nvPr/>
        </p:nvSpPr>
        <p:spPr>
          <a:xfrm>
            <a:off x="5047134" y="2239268"/>
            <a:ext cx="1605930" cy="200695"/>
          </a:xfrm>
          <a:prstGeom prst="rect">
            <a:avLst/>
          </a:prstGeom>
          <a:noFill/>
          <a:ln/>
        </p:spPr>
        <p:txBody>
          <a:bodyPr wrap="none" lIns="0" tIns="0" rIns="0" bIns="0" rtlCol="0" anchor="t"/>
          <a:lstStyle/>
          <a:p>
            <a:pPr algn="l" indent="0" marL="0">
              <a:lnSpc>
                <a:spcPct val="104000"/>
              </a:lnSpc>
              <a:buNone/>
            </a:pPr>
            <a:r>
              <a:rPr lang="en-US" sz="1250" dirty="0">
                <a:solidFill>
                  <a:srgbClr val="8F8F8F"/>
                </a:solidFill>
                <a:latin typeface="Mona Sans SemiBold" pitchFamily="34" charset="0"/>
                <a:ea typeface="Mona Sans SemiBold" pitchFamily="34" charset="-122"/>
                <a:cs typeface="Mona Sans SemiBold" pitchFamily="34" charset="-120"/>
              </a:rPr>
              <a:t>Policy &amp; Innovation</a:t>
            </a:r>
            <a:endParaRPr lang="en-US" sz="1250" dirty="0"/>
          </a:p>
        </p:txBody>
      </p:sp>
      <p:sp>
        <p:nvSpPr>
          <p:cNvPr id="16" name="Text 10"/>
          <p:cNvSpPr/>
          <p:nvPr/>
        </p:nvSpPr>
        <p:spPr>
          <a:xfrm>
            <a:off x="5047134" y="2509763"/>
            <a:ext cx="3600748" cy="391864"/>
          </a:xfrm>
          <a:prstGeom prst="rect">
            <a:avLst/>
          </a:prstGeom>
          <a:noFill/>
          <a:ln/>
        </p:spPr>
        <p:txBody>
          <a:bodyPr wrap="square" lIns="0" tIns="0" rIns="0" bIns="0" rtlCol="0" anchor="t">
            <a:normAutofit/>
          </a:bodyPr>
          <a:lstStyle/>
          <a:p>
            <a:pPr algn="l" indent="0" marL="0">
              <a:lnSpc>
                <a:spcPct val="127000"/>
              </a:lnSpc>
              <a:buNone/>
            </a:pPr>
            <a:r>
              <a:rPr lang="en-US" sz="1000" dirty="0">
                <a:solidFill>
                  <a:srgbClr val="8F8F8F"/>
                </a:solidFill>
                <a:latin typeface="Funnel Sans" pitchFamily="34" charset="0"/>
                <a:ea typeface="Funnel Sans" pitchFamily="34" charset="-122"/>
                <a:cs typeface="Funnel Sans" pitchFamily="34" charset="-120"/>
              </a:rPr>
              <a:t>Carbon pricing, clean energy standards, and green technology investment drive systemic change.</a:t>
            </a:r>
            <a:endParaRPr lang="en-US" sz="1000" dirty="0"/>
          </a:p>
        </p:txBody>
      </p:sp>
      <p:sp>
        <p:nvSpPr>
          <p:cNvPr id="17" name="Text 11"/>
          <p:cNvSpPr/>
          <p:nvPr/>
        </p:nvSpPr>
        <p:spPr>
          <a:xfrm>
            <a:off x="496119" y="3032596"/>
            <a:ext cx="8608963" cy="195932"/>
          </a:xfrm>
          <a:prstGeom prst="rect">
            <a:avLst/>
          </a:prstGeom>
          <a:noFill/>
          <a:ln/>
        </p:spPr>
        <p:txBody>
          <a:bodyPr wrap="none" lIns="0" tIns="0" rIns="0" bIns="0" rtlCol="0" anchor="t"/>
          <a:lstStyle/>
          <a:p>
            <a:pPr algn="l" indent="0" marL="0">
              <a:lnSpc>
                <a:spcPct val="127000"/>
              </a:lnSpc>
              <a:buNone/>
            </a:pPr>
            <a:r>
              <a:rPr lang="en-US" sz="1000" i="1" dirty="0">
                <a:solidFill>
                  <a:srgbClr val="8F8F8F"/>
                </a:solidFill>
                <a:latin typeface="Funnel Sans" pitchFamily="34" charset="0"/>
                <a:ea typeface="Funnel Sans" pitchFamily="34" charset="-122"/>
                <a:cs typeface="Funnel Sans" pitchFamily="34" charset="-120"/>
              </a:rPr>
              <a:t>Source: International Energy Agency, 2023</a:t>
            </a:r>
            <a:endParaRPr lang="en-US" sz="1000" dirty="0"/>
          </a:p>
        </p:txBody>
      </p:sp>
      <p:sp>
        <p:nvSpPr>
          <p:cNvPr id="18" name="Shape 12"/>
          <p:cNvSpPr/>
          <p:nvPr/>
        </p:nvSpPr>
        <p:spPr>
          <a:xfrm>
            <a:off x="496119" y="3359497"/>
            <a:ext cx="8151763" cy="1253356"/>
          </a:xfrm>
          <a:prstGeom prst="roundRect">
            <a:avLst>
              <a:gd name="adj" fmla="val 4305"/>
            </a:avLst>
          </a:prstGeom>
          <a:solidFill>
            <a:srgbClr val="262626"/>
          </a:solidFill>
          <a:ln/>
        </p:spPr>
      </p:sp>
      <p:pic>
        <p:nvPicPr>
          <p:cNvPr id="19" name="Image 4" descr="preencoded.png">    </p:cNvPr>
          <p:cNvPicPr>
            <a:picLocks noChangeAspect="1"/>
          </p:cNvPicPr>
          <p:nvPr/>
        </p:nvPicPr>
        <p:blipFill>
          <a:blip r:embed="rId9"/>
          <a:stretch>
            <a:fillRect/>
          </a:stretch>
        </p:blipFill>
        <p:spPr>
          <a:xfrm>
            <a:off x="624557" y="3540919"/>
            <a:ext cx="160586" cy="128439"/>
          </a:xfrm>
          <a:prstGeom prst="rect">
            <a:avLst/>
          </a:prstGeom>
        </p:spPr>
      </p:pic>
      <p:sp>
        <p:nvSpPr>
          <p:cNvPr id="20" name="Text 13"/>
          <p:cNvSpPr/>
          <p:nvPr/>
        </p:nvSpPr>
        <p:spPr>
          <a:xfrm>
            <a:off x="913581" y="3496345"/>
            <a:ext cx="7605861" cy="979661"/>
          </a:xfrm>
          <a:prstGeom prst="rect">
            <a:avLst/>
          </a:prstGeom>
          <a:noFill/>
          <a:ln/>
        </p:spPr>
        <p:txBody>
          <a:bodyPr wrap="square" lIns="0" tIns="0" rIns="0" bIns="0" rtlCol="0" anchor="t">
            <a:normAutofit/>
          </a:bodyPr>
          <a:lstStyle/>
          <a:p>
            <a:pPr algn="l" indent="0" marL="0">
              <a:lnSpc>
                <a:spcPct val="127000"/>
              </a:lnSpc>
              <a:buNone/>
            </a:pPr>
            <a:r>
              <a:rPr lang="en-US" sz="1000" b="1" dirty="0">
                <a:solidFill>
                  <a:srgbClr val="FFFFFF"/>
                </a:solidFill>
                <a:latin typeface="Funnel Sans" pitchFamily="34" charset="0"/>
                <a:ea typeface="Funnel Sans" pitchFamily="34" charset="-122"/>
                <a:cs typeface="Funnel Sans" pitchFamily="34" charset="-120"/>
              </a:rPr>
              <a:t>Speaker Notes:</a:t>
            </a:r>
            <a:pPr algn="l" indent="0" marL="0">
              <a:lnSpc>
                <a:spcPct val="127000"/>
              </a:lnSpc>
              <a:buNone/>
            </a:pPr>
            <a:r>
              <a:rPr lang="en-US" sz="1000" dirty="0">
                <a:solidFill>
                  <a:srgbClr val="FFFFFF"/>
                </a:solidFill>
                <a:latin typeface="Funnel Sans" pitchFamily="34" charset="0"/>
                <a:ea typeface="Funnel Sans" pitchFamily="34" charset="-122"/>
                <a:cs typeface="Funnel Sans" pitchFamily="34" charset="-120"/>
              </a:rPr>
              <a:t> This is the hope slide — emphasize that solutions exist and are scaling fast. Solar energy is now the cheapest electricity in history (IEA, 2020). Electric vehicles are becoming mainstream; many countries plan to ban new gas car sales by 2035–2040. Nature-based solutions are cost-effective and provide co-benefits like biodiversity and clean water. Policy matters: the Paris Agreement, carbon taxes, and clean energy subsidies are already shifting markets. Ask students: Which solution excites you most? Could you work in one of these fields?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1438721" y="423714"/>
            <a:ext cx="566440" cy="149796"/>
          </a:xfrm>
          <a:prstGeom prst="roundRect">
            <a:avLst>
              <a:gd name="adj" fmla="val 20371"/>
            </a:avLst>
          </a:prstGeom>
          <a:solidFill>
            <a:srgbClr val="262626"/>
          </a:solidFill>
          <a:ln/>
        </p:spPr>
      </p:sp>
      <p:sp>
        <p:nvSpPr>
          <p:cNvPr id="3" name="Text 1"/>
          <p:cNvSpPr/>
          <p:nvPr/>
        </p:nvSpPr>
        <p:spPr>
          <a:xfrm>
            <a:off x="1493193" y="450949"/>
            <a:ext cx="914698" cy="95324"/>
          </a:xfrm>
          <a:prstGeom prst="rect">
            <a:avLst/>
          </a:prstGeom>
          <a:noFill/>
          <a:ln/>
        </p:spPr>
        <p:txBody>
          <a:bodyPr wrap="none" lIns="0" tIns="0" rIns="0" bIns="0" rtlCol="0" anchor="t"/>
          <a:lstStyle/>
          <a:p>
            <a:pPr algn="l" indent="0" marL="0">
              <a:lnSpc>
                <a:spcPct val="109000"/>
              </a:lnSpc>
              <a:buNone/>
            </a:pPr>
            <a:r>
              <a:rPr lang="en-US" sz="550" dirty="0">
                <a:solidFill>
                  <a:srgbClr val="8F8F8F"/>
                </a:solidFill>
                <a:latin typeface="Funnel Sans" pitchFamily="34" charset="0"/>
                <a:ea typeface="Funnel Sans" pitchFamily="34" charset="-122"/>
                <a:cs typeface="Funnel Sans" pitchFamily="34" charset="-120"/>
              </a:rPr>
              <a:t>YOUR POWER</a:t>
            </a:r>
            <a:endParaRPr lang="en-US" sz="550" dirty="0"/>
          </a:p>
        </p:txBody>
      </p:sp>
      <p:sp>
        <p:nvSpPr>
          <p:cNvPr id="4" name="Text 2"/>
          <p:cNvSpPr/>
          <p:nvPr/>
        </p:nvSpPr>
        <p:spPr>
          <a:xfrm>
            <a:off x="1438721" y="596726"/>
            <a:ext cx="2727647" cy="283741"/>
          </a:xfrm>
          <a:prstGeom prst="rect">
            <a:avLst/>
          </a:prstGeom>
          <a:noFill/>
          <a:ln/>
        </p:spPr>
        <p:txBody>
          <a:bodyPr wrap="none" lIns="0" tIns="0" rIns="0" bIns="0" rtlCol="0" anchor="t"/>
          <a:lstStyle/>
          <a:p>
            <a:pPr algn="l" indent="0" marL="0">
              <a:lnSpc>
                <a:spcPct val="104000"/>
              </a:lnSpc>
              <a:buNone/>
            </a:pPr>
            <a:r>
              <a:rPr lang="en-US" sz="1750" dirty="0">
                <a:solidFill>
                  <a:srgbClr val="DDDDDD"/>
                </a:solidFill>
                <a:latin typeface="Mona Sans SemiBold" pitchFamily="34" charset="0"/>
                <a:ea typeface="Mona Sans SemiBold" pitchFamily="34" charset="-122"/>
                <a:cs typeface="Mona Sans SemiBold" pitchFamily="34" charset="-120"/>
              </a:rPr>
              <a:t>What Can You Do?</a:t>
            </a:r>
            <a:endParaRPr lang="en-US" sz="1750" dirty="0"/>
          </a:p>
        </p:txBody>
      </p:sp>
      <p:pic>
        <p:nvPicPr>
          <p:cNvPr id="5" name="Image 0" descr="preencoded.png">    </p:cNvPr>
          <p:cNvPicPr>
            <a:picLocks noChangeAspect="1"/>
          </p:cNvPicPr>
          <p:nvPr/>
        </p:nvPicPr>
        <p:blipFill>
          <a:blip r:embed="rId1"/>
          <a:stretch>
            <a:fillRect/>
          </a:stretch>
        </p:blipFill>
        <p:spPr>
          <a:xfrm>
            <a:off x="1438721" y="1033090"/>
            <a:ext cx="3995737" cy="2264197"/>
          </a:xfrm>
          <a:prstGeom prst="rect">
            <a:avLst/>
          </a:prstGeom>
        </p:spPr>
      </p:pic>
      <p:sp>
        <p:nvSpPr>
          <p:cNvPr id="6" name="Text 3"/>
          <p:cNvSpPr/>
          <p:nvPr/>
        </p:nvSpPr>
        <p:spPr>
          <a:xfrm>
            <a:off x="5660678" y="1900758"/>
            <a:ext cx="2049289" cy="528861"/>
          </a:xfrm>
          <a:prstGeom prst="rect">
            <a:avLst/>
          </a:prstGeom>
          <a:noFill/>
          <a:ln/>
        </p:spPr>
        <p:txBody>
          <a:bodyPr wrap="square" lIns="0" tIns="0" rIns="0" bIns="0" rtlCol="0" anchor="t">
            <a:normAutofit/>
          </a:bodyPr>
          <a:lstStyle/>
          <a:p>
            <a:pPr algn="l" indent="0" marL="0">
              <a:lnSpc>
                <a:spcPct val="109000"/>
              </a:lnSpc>
              <a:buNone/>
            </a:pPr>
            <a:r>
              <a:rPr lang="en-US" sz="700" dirty="0">
                <a:solidFill>
                  <a:srgbClr val="8F8F8F"/>
                </a:solidFill>
                <a:latin typeface="Funnel Sans" pitchFamily="34" charset="0"/>
                <a:ea typeface="Funnel Sans" pitchFamily="34" charset="-122"/>
                <a:cs typeface="Funnel Sans" pitchFamily="34" charset="-120"/>
              </a:rPr>
              <a:t>You don't have to wait to be an adult to make a difference. </a:t>
            </a:r>
            <a:pPr algn="l" indent="0" marL="0">
              <a:lnSpc>
                <a:spcPct val="109000"/>
              </a:lnSpc>
              <a:buNone/>
            </a:pPr>
            <a:r>
              <a:rPr lang="en-US" sz="700" b="1" dirty="0">
                <a:solidFill>
                  <a:srgbClr val="8F8F8F"/>
                </a:solidFill>
                <a:latin typeface="Funnel Sans" pitchFamily="34" charset="0"/>
                <a:ea typeface="Funnel Sans" pitchFamily="34" charset="-122"/>
                <a:cs typeface="Funnel Sans" pitchFamily="34" charset="-120"/>
              </a:rPr>
              <a:t>Young people are already leading</a:t>
            </a:r>
            <a:pPr algn="l" indent="0" marL="0">
              <a:lnSpc>
                <a:spcPct val="109000"/>
              </a:lnSpc>
              <a:spcAft>
                <a:spcPts val="400"/>
              </a:spcAft>
              <a:buNone/>
            </a:pPr>
            <a:r>
              <a:rPr lang="en-US" sz="700" dirty="0">
                <a:solidFill>
                  <a:srgbClr val="8F8F8F"/>
                </a:solidFill>
                <a:latin typeface="Funnel Sans" pitchFamily="34" charset="0"/>
                <a:ea typeface="Funnel Sans" pitchFamily="34" charset="-122"/>
                <a:cs typeface="Funnel Sans" pitchFamily="34" charset="-120"/>
              </a:rPr>
              <a:t> the climate movement worldwide.</a:t>
            </a:r>
            <a:endParaRPr lang="en-US" sz="700" dirty="0"/>
          </a:p>
          <a:p>
            <a:pPr algn="l" indent="0" marL="0">
              <a:lnSpc>
                <a:spcPct val="109000"/>
              </a:lnSpc>
              <a:buNone/>
            </a:pPr>
            <a:r>
              <a:rPr lang="en-US" sz="700" i="1" dirty="0">
                <a:solidFill>
                  <a:srgbClr val="8F8F8F"/>
                </a:solidFill>
                <a:latin typeface="Funnel Sans" pitchFamily="34" charset="0"/>
                <a:ea typeface="Funnel Sans" pitchFamily="34" charset="-122"/>
                <a:cs typeface="Funnel Sans" pitchFamily="34" charset="-120"/>
              </a:rPr>
              <a:t>Source: UN Youth Climate Summit</a:t>
            </a:r>
            <a:endParaRPr lang="en-US" sz="700" dirty="0"/>
          </a:p>
        </p:txBody>
      </p:sp>
      <p:pic>
        <p:nvPicPr>
          <p:cNvPr id="7"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472803" y="3430935"/>
            <a:ext cx="136178" cy="136178"/>
          </a:xfrm>
          <a:prstGeom prst="rect">
            <a:avLst/>
          </a:prstGeom>
        </p:spPr>
      </p:pic>
      <p:sp>
        <p:nvSpPr>
          <p:cNvPr id="8" name="Text 4"/>
          <p:cNvSpPr/>
          <p:nvPr/>
        </p:nvSpPr>
        <p:spPr>
          <a:xfrm>
            <a:off x="1733848" y="3428107"/>
            <a:ext cx="1135187" cy="141908"/>
          </a:xfrm>
          <a:prstGeom prst="rect">
            <a:avLst/>
          </a:prstGeom>
          <a:noFill/>
          <a:ln/>
        </p:spPr>
        <p:txBody>
          <a:bodyPr wrap="none" lIns="0" tIns="0" rIns="0" bIns="0" rtlCol="0" anchor="t"/>
          <a:lstStyle/>
          <a:p>
            <a:pPr algn="l" indent="0" marL="0">
              <a:lnSpc>
                <a:spcPct val="104000"/>
              </a:lnSpc>
              <a:buNone/>
            </a:pPr>
            <a:r>
              <a:rPr lang="en-US" sz="850" dirty="0">
                <a:solidFill>
                  <a:srgbClr val="8F8F8F"/>
                </a:solidFill>
                <a:latin typeface="Mona Sans SemiBold" pitchFamily="34" charset="0"/>
                <a:ea typeface="Mona Sans SemiBold" pitchFamily="34" charset="-122"/>
                <a:cs typeface="Mona Sans SemiBold" pitchFamily="34" charset="-120"/>
              </a:rPr>
              <a:t>Learn &amp; Share</a:t>
            </a:r>
            <a:endParaRPr lang="en-US" sz="850" dirty="0"/>
          </a:p>
        </p:txBody>
      </p:sp>
      <p:sp>
        <p:nvSpPr>
          <p:cNvPr id="9" name="Text 5"/>
          <p:cNvSpPr/>
          <p:nvPr/>
        </p:nvSpPr>
        <p:spPr>
          <a:xfrm>
            <a:off x="1733848" y="3604915"/>
            <a:ext cx="1745233" cy="238274"/>
          </a:xfrm>
          <a:prstGeom prst="rect">
            <a:avLst/>
          </a:prstGeom>
          <a:noFill/>
          <a:ln/>
        </p:spPr>
        <p:txBody>
          <a:bodyPr wrap="square" lIns="0" tIns="0" rIns="0" bIns="0" rtlCol="0" anchor="t">
            <a:normAutofit/>
          </a:bodyPr>
          <a:lstStyle/>
          <a:p>
            <a:pPr algn="l" indent="0" marL="0">
              <a:lnSpc>
                <a:spcPct val="109000"/>
              </a:lnSpc>
              <a:buNone/>
            </a:pPr>
            <a:r>
              <a:rPr lang="en-US" sz="700" dirty="0">
                <a:solidFill>
                  <a:srgbClr val="8F8F8F"/>
                </a:solidFill>
                <a:latin typeface="Funnel Sans" pitchFamily="34" charset="0"/>
                <a:ea typeface="Funnel Sans" pitchFamily="34" charset="-122"/>
                <a:cs typeface="Funnel Sans" pitchFamily="34" charset="-120"/>
              </a:rPr>
              <a:t>Stay informed and talk to friends and family about climate science.</a:t>
            </a:r>
            <a:endParaRPr lang="en-US" sz="700" dirty="0"/>
          </a:p>
        </p:txBody>
      </p:sp>
      <p:pic>
        <p:nvPicPr>
          <p:cNvPr id="10"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585865" y="3430935"/>
            <a:ext cx="136178" cy="136178"/>
          </a:xfrm>
          <a:prstGeom prst="rect">
            <a:avLst/>
          </a:prstGeom>
        </p:spPr>
      </p:pic>
      <p:sp>
        <p:nvSpPr>
          <p:cNvPr id="11" name="Text 6"/>
          <p:cNvSpPr/>
          <p:nvPr/>
        </p:nvSpPr>
        <p:spPr>
          <a:xfrm>
            <a:off x="3846909" y="3428107"/>
            <a:ext cx="1135187" cy="141908"/>
          </a:xfrm>
          <a:prstGeom prst="rect">
            <a:avLst/>
          </a:prstGeom>
          <a:noFill/>
          <a:ln/>
        </p:spPr>
        <p:txBody>
          <a:bodyPr wrap="none" lIns="0" tIns="0" rIns="0" bIns="0" rtlCol="0" anchor="t"/>
          <a:lstStyle/>
          <a:p>
            <a:pPr algn="l" indent="0" marL="0">
              <a:lnSpc>
                <a:spcPct val="104000"/>
              </a:lnSpc>
              <a:buNone/>
            </a:pPr>
            <a:r>
              <a:rPr lang="en-US" sz="850" dirty="0">
                <a:solidFill>
                  <a:srgbClr val="8F8F8F"/>
                </a:solidFill>
                <a:latin typeface="Mona Sans SemiBold" pitchFamily="34" charset="0"/>
                <a:ea typeface="Mona Sans SemiBold" pitchFamily="34" charset="-122"/>
                <a:cs typeface="Mona Sans SemiBold" pitchFamily="34" charset="-120"/>
              </a:rPr>
              <a:t>Act Locally</a:t>
            </a:r>
            <a:endParaRPr lang="en-US" sz="850" dirty="0"/>
          </a:p>
        </p:txBody>
      </p:sp>
      <p:sp>
        <p:nvSpPr>
          <p:cNvPr id="12" name="Text 7"/>
          <p:cNvSpPr/>
          <p:nvPr/>
        </p:nvSpPr>
        <p:spPr>
          <a:xfrm>
            <a:off x="3846909" y="3604915"/>
            <a:ext cx="1745233" cy="238274"/>
          </a:xfrm>
          <a:prstGeom prst="rect">
            <a:avLst/>
          </a:prstGeom>
          <a:noFill/>
          <a:ln/>
        </p:spPr>
        <p:txBody>
          <a:bodyPr wrap="square" lIns="0" tIns="0" rIns="0" bIns="0" rtlCol="0" anchor="t">
            <a:normAutofit/>
          </a:bodyPr>
          <a:lstStyle/>
          <a:p>
            <a:pPr algn="l" indent="0" marL="0">
              <a:lnSpc>
                <a:spcPct val="109000"/>
              </a:lnSpc>
              <a:buNone/>
            </a:pPr>
            <a:r>
              <a:rPr lang="en-US" sz="700" dirty="0">
                <a:solidFill>
                  <a:srgbClr val="8F8F8F"/>
                </a:solidFill>
                <a:latin typeface="Funnel Sans" pitchFamily="34" charset="0"/>
                <a:ea typeface="Funnel Sans" pitchFamily="34" charset="-122"/>
                <a:cs typeface="Funnel Sans" pitchFamily="34" charset="-120"/>
              </a:rPr>
              <a:t>Reduce waste, eat more plants, use public transport, and conserve energy.</a:t>
            </a:r>
            <a:endParaRPr lang="en-US" sz="700" dirty="0"/>
          </a:p>
        </p:txBody>
      </p:sp>
      <p:pic>
        <p:nvPicPr>
          <p:cNvPr id="13"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698927" y="3430935"/>
            <a:ext cx="136178" cy="136178"/>
          </a:xfrm>
          <a:prstGeom prst="rect">
            <a:avLst/>
          </a:prstGeom>
        </p:spPr>
      </p:pic>
      <p:sp>
        <p:nvSpPr>
          <p:cNvPr id="14" name="Text 8"/>
          <p:cNvSpPr/>
          <p:nvPr/>
        </p:nvSpPr>
        <p:spPr>
          <a:xfrm>
            <a:off x="5959971" y="3428107"/>
            <a:ext cx="1135187" cy="141908"/>
          </a:xfrm>
          <a:prstGeom prst="rect">
            <a:avLst/>
          </a:prstGeom>
          <a:noFill/>
          <a:ln/>
        </p:spPr>
        <p:txBody>
          <a:bodyPr wrap="none" lIns="0" tIns="0" rIns="0" bIns="0" rtlCol="0" anchor="t"/>
          <a:lstStyle/>
          <a:p>
            <a:pPr algn="l" indent="0" marL="0">
              <a:lnSpc>
                <a:spcPct val="104000"/>
              </a:lnSpc>
              <a:buNone/>
            </a:pPr>
            <a:r>
              <a:rPr lang="en-US" sz="850" dirty="0">
                <a:solidFill>
                  <a:srgbClr val="8F8F8F"/>
                </a:solidFill>
                <a:latin typeface="Mona Sans SemiBold" pitchFamily="34" charset="0"/>
                <a:ea typeface="Mona Sans SemiBold" pitchFamily="34" charset="-122"/>
                <a:cs typeface="Mona Sans SemiBold" pitchFamily="34" charset="-120"/>
              </a:rPr>
              <a:t>Use Your Voice</a:t>
            </a:r>
            <a:endParaRPr lang="en-US" sz="850" dirty="0"/>
          </a:p>
        </p:txBody>
      </p:sp>
      <p:sp>
        <p:nvSpPr>
          <p:cNvPr id="15" name="Text 9"/>
          <p:cNvSpPr/>
          <p:nvPr/>
        </p:nvSpPr>
        <p:spPr>
          <a:xfrm>
            <a:off x="5959971" y="3604915"/>
            <a:ext cx="1745233" cy="238274"/>
          </a:xfrm>
          <a:prstGeom prst="rect">
            <a:avLst/>
          </a:prstGeom>
          <a:noFill/>
          <a:ln/>
        </p:spPr>
        <p:txBody>
          <a:bodyPr wrap="square" lIns="0" tIns="0" rIns="0" bIns="0" rtlCol="0" anchor="t">
            <a:normAutofit/>
          </a:bodyPr>
          <a:lstStyle/>
          <a:p>
            <a:pPr algn="l" indent="0" marL="0">
              <a:lnSpc>
                <a:spcPct val="109000"/>
              </a:lnSpc>
              <a:buNone/>
            </a:pPr>
            <a:r>
              <a:rPr lang="en-US" sz="700" dirty="0">
                <a:solidFill>
                  <a:srgbClr val="8F8F8F"/>
                </a:solidFill>
                <a:latin typeface="Funnel Sans" pitchFamily="34" charset="0"/>
                <a:ea typeface="Funnel Sans" pitchFamily="34" charset="-122"/>
                <a:cs typeface="Funnel Sans" pitchFamily="34" charset="-120"/>
              </a:rPr>
              <a:t>Vote, join climate groups, and demand action from leaders and companies.</a:t>
            </a:r>
            <a:endParaRPr lang="en-US" sz="700" dirty="0"/>
          </a:p>
        </p:txBody>
      </p:sp>
      <p:sp>
        <p:nvSpPr>
          <p:cNvPr id="16" name="Shape 10"/>
          <p:cNvSpPr/>
          <p:nvPr/>
        </p:nvSpPr>
        <p:spPr>
          <a:xfrm>
            <a:off x="1438721" y="3908599"/>
            <a:ext cx="6266557" cy="745703"/>
          </a:xfrm>
          <a:prstGeom prst="roundRect">
            <a:avLst>
              <a:gd name="adj" fmla="val 5115"/>
            </a:avLst>
          </a:prstGeom>
          <a:solidFill>
            <a:srgbClr val="262626"/>
          </a:solidFill>
          <a:ln/>
        </p:spPr>
      </p:sp>
      <p:pic>
        <p:nvPicPr>
          <p:cNvPr id="17" name="Image 4" descr="preencoded.png">    </p:cNvPr>
          <p:cNvPicPr>
            <a:picLocks noChangeAspect="1"/>
          </p:cNvPicPr>
          <p:nvPr/>
        </p:nvPicPr>
        <p:blipFill>
          <a:blip r:embed="rId8"/>
          <a:stretch>
            <a:fillRect/>
          </a:stretch>
        </p:blipFill>
        <p:spPr>
          <a:xfrm>
            <a:off x="1529507" y="4023568"/>
            <a:ext cx="113481" cy="90785"/>
          </a:xfrm>
          <a:prstGeom prst="rect">
            <a:avLst/>
          </a:prstGeom>
        </p:spPr>
      </p:pic>
      <p:sp>
        <p:nvSpPr>
          <p:cNvPr id="18" name="Text 11"/>
          <p:cNvSpPr/>
          <p:nvPr/>
        </p:nvSpPr>
        <p:spPr>
          <a:xfrm>
            <a:off x="1733773" y="3983608"/>
            <a:ext cx="5880720" cy="595685"/>
          </a:xfrm>
          <a:prstGeom prst="rect">
            <a:avLst/>
          </a:prstGeom>
          <a:noFill/>
          <a:ln/>
        </p:spPr>
        <p:txBody>
          <a:bodyPr wrap="square" lIns="0" tIns="0" rIns="0" bIns="0" rtlCol="0" anchor="t">
            <a:normAutofit/>
          </a:bodyPr>
          <a:lstStyle/>
          <a:p>
            <a:pPr algn="l" indent="0" marL="0">
              <a:lnSpc>
                <a:spcPct val="109000"/>
              </a:lnSpc>
              <a:buNone/>
            </a:pPr>
            <a:r>
              <a:rPr lang="en-US" sz="700" b="1" dirty="0">
                <a:solidFill>
                  <a:srgbClr val="FFFFFF"/>
                </a:solidFill>
                <a:latin typeface="Funnel Sans" pitchFamily="34" charset="0"/>
                <a:ea typeface="Funnel Sans" pitchFamily="34" charset="-122"/>
                <a:cs typeface="Funnel Sans" pitchFamily="34" charset="-120"/>
              </a:rPr>
              <a:t>Speaker Notes:</a:t>
            </a:r>
            <a:pPr algn="l" indent="0" marL="0">
              <a:lnSpc>
                <a:spcPct val="109000"/>
              </a:lnSpc>
              <a:buNone/>
            </a:pPr>
            <a:r>
              <a:rPr lang="en-US" sz="700" dirty="0">
                <a:solidFill>
                  <a:srgbClr val="FFFFFF"/>
                </a:solidFill>
                <a:latin typeface="Funnel Sans" pitchFamily="34" charset="0"/>
                <a:ea typeface="Funnel Sans" pitchFamily="34" charset="-122"/>
                <a:cs typeface="Funnel Sans" pitchFamily="34" charset="-120"/>
              </a:rPr>
              <a:t> Empower students — they are not too young to matter. Greta Thunberg started her school strike at age 15. Youth-led organizations like Zero Hour, Fridays for Future, and the Sunrise Movement are shaping policy. Individual actions matter, but systemic change requires collective pressure. Encourage students to find their lane: science, art, policy, journalism, engineering, law — every field needs climate-literate people. Suggest local actions: joining an environmental club, attending a city council meeting, or starting a sustainability project at school.</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96119" y="484956"/>
            <a:ext cx="915070" cy="233660"/>
          </a:xfrm>
          <a:prstGeom prst="roundRect">
            <a:avLst>
              <a:gd name="adj" fmla="val 18475"/>
            </a:avLst>
          </a:prstGeom>
          <a:solidFill>
            <a:srgbClr val="262626"/>
          </a:solidFill>
          <a:ln/>
        </p:spPr>
      </p:sp>
      <p:sp>
        <p:nvSpPr>
          <p:cNvPr id="3" name="Text 1"/>
          <p:cNvSpPr/>
          <p:nvPr/>
        </p:nvSpPr>
        <p:spPr>
          <a:xfrm>
            <a:off x="573137" y="523429"/>
            <a:ext cx="1218233" cy="156716"/>
          </a:xfrm>
          <a:prstGeom prst="rect">
            <a:avLst/>
          </a:prstGeom>
          <a:noFill/>
          <a:ln/>
        </p:spPr>
        <p:txBody>
          <a:bodyPr wrap="none" lIns="0" tIns="0" rIns="0" bIns="0" rtlCol="0" anchor="t"/>
          <a:lstStyle/>
          <a:p>
            <a:pPr algn="l" indent="0" marL="0">
              <a:lnSpc>
                <a:spcPct val="127000"/>
              </a:lnSpc>
              <a:buNone/>
            </a:pPr>
            <a:r>
              <a:rPr lang="en-US" sz="800" dirty="0">
                <a:solidFill>
                  <a:srgbClr val="8F8F8F"/>
                </a:solidFill>
                <a:latin typeface="Funnel Sans" pitchFamily="34" charset="0"/>
                <a:ea typeface="Funnel Sans" pitchFamily="34" charset="-122"/>
                <a:cs typeface="Funnel Sans" pitchFamily="34" charset="-120"/>
              </a:rPr>
              <a:t>KEY TAKEAWAYS</a:t>
            </a:r>
            <a:endParaRPr lang="en-US" sz="800" dirty="0"/>
          </a:p>
        </p:txBody>
      </p:sp>
      <p:sp>
        <p:nvSpPr>
          <p:cNvPr id="4" name="Text 2"/>
          <p:cNvSpPr/>
          <p:nvPr/>
        </p:nvSpPr>
        <p:spPr>
          <a:xfrm>
            <a:off x="496119" y="765125"/>
            <a:ext cx="5392638" cy="401464"/>
          </a:xfrm>
          <a:prstGeom prst="rect">
            <a:avLst/>
          </a:prstGeom>
          <a:noFill/>
          <a:ln/>
        </p:spPr>
        <p:txBody>
          <a:bodyPr wrap="none" lIns="0" tIns="0" rIns="0" bIns="0" rtlCol="0" anchor="t"/>
          <a:lstStyle/>
          <a:p>
            <a:pPr algn="l" indent="0" marL="0">
              <a:lnSpc>
                <a:spcPct val="104000"/>
              </a:lnSpc>
              <a:buNone/>
            </a:pPr>
            <a:r>
              <a:rPr lang="en-US" sz="2500" dirty="0">
                <a:solidFill>
                  <a:srgbClr val="DDDDDD"/>
                </a:solidFill>
                <a:latin typeface="Mona Sans SemiBold" pitchFamily="34" charset="0"/>
                <a:ea typeface="Mona Sans SemiBold" pitchFamily="34" charset="-122"/>
                <a:cs typeface="Mona Sans SemiBold" pitchFamily="34" charset="-120"/>
              </a:rPr>
              <a:t>The Future Is Still Ours to Shape</a:t>
            </a:r>
            <a:endParaRPr lang="en-US" sz="2500" dirty="0"/>
          </a:p>
        </p:txBody>
      </p:sp>
      <p:sp>
        <p:nvSpPr>
          <p:cNvPr id="5" name="Shape 3"/>
          <p:cNvSpPr/>
          <p:nvPr/>
        </p:nvSpPr>
        <p:spPr>
          <a:xfrm>
            <a:off x="496119" y="1341165"/>
            <a:ext cx="8151763" cy="1475184"/>
          </a:xfrm>
          <a:prstGeom prst="roundRect">
            <a:avLst>
              <a:gd name="adj" fmla="val 3658"/>
            </a:avLst>
          </a:prstGeom>
          <a:solidFill>
            <a:srgbClr val="404040"/>
          </a:solidFill>
          <a:ln w="4763">
            <a:solidFill>
              <a:srgbClr val="595959"/>
            </a:solidFill>
            <a:prstDash val="solid"/>
          </a:ln>
        </p:spPr>
      </p:sp>
      <p:sp>
        <p:nvSpPr>
          <p:cNvPr id="6" name="Shape 4"/>
          <p:cNvSpPr/>
          <p:nvPr/>
        </p:nvSpPr>
        <p:spPr>
          <a:xfrm>
            <a:off x="500881" y="1345927"/>
            <a:ext cx="4071119" cy="732830"/>
          </a:xfrm>
          <a:prstGeom prst="rect">
            <a:avLst/>
          </a:prstGeom>
          <a:solidFill>
            <a:srgbClr val="404040"/>
          </a:solidFill>
          <a:ln/>
        </p:spPr>
      </p:sp>
      <p:sp>
        <p:nvSpPr>
          <p:cNvPr id="7" name="Text 5"/>
          <p:cNvSpPr/>
          <p:nvPr/>
        </p:nvSpPr>
        <p:spPr>
          <a:xfrm>
            <a:off x="629320" y="1474366"/>
            <a:ext cx="1605930" cy="210220"/>
          </a:xfrm>
          <a:prstGeom prst="rect">
            <a:avLst/>
          </a:prstGeom>
          <a:noFill/>
          <a:ln/>
        </p:spPr>
        <p:txBody>
          <a:bodyPr wrap="none" lIns="0" tIns="0" rIns="0" bIns="0" rtlCol="0" anchor="t"/>
          <a:lstStyle/>
          <a:p>
            <a:pPr algn="l" indent="0" marL="0">
              <a:lnSpc>
                <a:spcPct val="104000"/>
              </a:lnSpc>
              <a:buNone/>
            </a:pPr>
            <a:r>
              <a:rPr lang="en-US" sz="1250" dirty="0">
                <a:solidFill>
                  <a:srgbClr val="000000"/>
                </a:solidFill>
                <a:latin typeface="Mona Sans SemiBold" pitchFamily="34" charset="0"/>
                <a:ea typeface="Mona Sans SemiBold" pitchFamily="34" charset="-122"/>
                <a:cs typeface="Mona Sans SemiBold" pitchFamily="34" charset="-120"/>
              </a:rPr>
              <a:t>🌍</a:t>
            </a:r>
            <a:pPr algn="l" indent="0" marL="0">
              <a:lnSpc>
                <a:spcPct val="104000"/>
              </a:lnSpc>
              <a:buNone/>
            </a:pPr>
            <a:r>
              <a:rPr lang="en-US" sz="1250" dirty="0">
                <a:solidFill>
                  <a:srgbClr val="FFFFFF"/>
                </a:solidFill>
                <a:latin typeface="Mona Sans SemiBold" pitchFamily="34" charset="0"/>
                <a:ea typeface="Mona Sans SemiBold" pitchFamily="34" charset="-122"/>
                <a:cs typeface="Mona Sans SemiBold" pitchFamily="34" charset="-120"/>
              </a:rPr>
              <a:t> It's Real</a:t>
            </a:r>
            <a:endParaRPr lang="en-US" sz="1250" dirty="0"/>
          </a:p>
        </p:txBody>
      </p:sp>
      <p:sp>
        <p:nvSpPr>
          <p:cNvPr id="8" name="Text 6"/>
          <p:cNvSpPr/>
          <p:nvPr/>
        </p:nvSpPr>
        <p:spPr>
          <a:xfrm>
            <a:off x="629320" y="1754386"/>
            <a:ext cx="3814242" cy="195932"/>
          </a:xfrm>
          <a:prstGeom prst="rect">
            <a:avLst/>
          </a:prstGeom>
          <a:noFill/>
          <a:ln/>
        </p:spPr>
        <p:txBody>
          <a:bodyPr wrap="none" lIns="0" tIns="0" rIns="0" bIns="0" rtlCol="0" anchor="t"/>
          <a:lstStyle/>
          <a:p>
            <a:pPr algn="l" indent="0" marL="0">
              <a:lnSpc>
                <a:spcPct val="127000"/>
              </a:lnSpc>
              <a:buNone/>
            </a:pPr>
            <a:r>
              <a:rPr lang="en-US" sz="1000" dirty="0">
                <a:solidFill>
                  <a:srgbClr val="FFFFFF"/>
                </a:solidFill>
                <a:latin typeface="Funnel Sans" pitchFamily="34" charset="0"/>
                <a:ea typeface="Funnel Sans" pitchFamily="34" charset="-122"/>
                <a:cs typeface="Funnel Sans" pitchFamily="34" charset="-120"/>
              </a:rPr>
              <a:t>Climate change is happening now, driven by human activity.</a:t>
            </a:r>
            <a:endParaRPr lang="en-US" sz="1000" dirty="0"/>
          </a:p>
        </p:txBody>
      </p:sp>
      <p:sp>
        <p:nvSpPr>
          <p:cNvPr id="9" name="Shape 7"/>
          <p:cNvSpPr/>
          <p:nvPr/>
        </p:nvSpPr>
        <p:spPr>
          <a:xfrm>
            <a:off x="4572000" y="1345927"/>
            <a:ext cx="4071119" cy="732830"/>
          </a:xfrm>
          <a:prstGeom prst="rect">
            <a:avLst/>
          </a:prstGeom>
          <a:solidFill>
            <a:srgbClr val="404040"/>
          </a:solidFill>
          <a:ln/>
        </p:spPr>
      </p:sp>
      <p:sp>
        <p:nvSpPr>
          <p:cNvPr id="10" name="Shape 8"/>
          <p:cNvSpPr/>
          <p:nvPr/>
        </p:nvSpPr>
        <p:spPr>
          <a:xfrm>
            <a:off x="4572000" y="1345927"/>
            <a:ext cx="14288" cy="732830"/>
          </a:xfrm>
          <a:prstGeom prst="roundRect">
            <a:avLst>
              <a:gd name="adj" fmla="val 377661"/>
            </a:avLst>
          </a:prstGeom>
          <a:solidFill>
            <a:srgbClr val="595959"/>
          </a:solidFill>
          <a:ln/>
        </p:spPr>
      </p:sp>
      <p:sp>
        <p:nvSpPr>
          <p:cNvPr id="11" name="Text 9"/>
          <p:cNvSpPr/>
          <p:nvPr/>
        </p:nvSpPr>
        <p:spPr>
          <a:xfrm>
            <a:off x="4700439" y="1474366"/>
            <a:ext cx="1605930" cy="210220"/>
          </a:xfrm>
          <a:prstGeom prst="rect">
            <a:avLst/>
          </a:prstGeom>
          <a:noFill/>
          <a:ln/>
        </p:spPr>
        <p:txBody>
          <a:bodyPr wrap="none" lIns="0" tIns="0" rIns="0" bIns="0" rtlCol="0" anchor="t"/>
          <a:lstStyle/>
          <a:p>
            <a:pPr algn="l" indent="0" marL="0">
              <a:lnSpc>
                <a:spcPct val="104000"/>
              </a:lnSpc>
              <a:buNone/>
            </a:pPr>
            <a:r>
              <a:rPr lang="en-US" sz="1250" dirty="0">
                <a:solidFill>
                  <a:srgbClr val="000000"/>
                </a:solidFill>
                <a:latin typeface="Mona Sans SemiBold" pitchFamily="34" charset="0"/>
                <a:ea typeface="Mona Sans SemiBold" pitchFamily="34" charset="-122"/>
                <a:cs typeface="Mona Sans SemiBold" pitchFamily="34" charset="-120"/>
              </a:rPr>
              <a:t>⚡</a:t>
            </a:r>
            <a:pPr algn="l" indent="0" marL="0">
              <a:lnSpc>
                <a:spcPct val="104000"/>
              </a:lnSpc>
              <a:buNone/>
            </a:pPr>
            <a:r>
              <a:rPr lang="en-US" sz="1250" dirty="0">
                <a:solidFill>
                  <a:srgbClr val="FFFFFF"/>
                </a:solidFill>
                <a:latin typeface="Mona Sans SemiBold" pitchFamily="34" charset="0"/>
                <a:ea typeface="Mona Sans SemiBold" pitchFamily="34" charset="-122"/>
                <a:cs typeface="Mona Sans SemiBold" pitchFamily="34" charset="-120"/>
              </a:rPr>
              <a:t> It's Urgent</a:t>
            </a:r>
            <a:endParaRPr lang="en-US" sz="1250" dirty="0"/>
          </a:p>
        </p:txBody>
      </p:sp>
      <p:sp>
        <p:nvSpPr>
          <p:cNvPr id="12" name="Text 10"/>
          <p:cNvSpPr/>
          <p:nvPr/>
        </p:nvSpPr>
        <p:spPr>
          <a:xfrm>
            <a:off x="4700439" y="1754386"/>
            <a:ext cx="3814242" cy="195932"/>
          </a:xfrm>
          <a:prstGeom prst="rect">
            <a:avLst/>
          </a:prstGeom>
          <a:noFill/>
          <a:ln/>
        </p:spPr>
        <p:txBody>
          <a:bodyPr wrap="none" lIns="0" tIns="0" rIns="0" bIns="0" rtlCol="0" anchor="t"/>
          <a:lstStyle/>
          <a:p>
            <a:pPr algn="l" indent="0" marL="0">
              <a:lnSpc>
                <a:spcPct val="127000"/>
              </a:lnSpc>
              <a:buNone/>
            </a:pPr>
            <a:r>
              <a:rPr lang="en-US" sz="1000" dirty="0">
                <a:solidFill>
                  <a:srgbClr val="FFFFFF"/>
                </a:solidFill>
                <a:latin typeface="Funnel Sans" pitchFamily="34" charset="0"/>
                <a:ea typeface="Funnel Sans" pitchFamily="34" charset="-122"/>
                <a:cs typeface="Funnel Sans" pitchFamily="34" charset="-120"/>
              </a:rPr>
              <a:t>Every fraction of a degree matters. We must act this decade.</a:t>
            </a:r>
            <a:endParaRPr lang="en-US" sz="1000" dirty="0"/>
          </a:p>
        </p:txBody>
      </p:sp>
      <p:sp>
        <p:nvSpPr>
          <p:cNvPr id="13" name="Shape 11"/>
          <p:cNvSpPr/>
          <p:nvPr/>
        </p:nvSpPr>
        <p:spPr>
          <a:xfrm>
            <a:off x="500881" y="2078757"/>
            <a:ext cx="4071119" cy="732830"/>
          </a:xfrm>
          <a:prstGeom prst="rect">
            <a:avLst/>
          </a:prstGeom>
          <a:solidFill>
            <a:srgbClr val="404040"/>
          </a:solidFill>
          <a:ln/>
        </p:spPr>
      </p:sp>
      <p:sp>
        <p:nvSpPr>
          <p:cNvPr id="14" name="Shape 12"/>
          <p:cNvSpPr/>
          <p:nvPr/>
        </p:nvSpPr>
        <p:spPr>
          <a:xfrm>
            <a:off x="500881" y="2078757"/>
            <a:ext cx="4071119" cy="14288"/>
          </a:xfrm>
          <a:prstGeom prst="roundRect">
            <a:avLst>
              <a:gd name="adj" fmla="val 377661"/>
            </a:avLst>
          </a:prstGeom>
          <a:solidFill>
            <a:srgbClr val="595959"/>
          </a:solidFill>
          <a:ln/>
        </p:spPr>
      </p:sp>
      <p:sp>
        <p:nvSpPr>
          <p:cNvPr id="15" name="Text 13"/>
          <p:cNvSpPr/>
          <p:nvPr/>
        </p:nvSpPr>
        <p:spPr>
          <a:xfrm>
            <a:off x="629320" y="2207196"/>
            <a:ext cx="1605930" cy="210220"/>
          </a:xfrm>
          <a:prstGeom prst="rect">
            <a:avLst/>
          </a:prstGeom>
          <a:noFill/>
          <a:ln/>
        </p:spPr>
        <p:txBody>
          <a:bodyPr wrap="none" lIns="0" tIns="0" rIns="0" bIns="0" rtlCol="0" anchor="t"/>
          <a:lstStyle/>
          <a:p>
            <a:pPr algn="l" indent="0" marL="0">
              <a:lnSpc>
                <a:spcPct val="104000"/>
              </a:lnSpc>
              <a:buNone/>
            </a:pPr>
            <a:r>
              <a:rPr lang="en-US" sz="1250" dirty="0">
                <a:solidFill>
                  <a:srgbClr val="000000"/>
                </a:solidFill>
                <a:latin typeface="Mona Sans SemiBold" pitchFamily="34" charset="0"/>
                <a:ea typeface="Mona Sans SemiBold" pitchFamily="34" charset="-122"/>
                <a:cs typeface="Mona Sans SemiBold" pitchFamily="34" charset="-120"/>
              </a:rPr>
              <a:t>💡</a:t>
            </a:r>
            <a:pPr algn="l" indent="0" marL="0">
              <a:lnSpc>
                <a:spcPct val="104000"/>
              </a:lnSpc>
              <a:buNone/>
            </a:pPr>
            <a:r>
              <a:rPr lang="en-US" sz="1250" dirty="0">
                <a:solidFill>
                  <a:srgbClr val="FFFFFF"/>
                </a:solidFill>
                <a:latin typeface="Mona Sans SemiBold" pitchFamily="34" charset="0"/>
                <a:ea typeface="Mona Sans SemiBold" pitchFamily="34" charset="-122"/>
                <a:cs typeface="Mona Sans SemiBold" pitchFamily="34" charset="-120"/>
              </a:rPr>
              <a:t> It's Solvable</a:t>
            </a:r>
            <a:endParaRPr lang="en-US" sz="1250" dirty="0"/>
          </a:p>
        </p:txBody>
      </p:sp>
      <p:sp>
        <p:nvSpPr>
          <p:cNvPr id="16" name="Text 14"/>
          <p:cNvSpPr/>
          <p:nvPr/>
        </p:nvSpPr>
        <p:spPr>
          <a:xfrm>
            <a:off x="629320" y="2487216"/>
            <a:ext cx="3814242" cy="195932"/>
          </a:xfrm>
          <a:prstGeom prst="rect">
            <a:avLst/>
          </a:prstGeom>
          <a:noFill/>
          <a:ln/>
        </p:spPr>
        <p:txBody>
          <a:bodyPr wrap="none" lIns="0" tIns="0" rIns="0" bIns="0" rtlCol="0" anchor="t"/>
          <a:lstStyle/>
          <a:p>
            <a:pPr algn="l" indent="0" marL="0">
              <a:lnSpc>
                <a:spcPct val="127000"/>
              </a:lnSpc>
              <a:buNone/>
            </a:pPr>
            <a:r>
              <a:rPr lang="en-US" sz="1000" dirty="0">
                <a:solidFill>
                  <a:srgbClr val="FFFFFF"/>
                </a:solidFill>
                <a:latin typeface="Funnel Sans" pitchFamily="34" charset="0"/>
                <a:ea typeface="Funnel Sans" pitchFamily="34" charset="-122"/>
                <a:cs typeface="Funnel Sans" pitchFamily="34" charset="-120"/>
              </a:rPr>
              <a:t>The technology and knowledge exist. What we need is will.</a:t>
            </a:r>
            <a:endParaRPr lang="en-US" sz="1000" dirty="0"/>
          </a:p>
        </p:txBody>
      </p:sp>
      <p:sp>
        <p:nvSpPr>
          <p:cNvPr id="17" name="Shape 15"/>
          <p:cNvSpPr/>
          <p:nvPr/>
        </p:nvSpPr>
        <p:spPr>
          <a:xfrm>
            <a:off x="4572000" y="2078757"/>
            <a:ext cx="4071119" cy="732830"/>
          </a:xfrm>
          <a:prstGeom prst="rect">
            <a:avLst/>
          </a:prstGeom>
          <a:solidFill>
            <a:srgbClr val="404040"/>
          </a:solidFill>
          <a:ln/>
        </p:spPr>
      </p:sp>
      <p:sp>
        <p:nvSpPr>
          <p:cNvPr id="18" name="Shape 16"/>
          <p:cNvSpPr/>
          <p:nvPr/>
        </p:nvSpPr>
        <p:spPr>
          <a:xfrm>
            <a:off x="4572000" y="2078757"/>
            <a:ext cx="14288" cy="732830"/>
          </a:xfrm>
          <a:prstGeom prst="roundRect">
            <a:avLst>
              <a:gd name="adj" fmla="val 377661"/>
            </a:avLst>
          </a:prstGeom>
          <a:solidFill>
            <a:srgbClr val="595959"/>
          </a:solidFill>
          <a:ln/>
        </p:spPr>
      </p:sp>
      <p:sp>
        <p:nvSpPr>
          <p:cNvPr id="19" name="Shape 17"/>
          <p:cNvSpPr/>
          <p:nvPr/>
        </p:nvSpPr>
        <p:spPr>
          <a:xfrm>
            <a:off x="4572000" y="2078757"/>
            <a:ext cx="4071119" cy="14288"/>
          </a:xfrm>
          <a:prstGeom prst="roundRect">
            <a:avLst>
              <a:gd name="adj" fmla="val 377661"/>
            </a:avLst>
          </a:prstGeom>
          <a:solidFill>
            <a:srgbClr val="595959"/>
          </a:solidFill>
          <a:ln/>
        </p:spPr>
      </p:sp>
      <p:sp>
        <p:nvSpPr>
          <p:cNvPr id="20" name="Text 18"/>
          <p:cNvSpPr/>
          <p:nvPr/>
        </p:nvSpPr>
        <p:spPr>
          <a:xfrm>
            <a:off x="4700439" y="2207196"/>
            <a:ext cx="1605930" cy="210220"/>
          </a:xfrm>
          <a:prstGeom prst="rect">
            <a:avLst/>
          </a:prstGeom>
          <a:noFill/>
          <a:ln/>
        </p:spPr>
        <p:txBody>
          <a:bodyPr wrap="none" lIns="0" tIns="0" rIns="0" bIns="0" rtlCol="0" anchor="t"/>
          <a:lstStyle/>
          <a:p>
            <a:pPr algn="l" indent="0" marL="0">
              <a:lnSpc>
                <a:spcPct val="104000"/>
              </a:lnSpc>
              <a:buNone/>
            </a:pPr>
            <a:r>
              <a:rPr lang="en-US" sz="1250" dirty="0">
                <a:solidFill>
                  <a:srgbClr val="000000"/>
                </a:solidFill>
                <a:latin typeface="Mona Sans SemiBold" pitchFamily="34" charset="0"/>
                <a:ea typeface="Mona Sans SemiBold" pitchFamily="34" charset="-122"/>
                <a:cs typeface="Mona Sans SemiBold" pitchFamily="34" charset="-120"/>
              </a:rPr>
              <a:t>🙌</a:t>
            </a:r>
            <a:pPr algn="l" indent="0" marL="0">
              <a:lnSpc>
                <a:spcPct val="104000"/>
              </a:lnSpc>
              <a:buNone/>
            </a:pPr>
            <a:r>
              <a:rPr lang="en-US" sz="1250" dirty="0">
                <a:solidFill>
                  <a:srgbClr val="FFFFFF"/>
                </a:solidFill>
                <a:latin typeface="Mona Sans SemiBold" pitchFamily="34" charset="0"/>
                <a:ea typeface="Mona Sans SemiBold" pitchFamily="34" charset="-122"/>
                <a:cs typeface="Mona Sans SemiBold" pitchFamily="34" charset="-120"/>
              </a:rPr>
              <a:t> It's Yours</a:t>
            </a:r>
            <a:endParaRPr lang="en-US" sz="1250" dirty="0"/>
          </a:p>
        </p:txBody>
      </p:sp>
      <p:sp>
        <p:nvSpPr>
          <p:cNvPr id="21" name="Text 19"/>
          <p:cNvSpPr/>
          <p:nvPr/>
        </p:nvSpPr>
        <p:spPr>
          <a:xfrm>
            <a:off x="4700439" y="2487216"/>
            <a:ext cx="3814242" cy="195932"/>
          </a:xfrm>
          <a:prstGeom prst="rect">
            <a:avLst/>
          </a:prstGeom>
          <a:noFill/>
          <a:ln/>
        </p:spPr>
        <p:txBody>
          <a:bodyPr wrap="none" lIns="0" tIns="0" rIns="0" bIns="0" rtlCol="0" anchor="t"/>
          <a:lstStyle/>
          <a:p>
            <a:pPr algn="l" indent="0" marL="0">
              <a:lnSpc>
                <a:spcPct val="127000"/>
              </a:lnSpc>
              <a:buNone/>
            </a:pPr>
            <a:r>
              <a:rPr lang="en-US" sz="1000" dirty="0">
                <a:solidFill>
                  <a:srgbClr val="FFFFFF"/>
                </a:solidFill>
                <a:latin typeface="Funnel Sans" pitchFamily="34" charset="0"/>
                <a:ea typeface="Funnel Sans" pitchFamily="34" charset="-122"/>
                <a:cs typeface="Funnel Sans" pitchFamily="34" charset="-120"/>
              </a:rPr>
              <a:t>Your generation has the power — and the responsibility — to lead.</a:t>
            </a:r>
            <a:endParaRPr lang="en-US" sz="1000" dirty="0"/>
          </a:p>
        </p:txBody>
      </p:sp>
      <p:sp>
        <p:nvSpPr>
          <p:cNvPr id="22" name="Text 20"/>
          <p:cNvSpPr/>
          <p:nvPr/>
        </p:nvSpPr>
        <p:spPr>
          <a:xfrm>
            <a:off x="496119" y="2947318"/>
            <a:ext cx="8608963" cy="195932"/>
          </a:xfrm>
          <a:prstGeom prst="rect">
            <a:avLst/>
          </a:prstGeom>
          <a:noFill/>
          <a:ln/>
        </p:spPr>
        <p:txBody>
          <a:bodyPr wrap="none" lIns="0" tIns="0" rIns="0" bIns="0" rtlCol="0" anchor="t"/>
          <a:lstStyle/>
          <a:p>
            <a:pPr algn="l" indent="0" marL="0">
              <a:lnSpc>
                <a:spcPct val="127000"/>
              </a:lnSpc>
              <a:buNone/>
            </a:pPr>
            <a:r>
              <a:rPr lang="en-US" sz="1000" i="1" dirty="0">
                <a:solidFill>
                  <a:srgbClr val="8F8F8F"/>
                </a:solidFill>
                <a:latin typeface="Funnel Sans" pitchFamily="34" charset="0"/>
                <a:ea typeface="Funnel Sans" pitchFamily="34" charset="-122"/>
                <a:cs typeface="Funnel Sans" pitchFamily="34" charset="-120"/>
              </a:rPr>
              <a:t>Sources: IPCC AR6, NASA Climate, UNFCCC, IEA 2023</a:t>
            </a:r>
            <a:endParaRPr lang="en-US" sz="1000" dirty="0"/>
          </a:p>
        </p:txBody>
      </p:sp>
      <p:sp>
        <p:nvSpPr>
          <p:cNvPr id="23" name="Shape 21"/>
          <p:cNvSpPr/>
          <p:nvPr/>
        </p:nvSpPr>
        <p:spPr>
          <a:xfrm>
            <a:off x="496119" y="3274219"/>
            <a:ext cx="8151763" cy="1253356"/>
          </a:xfrm>
          <a:prstGeom prst="roundRect">
            <a:avLst>
              <a:gd name="adj" fmla="val 4305"/>
            </a:avLst>
          </a:prstGeom>
          <a:solidFill>
            <a:srgbClr val="262626"/>
          </a:solidFill>
          <a:ln/>
        </p:spPr>
      </p:sp>
      <p:pic>
        <p:nvPicPr>
          <p:cNvPr id="24" name="Image 0" descr="preencoded.png">    </p:cNvPr>
          <p:cNvPicPr>
            <a:picLocks noChangeAspect="1"/>
          </p:cNvPicPr>
          <p:nvPr/>
        </p:nvPicPr>
        <p:blipFill>
          <a:blip r:embed="rId1"/>
          <a:stretch>
            <a:fillRect/>
          </a:stretch>
        </p:blipFill>
        <p:spPr>
          <a:xfrm>
            <a:off x="624557" y="3455640"/>
            <a:ext cx="160586" cy="128439"/>
          </a:xfrm>
          <a:prstGeom prst="rect">
            <a:avLst/>
          </a:prstGeom>
        </p:spPr>
      </p:pic>
      <p:sp>
        <p:nvSpPr>
          <p:cNvPr id="25" name="Text 22"/>
          <p:cNvSpPr/>
          <p:nvPr/>
        </p:nvSpPr>
        <p:spPr>
          <a:xfrm>
            <a:off x="913581" y="3411066"/>
            <a:ext cx="7605861" cy="979661"/>
          </a:xfrm>
          <a:prstGeom prst="rect">
            <a:avLst/>
          </a:prstGeom>
          <a:noFill/>
          <a:ln/>
        </p:spPr>
        <p:txBody>
          <a:bodyPr wrap="square" lIns="0" tIns="0" rIns="0" bIns="0" rtlCol="0" anchor="t">
            <a:normAutofit/>
          </a:bodyPr>
          <a:lstStyle/>
          <a:p>
            <a:pPr algn="l" indent="0" marL="0">
              <a:lnSpc>
                <a:spcPct val="127000"/>
              </a:lnSpc>
              <a:buNone/>
            </a:pPr>
            <a:r>
              <a:rPr lang="en-US" sz="1000" b="1" dirty="0">
                <a:solidFill>
                  <a:srgbClr val="FFFFFF"/>
                </a:solidFill>
                <a:latin typeface="Funnel Sans" pitchFamily="34" charset="0"/>
                <a:ea typeface="Funnel Sans" pitchFamily="34" charset="-122"/>
                <a:cs typeface="Funnel Sans" pitchFamily="34" charset="-120"/>
              </a:rPr>
              <a:t>Speaker Notes:</a:t>
            </a:r>
            <a:pPr algn="l" indent="0" marL="0">
              <a:lnSpc>
                <a:spcPct val="127000"/>
              </a:lnSpc>
              <a:buNone/>
            </a:pPr>
            <a:r>
              <a:rPr lang="en-US" sz="1000" dirty="0">
                <a:solidFill>
                  <a:srgbClr val="FFFFFF"/>
                </a:solidFill>
                <a:latin typeface="Funnel Sans" pitchFamily="34" charset="0"/>
                <a:ea typeface="Funnel Sans" pitchFamily="34" charset="-122"/>
                <a:cs typeface="Funnel Sans" pitchFamily="34" charset="-120"/>
              </a:rPr>
              <a:t> Close with energy and optimism. Recap the four key messages: climate change is real, urgent, solvable, and this generation is uniquely positioned to drive change. Leave time for questions — students often have thoughtful ones about careers, personal choices, or global politics. Consider ending with a call to action: "What is one thing you will do differently after today?" Provide additional resources: NASA Climate Kids, Project Drawdown, the IPCC Summary for Policymakers (accessible version), and local environmental organizations. Thank students for their attention and engagement.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2026-06-18T11:18:11Z</dcterms:created>
  <dcterms:modified xsi:type="dcterms:W3CDTF">2026-06-18T11:18:11Z</dcterms:modified>
</cp:coreProperties>
</file>