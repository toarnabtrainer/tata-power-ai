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Lora"/>
      <p:regular r:id="rId17"/>
    </p:embeddedFont>
    <p:embeddedFont>
      <p:font typeface="Lora Bold"/>
      <p:regular r:id="rId18"/>
    </p:embeddedFont>
    <p:embeddedFont>
      <p:font typeface="Source Sans 3"/>
      <p:regular r:id="rId19"/>
    </p:embeddedFont>
    <p:embeddedFont>
      <p:font typeface="Source Sans 3 Bold"/>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important.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24"/>
          </a:solidFill>
          <a:ln/>
        </p:spPr>
      </p:sp>
      <p:sp>
        <p:nvSpPr>
          <p:cNvPr id="3" name="Shape 1"/>
          <p:cNvSpPr/>
          <p:nvPr/>
        </p:nvSpPr>
        <p:spPr>
          <a:xfrm>
            <a:off x="0" y="0"/>
            <a:ext cx="9144000" cy="51435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633189"/>
            <a:ext cx="5125045" cy="607219"/>
          </a:xfrm>
          <a:prstGeom prst="rect">
            <a:avLst/>
          </a:prstGeom>
          <a:noFill/>
          <a:ln/>
        </p:spPr>
        <p:txBody>
          <a:bodyPr wrap="none" lIns="0" tIns="0" rIns="0" bIns="0" rtlCol="0" anchor="t"/>
          <a:lstStyle/>
          <a:p>
            <a:pPr algn="l" indent="0" marL="0">
              <a:lnSpc>
                <a:spcPct val="104000"/>
              </a:lnSpc>
              <a:buNone/>
            </a:pPr>
            <a:r>
              <a:rPr lang="en-US" sz="3800" dirty="0">
                <a:solidFill>
                  <a:srgbClr val="F98AC7"/>
                </a:solidFill>
                <a:latin typeface="Lora" pitchFamily="34" charset="0"/>
                <a:ea typeface="Lora" pitchFamily="34" charset="-122"/>
                <a:cs typeface="Lora" pitchFamily="34" charset="-120"/>
              </a:rPr>
              <a:t>Noodle House</a:t>
            </a:r>
            <a:endParaRPr lang="en-US" sz="3800" dirty="0"/>
          </a:p>
        </p:txBody>
      </p:sp>
      <p:sp>
        <p:nvSpPr>
          <p:cNvPr id="4" name="Text 1"/>
          <p:cNvSpPr/>
          <p:nvPr/>
        </p:nvSpPr>
        <p:spPr>
          <a:xfrm>
            <a:off x="3952577" y="1464766"/>
            <a:ext cx="4667845" cy="88002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Facebook Marketing Strategy</a:t>
            </a:r>
            <a:endParaRPr lang="en-US" sz="2750" dirty="0"/>
          </a:p>
        </p:txBody>
      </p:sp>
      <p:sp>
        <p:nvSpPr>
          <p:cNvPr id="5" name="Text 2"/>
          <p:cNvSpPr/>
          <p:nvPr/>
        </p:nvSpPr>
        <p:spPr>
          <a:xfrm>
            <a:off x="3952577" y="2569146"/>
            <a:ext cx="4667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Bringing authentic, quick, and delicious noodles to the hearts and feeds of urban India.</a:t>
            </a:r>
            <a:endParaRPr lang="en-US" sz="1150" dirty="0"/>
          </a:p>
        </p:txBody>
      </p:sp>
      <p:sp>
        <p:nvSpPr>
          <p:cNvPr id="6" name="Text 3"/>
          <p:cNvSpPr/>
          <p:nvPr/>
        </p:nvSpPr>
        <p:spPr>
          <a:xfrm>
            <a:off x="4176936" y="3384426"/>
            <a:ext cx="4443487" cy="95756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Speaker Notes: "Welcome everyone. Today, Rohit and I are thrilled to present our Facebook Marketing Strategy for Noodle House. Our goal is to transform our passion for authentic, quick-service noodles into a highly engaging digital brand that drives foot traffic and online orders."</a:t>
            </a:r>
            <a:endParaRPr lang="en-US" sz="1150" dirty="0"/>
          </a:p>
        </p:txBody>
      </p:sp>
      <p:sp>
        <p:nvSpPr>
          <p:cNvPr id="7" name="Shape 4"/>
          <p:cNvSpPr/>
          <p:nvPr/>
        </p:nvSpPr>
        <p:spPr>
          <a:xfrm>
            <a:off x="3952577" y="3216176"/>
            <a:ext cx="19050" cy="1294061"/>
          </a:xfrm>
          <a:prstGeom prst="rect">
            <a:avLst/>
          </a:prstGeom>
          <a:solidFill>
            <a:srgbClr val="F98AC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0910" y="563910"/>
            <a:ext cx="3059534" cy="1733699"/>
          </a:xfrm>
          <a:prstGeom prst="rect">
            <a:avLst/>
          </a:prstGeom>
        </p:spPr>
      </p:pic>
      <p:sp>
        <p:nvSpPr>
          <p:cNvPr id="3" name="Shape 0"/>
          <p:cNvSpPr/>
          <p:nvPr/>
        </p:nvSpPr>
        <p:spPr>
          <a:xfrm>
            <a:off x="3897362" y="733425"/>
            <a:ext cx="707827" cy="257994"/>
          </a:xfrm>
          <a:prstGeom prst="roundRect">
            <a:avLst>
              <a:gd name="adj" fmla="val 6524"/>
            </a:avLst>
          </a:prstGeom>
          <a:solidFill>
            <a:srgbClr val="49042A"/>
          </a:solidFill>
          <a:ln/>
        </p:spPr>
      </p:sp>
      <p:sp>
        <p:nvSpPr>
          <p:cNvPr id="4" name="Text 1"/>
          <p:cNvSpPr/>
          <p:nvPr/>
        </p:nvSpPr>
        <p:spPr>
          <a:xfrm>
            <a:off x="3981450" y="775469"/>
            <a:ext cx="996851" cy="173906"/>
          </a:xfrm>
          <a:prstGeom prst="rect">
            <a:avLst/>
          </a:prstGeom>
          <a:noFill/>
          <a:ln/>
        </p:spPr>
        <p:txBody>
          <a:bodyPr wrap="none" lIns="0" tIns="0" rIns="0" bIns="0" rtlCol="0" anchor="t"/>
          <a:lstStyle/>
          <a:p>
            <a:pPr algn="l" indent="0" marL="0">
              <a:lnSpc>
                <a:spcPct val="129000"/>
              </a:lnSpc>
              <a:buNone/>
            </a:pPr>
            <a:r>
              <a:rPr lang="en-US" sz="850" dirty="0">
                <a:solidFill>
                  <a:srgbClr val="D6E5EF"/>
                </a:solidFill>
                <a:latin typeface="Source Sans 3" pitchFamily="34" charset="0"/>
                <a:ea typeface="Source Sans 3" pitchFamily="34" charset="-122"/>
                <a:cs typeface="Source Sans 3" pitchFamily="34" charset="-120"/>
              </a:rPr>
              <a:t>OUR STORY</a:t>
            </a:r>
            <a:endParaRPr lang="en-US" sz="850" dirty="0"/>
          </a:p>
        </p:txBody>
      </p:sp>
      <p:sp>
        <p:nvSpPr>
          <p:cNvPr id="5" name="Text 2"/>
          <p:cNvSpPr/>
          <p:nvPr/>
        </p:nvSpPr>
        <p:spPr>
          <a:xfrm>
            <a:off x="3897362" y="1043955"/>
            <a:ext cx="3097411" cy="330026"/>
          </a:xfrm>
          <a:prstGeom prst="rect">
            <a:avLst/>
          </a:prstGeom>
          <a:noFill/>
          <a:ln/>
        </p:spPr>
        <p:txBody>
          <a:bodyPr wrap="none" lIns="0" tIns="0" rIns="0" bIns="0" rtlCol="0" anchor="t"/>
          <a:lstStyle/>
          <a:p>
            <a:pPr algn="l" indent="0" marL="0">
              <a:lnSpc>
                <a:spcPct val="104000"/>
              </a:lnSpc>
              <a:buNone/>
            </a:pPr>
            <a:r>
              <a:rPr lang="en-US" sz="2050" dirty="0">
                <a:solidFill>
                  <a:srgbClr val="F98AC7"/>
                </a:solidFill>
                <a:latin typeface="Lora" pitchFamily="34" charset="0"/>
                <a:ea typeface="Lora" pitchFamily="34" charset="-122"/>
                <a:cs typeface="Lora" pitchFamily="34" charset="-120"/>
              </a:rPr>
              <a:t>Meet Noodle House</a:t>
            </a:r>
            <a:endParaRPr lang="en-US" sz="2050" dirty="0"/>
          </a:p>
        </p:txBody>
      </p:sp>
      <p:sp>
        <p:nvSpPr>
          <p:cNvPr id="6" name="Text 3"/>
          <p:cNvSpPr/>
          <p:nvPr/>
        </p:nvSpPr>
        <p:spPr>
          <a:xfrm>
            <a:off x="3897362" y="1505471"/>
            <a:ext cx="4760416" cy="652090"/>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D6E5EF"/>
                </a:solidFill>
                <a:latin typeface="Source Sans 3" pitchFamily="34" charset="0"/>
                <a:ea typeface="Source Sans 3" pitchFamily="34" charset="-122"/>
                <a:cs typeface="Source Sans 3" pitchFamily="34" charset="-120"/>
              </a:rPr>
              <a:t>Founded by Karan and Rohit, </a:t>
            </a:r>
            <a:pPr algn="l" indent="0" marL="0">
              <a:lnSpc>
                <a:spcPct val="129000"/>
              </a:lnSpc>
              <a:buNone/>
            </a:pPr>
            <a:r>
              <a:rPr lang="en-US" sz="1100" b="1" dirty="0">
                <a:solidFill>
                  <a:srgbClr val="F5A3A3"/>
                </a:solidFill>
                <a:latin typeface="Source Sans 3" pitchFamily="34" charset="0"/>
                <a:ea typeface="Source Sans 3" pitchFamily="34" charset="-122"/>
                <a:cs typeface="Source Sans 3" pitchFamily="34" charset="-120"/>
              </a:rPr>
              <a:t>Noodle House</a:t>
            </a:r>
            <a:pPr algn="l" indent="0" marL="0">
              <a:lnSpc>
                <a:spcPct val="129000"/>
              </a:lnSpc>
              <a:buNone/>
            </a:pPr>
            <a:r>
              <a:rPr lang="en-US" sz="1100" dirty="0">
                <a:solidFill>
                  <a:srgbClr val="D6E5EF"/>
                </a:solidFill>
                <a:latin typeface="Source Sans 3" pitchFamily="34" charset="0"/>
                <a:ea typeface="Source Sans 3" pitchFamily="34" charset="-122"/>
                <a:cs typeface="Source Sans 3" pitchFamily="34" charset="-120"/>
              </a:rPr>
              <a:t> is born out of a pure passion for authentic, quick-service street-style noodles. We are redefining the QSR model for India's fast-paced urban dwellers.</a:t>
            </a:r>
            <a:endParaRPr lang="en-US" sz="1100" dirty="0"/>
          </a:p>
        </p:txBody>
      </p:sp>
      <p:sp>
        <p:nvSpPr>
          <p:cNvPr id="7" name="Shape 4"/>
          <p:cNvSpPr/>
          <p:nvPr/>
        </p:nvSpPr>
        <p:spPr>
          <a:xfrm>
            <a:off x="490910" y="2593330"/>
            <a:ext cx="4015308" cy="1038374"/>
          </a:xfrm>
          <a:prstGeom prst="roundRect">
            <a:avLst>
              <a:gd name="adj" fmla="val 8806"/>
            </a:avLst>
          </a:prstGeom>
          <a:solidFill>
            <a:srgbClr val="252833"/>
          </a:solidFill>
          <a:ln w="19050">
            <a:solidFill>
              <a:srgbClr val="5D606B"/>
            </a:solidFill>
            <a:prstDash val="solid"/>
          </a:ln>
        </p:spPr>
      </p:sp>
      <p:pic>
        <p:nvPicPr>
          <p:cNvPr id="8" name="Image 1" descr="preencoded.png">    </p:cNvPr>
          <p:cNvPicPr>
            <a:picLocks noChangeAspect="1"/>
          </p:cNvPicPr>
          <p:nvPr/>
        </p:nvPicPr>
        <p:blipFill>
          <a:blip r:embed="rId2"/>
          <a:stretch>
            <a:fillRect/>
          </a:stretch>
        </p:blipFill>
        <p:spPr>
          <a:xfrm>
            <a:off x="471860" y="2593330"/>
            <a:ext cx="76200" cy="1038374"/>
          </a:xfrm>
          <a:prstGeom prst="rect">
            <a:avLst/>
          </a:prstGeom>
        </p:spPr>
      </p:pic>
      <p:sp>
        <p:nvSpPr>
          <p:cNvPr id="9" name="Text 5"/>
          <p:cNvSpPr/>
          <p:nvPr/>
        </p:nvSpPr>
        <p:spPr>
          <a:xfrm>
            <a:off x="707306" y="2752576"/>
            <a:ext cx="1921297" cy="206276"/>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Quick Service Excellence</a:t>
            </a:r>
            <a:endParaRPr lang="en-US" sz="1250" dirty="0"/>
          </a:p>
        </p:txBody>
      </p:sp>
      <p:sp>
        <p:nvSpPr>
          <p:cNvPr id="10" name="Text 6"/>
          <p:cNvSpPr/>
          <p:nvPr/>
        </p:nvSpPr>
        <p:spPr>
          <a:xfrm>
            <a:off x="707306" y="3037731"/>
            <a:ext cx="3639666"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D6E5EF"/>
                </a:solidFill>
                <a:latin typeface="Source Sans 3" pitchFamily="34" charset="0"/>
                <a:ea typeface="Source Sans 3" pitchFamily="34" charset="-122"/>
                <a:cs typeface="Source Sans 3" pitchFamily="34" charset="-120"/>
              </a:rPr>
              <a:t>Hot, fresh, and customizable noodle bowls served in under five minutes.</a:t>
            </a:r>
            <a:endParaRPr lang="en-US" sz="1100" dirty="0"/>
          </a:p>
        </p:txBody>
      </p:sp>
      <p:sp>
        <p:nvSpPr>
          <p:cNvPr id="11" name="Shape 7"/>
          <p:cNvSpPr/>
          <p:nvPr/>
        </p:nvSpPr>
        <p:spPr>
          <a:xfrm>
            <a:off x="4637708" y="2593330"/>
            <a:ext cx="4015383" cy="1038374"/>
          </a:xfrm>
          <a:prstGeom prst="roundRect">
            <a:avLst>
              <a:gd name="adj" fmla="val 8806"/>
            </a:avLst>
          </a:prstGeom>
          <a:solidFill>
            <a:srgbClr val="252833"/>
          </a:solidFill>
          <a:ln w="19050">
            <a:solidFill>
              <a:srgbClr val="5D606B"/>
            </a:solidFill>
            <a:prstDash val="solid"/>
          </a:ln>
        </p:spPr>
      </p:sp>
      <p:pic>
        <p:nvPicPr>
          <p:cNvPr id="12" name="Image 2" descr="preencoded.png">    </p:cNvPr>
          <p:cNvPicPr>
            <a:picLocks noChangeAspect="1"/>
          </p:cNvPicPr>
          <p:nvPr/>
        </p:nvPicPr>
        <p:blipFill>
          <a:blip r:embed="rId3"/>
          <a:stretch>
            <a:fillRect/>
          </a:stretch>
        </p:blipFill>
        <p:spPr>
          <a:xfrm>
            <a:off x="4618658" y="2593330"/>
            <a:ext cx="76200" cy="1038374"/>
          </a:xfrm>
          <a:prstGeom prst="rect">
            <a:avLst/>
          </a:prstGeom>
        </p:spPr>
      </p:pic>
      <p:sp>
        <p:nvSpPr>
          <p:cNvPr id="13" name="Text 8"/>
          <p:cNvSpPr/>
          <p:nvPr/>
        </p:nvSpPr>
        <p:spPr>
          <a:xfrm>
            <a:off x="4854104" y="2752576"/>
            <a:ext cx="1880592" cy="206276"/>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Uncompromised Quality</a:t>
            </a:r>
            <a:endParaRPr lang="en-US" sz="1250" dirty="0"/>
          </a:p>
        </p:txBody>
      </p:sp>
      <p:sp>
        <p:nvSpPr>
          <p:cNvPr id="14" name="Text 9"/>
          <p:cNvSpPr/>
          <p:nvPr/>
        </p:nvSpPr>
        <p:spPr>
          <a:xfrm>
            <a:off x="4854104" y="3037731"/>
            <a:ext cx="3639741"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D6E5EF"/>
                </a:solidFill>
                <a:latin typeface="Source Sans 3" pitchFamily="34" charset="0"/>
                <a:ea typeface="Source Sans 3" pitchFamily="34" charset="-122"/>
                <a:cs typeface="Source Sans 3" pitchFamily="34" charset="-120"/>
              </a:rPr>
              <a:t>Using daily-prepped fresh vegetables, signature handmade sauces, and premium ingredients.</a:t>
            </a:r>
            <a:endParaRPr lang="en-US" sz="1100" dirty="0"/>
          </a:p>
        </p:txBody>
      </p:sp>
      <p:sp>
        <p:nvSpPr>
          <p:cNvPr id="15" name="Text 10"/>
          <p:cNvSpPr/>
          <p:nvPr/>
        </p:nvSpPr>
        <p:spPr>
          <a:xfrm>
            <a:off x="701278" y="3927425"/>
            <a:ext cx="7951812" cy="652090"/>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D6E5EF"/>
                </a:solidFill>
                <a:latin typeface="Source Sans 3" pitchFamily="34" charset="0"/>
                <a:ea typeface="Source Sans 3" pitchFamily="34" charset="-122"/>
                <a:cs typeface="Source Sans 3" pitchFamily="34" charset="-120"/>
              </a:rPr>
              <a:t> Speaker Notes: "Noodle House was founded because Rohit and I couldn't find quick, high-quality, authentic noodles during our busy workdays. We've designed a Quick Service Restaurant model that serves fresh, customizable, and steaming hot noodle bowls in minutes without compromising on flavor."</a:t>
            </a:r>
            <a:endParaRPr lang="en-US" sz="1100" dirty="0"/>
          </a:p>
        </p:txBody>
      </p:sp>
      <p:sp>
        <p:nvSpPr>
          <p:cNvPr id="16" name="Shape 11"/>
          <p:cNvSpPr/>
          <p:nvPr/>
        </p:nvSpPr>
        <p:spPr>
          <a:xfrm>
            <a:off x="490910" y="3779565"/>
            <a:ext cx="19050" cy="947812"/>
          </a:xfrm>
          <a:prstGeom prst="rect">
            <a:avLst/>
          </a:prstGeom>
          <a:solidFill>
            <a:srgbClr val="F98AC7"/>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4538" y="377130"/>
            <a:ext cx="5496446" cy="398711"/>
          </a:xfrm>
          <a:prstGeom prst="rect">
            <a:avLst/>
          </a:prstGeom>
          <a:noFill/>
          <a:ln/>
        </p:spPr>
        <p:txBody>
          <a:bodyPr wrap="none" lIns="0" tIns="0" rIns="0" bIns="0" rtlCol="0" anchor="t"/>
          <a:lstStyle/>
          <a:p>
            <a:pPr algn="l" indent="0" marL="0">
              <a:lnSpc>
                <a:spcPct val="104000"/>
              </a:lnSpc>
              <a:buNone/>
            </a:pPr>
            <a:r>
              <a:rPr lang="en-US" sz="2500" dirty="0">
                <a:solidFill>
                  <a:srgbClr val="F98AC7"/>
                </a:solidFill>
                <a:latin typeface="Lora" pitchFamily="34" charset="0"/>
                <a:ea typeface="Lora" pitchFamily="34" charset="-122"/>
                <a:cs typeface="Lora" pitchFamily="34" charset="-120"/>
              </a:rPr>
              <a:t>Our Target Audience on Facebook</a:t>
            </a:r>
            <a:endParaRPr lang="en-US" sz="2500" dirty="0"/>
          </a:p>
        </p:txBody>
      </p:sp>
      <p:sp>
        <p:nvSpPr>
          <p:cNvPr id="3" name="Text 1"/>
          <p:cNvSpPr/>
          <p:nvPr/>
        </p:nvSpPr>
        <p:spPr>
          <a:xfrm>
            <a:off x="474538" y="1021556"/>
            <a:ext cx="8652123" cy="206722"/>
          </a:xfrm>
          <a:prstGeom prst="rect">
            <a:avLst/>
          </a:prstGeom>
          <a:noFill/>
          <a:ln/>
        </p:spPr>
        <p:txBody>
          <a:bodyPr wrap="none" lIns="0" tIns="0" rIns="0" bIns="0" rtlCol="0" anchor="t"/>
          <a:lstStyle/>
          <a:p>
            <a:pPr algn="l" indent="0" marL="0">
              <a:lnSpc>
                <a:spcPct val="127000"/>
              </a:lnSpc>
              <a:buNone/>
            </a:pPr>
            <a:r>
              <a:rPr lang="en-US" sz="1050" dirty="0">
                <a:solidFill>
                  <a:srgbClr val="D6E5EF"/>
                </a:solidFill>
                <a:latin typeface="Source Sans 3" pitchFamily="34" charset="0"/>
                <a:ea typeface="Source Sans 3" pitchFamily="34" charset="-122"/>
                <a:cs typeface="Source Sans 3" pitchFamily="34" charset="-120"/>
              </a:rPr>
              <a:t>We focus our marketing efforts on high-intent urban demographics who value flavor, speed, and culinary exploration.</a:t>
            </a:r>
            <a:endParaRPr lang="en-US" sz="1050" dirty="0"/>
          </a:p>
        </p:txBody>
      </p:sp>
      <p:pic>
        <p:nvPicPr>
          <p:cNvPr id="4" name="Image 0" descr="preencoded.png">    </p:cNvPr>
          <p:cNvPicPr>
            <a:picLocks noChangeAspect="1"/>
          </p:cNvPicPr>
          <p:nvPr/>
        </p:nvPicPr>
        <p:blipFill>
          <a:blip r:embed="rId1"/>
          <a:stretch>
            <a:fillRect/>
          </a:stretch>
        </p:blipFill>
        <p:spPr>
          <a:xfrm>
            <a:off x="474538" y="1366465"/>
            <a:ext cx="1524893" cy="1524893"/>
          </a:xfrm>
          <a:prstGeom prst="rect">
            <a:avLst/>
          </a:prstGeom>
        </p:spPr>
      </p:pic>
      <p:sp>
        <p:nvSpPr>
          <p:cNvPr id="5" name="Text 2"/>
          <p:cNvSpPr/>
          <p:nvPr/>
        </p:nvSpPr>
        <p:spPr>
          <a:xfrm>
            <a:off x="474538" y="3044949"/>
            <a:ext cx="1595065" cy="199430"/>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Young Professionals</a:t>
            </a:r>
            <a:endParaRPr lang="en-US" sz="1250" dirty="0"/>
          </a:p>
        </p:txBody>
      </p:sp>
      <p:sp>
        <p:nvSpPr>
          <p:cNvPr id="6" name="Text 3"/>
          <p:cNvSpPr/>
          <p:nvPr/>
        </p:nvSpPr>
        <p:spPr>
          <a:xfrm>
            <a:off x="474538" y="3318049"/>
            <a:ext cx="2629198"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D6E5EF"/>
                </a:solidFill>
                <a:latin typeface="Source Sans 3" pitchFamily="34" charset="0"/>
                <a:ea typeface="Source Sans 3" pitchFamily="34" charset="-122"/>
                <a:cs typeface="Source Sans 3" pitchFamily="34" charset="-120"/>
              </a:rPr>
              <a:t>Aged 22-35, looking for quick, high-quality, and delicious lunch or dinner options during hectic workdays.</a:t>
            </a:r>
            <a:endParaRPr lang="en-US" sz="1050" dirty="0"/>
          </a:p>
        </p:txBody>
      </p:sp>
      <p:pic>
        <p:nvPicPr>
          <p:cNvPr id="7" name="Image 1" descr="preencoded.png">    </p:cNvPr>
          <p:cNvPicPr>
            <a:picLocks noChangeAspect="1"/>
          </p:cNvPicPr>
          <p:nvPr/>
        </p:nvPicPr>
        <p:blipFill>
          <a:blip r:embed="rId2"/>
          <a:stretch>
            <a:fillRect/>
          </a:stretch>
        </p:blipFill>
        <p:spPr>
          <a:xfrm>
            <a:off x="3257327" y="1366465"/>
            <a:ext cx="1524967" cy="1524967"/>
          </a:xfrm>
          <a:prstGeom prst="rect">
            <a:avLst/>
          </a:prstGeom>
        </p:spPr>
      </p:pic>
      <p:sp>
        <p:nvSpPr>
          <p:cNvPr id="8" name="Text 4"/>
          <p:cNvSpPr/>
          <p:nvPr/>
        </p:nvSpPr>
        <p:spPr>
          <a:xfrm>
            <a:off x="3257327" y="3045023"/>
            <a:ext cx="1595065" cy="199430"/>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Students &amp; Families</a:t>
            </a:r>
            <a:endParaRPr lang="en-US" sz="1250" dirty="0"/>
          </a:p>
        </p:txBody>
      </p:sp>
      <p:sp>
        <p:nvSpPr>
          <p:cNvPr id="9" name="Text 5"/>
          <p:cNvSpPr/>
          <p:nvPr/>
        </p:nvSpPr>
        <p:spPr>
          <a:xfrm>
            <a:off x="3257327" y="3318123"/>
            <a:ext cx="2629272"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D6E5EF"/>
                </a:solidFill>
                <a:latin typeface="Source Sans 3" pitchFamily="34" charset="0"/>
                <a:ea typeface="Source Sans 3" pitchFamily="34" charset="-122"/>
                <a:cs typeface="Source Sans 3" pitchFamily="34" charset="-120"/>
              </a:rPr>
              <a:t>Budget-conscious food lovers seeking generous portions, exciting menu options, and convenient dining.</a:t>
            </a:r>
            <a:endParaRPr lang="en-US" sz="1050" dirty="0"/>
          </a:p>
        </p:txBody>
      </p:sp>
      <p:pic>
        <p:nvPicPr>
          <p:cNvPr id="10" name="Image 2" descr="preencoded.png">    </p:cNvPr>
          <p:cNvPicPr>
            <a:picLocks noChangeAspect="1"/>
          </p:cNvPicPr>
          <p:nvPr/>
        </p:nvPicPr>
        <p:blipFill>
          <a:blip r:embed="rId3"/>
          <a:stretch>
            <a:fillRect/>
          </a:stretch>
        </p:blipFill>
        <p:spPr>
          <a:xfrm>
            <a:off x="6040189" y="1366465"/>
            <a:ext cx="1524967" cy="1524967"/>
          </a:xfrm>
          <a:prstGeom prst="rect">
            <a:avLst/>
          </a:prstGeom>
        </p:spPr>
      </p:pic>
      <p:sp>
        <p:nvSpPr>
          <p:cNvPr id="11" name="Text 6"/>
          <p:cNvSpPr/>
          <p:nvPr/>
        </p:nvSpPr>
        <p:spPr>
          <a:xfrm>
            <a:off x="6040189" y="3045023"/>
            <a:ext cx="1595065" cy="199430"/>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Food Explorers</a:t>
            </a:r>
            <a:endParaRPr lang="en-US" sz="1250" dirty="0"/>
          </a:p>
        </p:txBody>
      </p:sp>
      <p:sp>
        <p:nvSpPr>
          <p:cNvPr id="12" name="Text 7"/>
          <p:cNvSpPr/>
          <p:nvPr/>
        </p:nvSpPr>
        <p:spPr>
          <a:xfrm>
            <a:off x="6040189" y="3318123"/>
            <a:ext cx="2629272" cy="620167"/>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D6E5EF"/>
                </a:solidFill>
                <a:latin typeface="Source Sans 3" pitchFamily="34" charset="0"/>
                <a:ea typeface="Source Sans 3" pitchFamily="34" charset="-122"/>
                <a:cs typeface="Source Sans 3" pitchFamily="34" charset="-120"/>
              </a:rPr>
              <a:t>Passionate foodies actively searching local culinary hubs, chasing trends, and sharing their discoveries online.</a:t>
            </a:r>
            <a:endParaRPr lang="en-US" sz="1050" dirty="0"/>
          </a:p>
        </p:txBody>
      </p:sp>
      <p:sp>
        <p:nvSpPr>
          <p:cNvPr id="13" name="Text 8"/>
          <p:cNvSpPr/>
          <p:nvPr/>
        </p:nvSpPr>
        <p:spPr>
          <a:xfrm>
            <a:off x="677912" y="4214664"/>
            <a:ext cx="7991549"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D6E5EF"/>
                </a:solidFill>
                <a:latin typeface="Source Sans 3" pitchFamily="34" charset="0"/>
                <a:ea typeface="Source Sans 3" pitchFamily="34" charset="-122"/>
                <a:cs typeface="Source Sans 3" pitchFamily="34" charset="-120"/>
              </a:rPr>
              <a:t> Speaker Notes: "Our Facebook targeting is highly specific. Our primary audience consists of young professionals who want a fast but premium meal. We also target local students and families who seek value, alongside active food explorers who love sharing their food journeys online."</a:t>
            </a:r>
            <a:endParaRPr lang="en-US" sz="1050" dirty="0"/>
          </a:p>
        </p:txBody>
      </p:sp>
      <p:sp>
        <p:nvSpPr>
          <p:cNvPr id="14" name="Shape 9"/>
          <p:cNvSpPr/>
          <p:nvPr/>
        </p:nvSpPr>
        <p:spPr>
          <a:xfrm>
            <a:off x="474538" y="4076477"/>
            <a:ext cx="19050" cy="689818"/>
          </a:xfrm>
          <a:prstGeom prst="rect">
            <a:avLst/>
          </a:prstGeom>
          <a:solidFill>
            <a:srgbClr val="F98AC7"/>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15392" y="686395"/>
            <a:ext cx="934566" cy="275258"/>
          </a:xfrm>
          <a:prstGeom prst="roundRect">
            <a:avLst>
              <a:gd name="adj" fmla="val 6421"/>
            </a:avLst>
          </a:prstGeom>
          <a:solidFill>
            <a:srgbClr val="49042A"/>
          </a:solidFill>
          <a:ln/>
        </p:spPr>
      </p:sp>
      <p:sp>
        <p:nvSpPr>
          <p:cNvPr id="3" name="Text 1"/>
          <p:cNvSpPr/>
          <p:nvPr/>
        </p:nvSpPr>
        <p:spPr>
          <a:xfrm>
            <a:off x="603721" y="730523"/>
            <a:ext cx="1215107" cy="187003"/>
          </a:xfrm>
          <a:prstGeom prst="rect">
            <a:avLst/>
          </a:prstGeom>
          <a:noFill/>
          <a:ln/>
        </p:spPr>
        <p:txBody>
          <a:bodyPr wrap="none" lIns="0" tIns="0" rIns="0" bIns="0" rtlCol="0" anchor="t"/>
          <a:lstStyle/>
          <a:p>
            <a:pPr algn="l" indent="0" marL="0">
              <a:lnSpc>
                <a:spcPct val="132000"/>
              </a:lnSpc>
              <a:buNone/>
            </a:pPr>
            <a:r>
              <a:rPr lang="en-US" sz="900" dirty="0">
                <a:solidFill>
                  <a:srgbClr val="D6E5EF"/>
                </a:solidFill>
                <a:latin typeface="Source Sans 3" pitchFamily="34" charset="0"/>
                <a:ea typeface="Source Sans 3" pitchFamily="34" charset="-122"/>
                <a:cs typeface="Source Sans 3" pitchFamily="34" charset="-120"/>
              </a:rPr>
              <a:t>THE PLATFORM</a:t>
            </a:r>
            <a:endParaRPr lang="en-US" sz="900" dirty="0"/>
          </a:p>
        </p:txBody>
      </p:sp>
      <p:sp>
        <p:nvSpPr>
          <p:cNvPr id="4" name="Text 2"/>
          <p:cNvSpPr/>
          <p:nvPr/>
        </p:nvSpPr>
        <p:spPr>
          <a:xfrm>
            <a:off x="515392" y="1019621"/>
            <a:ext cx="3420740" cy="346472"/>
          </a:xfrm>
          <a:prstGeom prst="rect">
            <a:avLst/>
          </a:prstGeom>
          <a:noFill/>
          <a:ln/>
        </p:spPr>
        <p:txBody>
          <a:bodyPr wrap="none" lIns="0" tIns="0" rIns="0" bIns="0" rtlCol="0" anchor="t"/>
          <a:lstStyle/>
          <a:p>
            <a:pPr algn="l" indent="0" marL="0">
              <a:lnSpc>
                <a:spcPct val="104000"/>
              </a:lnSpc>
              <a:buNone/>
            </a:pPr>
            <a:r>
              <a:rPr lang="en-US" sz="2150" dirty="0">
                <a:solidFill>
                  <a:srgbClr val="F98AC7"/>
                </a:solidFill>
                <a:latin typeface="Lora" pitchFamily="34" charset="0"/>
                <a:ea typeface="Lora" pitchFamily="34" charset="-122"/>
                <a:cs typeface="Lora" pitchFamily="34" charset="-120"/>
              </a:rPr>
              <a:t>Why Facebook Matters</a:t>
            </a:r>
            <a:endParaRPr lang="en-US" sz="2150" dirty="0"/>
          </a:p>
        </p:txBody>
      </p:sp>
      <p:sp>
        <p:nvSpPr>
          <p:cNvPr id="5" name="Text 3"/>
          <p:cNvSpPr/>
          <p:nvPr/>
        </p:nvSpPr>
        <p:spPr>
          <a:xfrm>
            <a:off x="515392" y="1511052"/>
            <a:ext cx="4724177" cy="467469"/>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Facebook remains India's most powerful social platform for local business discovery and highly targeted customer acquisition.</a:t>
            </a:r>
            <a:endParaRPr lang="en-US" sz="1150" dirty="0"/>
          </a:p>
        </p:txBody>
      </p:sp>
      <p:sp>
        <p:nvSpPr>
          <p:cNvPr id="6" name="Text 4"/>
          <p:cNvSpPr/>
          <p:nvPr/>
        </p:nvSpPr>
        <p:spPr>
          <a:xfrm>
            <a:off x="515392" y="2108969"/>
            <a:ext cx="4724177" cy="1503759"/>
          </a:xfrm>
          <a:prstGeom prst="rect">
            <a:avLst/>
          </a:prstGeom>
          <a:noFill/>
          <a:ln/>
        </p:spPr>
        <p:txBody>
          <a:bodyPr wrap="square" lIns="0" tIns="0" rIns="0" bIns="0" rtlCol="0" anchor="t">
            <a:normAutofit/>
          </a:bodyPr>
          <a:lstStyle/>
          <a:p>
            <a:pPr algn="l" marL="342900" indent="-342900">
              <a:lnSpc>
                <a:spcPct val="132000"/>
              </a:lnSpc>
              <a:buSzPct val="100000"/>
              <a:buChar char="•"/>
            </a:pPr>
            <a:r>
              <a:rPr lang="en-US" sz="1150" b="1" dirty="0">
                <a:solidFill>
                  <a:srgbClr val="D6E5EF"/>
                </a:solidFill>
                <a:latin typeface="Source Sans 3" pitchFamily="34" charset="0"/>
                <a:ea typeface="Source Sans 3" pitchFamily="34" charset="-122"/>
                <a:cs typeface="Source Sans 3" pitchFamily="34" charset="-120"/>
              </a:rPr>
              <a:t>Hyper-Local Reach:</a:t>
            </a:r>
            <a:pPr algn="l" marL="342900" indent="-342900">
              <a:lnSpc>
                <a:spcPct val="132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 Target hungry customers within a precise 3-5 km radius of our outlets.</a:t>
            </a:r>
            <a:endParaRPr lang="en-US" sz="1150" dirty="0"/>
          </a:p>
          <a:p>
            <a:pPr algn="l" marL="342900" indent="-342900">
              <a:lnSpc>
                <a:spcPct val="132000"/>
              </a:lnSpc>
              <a:buSzPct val="100000"/>
              <a:buChar char="•"/>
            </a:pPr>
            <a:r>
              <a:rPr lang="en-US" sz="1150" b="1" dirty="0">
                <a:solidFill>
                  <a:srgbClr val="D6E5EF"/>
                </a:solidFill>
                <a:latin typeface="Source Sans 3" pitchFamily="34" charset="0"/>
                <a:ea typeface="Source Sans 3" pitchFamily="34" charset="-122"/>
                <a:cs typeface="Source Sans 3" pitchFamily="34" charset="-120"/>
              </a:rPr>
              <a:t>Visual Storytelling:</a:t>
            </a:r>
            <a:pPr algn="l" marL="342900" indent="-342900">
              <a:lnSpc>
                <a:spcPct val="132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 Captivate audiences with high-definition cooking videos and food close-ups.</a:t>
            </a:r>
            <a:endParaRPr lang="en-US" sz="1150" dirty="0"/>
          </a:p>
          <a:p>
            <a:pPr algn="l" marL="342900" indent="-342900">
              <a:lnSpc>
                <a:spcPct val="132000"/>
              </a:lnSpc>
              <a:buSzPct val="100000"/>
              <a:buChar char="•"/>
            </a:pPr>
            <a:r>
              <a:rPr lang="en-US" sz="1150" b="1" dirty="0">
                <a:solidFill>
                  <a:srgbClr val="D6E5EF"/>
                </a:solidFill>
                <a:latin typeface="Source Sans 3" pitchFamily="34" charset="0"/>
                <a:ea typeface="Source Sans 3" pitchFamily="34" charset="-122"/>
                <a:cs typeface="Source Sans 3" pitchFamily="34" charset="-120"/>
              </a:rPr>
              <a:t>Direct Social Commerce:</a:t>
            </a:r>
            <a:pPr algn="l" marL="342900" indent="-342900">
              <a:lnSpc>
                <a:spcPct val="132000"/>
              </a:lnSpc>
              <a:buSzPct val="100000"/>
              <a:buChar char="•"/>
            </a:pPr>
            <a:r>
              <a:rPr lang="en-US" sz="1150" dirty="0">
                <a:solidFill>
                  <a:srgbClr val="D6E5EF"/>
                </a:solidFill>
                <a:latin typeface="Source Sans 3" pitchFamily="34" charset="0"/>
                <a:ea typeface="Source Sans 3" pitchFamily="34" charset="-122"/>
                <a:cs typeface="Source Sans 3" pitchFamily="34" charset="-120"/>
              </a:rPr>
              <a:t> Turn scrolls into sales through 'Order Now' integrations and localized ads.</a:t>
            </a:r>
            <a:endParaRPr lang="en-US" sz="1150" dirty="0"/>
          </a:p>
        </p:txBody>
      </p:sp>
      <p:pic>
        <p:nvPicPr>
          <p:cNvPr id="7" name="Image 0" descr="preencoded.png">    </p:cNvPr>
          <p:cNvPicPr>
            <a:picLocks noChangeAspect="1"/>
          </p:cNvPicPr>
          <p:nvPr/>
        </p:nvPicPr>
        <p:blipFill>
          <a:blip r:embed="rId1"/>
          <a:stretch>
            <a:fillRect/>
          </a:stretch>
        </p:blipFill>
        <p:spPr>
          <a:xfrm>
            <a:off x="5603602" y="578569"/>
            <a:ext cx="3029694" cy="3029694"/>
          </a:xfrm>
          <a:prstGeom prst="rect">
            <a:avLst/>
          </a:prstGeom>
        </p:spPr>
      </p:pic>
      <p:pic>
        <p:nvPicPr>
          <p:cNvPr id="8" name="Image 1" descr="preencoded.png">    </p:cNvPr>
          <p:cNvPicPr>
            <a:picLocks noChangeAspect="1"/>
          </p:cNvPicPr>
          <p:nvPr/>
        </p:nvPicPr>
        <p:blipFill>
          <a:blip r:embed="rId2"/>
          <a:stretch>
            <a:fillRect/>
          </a:stretch>
        </p:blipFill>
        <p:spPr>
          <a:xfrm>
            <a:off x="5603602" y="578569"/>
            <a:ext cx="3029694" cy="3029694"/>
          </a:xfrm>
          <a:prstGeom prst="rect">
            <a:avLst/>
          </a:prstGeom>
        </p:spPr>
      </p:pic>
      <p:sp>
        <p:nvSpPr>
          <p:cNvPr id="9" name="Text 5"/>
          <p:cNvSpPr/>
          <p:nvPr/>
        </p:nvSpPr>
        <p:spPr>
          <a:xfrm>
            <a:off x="736253" y="4097387"/>
            <a:ext cx="7892355" cy="467469"/>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 Speaker Notes: "With its massive user base in India, Facebook is the perfect tool for Noodle House. It allows us to combine rich visual storytelling with hyper-local ads that target users who are physically close to our locations right around lunchtime."</a:t>
            </a:r>
            <a:endParaRPr lang="en-US" sz="1150" dirty="0"/>
          </a:p>
        </p:txBody>
      </p:sp>
      <p:sp>
        <p:nvSpPr>
          <p:cNvPr id="10" name="Shape 6"/>
          <p:cNvSpPr/>
          <p:nvPr/>
        </p:nvSpPr>
        <p:spPr>
          <a:xfrm>
            <a:off x="515392" y="3934346"/>
            <a:ext cx="19050" cy="793552"/>
          </a:xfrm>
          <a:prstGeom prst="rect">
            <a:avLst/>
          </a:prstGeom>
          <a:solidFill>
            <a:srgbClr val="F98AC7"/>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5392" y="528265"/>
            <a:ext cx="6489353" cy="433164"/>
          </a:xfrm>
          <a:prstGeom prst="rect">
            <a:avLst/>
          </a:prstGeom>
          <a:noFill/>
          <a:ln/>
        </p:spPr>
        <p:txBody>
          <a:bodyPr wrap="none" lIns="0" tIns="0" rIns="0" bIns="0" rtlCol="0" anchor="t"/>
          <a:lstStyle/>
          <a:p>
            <a:pPr algn="l" indent="0" marL="0">
              <a:lnSpc>
                <a:spcPct val="104000"/>
              </a:lnSpc>
              <a:buNone/>
            </a:pPr>
            <a:r>
              <a:rPr lang="en-US" sz="2700" dirty="0">
                <a:solidFill>
                  <a:srgbClr val="F98AC7"/>
                </a:solidFill>
                <a:latin typeface="Lora" pitchFamily="34" charset="0"/>
                <a:ea typeface="Lora" pitchFamily="34" charset="-122"/>
                <a:cs typeface="Lora" pitchFamily="34" charset="-120"/>
              </a:rPr>
              <a:t>Content Pillar 1: The Food Experience</a:t>
            </a:r>
            <a:endParaRPr lang="en-US" sz="2700" dirty="0"/>
          </a:p>
        </p:txBody>
      </p:sp>
      <p:sp>
        <p:nvSpPr>
          <p:cNvPr id="3" name="Text 1"/>
          <p:cNvSpPr/>
          <p:nvPr/>
        </p:nvSpPr>
        <p:spPr>
          <a:xfrm>
            <a:off x="515392" y="1251347"/>
            <a:ext cx="8570416" cy="233735"/>
          </a:xfrm>
          <a:prstGeom prst="rect">
            <a:avLst/>
          </a:prstGeom>
          <a:noFill/>
          <a:ln/>
        </p:spPr>
        <p:txBody>
          <a:bodyPr wrap="none" lIns="0" tIns="0" rIns="0" bIns="0" rtlCol="0" anchor="t"/>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We put our food front and center. Sensory-rich content designed to stimulate cravings and build visual consistency across our feed.</a:t>
            </a:r>
            <a:endParaRPr lang="en-US" sz="1150" dirty="0"/>
          </a:p>
        </p:txBody>
      </p:sp>
      <p:sp>
        <p:nvSpPr>
          <p:cNvPr id="4" name="Shape 2"/>
          <p:cNvSpPr/>
          <p:nvPr/>
        </p:nvSpPr>
        <p:spPr>
          <a:xfrm>
            <a:off x="515392" y="1648123"/>
            <a:ext cx="2607766" cy="2010519"/>
          </a:xfrm>
          <a:prstGeom prst="roundRect">
            <a:avLst>
              <a:gd name="adj" fmla="val 1099"/>
            </a:avLst>
          </a:prstGeom>
          <a:solidFill>
            <a:srgbClr val="252833"/>
          </a:solidFill>
          <a:ln w="19050">
            <a:solidFill>
              <a:srgbClr val="5D606B"/>
            </a:solidFill>
            <a:prstDash val="solid"/>
          </a:ln>
        </p:spPr>
      </p:sp>
      <p:sp>
        <p:nvSpPr>
          <p:cNvPr id="5" name="Shape 3"/>
          <p:cNvSpPr/>
          <p:nvPr/>
        </p:nvSpPr>
        <p:spPr>
          <a:xfrm>
            <a:off x="534442" y="1667173"/>
            <a:ext cx="2569666" cy="441796"/>
          </a:xfrm>
          <a:prstGeom prst="rect">
            <a:avLst/>
          </a:prstGeom>
          <a:solidFill>
            <a:srgbClr val="444752"/>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08845" y="1777603"/>
            <a:ext cx="220861" cy="220861"/>
          </a:xfrm>
          <a:prstGeom prst="rect">
            <a:avLst/>
          </a:prstGeom>
        </p:spPr>
      </p:pic>
      <p:sp>
        <p:nvSpPr>
          <p:cNvPr id="7" name="Text 4"/>
          <p:cNvSpPr/>
          <p:nvPr/>
        </p:nvSpPr>
        <p:spPr>
          <a:xfrm>
            <a:off x="681707" y="2253928"/>
            <a:ext cx="2108522" cy="216545"/>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High-Quality Food Visuals</a:t>
            </a:r>
            <a:endParaRPr lang="en-US" sz="1350" dirty="0"/>
          </a:p>
        </p:txBody>
      </p:sp>
      <p:sp>
        <p:nvSpPr>
          <p:cNvPr id="8" name="Text 5"/>
          <p:cNvSpPr/>
          <p:nvPr/>
        </p:nvSpPr>
        <p:spPr>
          <a:xfrm>
            <a:off x="681707" y="2557388"/>
            <a:ext cx="2275136" cy="934938"/>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Stunning macro photography of glistening sauces, vibrant veggies, and steaming hot noodles to stop the scroll.</a:t>
            </a:r>
            <a:endParaRPr lang="en-US" sz="1150" dirty="0"/>
          </a:p>
        </p:txBody>
      </p:sp>
      <p:sp>
        <p:nvSpPr>
          <p:cNvPr id="9" name="Shape 6"/>
          <p:cNvSpPr/>
          <p:nvPr/>
        </p:nvSpPr>
        <p:spPr>
          <a:xfrm>
            <a:off x="3268117" y="1648123"/>
            <a:ext cx="2607766" cy="2010519"/>
          </a:xfrm>
          <a:prstGeom prst="roundRect">
            <a:avLst>
              <a:gd name="adj" fmla="val 1099"/>
            </a:avLst>
          </a:prstGeom>
          <a:solidFill>
            <a:srgbClr val="252833"/>
          </a:solidFill>
          <a:ln w="19050">
            <a:solidFill>
              <a:srgbClr val="5D606B"/>
            </a:solidFill>
            <a:prstDash val="solid"/>
          </a:ln>
        </p:spPr>
      </p:sp>
      <p:sp>
        <p:nvSpPr>
          <p:cNvPr id="10" name="Shape 7"/>
          <p:cNvSpPr/>
          <p:nvPr/>
        </p:nvSpPr>
        <p:spPr>
          <a:xfrm>
            <a:off x="3287167" y="1667173"/>
            <a:ext cx="2569666" cy="441796"/>
          </a:xfrm>
          <a:prstGeom prst="rect">
            <a:avLst/>
          </a:prstGeom>
          <a:solidFill>
            <a:srgbClr val="444752"/>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61570" y="1777603"/>
            <a:ext cx="220861" cy="220861"/>
          </a:xfrm>
          <a:prstGeom prst="rect">
            <a:avLst/>
          </a:prstGeom>
        </p:spPr>
      </p:pic>
      <p:sp>
        <p:nvSpPr>
          <p:cNvPr id="12" name="Text 8"/>
          <p:cNvSpPr/>
          <p:nvPr/>
        </p:nvSpPr>
        <p:spPr>
          <a:xfrm>
            <a:off x="3434432" y="2253928"/>
            <a:ext cx="2124745" cy="216545"/>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Behind-the-Scenes Action</a:t>
            </a:r>
            <a:endParaRPr lang="en-US" sz="1350" dirty="0"/>
          </a:p>
        </p:txBody>
      </p:sp>
      <p:sp>
        <p:nvSpPr>
          <p:cNvPr id="13" name="Text 9"/>
          <p:cNvSpPr/>
          <p:nvPr/>
        </p:nvSpPr>
        <p:spPr>
          <a:xfrm>
            <a:off x="3434432" y="2557388"/>
            <a:ext cx="2275136" cy="934938"/>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High-energy short videos showcasing roaring woks, fresh ingredient prep, and our chefs in action.</a:t>
            </a:r>
            <a:endParaRPr lang="en-US" sz="1150" dirty="0"/>
          </a:p>
        </p:txBody>
      </p:sp>
      <p:sp>
        <p:nvSpPr>
          <p:cNvPr id="14" name="Shape 10"/>
          <p:cNvSpPr/>
          <p:nvPr/>
        </p:nvSpPr>
        <p:spPr>
          <a:xfrm>
            <a:off x="6020842" y="1648123"/>
            <a:ext cx="2607766" cy="2010519"/>
          </a:xfrm>
          <a:prstGeom prst="roundRect">
            <a:avLst>
              <a:gd name="adj" fmla="val 1099"/>
            </a:avLst>
          </a:prstGeom>
          <a:solidFill>
            <a:srgbClr val="252833"/>
          </a:solidFill>
          <a:ln w="19050">
            <a:solidFill>
              <a:srgbClr val="5D606B"/>
            </a:solidFill>
            <a:prstDash val="solid"/>
          </a:ln>
        </p:spPr>
      </p:sp>
      <p:sp>
        <p:nvSpPr>
          <p:cNvPr id="15" name="Shape 11"/>
          <p:cNvSpPr/>
          <p:nvPr/>
        </p:nvSpPr>
        <p:spPr>
          <a:xfrm>
            <a:off x="6039892" y="1667173"/>
            <a:ext cx="2569666" cy="441796"/>
          </a:xfrm>
          <a:prstGeom prst="rect">
            <a:avLst/>
          </a:prstGeom>
          <a:solidFill>
            <a:srgbClr val="444752"/>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4295" y="1777603"/>
            <a:ext cx="220861" cy="220861"/>
          </a:xfrm>
          <a:prstGeom prst="rect">
            <a:avLst/>
          </a:prstGeom>
        </p:spPr>
      </p:pic>
      <p:sp>
        <p:nvSpPr>
          <p:cNvPr id="17" name="Text 12"/>
          <p:cNvSpPr/>
          <p:nvPr/>
        </p:nvSpPr>
        <p:spPr>
          <a:xfrm>
            <a:off x="6187157" y="2253928"/>
            <a:ext cx="1732583" cy="216545"/>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Dish of the Week</a:t>
            </a:r>
            <a:endParaRPr lang="en-US" sz="1350" dirty="0"/>
          </a:p>
        </p:txBody>
      </p:sp>
      <p:sp>
        <p:nvSpPr>
          <p:cNvPr id="18" name="Text 13"/>
          <p:cNvSpPr/>
          <p:nvPr/>
        </p:nvSpPr>
        <p:spPr>
          <a:xfrm>
            <a:off x="6187157" y="2557388"/>
            <a:ext cx="2275136" cy="934938"/>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Weekly deep-dives into specific menu items, highlighting unique spices, noodle textures, and ideal pairings.</a:t>
            </a:r>
            <a:endParaRPr lang="en-US" sz="1150" dirty="0"/>
          </a:p>
        </p:txBody>
      </p:sp>
      <p:sp>
        <p:nvSpPr>
          <p:cNvPr id="19" name="Text 14"/>
          <p:cNvSpPr/>
          <p:nvPr/>
        </p:nvSpPr>
        <p:spPr>
          <a:xfrm>
            <a:off x="736253" y="3984724"/>
            <a:ext cx="7892355" cy="467469"/>
          </a:xfrm>
          <a:prstGeom prst="rect">
            <a:avLst/>
          </a:prstGeom>
          <a:noFill/>
          <a:ln/>
        </p:spPr>
        <p:txBody>
          <a:bodyPr wrap="square" lIns="0" tIns="0" rIns="0" bIns="0" rtlCol="0" anchor="t">
            <a:normAutofit/>
          </a:bodyPr>
          <a:lstStyle/>
          <a:p>
            <a:pPr algn="l" indent="0" marL="0">
              <a:lnSpc>
                <a:spcPct val="132000"/>
              </a:lnSpc>
              <a:buNone/>
            </a:pPr>
            <a:r>
              <a:rPr lang="en-US" sz="1150" dirty="0">
                <a:solidFill>
                  <a:srgbClr val="D6E5EF"/>
                </a:solidFill>
                <a:latin typeface="Source Sans 3" pitchFamily="34" charset="0"/>
                <a:ea typeface="Source Sans 3" pitchFamily="34" charset="-122"/>
                <a:cs typeface="Source Sans 3" pitchFamily="34" charset="-120"/>
              </a:rPr>
              <a:t> Speaker Notes: "Our first content pillar is all about food cravings. We will post high-definition close-ups of our dishes, high-energy videos of our chefs working the woks, and run a 'Dish of the Week' series to educate customers about our diverse menu."</a:t>
            </a:r>
            <a:endParaRPr lang="en-US" sz="1150" dirty="0"/>
          </a:p>
        </p:txBody>
      </p:sp>
      <p:sp>
        <p:nvSpPr>
          <p:cNvPr id="20" name="Shape 15"/>
          <p:cNvSpPr/>
          <p:nvPr/>
        </p:nvSpPr>
        <p:spPr>
          <a:xfrm>
            <a:off x="515392" y="3821683"/>
            <a:ext cx="19050" cy="793552"/>
          </a:xfrm>
          <a:prstGeom prst="rect">
            <a:avLst/>
          </a:prstGeom>
          <a:solidFill>
            <a:srgbClr val="F98AC7"/>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723305"/>
            <a:ext cx="7184975" cy="440010"/>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Content Pillar 2: The Noodle House Story</a:t>
            </a:r>
            <a:endParaRPr lang="en-US" sz="2750" dirty="0"/>
          </a:p>
        </p:txBody>
      </p:sp>
      <p:sp>
        <p:nvSpPr>
          <p:cNvPr id="3" name="Text 1"/>
          <p:cNvSpPr/>
          <p:nvPr/>
        </p:nvSpPr>
        <p:spPr>
          <a:xfrm>
            <a:off x="523577" y="1462534"/>
            <a:ext cx="8554045" cy="239390"/>
          </a:xfrm>
          <a:prstGeom prst="rect">
            <a:avLst/>
          </a:prstGeom>
          <a:noFill/>
          <a:ln/>
        </p:spPr>
        <p:txBody>
          <a:bodyPr wrap="none" lIns="0" tIns="0" rIns="0" bIns="0" rtlCol="0" anchor="t"/>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People buy from people. We will humanize our brand by sharing our entrepreneurial journey and celebrating our local community.</a:t>
            </a:r>
            <a:endParaRPr lang="en-US" sz="1150" dirty="0"/>
          </a:p>
        </p:txBody>
      </p:sp>
      <p:sp>
        <p:nvSpPr>
          <p:cNvPr id="4" name="Shape 2"/>
          <p:cNvSpPr/>
          <p:nvPr/>
        </p:nvSpPr>
        <p:spPr>
          <a:xfrm>
            <a:off x="523577" y="1870174"/>
            <a:ext cx="2599209" cy="1566416"/>
          </a:xfrm>
          <a:prstGeom prst="roundRect">
            <a:avLst>
              <a:gd name="adj" fmla="val 22923"/>
            </a:avLst>
          </a:prstGeom>
          <a:solidFill>
            <a:srgbClr val="444752"/>
          </a:solidFill>
          <a:ln/>
        </p:spPr>
      </p:sp>
      <p:sp>
        <p:nvSpPr>
          <p:cNvPr id="5" name="Text 3"/>
          <p:cNvSpPr/>
          <p:nvPr/>
        </p:nvSpPr>
        <p:spPr>
          <a:xfrm>
            <a:off x="673150" y="2019746"/>
            <a:ext cx="1943398"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Karan &amp; Rohit's Journey</a:t>
            </a:r>
            <a:endParaRPr lang="en-US" sz="1350" dirty="0"/>
          </a:p>
        </p:txBody>
      </p:sp>
      <p:sp>
        <p:nvSpPr>
          <p:cNvPr id="6" name="Text 4"/>
          <p:cNvSpPr/>
          <p:nvPr/>
        </p:nvSpPr>
        <p:spPr>
          <a:xfrm>
            <a:off x="673150" y="2329458"/>
            <a:ext cx="2300064" cy="95756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Authentic posts detailing how two best friends went from cooking in a home kitchen to launching Noodle House.</a:t>
            </a:r>
            <a:endParaRPr lang="en-US" sz="1150" dirty="0"/>
          </a:p>
        </p:txBody>
      </p:sp>
      <p:sp>
        <p:nvSpPr>
          <p:cNvPr id="7" name="Shape 5"/>
          <p:cNvSpPr/>
          <p:nvPr/>
        </p:nvSpPr>
        <p:spPr>
          <a:xfrm>
            <a:off x="3272358" y="1870174"/>
            <a:ext cx="2599209" cy="1566416"/>
          </a:xfrm>
          <a:prstGeom prst="roundRect">
            <a:avLst>
              <a:gd name="adj" fmla="val 22923"/>
            </a:avLst>
          </a:prstGeom>
          <a:solidFill>
            <a:srgbClr val="444752"/>
          </a:solidFill>
          <a:ln/>
        </p:spPr>
      </p:sp>
      <p:sp>
        <p:nvSpPr>
          <p:cNvPr id="8" name="Text 6"/>
          <p:cNvSpPr/>
          <p:nvPr/>
        </p:nvSpPr>
        <p:spPr>
          <a:xfrm>
            <a:off x="3421931" y="2019746"/>
            <a:ext cx="1760116"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Meet the Team</a:t>
            </a:r>
            <a:endParaRPr lang="en-US" sz="1350" dirty="0"/>
          </a:p>
        </p:txBody>
      </p:sp>
      <p:sp>
        <p:nvSpPr>
          <p:cNvPr id="9" name="Text 7"/>
          <p:cNvSpPr/>
          <p:nvPr/>
        </p:nvSpPr>
        <p:spPr>
          <a:xfrm>
            <a:off x="3421931" y="2329458"/>
            <a:ext cx="2300064"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Regular features on our kitchen staff, servers, and delivery partners who bring the magic to life daily.</a:t>
            </a:r>
            <a:endParaRPr lang="en-US" sz="1150" dirty="0"/>
          </a:p>
        </p:txBody>
      </p:sp>
      <p:sp>
        <p:nvSpPr>
          <p:cNvPr id="10" name="Shape 8"/>
          <p:cNvSpPr/>
          <p:nvPr/>
        </p:nvSpPr>
        <p:spPr>
          <a:xfrm>
            <a:off x="6021139" y="1870174"/>
            <a:ext cx="2599283" cy="1566416"/>
          </a:xfrm>
          <a:prstGeom prst="roundRect">
            <a:avLst>
              <a:gd name="adj" fmla="val 22923"/>
            </a:avLst>
          </a:prstGeom>
          <a:solidFill>
            <a:srgbClr val="444752"/>
          </a:solidFill>
          <a:ln/>
        </p:spPr>
      </p:sp>
      <p:sp>
        <p:nvSpPr>
          <p:cNvPr id="11" name="Text 9"/>
          <p:cNvSpPr/>
          <p:nvPr/>
        </p:nvSpPr>
        <p:spPr>
          <a:xfrm>
            <a:off x="6170712" y="2019746"/>
            <a:ext cx="1890266"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Customer Testimonials</a:t>
            </a:r>
            <a:endParaRPr lang="en-US" sz="1350" dirty="0"/>
          </a:p>
        </p:txBody>
      </p:sp>
      <p:sp>
        <p:nvSpPr>
          <p:cNvPr id="12" name="Text 10"/>
          <p:cNvSpPr/>
          <p:nvPr/>
        </p:nvSpPr>
        <p:spPr>
          <a:xfrm>
            <a:off x="6170712" y="2329458"/>
            <a:ext cx="2300139"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Sharing real user-generated content, positive reviews, and screenshots of happy messages from our fans.</a:t>
            </a:r>
            <a:endParaRPr lang="en-US" sz="1150" dirty="0"/>
          </a:p>
        </p:txBody>
      </p:sp>
      <p:sp>
        <p:nvSpPr>
          <p:cNvPr id="13" name="Text 11"/>
          <p:cNvSpPr/>
          <p:nvPr/>
        </p:nvSpPr>
        <p:spPr>
          <a:xfrm>
            <a:off x="747936" y="3773091"/>
            <a:ext cx="7872487"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Speaker Notes: "Our second pillar focuses on authenticity. Rohit and I want to share our startup story directly. We'll also feature our incredible staff and share real, unedited reviews from our customers to build genuine trust and credibility."</a:t>
            </a:r>
            <a:endParaRPr lang="en-US" sz="1150" dirty="0"/>
          </a:p>
        </p:txBody>
      </p:sp>
      <p:sp>
        <p:nvSpPr>
          <p:cNvPr id="14" name="Shape 12"/>
          <p:cNvSpPr/>
          <p:nvPr/>
        </p:nvSpPr>
        <p:spPr>
          <a:xfrm>
            <a:off x="523577" y="3604840"/>
            <a:ext cx="19050" cy="815280"/>
          </a:xfrm>
          <a:prstGeom prst="rect">
            <a:avLst/>
          </a:prstGeom>
          <a:solidFill>
            <a:srgbClr val="F98AC7"/>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607814"/>
            <a:ext cx="6692503" cy="440010"/>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Content Pillar 3: Engagement &amp; Offers</a:t>
            </a:r>
            <a:endParaRPr lang="en-US" sz="2750" dirty="0"/>
          </a:p>
        </p:txBody>
      </p:sp>
      <p:sp>
        <p:nvSpPr>
          <p:cNvPr id="3" name="Text 1"/>
          <p:cNvSpPr/>
          <p:nvPr/>
        </p:nvSpPr>
        <p:spPr>
          <a:xfrm>
            <a:off x="523577" y="1347043"/>
            <a:ext cx="8554045" cy="239390"/>
          </a:xfrm>
          <a:prstGeom prst="rect">
            <a:avLst/>
          </a:prstGeom>
          <a:noFill/>
          <a:ln/>
        </p:spPr>
        <p:txBody>
          <a:bodyPr wrap="none" lIns="0" tIns="0" rIns="0" bIns="0" rtlCol="0" anchor="t"/>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Creating two-way conversations to build an active, loyal community of noodle lovers on our page.</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1754684"/>
            <a:ext cx="299219" cy="299219"/>
          </a:xfrm>
          <a:prstGeom prst="rect">
            <a:avLst/>
          </a:prstGeom>
        </p:spPr>
      </p:pic>
      <p:sp>
        <p:nvSpPr>
          <p:cNvPr id="5" name="Text 2"/>
          <p:cNvSpPr/>
          <p:nvPr/>
        </p:nvSpPr>
        <p:spPr>
          <a:xfrm>
            <a:off x="1009799" y="1806104"/>
            <a:ext cx="1760116"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Interactive Content</a:t>
            </a:r>
            <a:endParaRPr lang="en-US" sz="1350" dirty="0"/>
          </a:p>
        </p:txBody>
      </p:sp>
      <p:sp>
        <p:nvSpPr>
          <p:cNvPr id="6" name="Text 3"/>
          <p:cNvSpPr/>
          <p:nvPr/>
        </p:nvSpPr>
        <p:spPr>
          <a:xfrm>
            <a:off x="1009799" y="2115815"/>
            <a:ext cx="2088059" cy="119695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Hosting weekly polls like 'Spicy vs. Mild' or 'Wheat vs. Rice Noodles' to boost organic reach and drive daily audience interaction.</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4860" y="1754684"/>
            <a:ext cx="299219" cy="299219"/>
          </a:xfrm>
          <a:prstGeom prst="rect">
            <a:avLst/>
          </a:prstGeom>
        </p:spPr>
      </p:pic>
      <p:sp>
        <p:nvSpPr>
          <p:cNvPr id="8" name="Text 4"/>
          <p:cNvSpPr/>
          <p:nvPr/>
        </p:nvSpPr>
        <p:spPr>
          <a:xfrm>
            <a:off x="3771081" y="1806104"/>
            <a:ext cx="1797174"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Contests &amp; Giveaways</a:t>
            </a:r>
            <a:endParaRPr lang="en-US" sz="1350" dirty="0"/>
          </a:p>
        </p:txBody>
      </p:sp>
      <p:sp>
        <p:nvSpPr>
          <p:cNvPr id="9" name="Text 5"/>
          <p:cNvSpPr/>
          <p:nvPr/>
        </p:nvSpPr>
        <p:spPr>
          <a:xfrm>
            <a:off x="3771081" y="2115815"/>
            <a:ext cx="2088059" cy="95756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Viral campaigns encouraging followers to tag friends, share our posts, or upload their own noodle photos to win free meals.</a:t>
            </a:r>
            <a:endParaRPr lang="en-US" sz="11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6143" y="1754684"/>
            <a:ext cx="299219" cy="299219"/>
          </a:xfrm>
          <a:prstGeom prst="rect">
            <a:avLst/>
          </a:prstGeom>
        </p:spPr>
      </p:pic>
      <p:sp>
        <p:nvSpPr>
          <p:cNvPr id="11" name="Text 6"/>
          <p:cNvSpPr/>
          <p:nvPr/>
        </p:nvSpPr>
        <p:spPr>
          <a:xfrm>
            <a:off x="6532364" y="1806104"/>
            <a:ext cx="2071985"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Exclusive Facebook Deals</a:t>
            </a:r>
            <a:endParaRPr lang="en-US" sz="1350" dirty="0"/>
          </a:p>
        </p:txBody>
      </p:sp>
      <p:sp>
        <p:nvSpPr>
          <p:cNvPr id="12" name="Text 7"/>
          <p:cNvSpPr/>
          <p:nvPr/>
        </p:nvSpPr>
        <p:spPr>
          <a:xfrm>
            <a:off x="6532364" y="2115815"/>
            <a:ext cx="2088059" cy="95756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Time-sensitive discount codes and special weekend combo offers tailored exclusively for our active Facebook followers.</a:t>
            </a:r>
            <a:endParaRPr lang="en-US" sz="1150" dirty="0"/>
          </a:p>
        </p:txBody>
      </p:sp>
      <p:sp>
        <p:nvSpPr>
          <p:cNvPr id="13" name="Text 8"/>
          <p:cNvSpPr/>
          <p:nvPr/>
        </p:nvSpPr>
        <p:spPr>
          <a:xfrm>
            <a:off x="747936" y="3649266"/>
            <a:ext cx="7872487"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Speaker Notes: "To keep our page lively, our third pillar focuses on interactive engagement. We'll run weekly polls to understand customer preferences, execute viral 'tag-a-friend' contests, and offer exclusive discount codes to reward our loyal online community."</a:t>
            </a:r>
            <a:endParaRPr lang="en-US" sz="1150" dirty="0"/>
          </a:p>
        </p:txBody>
      </p:sp>
      <p:sp>
        <p:nvSpPr>
          <p:cNvPr id="14" name="Shape 9"/>
          <p:cNvSpPr/>
          <p:nvPr/>
        </p:nvSpPr>
        <p:spPr>
          <a:xfrm>
            <a:off x="523577" y="3481015"/>
            <a:ext cx="19050" cy="1054671"/>
          </a:xfrm>
          <a:prstGeom prst="rect">
            <a:avLst/>
          </a:prstGeom>
          <a:solidFill>
            <a:srgbClr val="F98AC7"/>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56171" y="296540"/>
            <a:ext cx="3892302" cy="309339"/>
          </a:xfrm>
          <a:prstGeom prst="rect">
            <a:avLst/>
          </a:prstGeom>
          <a:noFill/>
          <a:ln/>
        </p:spPr>
        <p:txBody>
          <a:bodyPr wrap="none" lIns="0" tIns="0" rIns="0" bIns="0" rtlCol="0" anchor="t"/>
          <a:lstStyle/>
          <a:p>
            <a:pPr algn="l" indent="0" marL="0">
              <a:lnSpc>
                <a:spcPct val="104000"/>
              </a:lnSpc>
              <a:buNone/>
            </a:pPr>
            <a:r>
              <a:rPr lang="en-US" sz="1900" dirty="0">
                <a:solidFill>
                  <a:srgbClr val="F98AC7"/>
                </a:solidFill>
                <a:latin typeface="Lora" pitchFamily="34" charset="0"/>
                <a:ea typeface="Lora" pitchFamily="34" charset="-122"/>
                <a:cs typeface="Lora" pitchFamily="34" charset="-120"/>
              </a:rPr>
              <a:t>Targeted Advertising Strategy</a:t>
            </a:r>
            <a:endParaRPr lang="en-US" sz="1900" dirty="0"/>
          </a:p>
        </p:txBody>
      </p:sp>
      <p:pic>
        <p:nvPicPr>
          <p:cNvPr id="3" name="Image 0" descr="preencoded.png">    </p:cNvPr>
          <p:cNvPicPr>
            <a:picLocks noChangeAspect="1"/>
          </p:cNvPicPr>
          <p:nvPr/>
        </p:nvPicPr>
        <p:blipFill>
          <a:blip r:embed="rId1"/>
          <a:stretch>
            <a:fillRect/>
          </a:stretch>
        </p:blipFill>
        <p:spPr>
          <a:xfrm>
            <a:off x="1524595" y="753740"/>
            <a:ext cx="6094735" cy="3330401"/>
          </a:xfrm>
          <a:prstGeom prst="rect">
            <a:avLst/>
          </a:prstGeom>
        </p:spPr>
      </p:pic>
      <p:sp>
        <p:nvSpPr>
          <p:cNvPr id="4" name="Text 1"/>
          <p:cNvSpPr/>
          <p:nvPr/>
        </p:nvSpPr>
        <p:spPr>
          <a:xfrm>
            <a:off x="2328289" y="2229585"/>
            <a:ext cx="1412197" cy="361428"/>
          </a:xfrm>
          <a:prstGeom prst="rect">
            <a:avLst/>
          </a:prstGeom>
          <a:noFill/>
          <a:ln/>
        </p:spPr>
        <p:txBody>
          <a:bodyPr wrap="square" lIns="0" tIns="0" rIns="0" bIns="0" rtlCol="0" anchor="t">
            <a:normAutofit/>
          </a:bodyPr>
          <a:lstStyle/>
          <a:p>
            <a:pPr algn="ctr" indent="0" marL="0">
              <a:lnSpc>
                <a:spcPct val="104000"/>
              </a:lnSpc>
              <a:buNone/>
            </a:pPr>
            <a:r>
              <a:rPr lang="en-US" sz="1100" dirty="0">
                <a:solidFill>
                  <a:srgbClr val="F98AC7"/>
                </a:solidFill>
                <a:latin typeface="Lora" pitchFamily="34" charset="0"/>
                <a:ea typeface="Lora" pitchFamily="34" charset="-122"/>
                <a:cs typeface="Lora" pitchFamily="34" charset="-120"/>
              </a:rPr>
              <a:t>Hyper-Local Awareness</a:t>
            </a:r>
            <a:endParaRPr lang="en-US" sz="1100" dirty="0"/>
          </a:p>
        </p:txBody>
      </p:sp>
      <p:sp>
        <p:nvSpPr>
          <p:cNvPr id="5" name="Text 2"/>
          <p:cNvSpPr/>
          <p:nvPr/>
        </p:nvSpPr>
        <p:spPr>
          <a:xfrm>
            <a:off x="5665726" y="2298220"/>
            <a:ext cx="1640797" cy="180714"/>
          </a:xfrm>
          <a:prstGeom prst="rect">
            <a:avLst/>
          </a:prstGeom>
          <a:noFill/>
          <a:ln/>
        </p:spPr>
        <p:txBody>
          <a:bodyPr wrap="none" lIns="0" tIns="0" rIns="0" bIns="0" rtlCol="0" anchor="t"/>
          <a:lstStyle/>
          <a:p>
            <a:pPr algn="ctr" indent="0" marL="0">
              <a:lnSpc>
                <a:spcPct val="104000"/>
              </a:lnSpc>
              <a:buNone/>
            </a:pPr>
            <a:r>
              <a:rPr lang="en-US" sz="1100" dirty="0">
                <a:solidFill>
                  <a:srgbClr val="F98AC7"/>
                </a:solidFill>
                <a:latin typeface="Lora" pitchFamily="34" charset="0"/>
                <a:ea typeface="Lora" pitchFamily="34" charset="-122"/>
                <a:cs typeface="Lora" pitchFamily="34" charset="-120"/>
              </a:rPr>
              <a:t>Interest Targeting</a:t>
            </a:r>
            <a:endParaRPr lang="en-US" sz="1100" dirty="0"/>
          </a:p>
        </p:txBody>
      </p:sp>
      <p:sp>
        <p:nvSpPr>
          <p:cNvPr id="6" name="Text 3"/>
          <p:cNvSpPr/>
          <p:nvPr/>
        </p:nvSpPr>
        <p:spPr>
          <a:xfrm>
            <a:off x="3923696" y="2305265"/>
            <a:ext cx="1640797" cy="180714"/>
          </a:xfrm>
          <a:prstGeom prst="rect">
            <a:avLst/>
          </a:prstGeom>
          <a:noFill/>
          <a:ln/>
        </p:spPr>
        <p:txBody>
          <a:bodyPr wrap="none" lIns="0" tIns="0" rIns="0" bIns="0" rtlCol="0" anchor="t"/>
          <a:lstStyle/>
          <a:p>
            <a:pPr algn="ctr" indent="0" marL="0">
              <a:lnSpc>
                <a:spcPct val="104000"/>
              </a:lnSpc>
              <a:buNone/>
            </a:pPr>
            <a:r>
              <a:rPr lang="en-US" sz="1100" dirty="0">
                <a:solidFill>
                  <a:srgbClr val="F98AC7"/>
                </a:solidFill>
                <a:latin typeface="Lora" pitchFamily="34" charset="0"/>
                <a:ea typeface="Lora" pitchFamily="34" charset="-122"/>
                <a:cs typeface="Lora" pitchFamily="34" charset="-120"/>
              </a:rPr>
              <a:t>Lookalike Expansion</a:t>
            </a:r>
            <a:endParaRPr lang="en-US" sz="1100" dirty="0"/>
          </a:p>
        </p:txBody>
      </p:sp>
      <p:sp>
        <p:nvSpPr>
          <p:cNvPr id="7" name="Text 4"/>
          <p:cNvSpPr/>
          <p:nvPr/>
        </p:nvSpPr>
        <p:spPr>
          <a:xfrm>
            <a:off x="1156171" y="4167336"/>
            <a:ext cx="7288783" cy="143321"/>
          </a:xfrm>
          <a:prstGeom prst="rect">
            <a:avLst/>
          </a:prstGeom>
          <a:noFill/>
          <a:ln/>
        </p:spPr>
        <p:txBody>
          <a:bodyPr wrap="none" lIns="0" tIns="0" rIns="0" bIns="0" rtlCol="0" anchor="t"/>
          <a:lstStyle/>
          <a:p>
            <a:pPr algn="l" indent="0" marL="0">
              <a:lnSpc>
                <a:spcPct val="114000"/>
              </a:lnSpc>
              <a:buNone/>
            </a:pPr>
            <a:r>
              <a:rPr lang="en-US" sz="800" dirty="0">
                <a:solidFill>
                  <a:srgbClr val="D6E5EF"/>
                </a:solidFill>
                <a:latin typeface="Source Sans 3" pitchFamily="34" charset="0"/>
                <a:ea typeface="Source Sans 3" pitchFamily="34" charset="-122"/>
                <a:cs typeface="Source Sans 3" pitchFamily="34" charset="-120"/>
              </a:rPr>
              <a:t>Our advertising setup moves prospects smoothly from initial brand discovery to repeat, loyal orders.</a:t>
            </a:r>
            <a:endParaRPr lang="en-US" sz="800" dirty="0"/>
          </a:p>
        </p:txBody>
      </p:sp>
      <p:sp>
        <p:nvSpPr>
          <p:cNvPr id="8" name="Text 5"/>
          <p:cNvSpPr/>
          <p:nvPr/>
        </p:nvSpPr>
        <p:spPr>
          <a:xfrm>
            <a:off x="1313929" y="4477048"/>
            <a:ext cx="6673825" cy="286643"/>
          </a:xfrm>
          <a:prstGeom prst="rect">
            <a:avLst/>
          </a:prstGeom>
          <a:noFill/>
          <a:ln/>
        </p:spPr>
        <p:txBody>
          <a:bodyPr wrap="square" lIns="0" tIns="0" rIns="0" bIns="0" rtlCol="0" anchor="t">
            <a:normAutofit/>
          </a:bodyPr>
          <a:lstStyle/>
          <a:p>
            <a:pPr algn="l" indent="0" marL="0">
              <a:lnSpc>
                <a:spcPct val="114000"/>
              </a:lnSpc>
              <a:buNone/>
            </a:pPr>
            <a:r>
              <a:rPr lang="en-US" sz="800" dirty="0">
                <a:solidFill>
                  <a:srgbClr val="D6E5EF"/>
                </a:solidFill>
                <a:latin typeface="Source Sans 3" pitchFamily="34" charset="0"/>
                <a:ea typeface="Source Sans 3" pitchFamily="34" charset="-122"/>
                <a:cs typeface="Source Sans 3" pitchFamily="34" charset="-120"/>
              </a:rPr>
              <a:t> Speaker Notes: "We aren't just boosting posts randomly. We've built a structured ad funnel. We'll start with hyper-local awareness ads around our shops, layer in interest-based targeting for foodies, expand using lookalike audiences, and run retargeting ads to win back past visitors."</a:t>
            </a:r>
            <a:endParaRPr lang="en-US" sz="800" dirty="0"/>
          </a:p>
        </p:txBody>
      </p:sp>
      <p:sp>
        <p:nvSpPr>
          <p:cNvPr id="9" name="Shape 6"/>
          <p:cNvSpPr/>
          <p:nvPr/>
        </p:nvSpPr>
        <p:spPr>
          <a:xfrm>
            <a:off x="1156171" y="4393853"/>
            <a:ext cx="14288" cy="453033"/>
          </a:xfrm>
          <a:prstGeom prst="rect">
            <a:avLst/>
          </a:prstGeom>
          <a:solidFill>
            <a:srgbClr val="F98AC7"/>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24160"/>
            <a:ext cx="6056188" cy="440010"/>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Key Performance Indicators (KPIs)</a:t>
            </a:r>
            <a:endParaRPr lang="en-US" sz="2750" dirty="0"/>
          </a:p>
        </p:txBody>
      </p:sp>
      <p:sp>
        <p:nvSpPr>
          <p:cNvPr id="3" name="Text 1"/>
          <p:cNvSpPr/>
          <p:nvPr/>
        </p:nvSpPr>
        <p:spPr>
          <a:xfrm>
            <a:off x="523577" y="1163389"/>
            <a:ext cx="8554045" cy="239390"/>
          </a:xfrm>
          <a:prstGeom prst="rect">
            <a:avLst/>
          </a:prstGeom>
          <a:noFill/>
          <a:ln/>
        </p:spPr>
        <p:txBody>
          <a:bodyPr wrap="none" lIns="0" tIns="0" rIns="0" bIns="0" rtlCol="0" anchor="t"/>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We measure success through clear commercial and digital metrics to ensure our marketing drives positive business results.</a:t>
            </a:r>
            <a:endParaRPr lang="en-US" sz="1150" dirty="0"/>
          </a:p>
        </p:txBody>
      </p:sp>
      <p:sp>
        <p:nvSpPr>
          <p:cNvPr id="4" name="Shape 2"/>
          <p:cNvSpPr/>
          <p:nvPr/>
        </p:nvSpPr>
        <p:spPr>
          <a:xfrm>
            <a:off x="523577" y="1571030"/>
            <a:ext cx="2599209" cy="1925389"/>
          </a:xfrm>
          <a:prstGeom prst="roundRect">
            <a:avLst>
              <a:gd name="adj" fmla="val 1166"/>
            </a:avLst>
          </a:prstGeom>
          <a:solidFill>
            <a:srgbClr val="444752"/>
          </a:solidFill>
          <a:ln/>
        </p:spPr>
      </p:sp>
      <p:pic>
        <p:nvPicPr>
          <p:cNvPr id="5" name="Image 0" descr="preencoded.png">    </p:cNvPr>
          <p:cNvPicPr>
            <a:picLocks noChangeAspect="1"/>
          </p:cNvPicPr>
          <p:nvPr/>
        </p:nvPicPr>
        <p:blipFill>
          <a:blip r:embed="rId1"/>
          <a:stretch>
            <a:fillRect/>
          </a:stretch>
        </p:blipFill>
        <p:spPr>
          <a:xfrm>
            <a:off x="673150" y="1720602"/>
            <a:ext cx="448791" cy="448791"/>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6528" y="1843980"/>
            <a:ext cx="201960" cy="201960"/>
          </a:xfrm>
          <a:prstGeom prst="rect">
            <a:avLst/>
          </a:prstGeom>
        </p:spPr>
      </p:pic>
      <p:sp>
        <p:nvSpPr>
          <p:cNvPr id="7" name="Text 3"/>
          <p:cNvSpPr/>
          <p:nvPr/>
        </p:nvSpPr>
        <p:spPr>
          <a:xfrm>
            <a:off x="673150" y="2318965"/>
            <a:ext cx="1760116"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Reach &amp; Awareness</a:t>
            </a:r>
            <a:endParaRPr lang="en-US" sz="1350" dirty="0"/>
          </a:p>
        </p:txBody>
      </p:sp>
      <p:sp>
        <p:nvSpPr>
          <p:cNvPr id="8" name="Text 4"/>
          <p:cNvSpPr/>
          <p:nvPr/>
        </p:nvSpPr>
        <p:spPr>
          <a:xfrm>
            <a:off x="673150" y="2628677"/>
            <a:ext cx="2300064"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Tracking overall monthly impressions and unique users reached in our target zip codes.</a:t>
            </a:r>
            <a:endParaRPr lang="en-US" sz="1150" dirty="0"/>
          </a:p>
        </p:txBody>
      </p:sp>
      <p:sp>
        <p:nvSpPr>
          <p:cNvPr id="9" name="Shape 5"/>
          <p:cNvSpPr/>
          <p:nvPr/>
        </p:nvSpPr>
        <p:spPr>
          <a:xfrm>
            <a:off x="3272358" y="1571030"/>
            <a:ext cx="2599209" cy="1925389"/>
          </a:xfrm>
          <a:prstGeom prst="roundRect">
            <a:avLst>
              <a:gd name="adj" fmla="val 1166"/>
            </a:avLst>
          </a:prstGeom>
          <a:solidFill>
            <a:srgbClr val="444752"/>
          </a:solidFill>
          <a:ln/>
        </p:spPr>
      </p:sp>
      <p:pic>
        <p:nvPicPr>
          <p:cNvPr id="10" name="Image 2" descr="preencoded.png">    </p:cNvPr>
          <p:cNvPicPr>
            <a:picLocks noChangeAspect="1"/>
          </p:cNvPicPr>
          <p:nvPr/>
        </p:nvPicPr>
        <p:blipFill>
          <a:blip r:embed="rId4"/>
          <a:stretch>
            <a:fillRect/>
          </a:stretch>
        </p:blipFill>
        <p:spPr>
          <a:xfrm>
            <a:off x="3421931" y="1720602"/>
            <a:ext cx="448791" cy="448791"/>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45309" y="1843980"/>
            <a:ext cx="201960" cy="201960"/>
          </a:xfrm>
          <a:prstGeom prst="rect">
            <a:avLst/>
          </a:prstGeom>
        </p:spPr>
      </p:pic>
      <p:sp>
        <p:nvSpPr>
          <p:cNvPr id="12" name="Text 6"/>
          <p:cNvSpPr/>
          <p:nvPr/>
        </p:nvSpPr>
        <p:spPr>
          <a:xfrm>
            <a:off x="3421931" y="2318965"/>
            <a:ext cx="1828130"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Audience Engagement</a:t>
            </a:r>
            <a:endParaRPr lang="en-US" sz="1350" dirty="0"/>
          </a:p>
        </p:txBody>
      </p:sp>
      <p:sp>
        <p:nvSpPr>
          <p:cNvPr id="13" name="Text 7"/>
          <p:cNvSpPr/>
          <p:nvPr/>
        </p:nvSpPr>
        <p:spPr>
          <a:xfrm>
            <a:off x="3421931" y="2628677"/>
            <a:ext cx="2300064"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Measuring organic interactions, including likes, comments, shares, and saves per post.</a:t>
            </a:r>
            <a:endParaRPr lang="en-US" sz="1150" dirty="0"/>
          </a:p>
        </p:txBody>
      </p:sp>
      <p:sp>
        <p:nvSpPr>
          <p:cNvPr id="14" name="Shape 8"/>
          <p:cNvSpPr/>
          <p:nvPr/>
        </p:nvSpPr>
        <p:spPr>
          <a:xfrm>
            <a:off x="6021139" y="1571030"/>
            <a:ext cx="2599283" cy="1925389"/>
          </a:xfrm>
          <a:prstGeom prst="roundRect">
            <a:avLst>
              <a:gd name="adj" fmla="val 1166"/>
            </a:avLst>
          </a:prstGeom>
          <a:solidFill>
            <a:srgbClr val="444752"/>
          </a:solidFill>
          <a:ln/>
        </p:spPr>
      </p:sp>
      <p:pic>
        <p:nvPicPr>
          <p:cNvPr id="15" name="Image 4" descr="preencoded.png">    </p:cNvPr>
          <p:cNvPicPr>
            <a:picLocks noChangeAspect="1"/>
          </p:cNvPicPr>
          <p:nvPr/>
        </p:nvPicPr>
        <p:blipFill>
          <a:blip r:embed="rId7"/>
          <a:stretch>
            <a:fillRect/>
          </a:stretch>
        </p:blipFill>
        <p:spPr>
          <a:xfrm>
            <a:off x="6170712" y="1720602"/>
            <a:ext cx="448791" cy="448791"/>
          </a:xfrm>
          <a:prstGeom prst="rect">
            <a:avLst/>
          </a:prstGeom>
        </p:spPr>
      </p:pic>
      <p:pic>
        <p:nvPicPr>
          <p:cNvPr id="16"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94090" y="1843980"/>
            <a:ext cx="201960" cy="201960"/>
          </a:xfrm>
          <a:prstGeom prst="rect">
            <a:avLst/>
          </a:prstGeom>
        </p:spPr>
      </p:pic>
      <p:sp>
        <p:nvSpPr>
          <p:cNvPr id="17" name="Text 9"/>
          <p:cNvSpPr/>
          <p:nvPr/>
        </p:nvSpPr>
        <p:spPr>
          <a:xfrm>
            <a:off x="6170712" y="2318965"/>
            <a:ext cx="1760116"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Conversion Rate</a:t>
            </a:r>
            <a:endParaRPr lang="en-US" sz="1350" dirty="0"/>
          </a:p>
        </p:txBody>
      </p:sp>
      <p:sp>
        <p:nvSpPr>
          <p:cNvPr id="18" name="Text 10"/>
          <p:cNvSpPr/>
          <p:nvPr/>
        </p:nvSpPr>
        <p:spPr>
          <a:xfrm>
            <a:off x="6170712" y="2628677"/>
            <a:ext cx="2300139"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Monitoring 'Order Now' button clicks, website traffic, and physical coupon redemptions at our stores.</a:t>
            </a:r>
            <a:endParaRPr lang="en-US" sz="1150" dirty="0"/>
          </a:p>
        </p:txBody>
      </p:sp>
      <p:sp>
        <p:nvSpPr>
          <p:cNvPr id="19" name="Text 11"/>
          <p:cNvSpPr/>
          <p:nvPr/>
        </p:nvSpPr>
        <p:spPr>
          <a:xfrm>
            <a:off x="747936" y="3832920"/>
            <a:ext cx="7872487" cy="71817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Speaker Notes: "We want to ensure every rupee spent on Facebook delivers value. We will closely monitor local reach, watch our engagement rates to ensure our content resonates, and track direct conversions through online order clicks and in-store coupon redemptions."</a:t>
            </a:r>
            <a:endParaRPr lang="en-US" sz="1150" dirty="0"/>
          </a:p>
        </p:txBody>
      </p:sp>
      <p:sp>
        <p:nvSpPr>
          <p:cNvPr id="20" name="Shape 12"/>
          <p:cNvSpPr/>
          <p:nvPr/>
        </p:nvSpPr>
        <p:spPr>
          <a:xfrm>
            <a:off x="523577" y="3664669"/>
            <a:ext cx="19050" cy="1054671"/>
          </a:xfrm>
          <a:prstGeom prst="rect">
            <a:avLst/>
          </a:prstGeom>
          <a:solidFill>
            <a:srgbClr val="F98AC7"/>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15900" y="789459"/>
            <a:ext cx="4081314" cy="2580977"/>
          </a:xfrm>
          <a:prstGeom prst="roundRect">
            <a:avLst>
              <a:gd name="adj" fmla="val 870"/>
            </a:avLst>
          </a:prstGeom>
          <a:solidFill>
            <a:srgbClr val="F5A3A3"/>
          </a:solidFill>
          <a:ln/>
        </p:spPr>
      </p:sp>
      <p:sp>
        <p:nvSpPr>
          <p:cNvPr id="3" name="Text 1"/>
          <p:cNvSpPr/>
          <p:nvPr/>
        </p:nvSpPr>
        <p:spPr>
          <a:xfrm>
            <a:off x="565472" y="939031"/>
            <a:ext cx="3576861" cy="352053"/>
          </a:xfrm>
          <a:prstGeom prst="rect">
            <a:avLst/>
          </a:prstGeom>
          <a:noFill/>
          <a:ln/>
        </p:spPr>
        <p:txBody>
          <a:bodyPr wrap="none" lIns="0" tIns="0" rIns="0" bIns="0" rtlCol="0" anchor="t"/>
          <a:lstStyle/>
          <a:p>
            <a:pPr algn="l" indent="0" marL="0">
              <a:lnSpc>
                <a:spcPct val="104000"/>
              </a:lnSpc>
              <a:buNone/>
            </a:pPr>
            <a:r>
              <a:rPr lang="en-US" sz="2200" dirty="0">
                <a:solidFill>
                  <a:srgbClr val="000000"/>
                </a:solidFill>
                <a:latin typeface="Lora" pitchFamily="34" charset="0"/>
                <a:ea typeface="Lora" pitchFamily="34" charset="-122"/>
                <a:cs typeface="Lora" pitchFamily="34" charset="-120"/>
              </a:rPr>
              <a:t>Deliciousness Delivered</a:t>
            </a:r>
            <a:endParaRPr lang="en-US" sz="2200" dirty="0"/>
          </a:p>
        </p:txBody>
      </p:sp>
      <p:sp>
        <p:nvSpPr>
          <p:cNvPr id="4" name="Text 2"/>
          <p:cNvSpPr/>
          <p:nvPr/>
        </p:nvSpPr>
        <p:spPr>
          <a:xfrm>
            <a:off x="565472" y="1440656"/>
            <a:ext cx="3782169"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Our ultimate vision is to become the most loved quick-service noodle destination in India, one plate at a time.</a:t>
            </a:r>
            <a:endParaRPr lang="en-US" sz="1150" dirty="0"/>
          </a:p>
        </p:txBody>
      </p:sp>
      <p:sp>
        <p:nvSpPr>
          <p:cNvPr id="5" name="Shape 3"/>
          <p:cNvSpPr/>
          <p:nvPr/>
        </p:nvSpPr>
        <p:spPr>
          <a:xfrm>
            <a:off x="565472" y="2087687"/>
            <a:ext cx="3782169" cy="1114499"/>
          </a:xfrm>
          <a:prstGeom prst="roundRect">
            <a:avLst>
              <a:gd name="adj" fmla="val 2014"/>
            </a:avLst>
          </a:prstGeom>
          <a:solidFill>
            <a:srgbClr val="183A13"/>
          </a:solidFill>
          <a:ln/>
        </p:spPr>
      </p:sp>
      <p:pic>
        <p:nvPicPr>
          <p:cNvPr id="6" name="Image 0" descr="preencoded.png">    </p:cNvPr>
          <p:cNvPicPr>
            <a:picLocks noChangeAspect="1"/>
          </p:cNvPicPr>
          <p:nvPr/>
        </p:nvPicPr>
        <p:blipFill>
          <a:blip r:embed="rId1"/>
          <a:stretch>
            <a:fillRect/>
          </a:stretch>
        </p:blipFill>
        <p:spPr>
          <a:xfrm>
            <a:off x="715045" y="2305645"/>
            <a:ext cx="187003" cy="149572"/>
          </a:xfrm>
          <a:prstGeom prst="rect">
            <a:avLst/>
          </a:prstGeom>
        </p:spPr>
      </p:pic>
      <p:sp>
        <p:nvSpPr>
          <p:cNvPr id="7" name="Text 4"/>
          <p:cNvSpPr/>
          <p:nvPr/>
        </p:nvSpPr>
        <p:spPr>
          <a:xfrm>
            <a:off x="1051620" y="2274615"/>
            <a:ext cx="3146450" cy="718170"/>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FFFFFF"/>
                </a:solidFill>
                <a:latin typeface="Source Sans 3" pitchFamily="34" charset="0"/>
                <a:ea typeface="Source Sans 3" pitchFamily="34" charset="-122"/>
                <a:cs typeface="Source Sans 3" pitchFamily="34" charset="-120"/>
              </a:rPr>
              <a:t>Join the Family:</a:t>
            </a:r>
            <a:pPr algn="l" indent="0" marL="0">
              <a:lnSpc>
                <a:spcPct val="133000"/>
              </a:lnSpc>
              <a:buNone/>
            </a:pPr>
            <a:r>
              <a:rPr lang="en-US" sz="1150" dirty="0">
                <a:solidFill>
                  <a:srgbClr val="FFFFFF"/>
                </a:solidFill>
                <a:latin typeface="Source Sans 3" pitchFamily="34" charset="0"/>
                <a:ea typeface="Source Sans 3" pitchFamily="34" charset="-122"/>
                <a:cs typeface="Source Sans 3" pitchFamily="34" charset="-120"/>
              </a:rPr>
              <a:t> Follow Noodle House on Facebook today for daily culinary inspiration and exclusive deals.     </a:t>
            </a:r>
            <a:endParaRPr lang="en-US" sz="1150" dirty="0"/>
          </a:p>
        </p:txBody>
      </p:sp>
      <p:sp>
        <p:nvSpPr>
          <p:cNvPr id="8" name="Text 5"/>
          <p:cNvSpPr/>
          <p:nvPr/>
        </p:nvSpPr>
        <p:spPr>
          <a:xfrm>
            <a:off x="4759226" y="939031"/>
            <a:ext cx="2217316" cy="219968"/>
          </a:xfrm>
          <a:prstGeom prst="rect">
            <a:avLst/>
          </a:prstGeom>
          <a:noFill/>
          <a:ln/>
        </p:spPr>
        <p:txBody>
          <a:bodyPr wrap="none" lIns="0" tIns="0" rIns="0" bIns="0" rtlCol="0" anchor="t"/>
          <a:lstStyle/>
          <a:p>
            <a:pPr algn="l" indent="0" marL="0">
              <a:lnSpc>
                <a:spcPct val="104000"/>
              </a:lnSpc>
              <a:buNone/>
            </a:pPr>
            <a:r>
              <a:rPr lang="en-US" sz="1350" dirty="0">
                <a:solidFill>
                  <a:srgbClr val="F98AC7"/>
                </a:solidFill>
                <a:latin typeface="Lora" pitchFamily="34" charset="0"/>
                <a:ea typeface="Lora" pitchFamily="34" charset="-122"/>
                <a:cs typeface="Lora" pitchFamily="34" charset="-120"/>
              </a:rPr>
              <a:t>Next Execution Steps</a:t>
            </a:r>
            <a:endParaRPr lang="en-US" sz="1350" dirty="0"/>
          </a:p>
        </p:txBody>
      </p:sp>
      <p:sp>
        <p:nvSpPr>
          <p:cNvPr id="9" name="Text 6"/>
          <p:cNvSpPr/>
          <p:nvPr/>
        </p:nvSpPr>
        <p:spPr>
          <a:xfrm>
            <a:off x="4759226" y="1308571"/>
            <a:ext cx="3865959" cy="1540966"/>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1150" b="1" dirty="0">
                <a:solidFill>
                  <a:srgbClr val="D6E5EF"/>
                </a:solidFill>
                <a:latin typeface="Source Sans 3" pitchFamily="34" charset="0"/>
                <a:ea typeface="Source Sans 3" pitchFamily="34" charset="-122"/>
                <a:cs typeface="Source Sans 3" pitchFamily="34" charset="-120"/>
              </a:rPr>
              <a:t>Content Calendar:</a:t>
            </a:r>
            <a:pPr algn="l" marL="342900" indent="-342900">
              <a:lnSpc>
                <a:spcPct val="133000"/>
              </a:lnSpc>
              <a:buSzPct val="100000"/>
              <a:buFont typeface="+mj-lt"/>
              <a:buAutoNum type="arabicPeriod" startAt="1"/>
            </a:pPr>
            <a:r>
              <a:rPr lang="en-US" sz="1150" dirty="0">
                <a:solidFill>
                  <a:srgbClr val="D6E5EF"/>
                </a:solidFill>
                <a:latin typeface="Source Sans 3" pitchFamily="34" charset="0"/>
                <a:ea typeface="Source Sans 3" pitchFamily="34" charset="-122"/>
                <a:cs typeface="Source Sans 3" pitchFamily="34" charset="-120"/>
              </a:rPr>
              <a:t> Finalise the first 30 days of rich visual posts.</a:t>
            </a:r>
            <a:endParaRPr lang="en-US" sz="1150" dirty="0"/>
          </a:p>
          <a:p>
            <a:pPr algn="l" marL="342900" indent="-342900">
              <a:lnSpc>
                <a:spcPct val="133000"/>
              </a:lnSpc>
              <a:buSzPct val="100000"/>
              <a:buFont typeface="+mj-lt"/>
              <a:buAutoNum type="arabicPeriod" startAt="2"/>
            </a:pPr>
            <a:r>
              <a:rPr lang="en-US" sz="1150" b="1" dirty="0">
                <a:solidFill>
                  <a:srgbClr val="D6E5EF"/>
                </a:solidFill>
                <a:latin typeface="Source Sans 3" pitchFamily="34" charset="0"/>
                <a:ea typeface="Source Sans 3" pitchFamily="34" charset="-122"/>
                <a:cs typeface="Source Sans 3" pitchFamily="34" charset="-120"/>
              </a:rPr>
              <a:t>Ad Setup:</a:t>
            </a:r>
            <a:pPr algn="l" marL="342900" indent="-342900">
              <a:lnSpc>
                <a:spcPct val="133000"/>
              </a:lnSpc>
              <a:buSzPct val="100000"/>
              <a:buFont typeface="+mj-lt"/>
              <a:buAutoNum type="arabicPeriod" startAt="2"/>
            </a:pPr>
            <a:r>
              <a:rPr lang="en-US" sz="1150" dirty="0">
                <a:solidFill>
                  <a:srgbClr val="D6E5EF"/>
                </a:solidFill>
                <a:latin typeface="Source Sans 3" pitchFamily="34" charset="0"/>
                <a:ea typeface="Source Sans 3" pitchFamily="34" charset="-122"/>
                <a:cs typeface="Source Sans 3" pitchFamily="34" charset="-120"/>
              </a:rPr>
              <a:t> Launch our first hyper-local reach campaigns next week.</a:t>
            </a:r>
            <a:endParaRPr lang="en-US" sz="1150" dirty="0"/>
          </a:p>
          <a:p>
            <a:pPr algn="l" marL="342900" indent="-342900">
              <a:lnSpc>
                <a:spcPct val="133000"/>
              </a:lnSpc>
              <a:buSzPct val="100000"/>
              <a:buFont typeface="+mj-lt"/>
              <a:buAutoNum type="arabicPeriod" startAt="3"/>
            </a:pPr>
            <a:r>
              <a:rPr lang="en-US" sz="1150" b="1" dirty="0">
                <a:solidFill>
                  <a:srgbClr val="D6E5EF"/>
                </a:solidFill>
                <a:latin typeface="Source Sans 3" pitchFamily="34" charset="0"/>
                <a:ea typeface="Source Sans 3" pitchFamily="34" charset="-122"/>
                <a:cs typeface="Source Sans 3" pitchFamily="34" charset="-120"/>
              </a:rPr>
              <a:t>Community Management:</a:t>
            </a:r>
            <a:pPr algn="l" marL="342900" indent="-342900">
              <a:lnSpc>
                <a:spcPct val="133000"/>
              </a:lnSpc>
              <a:buSzPct val="100000"/>
              <a:buFont typeface="+mj-lt"/>
              <a:buAutoNum type="arabicPeriod" startAt="3"/>
            </a:pPr>
            <a:r>
              <a:rPr lang="en-US" sz="1150" dirty="0">
                <a:solidFill>
                  <a:srgbClr val="D6E5EF"/>
                </a:solidFill>
                <a:latin typeface="Source Sans 3" pitchFamily="34" charset="0"/>
                <a:ea typeface="Source Sans 3" pitchFamily="34" charset="-122"/>
                <a:cs typeface="Source Sans 3" pitchFamily="34" charset="-120"/>
              </a:rPr>
              <a:t> Dedicate time daily to reply to every comment and message.</a:t>
            </a:r>
            <a:endParaRPr lang="en-US" sz="1150" dirty="0"/>
          </a:p>
        </p:txBody>
      </p:sp>
      <p:sp>
        <p:nvSpPr>
          <p:cNvPr id="10" name="Text 7"/>
          <p:cNvSpPr/>
          <p:nvPr/>
        </p:nvSpPr>
        <p:spPr>
          <a:xfrm>
            <a:off x="747936" y="3706937"/>
            <a:ext cx="7872487"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6E5EF"/>
                </a:solidFill>
                <a:latin typeface="Source Sans 3" pitchFamily="34" charset="0"/>
                <a:ea typeface="Source Sans 3" pitchFamily="34" charset="-122"/>
                <a:cs typeface="Source Sans 3" pitchFamily="34" charset="-120"/>
              </a:rPr>
              <a:t> Speaker Notes: "In conclusion, Rohit and I are ready to scale Noodle House into a beloved household name. By executing this consistent, highly-targeted Facebook strategy, we will build a passionate community of food lovers. Let's get the woks firing!"</a:t>
            </a:r>
            <a:endParaRPr lang="en-US" sz="1150" dirty="0"/>
          </a:p>
        </p:txBody>
      </p:sp>
      <p:sp>
        <p:nvSpPr>
          <p:cNvPr id="11" name="Shape 8"/>
          <p:cNvSpPr/>
          <p:nvPr/>
        </p:nvSpPr>
        <p:spPr>
          <a:xfrm>
            <a:off x="523577" y="3538686"/>
            <a:ext cx="19050" cy="815280"/>
          </a:xfrm>
          <a:prstGeom prst="rect">
            <a:avLst/>
          </a:prstGeom>
          <a:solidFill>
            <a:srgbClr val="F98AC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2026-05-22T06:42:36Z</dcterms:created>
  <dcterms:modified xsi:type="dcterms:W3CDTF">2026-05-22T06:42:36Z</dcterms:modified>
</cp:coreProperties>
</file>