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Budget</c:v>
                </c:pt>
              </c:strCache>
            </c:strRef>
          </c:tx>
          <c:spPr>
            <a:solidFill>
              <a:schemeClr val="accent1"/>
            </a:solidFill>
            <a:ln w="9525" cap="flat">
              <a:solidFill>
                <a:srgbClr val="F9F9F9"/>
              </a:solidFill>
              <a:prstDash val="solid"/>
              <a:round/>
            </a:ln>
            <a:effectLst/>
          </c:spPr>
          <c:dPt>
            <c:idx val="0"/>
            <c:bubble3D val="0"/>
            <c:spPr>
              <a:solidFill>
                <a:srgbClr val="1877F2"/>
              </a:solidFill>
              <a:effectLst/>
            </c:spPr>
          </c:dPt>
          <c:dPt>
            <c:idx val="1"/>
            <c:bubble3D val="0"/>
            <c:spPr>
              <a:solidFill>
                <a:srgbClr val="8B1A1A"/>
              </a:solidFill>
              <a:effectLst/>
            </c:spPr>
          </c:dPt>
          <c:dPt>
            <c:idx val="2"/>
            <c:bubble3D val="0"/>
            <c:spPr>
              <a:solidFill>
                <a:srgbClr val="4A7C59"/>
              </a:solidFill>
              <a:effectLst/>
            </c:spPr>
          </c:dPt>
          <c:dPt>
            <c:idx val="3"/>
            <c:bubble3D val="0"/>
            <c:spPr>
              <a:solidFill>
                <a:srgbClr val="E8A020"/>
              </a:solidFill>
              <a:effectLst/>
            </c:spPr>
          </c:dPt>
          <c:dLbls>
            <c:dLbl>
              <c:idx val="0"/>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Sheet1!$A$2:$A$5</c:f>
              <c:strCache>
                <c:ptCount val="4"/>
                <c:pt idx="0">
                  <c:v>Awareness Ads</c:v>
                </c:pt>
                <c:pt idx="1">
                  <c:v>Offer/Conversion Ads</c:v>
                </c:pt>
                <c:pt idx="2">
                  <c:v>Retargeting</c:v>
                </c:pt>
                <c:pt idx="3">
                  <c:v>Creative Costs</c:v>
                </c:pt>
              </c:strCache>
            </c:strRef>
          </c:cat>
          <c:val>
            <c:numRef>
              <c:f>Sheet1!$B$2:$B$5</c:f>
              <c:numCache>
                <c:ptCount val="4"/>
                <c:pt idx="0">
                  <c:v>30</c:v>
                </c:pt>
                <c:pt idx="1">
                  <c:v>40</c:v>
                </c:pt>
                <c:pt idx="2">
                  <c:v>20</c:v>
                </c:pt>
                <c:pt idx="3">
                  <c:v>10</c:v>
                </c:pt>
              </c:numCache>
            </c:numRef>
          </c:val>
        </c:ser>
        <c:firstSliceAng val="0"/>
      </c:pieChart>
      <c:spPr>
        <a:noFill/>
        <a:ln>
          <a:noFill/>
        </a:ln>
        <a:effectLst/>
      </c:spPr>
    </c:plotArea>
    <c:legend>
      <c:legendPos val="b"/>
      <c:overlay val="0"/>
      <c:txPr>
        <a:bodyPr/>
        <a:lstStyle/>
        <a:p>
          <a:pPr>
            <a:defRPr sz="900">      </a:defRPr>
          </a:pPr>
          <a:endParaRPr lang="en-US"/>
        </a:p>
      </c:txPr>
    </c:legend>
    <c:plotVisOnly val="1"/>
    <c:dispBlanksAs val="span"/>
  </c:chart>
  <c:spPr>
    <a:solidFill>
      <a:srgbClr val="2B2B2B"/>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Welcome to today's strategy session for Noodle House. My name is [Presenter Name], and I'm here to walk Karan, Rohit, and the team through a complete 90-day Facebook marketing plan. Noodle House is a fresh, fast, affordable noodle restaurant right here in Mumbai, and Facebook is one of the most powerful and cost-effective tools available for a local restaurant startup. Over the next 12 slides, we'll cover everything from page setup to paid ads, content strategy, campaign ideas, and a clear action roadmap. The goal is simple: build awareness, get people in the door, and create a community of loyal customers. Let's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Noodle House was founded by Karan and Rohit with one clear vision: serve fresh, fast, delicious noodle bowls to the people of Mumbai without charging a premium for it. The restaurant operates across three channels — dine-in for the experience, takeaway for busy commuters, and delivery for those who want it at home. What makes Noodle House special is its focus on being a local Mumbai brand. This is not a national chain. This is a neighbourhood restaurant built by two founders who understand their city. Facebook is the perfect platform for this kind of brand because it allows Noodle House to connect directly with local customers, build a community, run hyper-targeted local ads, and showcase the food in a way that makes people stop scrolling. The strategy we present today is designed specifically for a startup restaurant at this stage of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successful marketing strategy begins with clear objectives. For Noodle House, we have identified five core goals that directly support business growth. First, building local awareness ensures that people in Mumbai know Noodle House exists. Second, driving store visits translates online visibility into physical footfall. Third, increasing online orders grows revenue beyond the restaurant floor. Fourth, generating repeat customers reduces the cost of acquisition over time because loyal customers cost much less to retain than new ones. And fifth, building community engagement creates a long-term brand asset — a group of people who talk about Noodle House, share posts, tag their friends, and come back again and again. Karan and Rohit should refer back to these five objectives every time they evaluate a piece of content, an ad campaign, or a new offer. If it doesn't serve at least one of these goals, it probably isn't worth doing.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Karan and Rohit create a single Facebook post or spend a single rupee on ads, they need to know exactly who they are talking to. Audience segmentation is not optional — it is the foundation of everything. We have identified four primary personas for Noodle House in Mumbai. Students want affordable meals and respond well to discount offers and fun content. Young professionals want speed, quality, and convenience — they are the lunchtime and evening delivery audience. Families want a comfortable casual experience and will respond to weekend deals and combo boxes. Food lovers are explorers who want something new and interesting — they are your best user-generated content creators. Each persona has different needs, different reasons to buy, and different types of Facebook content that will engage them. When Rohit creates a post, he should ask: which persona is this for? Targeted content always outperforms generic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Brand positioning is what makes Noodle House memorable. Without a clear brand promise and consistent tone of voice, every Facebook post will look disconnected. Karan and Rohit need to commit to a single brand promise: fresh noodles, fast service, bold flavours. This is the message that should appear in the bio, in every ad headline, and in every caption. The tone of voice should feel friendly and local — not corporate. When Rohit writes a caption, it should sound like a real person from Mumbai who loves food, not like a marketing agency. The positioning statement tells customers exactly what Noodle House is for and why it is different from other restaurants. Consistency in tone and message is what builds brand recognition. After 90 days of seeing the same brand voice and the same brand promise, customers will start to associate Noodle House with fresh, fast, affordable noodles without being told.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 single post goes live, the Facebook page itself needs to be set up properly. Think of the Facebook page as Noodle House's digital shopfront. If a potential customer lands on a poorly set up page — no cover image, no hours, no menu link — they will simply leave. A professional setup builds immediate trust. The cover image should show the most appetizing food. The profile picture should be a clean, readable logo. All business information must be complete and up to date. The CTA button should make it frictionless to order. A pinned grand opening post ensures that every new visitor sees the best offer. Reviews and recommendations are crucial for social proof — Karan should actively encourage every happy in-store customer to leave a Facebook recommendation. Location tagging and local keywords help Facebook suggest the page to nearby users even without paid ads. This is foundational work that Rohit should complete in the first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pillars are the backbone of a professional Facebook marketing strategy. Without pillars, content becomes random — sometimes a food photo, sometimes a discount, sometimes nothing. Pillars create a system. Every piece of content Rohit creates should fall into one of these five categories. Hero food posts are the visual anchor — they make people hungry and attract new followers. Behind-the-scenes content builds authenticity and makes customers trust the kitchen. Founder stories from Karan and Rohit personalise the brand and create emotional connection — people support businesses they believe in. Offer posts are the commercial engine — they drive direct action and bring customers in. And customer UGC, meaning photos and reviews from real customers, is the most powerful content of all because it is not Noodle House saying they are great — it is real customers saying it. Aim for a balance of all five pillars every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Consistency is what separates amateur social media from professional social media. Karan and Rohit should not ask themselves every morning — what do we post today? That question kills momentum. Instead, this weekly calendar gives them a repeatable posting rhythm. Monday is always a food post. Tuesday is always behind the scenes. Wednesday is an offer. Thursday is engagement. Friday is a weekend special. Saturday is customer content. Sunday is a story or review. This structure covers all five content pillars in a single week. Rohit can batch-create a week's worth of content in two to three hours every Sunday, schedule the posts using Meta Business Suite, and spend the rest of the week responding to comments and messages. This is how small teams create consistent, professional social media without it consuming their entire day. The calendar is a template — it should be adapted to match real menu specials, events, and customer moments.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Organic content builds the brand over time, but paid Facebook ads are what accelerate growth. The ad strategy follows a classic marketing funnel. At the top is awareness — reaching as many relevant local people as possible through brand awareness ads targeted to Mumbai users aged 18 to 45 within a five-kilometre radius. In the middle is engagement — boosting the best organic food posts and reels so they reach beyond existing followers and start building a larger audience. Below that is conversion — running offer-based ads with a clear call to action like "order now" or "send us a message" to directly drive revenue. And at the bottom is retargeting — showing reminder ads to people who engaged with a post, watched a reel, or clicked the website but did not place an order. Retargeting is often the highest return-on-investment layer because these people already expressed interest. Rohit should start with ₹200–₹500 per day during launch and scale based on what performs.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Campaigns are the creative engine that keeps Facebook marketing fresh and commercially effective. Every campaign here is designed to drive a specific behaviour — footfall, orders, reviews, or word-of-mouth. The Grand Opening Offer creates urgency and early momentum. The Tag a Noodle Buddy contest spreads the page organically and costs almost nothing. The Student Lunch Combo targets one of the highest-frequency dining segments — students eat out multiple times a week. The Office Bulk Order Deal opens up a completely new revenue channel for weekday lunch delivery. The Weekend Family Noodle Box increases average order value and targets a higher-spending segment. The Review and Win campaign systematically builds social proof, which increases the conversion rate of every future ad. The most important thing Karan and Rohit need to remember here is that campaigns should be attractive enough to drive action but priced in a way that still maintains profitability. Never run a loss-making offer just for likes.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Marketing without measurement is just guessing. Karan and Rohit need to track these KPIs every week using Meta Business Suite Insights. Page reach tells them how many unique people saw their content. Engagement rate tells them if their content is resonating. Follower growth tracks the pace of audience building. Clicks to order link is the most directly commercial metric. Direction clicks tell them how many people are looking up the restaurant on the map — a strong signal of intent to visit. Cost per inquiry from ads measures efficiency of ad spend. For the budget, these are illustrative estimates based on a ₹10 Lac annual pool. The biggest share goes to offer and conversion ads because those drive direct revenue. Awareness ads build the top of the funnel. Retargeting is small budget but high return. Creative production, including photography and reel editing, should not be an afterthought — great visuals directly increase ad performance. Review weekly, adjust monthly.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90-day roadmap is the action plan that brings everything together. Phase One, days one to thirty, is about setting the foundation. The page goes live, content production begins, the grand opening campaign runs, and the first paid ads go out. Phase Two, days thirty-one to sixty, is the growth phase. Paid campaigns scale up, offer campaigns launch for students and offices, and the review base starts building. Phase Three, days sixty-one to ninety, is optimisation and retention. Retargeting campaigns convert warm audiences, loyal customers get exclusive offers, and the team analyses what worked to plan the next quarter. The role split is critical. Karan owns the in-store experience — food quality, customer service, and on-ground promotions. Rohit owns the digital presence — page management, ad execution, content scheduling, and weekly analytics. Three key takeaways: be consistent, be patient, and measure everything. Facebook marketing compounds — results in month three will be much stronger than results in month one. Start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Warm dark restaurant background">    </p:cNvPr>
          <p:cNvPicPr>
            <a:picLocks noChangeAspect="1"/>
          </p:cNvPicPr>
          <p:nvPr/>
        </p:nvPicPr>
        <p:blipFill>
          <a:blip r:embed="rId1"/>
          <a:srcRect l="0" r="0" t="0" b="0"/>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65000"/>
            </a:srgbClr>
          </a:solidFill>
          <a:ln w="12700">
            <a:solidFill>
              <a:srgbClr val="000000">
                <a:alpha val="0"/>
              </a:srgbClr>
            </a:solidFill>
            <a:prstDash val="solid"/>
          </a:ln>
        </p:spPr>
      </p:sp>
      <p:sp>
        <p:nvSpPr>
          <p:cNvPr id="4" name="Shape 1"/>
          <p:cNvSpPr/>
          <p:nvPr/>
        </p:nvSpPr>
        <p:spPr>
          <a:xfrm>
            <a:off x="0" y="0"/>
            <a:ext cx="164592" cy="5143500"/>
          </a:xfrm>
          <a:prstGeom prst="rect">
            <a:avLst/>
          </a:prstGeom>
          <a:solidFill>
            <a:srgbClr val="E8A020"/>
          </a:solidFill>
          <a:ln w="12700">
            <a:solidFill>
              <a:srgbClr val="E8A020"/>
            </a:solidFill>
            <a:prstDash val="solid"/>
          </a:ln>
        </p:spPr>
      </p:sp>
      <p:sp>
        <p:nvSpPr>
          <p:cNvPr id="5" name="Text 2"/>
          <p:cNvSpPr/>
          <p:nvPr/>
        </p:nvSpPr>
        <p:spPr>
          <a:xfrm>
            <a:off x="457200" y="777240"/>
            <a:ext cx="8229600" cy="822960"/>
          </a:xfrm>
          <a:prstGeom prst="rect">
            <a:avLst/>
          </a:prstGeom>
          <a:noFill/>
          <a:ln/>
        </p:spPr>
        <p:txBody>
          <a:bodyPr wrap="square" rtlCol="0" anchor="ctr"/>
          <a:lstStyle/>
          <a:p>
            <a:pPr algn="l" indent="0" marL="0">
              <a:buNone/>
            </a:pPr>
            <a:r>
              <a:rPr lang="en-US" sz="3800" b="1" dirty="0">
                <a:solidFill>
                  <a:srgbClr val="FFFFFF"/>
                </a:solidFill>
                <a:latin typeface="Calibri" pitchFamily="34" charset="0"/>
                <a:ea typeface="Calibri" pitchFamily="34" charset="-122"/>
                <a:cs typeface="Calibri" pitchFamily="34" charset="-120"/>
              </a:rPr>
              <a:t>Facebook Marketing Strategy</a:t>
            </a:r>
            <a:endParaRPr lang="en-US" sz="3800" dirty="0"/>
          </a:p>
        </p:txBody>
      </p:sp>
      <p:sp>
        <p:nvSpPr>
          <p:cNvPr id="6" name="Text 3"/>
          <p:cNvSpPr/>
          <p:nvPr/>
        </p:nvSpPr>
        <p:spPr>
          <a:xfrm>
            <a:off x="457200" y="1600200"/>
            <a:ext cx="8229600" cy="685800"/>
          </a:xfrm>
          <a:prstGeom prst="rect">
            <a:avLst/>
          </a:prstGeom>
          <a:noFill/>
          <a:ln/>
        </p:spPr>
        <p:txBody>
          <a:bodyPr wrap="square" rtlCol="0" anchor="ctr"/>
          <a:lstStyle/>
          <a:p>
            <a:pPr algn="l" indent="0" marL="0">
              <a:buNone/>
            </a:pPr>
            <a:r>
              <a:rPr lang="en-US" sz="3400" dirty="0">
                <a:solidFill>
                  <a:srgbClr val="E8A020"/>
                </a:solidFill>
                <a:latin typeface="Calibri" pitchFamily="34" charset="0"/>
                <a:ea typeface="Calibri" pitchFamily="34" charset="-122"/>
                <a:cs typeface="Calibri" pitchFamily="34" charset="-120"/>
              </a:rPr>
              <a:t>for Noodle House</a:t>
            </a:r>
            <a:endParaRPr lang="en-US" sz="3400" dirty="0"/>
          </a:p>
        </p:txBody>
      </p:sp>
      <p:sp>
        <p:nvSpPr>
          <p:cNvPr id="7" name="Shape 4"/>
          <p:cNvSpPr/>
          <p:nvPr/>
        </p:nvSpPr>
        <p:spPr>
          <a:xfrm>
            <a:off x="457200" y="2395728"/>
            <a:ext cx="4114800" cy="36576"/>
          </a:xfrm>
          <a:prstGeom prst="rect">
            <a:avLst/>
          </a:prstGeom>
          <a:solidFill>
            <a:srgbClr val="E8A020"/>
          </a:solidFill>
          <a:ln w="12700">
            <a:solidFill>
              <a:srgbClr val="E8A020"/>
            </a:solidFill>
            <a:prstDash val="solid"/>
          </a:ln>
        </p:spPr>
      </p:sp>
      <p:sp>
        <p:nvSpPr>
          <p:cNvPr id="8" name="Text 5"/>
          <p:cNvSpPr/>
          <p:nvPr/>
        </p:nvSpPr>
        <p:spPr>
          <a:xfrm>
            <a:off x="457200" y="2542032"/>
            <a:ext cx="8229600" cy="411480"/>
          </a:xfrm>
          <a:prstGeom prst="rect">
            <a:avLst/>
          </a:prstGeom>
          <a:noFill/>
          <a:ln/>
        </p:spPr>
        <p:txBody>
          <a:bodyPr wrap="square" rtlCol="0" anchor="ctr"/>
          <a:lstStyle/>
          <a:p>
            <a:pPr algn="l" indent="0" marL="0">
              <a:buNone/>
            </a:pPr>
            <a:r>
              <a:rPr lang="en-US" sz="1500" i="1" dirty="0">
                <a:solidFill>
                  <a:srgbClr val="E8E8E8"/>
                </a:solidFill>
                <a:latin typeface="Calibri" pitchFamily="34" charset="0"/>
                <a:ea typeface="Calibri" pitchFamily="34" charset="-122"/>
                <a:cs typeface="Calibri" pitchFamily="34" charset="-120"/>
              </a:rPr>
              <a:t>A 90-Day Growth Plan for a Quick-Service Noodle Restaurant</a:t>
            </a:r>
            <a:endParaRPr lang="en-US" sz="1500" dirty="0"/>
          </a:p>
        </p:txBody>
      </p:sp>
      <p:sp>
        <p:nvSpPr>
          <p:cNvPr id="9" name="Text 6"/>
          <p:cNvSpPr/>
          <p:nvPr/>
        </p:nvSpPr>
        <p:spPr>
          <a:xfrm>
            <a:off x="457200" y="3246120"/>
            <a:ext cx="8229600" cy="320040"/>
          </a:xfrm>
          <a:prstGeom prst="rect">
            <a:avLst/>
          </a:prstGeom>
          <a:noFill/>
          <a:ln/>
        </p:spPr>
        <p:txBody>
          <a:bodyPr wrap="square" rtlCol="0" anchor="ctr"/>
          <a:lstStyle/>
          <a:p>
            <a:pPr algn="l" indent="0" marL="0">
              <a:buNone/>
            </a:pPr>
            <a:r>
              <a:rPr lang="en-US" sz="1300" dirty="0">
                <a:solidFill>
                  <a:srgbClr val="E8A020"/>
                </a:solidFill>
                <a:latin typeface="Calibri" pitchFamily="34" charset="0"/>
                <a:ea typeface="Calibri" pitchFamily="34" charset="-122"/>
                <a:cs typeface="Calibri" pitchFamily="34" charset="-120"/>
              </a:rPr>
              <a:t>Founded by Karan &amp; Rohit  |  Mumbai  |  1st October 2026</a:t>
            </a:r>
            <a:endParaRPr lang="en-US" sz="1300" dirty="0"/>
          </a:p>
        </p:txBody>
      </p:sp>
      <p:sp>
        <p:nvSpPr>
          <p:cNvPr id="10" name="Text 7"/>
          <p:cNvSpPr/>
          <p:nvPr/>
        </p:nvSpPr>
        <p:spPr>
          <a:xfrm>
            <a:off x="457200" y="3639312"/>
            <a:ext cx="8229600" cy="274320"/>
          </a:xfrm>
          <a:prstGeom prst="rect">
            <a:avLst/>
          </a:prstGeom>
          <a:noFill/>
          <a:ln/>
        </p:spPr>
        <p:txBody>
          <a:bodyPr wrap="square" rtlCol="0" anchor="ctr"/>
          <a:lstStyle/>
          <a:p>
            <a:pPr algn="l" indent="0" marL="0">
              <a:buNone/>
            </a:pPr>
            <a:r>
              <a:rPr lang="en-US" sz="1200" dirty="0">
                <a:solidFill>
                  <a:srgbClr val="CCCCCC"/>
                </a:solidFill>
                <a:latin typeface="Calibri" pitchFamily="34" charset="0"/>
                <a:ea typeface="Calibri" pitchFamily="34" charset="-122"/>
                <a:cs typeface="Calibri" pitchFamily="34" charset="-120"/>
              </a:rPr>
              <a:t>Presented by: [Presenter Name]</a:t>
            </a:r>
            <a:endParaRPr lang="en-US" sz="1200" dirty="0"/>
          </a:p>
        </p:txBody>
      </p:sp>
      <p:sp>
        <p:nvSpPr>
          <p:cNvPr id="11" name="Shape 8"/>
          <p:cNvSpPr/>
          <p:nvPr/>
        </p:nvSpPr>
        <p:spPr>
          <a:xfrm>
            <a:off x="457200" y="4069080"/>
            <a:ext cx="3657600" cy="411480"/>
          </a:xfrm>
          <a:prstGeom prst="roundRect">
            <a:avLst>
              <a:gd name="adj" fmla="val 17778"/>
            </a:avLst>
          </a:prstGeom>
          <a:solidFill>
            <a:srgbClr val="1877F2"/>
          </a:solidFill>
          <a:ln w="12700">
            <a:solidFill>
              <a:srgbClr val="1877F2"/>
            </a:solidFill>
            <a:prstDash val="solid"/>
          </a:ln>
        </p:spPr>
      </p:sp>
      <p:sp>
        <p:nvSpPr>
          <p:cNvPr id="12" name="Text 9"/>
          <p:cNvSpPr/>
          <p:nvPr/>
        </p:nvSpPr>
        <p:spPr>
          <a:xfrm>
            <a:off x="457200" y="4069080"/>
            <a:ext cx="365760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facebook.com/noodle.house</a:t>
            </a:r>
            <a:endParaRPr lang="en-US" sz="1100" dirty="0"/>
          </a:p>
        </p:txBody>
      </p:sp>
      <p:sp>
        <p:nvSpPr>
          <p:cNvPr id="13" name="Text 10"/>
          <p:cNvSpPr/>
          <p:nvPr/>
        </p:nvSpPr>
        <p:spPr>
          <a:xfrm>
            <a:off x="274320" y="4892040"/>
            <a:ext cx="7680960" cy="182880"/>
          </a:xfrm>
          <a:prstGeom prst="rect">
            <a:avLst/>
          </a:prstGeom>
          <a:noFill/>
          <a:ln/>
        </p:spPr>
        <p:txBody>
          <a:bodyPr wrap="square" rtlCol="0" anchor="ctr"/>
          <a:lstStyle/>
          <a:p>
            <a:pPr algn="l" indent="0" marL="0">
              <a:buNone/>
            </a:pPr>
            <a:r>
              <a:rPr lang="en-US" sz="800" dirty="0">
                <a:solidFill>
                  <a:srgbClr val="AAAAAA"/>
                </a:solidFill>
                <a:latin typeface="Calibri" pitchFamily="34" charset="0"/>
                <a:ea typeface="Calibri" pitchFamily="34" charset="-122"/>
                <a:cs typeface="Calibri" pitchFamily="34" charset="-120"/>
              </a:rPr>
              <a:t>Noodle House  |  Facebook Marketing Strategy</a:t>
            </a:r>
            <a:endParaRPr lang="en-US" sz="800" dirty="0"/>
          </a:p>
        </p:txBody>
      </p:sp>
      <p:sp>
        <p:nvSpPr>
          <p:cNvPr id="14" name="Text 11"/>
          <p:cNvSpPr/>
          <p:nvPr/>
        </p:nvSpPr>
        <p:spPr>
          <a:xfrm>
            <a:off x="8595360" y="4892040"/>
            <a:ext cx="365760" cy="182880"/>
          </a:xfrm>
          <a:prstGeom prst="rect">
            <a:avLst/>
          </a:prstGeom>
          <a:noFill/>
          <a:ln/>
        </p:spPr>
        <p:txBody>
          <a:bodyPr wrap="square"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6EC"/>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8B1A1A"/>
          </a:solidFill>
          <a:ln w="12700">
            <a:solidFill>
              <a:srgbClr val="8B1A1A"/>
            </a:solidFill>
            <a:prstDash val="solid"/>
          </a:ln>
        </p:spPr>
      </p:sp>
      <p:sp>
        <p:nvSpPr>
          <p:cNvPr id="3" name="Text 1"/>
          <p:cNvSpPr/>
          <p:nvPr/>
        </p:nvSpPr>
        <p:spPr>
          <a:xfrm>
            <a:off x="365760" y="0"/>
            <a:ext cx="8412480" cy="8686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Brand Snapshot</a:t>
            </a:r>
            <a:endParaRPr lang="en-US" sz="2600" dirty="0"/>
          </a:p>
        </p:txBody>
      </p:sp>
      <p:pic>
        <p:nvPicPr>
          <p:cNvPr id="4" name="Image 0" descr="Noodle House restaurant visual">    </p:cNvPr>
          <p:cNvPicPr>
            <a:picLocks noChangeAspect="1"/>
          </p:cNvPicPr>
          <p:nvPr/>
        </p:nvPicPr>
        <p:blipFill>
          <a:blip r:embed="rId1"/>
          <a:srcRect l="0" r="0" t="0" b="0"/>
          <a:stretch/>
        </p:blipFill>
        <p:spPr>
          <a:xfrm>
            <a:off x="320040" y="1051560"/>
            <a:ext cx="3108960" cy="3474720"/>
          </a:xfrm>
          <a:prstGeom prst="rect">
            <a:avLst/>
          </a:prstGeom>
        </p:spPr>
      </p:pic>
      <p:sp>
        <p:nvSpPr>
          <p:cNvPr id="5" name="Shape 2"/>
          <p:cNvSpPr/>
          <p:nvPr/>
        </p:nvSpPr>
        <p:spPr>
          <a:xfrm>
            <a:off x="3749040" y="1051560"/>
            <a:ext cx="5074920" cy="594360"/>
          </a:xfrm>
          <a:prstGeom prst="rect">
            <a:avLst/>
          </a:prstGeom>
          <a:solidFill>
            <a:srgbClr val="FFFFFF"/>
          </a:solidFill>
          <a:ln w="6350">
            <a:solidFill>
              <a:srgbClr val="DDDDDD"/>
            </a:solidFill>
            <a:prstDash val="solid"/>
          </a:ln>
          <a:effectLst>
            <a:outerShdw sx="100000" sy="100000" kx="0" ky="0" algn="bl" rotWithShape="0" blurRad="50800" dist="12700" dir="8100000">
              <a:srgbClr val="000000">
                <a:alpha val="8000"/>
              </a:srgbClr>
            </a:outerShdw>
          </a:effectLst>
        </p:spPr>
      </p:sp>
      <p:sp>
        <p:nvSpPr>
          <p:cNvPr id="6" name="Shape 3"/>
          <p:cNvSpPr/>
          <p:nvPr/>
        </p:nvSpPr>
        <p:spPr>
          <a:xfrm>
            <a:off x="3749040" y="1051560"/>
            <a:ext cx="91440" cy="594360"/>
          </a:xfrm>
          <a:prstGeom prst="rect">
            <a:avLst/>
          </a:prstGeom>
          <a:solidFill>
            <a:srgbClr val="E8A020"/>
          </a:solidFill>
          <a:ln w="12700">
            <a:solidFill>
              <a:srgbClr val="E8A020"/>
            </a:solidFill>
            <a:prstDash val="solid"/>
          </a:ln>
        </p:spPr>
      </p:sp>
      <p:sp>
        <p:nvSpPr>
          <p:cNvPr id="7" name="Text 4"/>
          <p:cNvSpPr/>
          <p:nvPr/>
        </p:nvSpPr>
        <p:spPr>
          <a:xfrm>
            <a:off x="3931920" y="1051560"/>
            <a:ext cx="4846320" cy="594360"/>
          </a:xfrm>
          <a:prstGeom prst="rect">
            <a:avLst/>
          </a:prstGeom>
          <a:noFill/>
          <a:ln/>
        </p:spPr>
        <p:txBody>
          <a:bodyPr wrap="square" lIns="50800" tIns="50800" rIns="50800" bIns="50800" rtlCol="0" anchor="ctr"/>
          <a:lstStyle/>
          <a:p>
            <a:pPr indent="0" marL="0">
              <a:buNone/>
            </a:pPr>
            <a:r>
              <a:rPr lang="en-US" sz="1250" dirty="0">
                <a:solidFill>
                  <a:srgbClr val="2B2B2B"/>
                </a:solidFill>
                <a:latin typeface="Calibri" pitchFamily="34" charset="0"/>
                <a:ea typeface="Calibri" pitchFamily="34" charset="-122"/>
                <a:cs typeface="Calibri" pitchFamily="34" charset="-120"/>
              </a:rPr>
              <a:t>🍜  Fresh noodle bowls made to order — fast, bold, affordable</a:t>
            </a:r>
            <a:endParaRPr lang="en-US" sz="1250" dirty="0"/>
          </a:p>
        </p:txBody>
      </p:sp>
      <p:sp>
        <p:nvSpPr>
          <p:cNvPr id="8" name="Shape 5"/>
          <p:cNvSpPr/>
          <p:nvPr/>
        </p:nvSpPr>
        <p:spPr>
          <a:xfrm>
            <a:off x="3749040" y="1764792"/>
            <a:ext cx="5074920" cy="594360"/>
          </a:xfrm>
          <a:prstGeom prst="rect">
            <a:avLst/>
          </a:prstGeom>
          <a:solidFill>
            <a:srgbClr val="FFFFFF"/>
          </a:solidFill>
          <a:ln w="6350">
            <a:solidFill>
              <a:srgbClr val="DDDDDD"/>
            </a:solidFill>
            <a:prstDash val="solid"/>
          </a:ln>
          <a:effectLst>
            <a:outerShdw sx="100000" sy="100000" kx="0" ky="0" algn="bl" rotWithShape="0" blurRad="50800" dist="12700" dir="8100000">
              <a:srgbClr val="000000">
                <a:alpha val="8000"/>
              </a:srgbClr>
            </a:outerShdw>
          </a:effectLst>
        </p:spPr>
      </p:sp>
      <p:sp>
        <p:nvSpPr>
          <p:cNvPr id="9" name="Shape 6"/>
          <p:cNvSpPr/>
          <p:nvPr/>
        </p:nvSpPr>
        <p:spPr>
          <a:xfrm>
            <a:off x="3749040" y="1764792"/>
            <a:ext cx="91440" cy="594360"/>
          </a:xfrm>
          <a:prstGeom prst="rect">
            <a:avLst/>
          </a:prstGeom>
          <a:solidFill>
            <a:srgbClr val="E8A020"/>
          </a:solidFill>
          <a:ln w="12700">
            <a:solidFill>
              <a:srgbClr val="E8A020"/>
            </a:solidFill>
            <a:prstDash val="solid"/>
          </a:ln>
        </p:spPr>
      </p:sp>
      <p:sp>
        <p:nvSpPr>
          <p:cNvPr id="10" name="Text 7"/>
          <p:cNvSpPr/>
          <p:nvPr/>
        </p:nvSpPr>
        <p:spPr>
          <a:xfrm>
            <a:off x="3931920" y="1764792"/>
            <a:ext cx="4846320" cy="594360"/>
          </a:xfrm>
          <a:prstGeom prst="rect">
            <a:avLst/>
          </a:prstGeom>
          <a:noFill/>
          <a:ln/>
        </p:spPr>
        <p:txBody>
          <a:bodyPr wrap="square" lIns="50800" tIns="50800" rIns="50800" bIns="50800" rtlCol="0" anchor="ctr"/>
          <a:lstStyle/>
          <a:p>
            <a:pPr indent="0" marL="0">
              <a:buNone/>
            </a:pPr>
            <a:r>
              <a:rPr lang="en-US" sz="1250" dirty="0">
                <a:solidFill>
                  <a:srgbClr val="2B2B2B"/>
                </a:solidFill>
                <a:latin typeface="Calibri" pitchFamily="34" charset="0"/>
                <a:ea typeface="Calibri" pitchFamily="34" charset="-122"/>
                <a:cs typeface="Calibri" pitchFamily="34" charset="-120"/>
              </a:rPr>
              <a:t>📍  Mumbai — dine-in, takeaway &amp; home delivery</a:t>
            </a:r>
            <a:endParaRPr lang="en-US" sz="1250" dirty="0"/>
          </a:p>
        </p:txBody>
      </p:sp>
      <p:sp>
        <p:nvSpPr>
          <p:cNvPr id="11" name="Shape 8"/>
          <p:cNvSpPr/>
          <p:nvPr/>
        </p:nvSpPr>
        <p:spPr>
          <a:xfrm>
            <a:off x="3749040" y="2478024"/>
            <a:ext cx="5074920" cy="594360"/>
          </a:xfrm>
          <a:prstGeom prst="rect">
            <a:avLst/>
          </a:prstGeom>
          <a:solidFill>
            <a:srgbClr val="FFFFFF"/>
          </a:solidFill>
          <a:ln w="6350">
            <a:solidFill>
              <a:srgbClr val="DDDDDD"/>
            </a:solidFill>
            <a:prstDash val="solid"/>
          </a:ln>
          <a:effectLst>
            <a:outerShdw sx="100000" sy="100000" kx="0" ky="0" algn="bl" rotWithShape="0" blurRad="50800" dist="12700" dir="8100000">
              <a:srgbClr val="000000">
                <a:alpha val="8000"/>
              </a:srgbClr>
            </a:outerShdw>
          </a:effectLst>
        </p:spPr>
      </p:sp>
      <p:sp>
        <p:nvSpPr>
          <p:cNvPr id="12" name="Shape 9"/>
          <p:cNvSpPr/>
          <p:nvPr/>
        </p:nvSpPr>
        <p:spPr>
          <a:xfrm>
            <a:off x="3749040" y="2478024"/>
            <a:ext cx="91440" cy="594360"/>
          </a:xfrm>
          <a:prstGeom prst="rect">
            <a:avLst/>
          </a:prstGeom>
          <a:solidFill>
            <a:srgbClr val="E8A020"/>
          </a:solidFill>
          <a:ln w="12700">
            <a:solidFill>
              <a:srgbClr val="E8A020"/>
            </a:solidFill>
            <a:prstDash val="solid"/>
          </a:ln>
        </p:spPr>
      </p:sp>
      <p:sp>
        <p:nvSpPr>
          <p:cNvPr id="13" name="Text 10"/>
          <p:cNvSpPr/>
          <p:nvPr/>
        </p:nvSpPr>
        <p:spPr>
          <a:xfrm>
            <a:off x="3931920" y="2478024"/>
            <a:ext cx="4846320" cy="594360"/>
          </a:xfrm>
          <a:prstGeom prst="rect">
            <a:avLst/>
          </a:prstGeom>
          <a:noFill/>
          <a:ln/>
        </p:spPr>
        <p:txBody>
          <a:bodyPr wrap="square" lIns="50800" tIns="50800" rIns="50800" bIns="50800" rtlCol="0" anchor="ctr"/>
          <a:lstStyle/>
          <a:p>
            <a:pPr indent="0" marL="0">
              <a:buNone/>
            </a:pPr>
            <a:r>
              <a:rPr lang="en-US" sz="1250" dirty="0">
                <a:solidFill>
                  <a:srgbClr val="2B2B2B"/>
                </a:solidFill>
                <a:latin typeface="Calibri" pitchFamily="34" charset="0"/>
                <a:ea typeface="Calibri" pitchFamily="34" charset="-122"/>
                <a:cs typeface="Calibri" pitchFamily="34" charset="-120"/>
              </a:rPr>
              <a:t>👥  Founded by Karan &amp; Rohit — built for the city</a:t>
            </a:r>
            <a:endParaRPr lang="en-US" sz="1250" dirty="0"/>
          </a:p>
        </p:txBody>
      </p:sp>
      <p:sp>
        <p:nvSpPr>
          <p:cNvPr id="14" name="Shape 11"/>
          <p:cNvSpPr/>
          <p:nvPr/>
        </p:nvSpPr>
        <p:spPr>
          <a:xfrm>
            <a:off x="3749040" y="3191256"/>
            <a:ext cx="5074920" cy="594360"/>
          </a:xfrm>
          <a:prstGeom prst="rect">
            <a:avLst/>
          </a:prstGeom>
          <a:solidFill>
            <a:srgbClr val="FFFFFF"/>
          </a:solidFill>
          <a:ln w="6350">
            <a:solidFill>
              <a:srgbClr val="DDDDDD"/>
            </a:solidFill>
            <a:prstDash val="solid"/>
          </a:ln>
          <a:effectLst>
            <a:outerShdw sx="100000" sy="100000" kx="0" ky="0" algn="bl" rotWithShape="0" blurRad="50800" dist="12700" dir="8100000">
              <a:srgbClr val="000000">
                <a:alpha val="8000"/>
              </a:srgbClr>
            </a:outerShdw>
          </a:effectLst>
        </p:spPr>
      </p:sp>
      <p:sp>
        <p:nvSpPr>
          <p:cNvPr id="15" name="Shape 12"/>
          <p:cNvSpPr/>
          <p:nvPr/>
        </p:nvSpPr>
        <p:spPr>
          <a:xfrm>
            <a:off x="3749040" y="3191256"/>
            <a:ext cx="91440" cy="594360"/>
          </a:xfrm>
          <a:prstGeom prst="rect">
            <a:avLst/>
          </a:prstGeom>
          <a:solidFill>
            <a:srgbClr val="E8A020"/>
          </a:solidFill>
          <a:ln w="12700">
            <a:solidFill>
              <a:srgbClr val="E8A020"/>
            </a:solidFill>
            <a:prstDash val="solid"/>
          </a:ln>
        </p:spPr>
      </p:sp>
      <p:sp>
        <p:nvSpPr>
          <p:cNvPr id="16" name="Text 13"/>
          <p:cNvSpPr/>
          <p:nvPr/>
        </p:nvSpPr>
        <p:spPr>
          <a:xfrm>
            <a:off x="3931920" y="3191256"/>
            <a:ext cx="4846320" cy="594360"/>
          </a:xfrm>
          <a:prstGeom prst="rect">
            <a:avLst/>
          </a:prstGeom>
          <a:noFill/>
          <a:ln/>
        </p:spPr>
        <p:txBody>
          <a:bodyPr wrap="square" lIns="50800" tIns="50800" rIns="50800" bIns="50800" rtlCol="0" anchor="ctr"/>
          <a:lstStyle/>
          <a:p>
            <a:pPr indent="0" marL="0">
              <a:buNone/>
            </a:pPr>
            <a:r>
              <a:rPr lang="en-US" sz="1250" dirty="0">
                <a:solidFill>
                  <a:srgbClr val="2B2B2B"/>
                </a:solidFill>
                <a:latin typeface="Calibri" pitchFamily="34" charset="0"/>
                <a:ea typeface="Calibri" pitchFamily="34" charset="-122"/>
                <a:cs typeface="Calibri" pitchFamily="34" charset="-120"/>
              </a:rPr>
              <a:t>💰  Meals starting at ₹149 — great value every day</a:t>
            </a:r>
            <a:endParaRPr lang="en-US" sz="1250" dirty="0"/>
          </a:p>
        </p:txBody>
      </p:sp>
      <p:sp>
        <p:nvSpPr>
          <p:cNvPr id="17" name="Shape 14"/>
          <p:cNvSpPr/>
          <p:nvPr/>
        </p:nvSpPr>
        <p:spPr>
          <a:xfrm>
            <a:off x="3749040" y="3904488"/>
            <a:ext cx="5074920" cy="594360"/>
          </a:xfrm>
          <a:prstGeom prst="rect">
            <a:avLst/>
          </a:prstGeom>
          <a:solidFill>
            <a:srgbClr val="FFFFFF"/>
          </a:solidFill>
          <a:ln w="6350">
            <a:solidFill>
              <a:srgbClr val="DDDDDD"/>
            </a:solidFill>
            <a:prstDash val="solid"/>
          </a:ln>
          <a:effectLst>
            <a:outerShdw sx="100000" sy="100000" kx="0" ky="0" algn="bl" rotWithShape="0" blurRad="50800" dist="12700" dir="8100000">
              <a:srgbClr val="000000">
                <a:alpha val="8000"/>
              </a:srgbClr>
            </a:outerShdw>
          </a:effectLst>
        </p:spPr>
      </p:sp>
      <p:sp>
        <p:nvSpPr>
          <p:cNvPr id="18" name="Shape 15"/>
          <p:cNvSpPr/>
          <p:nvPr/>
        </p:nvSpPr>
        <p:spPr>
          <a:xfrm>
            <a:off x="3749040" y="3904488"/>
            <a:ext cx="91440" cy="594360"/>
          </a:xfrm>
          <a:prstGeom prst="rect">
            <a:avLst/>
          </a:prstGeom>
          <a:solidFill>
            <a:srgbClr val="E8A020"/>
          </a:solidFill>
          <a:ln w="12700">
            <a:solidFill>
              <a:srgbClr val="E8A020"/>
            </a:solidFill>
            <a:prstDash val="solid"/>
          </a:ln>
        </p:spPr>
      </p:sp>
      <p:sp>
        <p:nvSpPr>
          <p:cNvPr id="19" name="Text 16"/>
          <p:cNvSpPr/>
          <p:nvPr/>
        </p:nvSpPr>
        <p:spPr>
          <a:xfrm>
            <a:off x="3931920" y="3904488"/>
            <a:ext cx="4846320" cy="594360"/>
          </a:xfrm>
          <a:prstGeom prst="rect">
            <a:avLst/>
          </a:prstGeom>
          <a:noFill/>
          <a:ln/>
        </p:spPr>
        <p:txBody>
          <a:bodyPr wrap="square" lIns="50800" tIns="50800" rIns="50800" bIns="50800" rtlCol="0" anchor="ctr"/>
          <a:lstStyle/>
          <a:p>
            <a:pPr indent="0" marL="0">
              <a:buNone/>
            </a:pPr>
            <a:r>
              <a:rPr lang="en-US" sz="1250" dirty="0">
                <a:solidFill>
                  <a:srgbClr val="2B2B2B"/>
                </a:solidFill>
                <a:latin typeface="Calibri" pitchFamily="34" charset="0"/>
                <a:ea typeface="Calibri" pitchFamily="34" charset="-122"/>
                <a:cs typeface="Calibri" pitchFamily="34" charset="-120"/>
              </a:rPr>
              <a:t>🌟  Local community focus — food for real Mumbai life</a:t>
            </a:r>
            <a:endParaRPr lang="en-US" sz="1250" dirty="0"/>
          </a:p>
        </p:txBody>
      </p:sp>
      <p:sp>
        <p:nvSpPr>
          <p:cNvPr id="20" name="Text 17"/>
          <p:cNvSpPr/>
          <p:nvPr/>
        </p:nvSpPr>
        <p:spPr>
          <a:xfrm>
            <a:off x="274320" y="4892040"/>
            <a:ext cx="7680960" cy="182880"/>
          </a:xfrm>
          <a:prstGeom prst="rect">
            <a:avLst/>
          </a:prstGeom>
          <a:noFill/>
          <a:ln/>
        </p:spPr>
        <p:txBody>
          <a:bodyPr wrap="square" rtlCol="0" anchor="ctr"/>
          <a:lstStyle/>
          <a:p>
            <a:pPr algn="l" indent="0" marL="0">
              <a:buNone/>
            </a:pPr>
            <a:r>
              <a:rPr lang="en-US" sz="800" dirty="0">
                <a:solidFill>
                  <a:srgbClr val="AAAAAA"/>
                </a:solidFill>
                <a:latin typeface="Calibri" pitchFamily="34" charset="0"/>
                <a:ea typeface="Calibri" pitchFamily="34" charset="-122"/>
                <a:cs typeface="Calibri" pitchFamily="34" charset="-120"/>
              </a:rPr>
              <a:t>Noodle House  |  Facebook Marketing Strategy</a:t>
            </a:r>
            <a:endParaRPr lang="en-US" sz="800" dirty="0"/>
          </a:p>
        </p:txBody>
      </p:sp>
      <p:sp>
        <p:nvSpPr>
          <p:cNvPr id="21" name="Text 18"/>
          <p:cNvSpPr/>
          <p:nvPr/>
        </p:nvSpPr>
        <p:spPr>
          <a:xfrm>
            <a:off x="8595360" y="4892040"/>
            <a:ext cx="365760" cy="182880"/>
          </a:xfrm>
          <a:prstGeom prst="rect">
            <a:avLst/>
          </a:prstGeom>
          <a:noFill/>
          <a:ln/>
        </p:spPr>
        <p:txBody>
          <a:bodyPr wrap="square"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B2B2B"/>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8B1A1A"/>
          </a:solidFill>
          <a:ln w="12700">
            <a:solidFill>
              <a:srgbClr val="8B1A1A"/>
            </a:solidFill>
            <a:prstDash val="solid"/>
          </a:ln>
        </p:spPr>
      </p:sp>
      <p:sp>
        <p:nvSpPr>
          <p:cNvPr id="3" name="Text 1"/>
          <p:cNvSpPr/>
          <p:nvPr/>
        </p:nvSpPr>
        <p:spPr>
          <a:xfrm>
            <a:off x="365760" y="0"/>
            <a:ext cx="8412480" cy="8686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Marketing Objectives</a:t>
            </a:r>
            <a:endParaRPr lang="en-US" sz="2600" dirty="0"/>
          </a:p>
        </p:txBody>
      </p:sp>
      <p:sp>
        <p:nvSpPr>
          <p:cNvPr id="4" name="Text 2"/>
          <p:cNvSpPr/>
          <p:nvPr/>
        </p:nvSpPr>
        <p:spPr>
          <a:xfrm>
            <a:off x="365760" y="914400"/>
            <a:ext cx="8412480" cy="365760"/>
          </a:xfrm>
          <a:prstGeom prst="rect">
            <a:avLst/>
          </a:prstGeom>
          <a:noFill/>
          <a:ln/>
        </p:spPr>
        <p:txBody>
          <a:bodyPr wrap="square" rtlCol="0" anchor="ctr"/>
          <a:lstStyle/>
          <a:p>
            <a:pPr indent="0" marL="0">
              <a:buNone/>
            </a:pPr>
            <a:r>
              <a:rPr lang="en-US" sz="1300" dirty="0">
                <a:solidFill>
                  <a:srgbClr val="CCCCCC"/>
                </a:solidFill>
                <a:latin typeface="Calibri" pitchFamily="34" charset="0"/>
                <a:ea typeface="Calibri" pitchFamily="34" charset="-122"/>
                <a:cs typeface="Calibri" pitchFamily="34" charset="-120"/>
              </a:rPr>
              <a:t>Five goals that drive Noodle House's Facebook strategy:</a:t>
            </a:r>
            <a:endParaRPr lang="en-US" sz="1300" dirty="0"/>
          </a:p>
        </p:txBody>
      </p:sp>
      <p:sp>
        <p:nvSpPr>
          <p:cNvPr id="5" name="Shape 3"/>
          <p:cNvSpPr/>
          <p:nvPr/>
        </p:nvSpPr>
        <p:spPr>
          <a:xfrm>
            <a:off x="274320" y="1389888"/>
            <a:ext cx="1536192" cy="3200400"/>
          </a:xfrm>
          <a:prstGeom prst="rect">
            <a:avLst/>
          </a:prstGeom>
          <a:solidFill>
            <a:srgbClr val="6B1414"/>
          </a:solidFill>
          <a:ln w="12700">
            <a:solidFill>
              <a:srgbClr val="E8A020"/>
            </a:solidFill>
            <a:prstDash val="solid"/>
          </a:ln>
        </p:spPr>
      </p:sp>
      <p:sp>
        <p:nvSpPr>
          <p:cNvPr id="6" name="Shape 4"/>
          <p:cNvSpPr/>
          <p:nvPr/>
        </p:nvSpPr>
        <p:spPr>
          <a:xfrm>
            <a:off x="813816" y="1481328"/>
            <a:ext cx="457200" cy="457200"/>
          </a:xfrm>
          <a:prstGeom prst="ellipse">
            <a:avLst/>
          </a:prstGeom>
          <a:solidFill>
            <a:srgbClr val="E8A020"/>
          </a:solidFill>
          <a:ln w="12700">
            <a:solidFill>
              <a:srgbClr val="E8A020"/>
            </a:solidFill>
            <a:prstDash val="solid"/>
          </a:ln>
        </p:spPr>
      </p:sp>
      <p:sp>
        <p:nvSpPr>
          <p:cNvPr id="7" name="Text 5"/>
          <p:cNvSpPr/>
          <p:nvPr/>
        </p:nvSpPr>
        <p:spPr>
          <a:xfrm>
            <a:off x="813816" y="1481328"/>
            <a:ext cx="457200" cy="457200"/>
          </a:xfrm>
          <a:prstGeom prst="rect">
            <a:avLst/>
          </a:prstGeom>
          <a:noFill/>
          <a:ln/>
        </p:spPr>
        <p:txBody>
          <a:bodyPr wrap="square" rtlCol="0" anchor="ctr"/>
          <a:lstStyle/>
          <a:p>
            <a:pPr algn="ctr" indent="0" marL="0">
              <a:buNone/>
            </a:pPr>
            <a:r>
              <a:rPr lang="en-US" sz="1400" b="1" dirty="0">
                <a:solidFill>
                  <a:srgbClr val="2B2B2B"/>
                </a:solidFill>
                <a:latin typeface="Calibri" pitchFamily="34" charset="0"/>
                <a:ea typeface="Calibri" pitchFamily="34" charset="-122"/>
                <a:cs typeface="Calibri" pitchFamily="34" charset="-120"/>
              </a:rPr>
              <a:t>1</a:t>
            </a:r>
            <a:endParaRPr lang="en-US" sz="1400" dirty="0"/>
          </a:p>
        </p:txBody>
      </p:sp>
      <p:pic>
        <p:nvPicPr>
          <p:cNvPr id="8" name="Image 0" descr="preencoded.png">    </p:cNvPr>
          <p:cNvPicPr>
            <a:picLocks noChangeAspect="1"/>
          </p:cNvPicPr>
          <p:nvPr/>
        </p:nvPicPr>
        <p:blipFill>
          <a:blip r:embed="rId1"/>
          <a:stretch>
            <a:fillRect/>
          </a:stretch>
        </p:blipFill>
        <p:spPr>
          <a:xfrm>
            <a:off x="813816" y="2103120"/>
            <a:ext cx="457200" cy="457200"/>
          </a:xfrm>
          <a:prstGeom prst="rect">
            <a:avLst/>
          </a:prstGeom>
        </p:spPr>
      </p:pic>
      <p:sp>
        <p:nvSpPr>
          <p:cNvPr id="9" name="Text 6"/>
          <p:cNvSpPr/>
          <p:nvPr/>
        </p:nvSpPr>
        <p:spPr>
          <a:xfrm>
            <a:off x="347472" y="2697480"/>
            <a:ext cx="1389888" cy="594360"/>
          </a:xfrm>
          <a:prstGeom prst="rect">
            <a:avLst/>
          </a:prstGeom>
          <a:noFill/>
          <a:ln/>
        </p:spPr>
        <p:txBody>
          <a:bodyPr wrap="square" rtlCol="0" anchor="t"/>
          <a:lstStyle/>
          <a:p>
            <a:pPr algn="ctr" indent="0" marL="0">
              <a:buNone/>
            </a:pPr>
            <a:r>
              <a:rPr lang="en-US" sz="1050" b="1" dirty="0">
                <a:solidFill>
                  <a:srgbClr val="E8A020"/>
                </a:solidFill>
                <a:latin typeface="Calibri" pitchFamily="34" charset="0"/>
                <a:ea typeface="Calibri" pitchFamily="34" charset="-122"/>
                <a:cs typeface="Calibri" pitchFamily="34" charset="-120"/>
              </a:rPr>
              <a:t>Build Local Awareness</a:t>
            </a:r>
            <a:endParaRPr lang="en-US" sz="1050" dirty="0"/>
          </a:p>
        </p:txBody>
      </p:sp>
      <p:sp>
        <p:nvSpPr>
          <p:cNvPr id="10" name="Text 7"/>
          <p:cNvSpPr/>
          <p:nvPr/>
        </p:nvSpPr>
        <p:spPr>
          <a:xfrm>
            <a:off x="347472" y="3337560"/>
            <a:ext cx="1389888" cy="1097280"/>
          </a:xfrm>
          <a:prstGeom prst="rect">
            <a:avLst/>
          </a:prstGeom>
          <a:noFill/>
          <a:ln/>
        </p:spPr>
        <p:txBody>
          <a:bodyPr wrap="square" rtlCol="0" anchor="t"/>
          <a:lstStyle/>
          <a:p>
            <a:pPr algn="ctr" indent="0" marL="0">
              <a:buNone/>
            </a:pPr>
            <a:r>
              <a:rPr lang="en-US" sz="950" dirty="0">
                <a:solidFill>
                  <a:srgbClr val="DDDDDD"/>
                </a:solidFill>
                <a:latin typeface="Calibri" pitchFamily="34" charset="0"/>
                <a:ea typeface="Calibri" pitchFamily="34" charset="-122"/>
                <a:cs typeface="Calibri" pitchFamily="34" charset="-120"/>
              </a:rPr>
              <a:t>Make Noodle House the go-to name for noodles in Mumbai</a:t>
            </a:r>
            <a:endParaRPr lang="en-US" sz="950" dirty="0"/>
          </a:p>
        </p:txBody>
      </p:sp>
      <p:sp>
        <p:nvSpPr>
          <p:cNvPr id="11" name="Shape 8"/>
          <p:cNvSpPr/>
          <p:nvPr/>
        </p:nvSpPr>
        <p:spPr>
          <a:xfrm>
            <a:off x="1993392" y="1389888"/>
            <a:ext cx="1536192" cy="3200400"/>
          </a:xfrm>
          <a:prstGeom prst="rect">
            <a:avLst/>
          </a:prstGeom>
          <a:solidFill>
            <a:srgbClr val="3A3A3A"/>
          </a:solidFill>
          <a:ln w="12700">
            <a:solidFill>
              <a:srgbClr val="E8A020"/>
            </a:solidFill>
            <a:prstDash val="solid"/>
          </a:ln>
        </p:spPr>
      </p:sp>
      <p:sp>
        <p:nvSpPr>
          <p:cNvPr id="12" name="Shape 9"/>
          <p:cNvSpPr/>
          <p:nvPr/>
        </p:nvSpPr>
        <p:spPr>
          <a:xfrm>
            <a:off x="2532888" y="1481328"/>
            <a:ext cx="457200" cy="457200"/>
          </a:xfrm>
          <a:prstGeom prst="ellipse">
            <a:avLst/>
          </a:prstGeom>
          <a:solidFill>
            <a:srgbClr val="E8A020"/>
          </a:solidFill>
          <a:ln w="12700">
            <a:solidFill>
              <a:srgbClr val="E8A020"/>
            </a:solidFill>
            <a:prstDash val="solid"/>
          </a:ln>
        </p:spPr>
      </p:sp>
      <p:sp>
        <p:nvSpPr>
          <p:cNvPr id="13" name="Text 10"/>
          <p:cNvSpPr/>
          <p:nvPr/>
        </p:nvSpPr>
        <p:spPr>
          <a:xfrm>
            <a:off x="2532888" y="1481328"/>
            <a:ext cx="457200" cy="457200"/>
          </a:xfrm>
          <a:prstGeom prst="rect">
            <a:avLst/>
          </a:prstGeom>
          <a:noFill/>
          <a:ln/>
        </p:spPr>
        <p:txBody>
          <a:bodyPr wrap="square" rtlCol="0" anchor="ctr"/>
          <a:lstStyle/>
          <a:p>
            <a:pPr algn="ctr" indent="0" marL="0">
              <a:buNone/>
            </a:pPr>
            <a:r>
              <a:rPr lang="en-US" sz="1400" b="1" dirty="0">
                <a:solidFill>
                  <a:srgbClr val="2B2B2B"/>
                </a:solidFill>
                <a:latin typeface="Calibri" pitchFamily="34" charset="0"/>
                <a:ea typeface="Calibri" pitchFamily="34" charset="-122"/>
                <a:cs typeface="Calibri" pitchFamily="34" charset="-120"/>
              </a:rPr>
              <a:t>2</a:t>
            </a:r>
            <a:endParaRPr lang="en-US" sz="1400" dirty="0"/>
          </a:p>
        </p:txBody>
      </p:sp>
      <p:pic>
        <p:nvPicPr>
          <p:cNvPr id="14" name="Image 1" descr="preencoded.png">    </p:cNvPr>
          <p:cNvPicPr>
            <a:picLocks noChangeAspect="1"/>
          </p:cNvPicPr>
          <p:nvPr/>
        </p:nvPicPr>
        <p:blipFill>
          <a:blip r:embed="rId2"/>
          <a:stretch>
            <a:fillRect/>
          </a:stretch>
        </p:blipFill>
        <p:spPr>
          <a:xfrm>
            <a:off x="2532888" y="2103120"/>
            <a:ext cx="457200" cy="457200"/>
          </a:xfrm>
          <a:prstGeom prst="rect">
            <a:avLst/>
          </a:prstGeom>
        </p:spPr>
      </p:pic>
      <p:sp>
        <p:nvSpPr>
          <p:cNvPr id="15" name="Text 11"/>
          <p:cNvSpPr/>
          <p:nvPr/>
        </p:nvSpPr>
        <p:spPr>
          <a:xfrm>
            <a:off x="2066544" y="2697480"/>
            <a:ext cx="1389888" cy="594360"/>
          </a:xfrm>
          <a:prstGeom prst="rect">
            <a:avLst/>
          </a:prstGeom>
          <a:noFill/>
          <a:ln/>
        </p:spPr>
        <p:txBody>
          <a:bodyPr wrap="square" rtlCol="0" anchor="t"/>
          <a:lstStyle/>
          <a:p>
            <a:pPr algn="ctr" indent="0" marL="0">
              <a:buNone/>
            </a:pPr>
            <a:r>
              <a:rPr lang="en-US" sz="1050" b="1" dirty="0">
                <a:solidFill>
                  <a:srgbClr val="E8A020"/>
                </a:solidFill>
                <a:latin typeface="Calibri" pitchFamily="34" charset="0"/>
                <a:ea typeface="Calibri" pitchFamily="34" charset="-122"/>
                <a:cs typeface="Calibri" pitchFamily="34" charset="-120"/>
              </a:rPr>
              <a:t>Drive Store Visits</a:t>
            </a:r>
            <a:endParaRPr lang="en-US" sz="1050" dirty="0"/>
          </a:p>
        </p:txBody>
      </p:sp>
      <p:sp>
        <p:nvSpPr>
          <p:cNvPr id="16" name="Text 12"/>
          <p:cNvSpPr/>
          <p:nvPr/>
        </p:nvSpPr>
        <p:spPr>
          <a:xfrm>
            <a:off x="2066544" y="3337560"/>
            <a:ext cx="1389888" cy="1097280"/>
          </a:xfrm>
          <a:prstGeom prst="rect">
            <a:avLst/>
          </a:prstGeom>
          <a:noFill/>
          <a:ln/>
        </p:spPr>
        <p:txBody>
          <a:bodyPr wrap="square" rtlCol="0" anchor="t"/>
          <a:lstStyle/>
          <a:p>
            <a:pPr algn="ctr" indent="0" marL="0">
              <a:buNone/>
            </a:pPr>
            <a:r>
              <a:rPr lang="en-US" sz="950" dirty="0">
                <a:solidFill>
                  <a:srgbClr val="DDDDDD"/>
                </a:solidFill>
                <a:latin typeface="Calibri" pitchFamily="34" charset="0"/>
                <a:ea typeface="Calibri" pitchFamily="34" charset="-122"/>
                <a:cs typeface="Calibri" pitchFamily="34" charset="-120"/>
              </a:rPr>
              <a:t>Convert social engagement into actual walk-ins</a:t>
            </a:r>
            <a:endParaRPr lang="en-US" sz="950" dirty="0"/>
          </a:p>
        </p:txBody>
      </p:sp>
      <p:sp>
        <p:nvSpPr>
          <p:cNvPr id="17" name="Shape 13"/>
          <p:cNvSpPr/>
          <p:nvPr/>
        </p:nvSpPr>
        <p:spPr>
          <a:xfrm>
            <a:off x="3712464" y="1389888"/>
            <a:ext cx="1536192" cy="3200400"/>
          </a:xfrm>
          <a:prstGeom prst="rect">
            <a:avLst/>
          </a:prstGeom>
          <a:solidFill>
            <a:srgbClr val="6B1414"/>
          </a:solidFill>
          <a:ln w="12700">
            <a:solidFill>
              <a:srgbClr val="E8A020"/>
            </a:solidFill>
            <a:prstDash val="solid"/>
          </a:ln>
        </p:spPr>
      </p:sp>
      <p:sp>
        <p:nvSpPr>
          <p:cNvPr id="18" name="Shape 14"/>
          <p:cNvSpPr/>
          <p:nvPr/>
        </p:nvSpPr>
        <p:spPr>
          <a:xfrm>
            <a:off x="4251960" y="1481328"/>
            <a:ext cx="457200" cy="457200"/>
          </a:xfrm>
          <a:prstGeom prst="ellipse">
            <a:avLst/>
          </a:prstGeom>
          <a:solidFill>
            <a:srgbClr val="E8A020"/>
          </a:solidFill>
          <a:ln w="12700">
            <a:solidFill>
              <a:srgbClr val="E8A020"/>
            </a:solidFill>
            <a:prstDash val="solid"/>
          </a:ln>
        </p:spPr>
      </p:sp>
      <p:sp>
        <p:nvSpPr>
          <p:cNvPr id="19" name="Text 15"/>
          <p:cNvSpPr/>
          <p:nvPr/>
        </p:nvSpPr>
        <p:spPr>
          <a:xfrm>
            <a:off x="4251960" y="1481328"/>
            <a:ext cx="457200" cy="457200"/>
          </a:xfrm>
          <a:prstGeom prst="rect">
            <a:avLst/>
          </a:prstGeom>
          <a:noFill/>
          <a:ln/>
        </p:spPr>
        <p:txBody>
          <a:bodyPr wrap="square" rtlCol="0" anchor="ctr"/>
          <a:lstStyle/>
          <a:p>
            <a:pPr algn="ctr" indent="0" marL="0">
              <a:buNone/>
            </a:pPr>
            <a:r>
              <a:rPr lang="en-US" sz="1400" b="1" dirty="0">
                <a:solidFill>
                  <a:srgbClr val="2B2B2B"/>
                </a:solidFill>
                <a:latin typeface="Calibri" pitchFamily="34" charset="0"/>
                <a:ea typeface="Calibri" pitchFamily="34" charset="-122"/>
                <a:cs typeface="Calibri" pitchFamily="34" charset="-120"/>
              </a:rPr>
              <a:t>3</a:t>
            </a:r>
            <a:endParaRPr lang="en-US" sz="1400" dirty="0"/>
          </a:p>
        </p:txBody>
      </p:sp>
      <p:pic>
        <p:nvPicPr>
          <p:cNvPr id="20" name="Image 2" descr="preencoded.png">    </p:cNvPr>
          <p:cNvPicPr>
            <a:picLocks noChangeAspect="1"/>
          </p:cNvPicPr>
          <p:nvPr/>
        </p:nvPicPr>
        <p:blipFill>
          <a:blip r:embed="rId3"/>
          <a:stretch>
            <a:fillRect/>
          </a:stretch>
        </p:blipFill>
        <p:spPr>
          <a:xfrm>
            <a:off x="4251960" y="2103120"/>
            <a:ext cx="457200" cy="457200"/>
          </a:xfrm>
          <a:prstGeom prst="rect">
            <a:avLst/>
          </a:prstGeom>
        </p:spPr>
      </p:pic>
      <p:sp>
        <p:nvSpPr>
          <p:cNvPr id="21" name="Text 16"/>
          <p:cNvSpPr/>
          <p:nvPr/>
        </p:nvSpPr>
        <p:spPr>
          <a:xfrm>
            <a:off x="3785616" y="2697480"/>
            <a:ext cx="1389888" cy="594360"/>
          </a:xfrm>
          <a:prstGeom prst="rect">
            <a:avLst/>
          </a:prstGeom>
          <a:noFill/>
          <a:ln/>
        </p:spPr>
        <p:txBody>
          <a:bodyPr wrap="square" rtlCol="0" anchor="t"/>
          <a:lstStyle/>
          <a:p>
            <a:pPr algn="ctr" indent="0" marL="0">
              <a:buNone/>
            </a:pPr>
            <a:r>
              <a:rPr lang="en-US" sz="1050" b="1" dirty="0">
                <a:solidFill>
                  <a:srgbClr val="E8A020"/>
                </a:solidFill>
                <a:latin typeface="Calibri" pitchFamily="34" charset="0"/>
                <a:ea typeface="Calibri" pitchFamily="34" charset="-122"/>
                <a:cs typeface="Calibri" pitchFamily="34" charset="-120"/>
              </a:rPr>
              <a:t>Increase Online Orders</a:t>
            </a:r>
            <a:endParaRPr lang="en-US" sz="1050" dirty="0"/>
          </a:p>
        </p:txBody>
      </p:sp>
      <p:sp>
        <p:nvSpPr>
          <p:cNvPr id="22" name="Text 17"/>
          <p:cNvSpPr/>
          <p:nvPr/>
        </p:nvSpPr>
        <p:spPr>
          <a:xfrm>
            <a:off x="3785616" y="3337560"/>
            <a:ext cx="1389888" cy="1097280"/>
          </a:xfrm>
          <a:prstGeom prst="rect">
            <a:avLst/>
          </a:prstGeom>
          <a:noFill/>
          <a:ln/>
        </p:spPr>
        <p:txBody>
          <a:bodyPr wrap="square" rtlCol="0" anchor="t"/>
          <a:lstStyle/>
          <a:p>
            <a:pPr algn="ctr" indent="0" marL="0">
              <a:buNone/>
            </a:pPr>
            <a:r>
              <a:rPr lang="en-US" sz="950" dirty="0">
                <a:solidFill>
                  <a:srgbClr val="DDDDDD"/>
                </a:solidFill>
                <a:latin typeface="Calibri" pitchFamily="34" charset="0"/>
                <a:ea typeface="Calibri" pitchFamily="34" charset="-122"/>
                <a:cs typeface="Calibri" pitchFamily="34" charset="-120"/>
              </a:rPr>
              <a:t>Grow delivery &amp; takeaway through social commerce</a:t>
            </a:r>
            <a:endParaRPr lang="en-US" sz="950" dirty="0"/>
          </a:p>
        </p:txBody>
      </p:sp>
      <p:sp>
        <p:nvSpPr>
          <p:cNvPr id="23" name="Shape 18"/>
          <p:cNvSpPr/>
          <p:nvPr/>
        </p:nvSpPr>
        <p:spPr>
          <a:xfrm>
            <a:off x="5431536" y="1389888"/>
            <a:ext cx="1536192" cy="3200400"/>
          </a:xfrm>
          <a:prstGeom prst="rect">
            <a:avLst/>
          </a:prstGeom>
          <a:solidFill>
            <a:srgbClr val="3A3A3A"/>
          </a:solidFill>
          <a:ln w="12700">
            <a:solidFill>
              <a:srgbClr val="E8A020"/>
            </a:solidFill>
            <a:prstDash val="solid"/>
          </a:ln>
        </p:spPr>
      </p:sp>
      <p:sp>
        <p:nvSpPr>
          <p:cNvPr id="24" name="Shape 19"/>
          <p:cNvSpPr/>
          <p:nvPr/>
        </p:nvSpPr>
        <p:spPr>
          <a:xfrm>
            <a:off x="5971032" y="1481328"/>
            <a:ext cx="457200" cy="457200"/>
          </a:xfrm>
          <a:prstGeom prst="ellipse">
            <a:avLst/>
          </a:prstGeom>
          <a:solidFill>
            <a:srgbClr val="E8A020"/>
          </a:solidFill>
          <a:ln w="12700">
            <a:solidFill>
              <a:srgbClr val="E8A020"/>
            </a:solidFill>
            <a:prstDash val="solid"/>
          </a:ln>
        </p:spPr>
      </p:sp>
      <p:sp>
        <p:nvSpPr>
          <p:cNvPr id="25" name="Text 20"/>
          <p:cNvSpPr/>
          <p:nvPr/>
        </p:nvSpPr>
        <p:spPr>
          <a:xfrm>
            <a:off x="5971032" y="1481328"/>
            <a:ext cx="457200" cy="457200"/>
          </a:xfrm>
          <a:prstGeom prst="rect">
            <a:avLst/>
          </a:prstGeom>
          <a:noFill/>
          <a:ln/>
        </p:spPr>
        <p:txBody>
          <a:bodyPr wrap="square" rtlCol="0" anchor="ctr"/>
          <a:lstStyle/>
          <a:p>
            <a:pPr algn="ctr" indent="0" marL="0">
              <a:buNone/>
            </a:pPr>
            <a:r>
              <a:rPr lang="en-US" sz="1400" b="1" dirty="0">
                <a:solidFill>
                  <a:srgbClr val="2B2B2B"/>
                </a:solidFill>
                <a:latin typeface="Calibri" pitchFamily="34" charset="0"/>
                <a:ea typeface="Calibri" pitchFamily="34" charset="-122"/>
                <a:cs typeface="Calibri" pitchFamily="34" charset="-120"/>
              </a:rPr>
              <a:t>4</a:t>
            </a:r>
            <a:endParaRPr lang="en-US" sz="1400" dirty="0"/>
          </a:p>
        </p:txBody>
      </p:sp>
      <p:pic>
        <p:nvPicPr>
          <p:cNvPr id="26" name="Image 3" descr="preencoded.png">    </p:cNvPr>
          <p:cNvPicPr>
            <a:picLocks noChangeAspect="1"/>
          </p:cNvPicPr>
          <p:nvPr/>
        </p:nvPicPr>
        <p:blipFill>
          <a:blip r:embed="rId4"/>
          <a:stretch>
            <a:fillRect/>
          </a:stretch>
        </p:blipFill>
        <p:spPr>
          <a:xfrm>
            <a:off x="5971032" y="2103120"/>
            <a:ext cx="457200" cy="457200"/>
          </a:xfrm>
          <a:prstGeom prst="rect">
            <a:avLst/>
          </a:prstGeom>
        </p:spPr>
      </p:pic>
      <p:sp>
        <p:nvSpPr>
          <p:cNvPr id="27" name="Text 21"/>
          <p:cNvSpPr/>
          <p:nvPr/>
        </p:nvSpPr>
        <p:spPr>
          <a:xfrm>
            <a:off x="5504688" y="2697480"/>
            <a:ext cx="1389888" cy="594360"/>
          </a:xfrm>
          <a:prstGeom prst="rect">
            <a:avLst/>
          </a:prstGeom>
          <a:noFill/>
          <a:ln/>
        </p:spPr>
        <p:txBody>
          <a:bodyPr wrap="square" rtlCol="0" anchor="t"/>
          <a:lstStyle/>
          <a:p>
            <a:pPr algn="ctr" indent="0" marL="0">
              <a:buNone/>
            </a:pPr>
            <a:r>
              <a:rPr lang="en-US" sz="1050" b="1" dirty="0">
                <a:solidFill>
                  <a:srgbClr val="E8A020"/>
                </a:solidFill>
                <a:latin typeface="Calibri" pitchFamily="34" charset="0"/>
                <a:ea typeface="Calibri" pitchFamily="34" charset="-122"/>
                <a:cs typeface="Calibri" pitchFamily="34" charset="-120"/>
              </a:rPr>
              <a:t>Generate Repeat Customers</a:t>
            </a:r>
            <a:endParaRPr lang="en-US" sz="1050" dirty="0"/>
          </a:p>
        </p:txBody>
      </p:sp>
      <p:sp>
        <p:nvSpPr>
          <p:cNvPr id="28" name="Text 22"/>
          <p:cNvSpPr/>
          <p:nvPr/>
        </p:nvSpPr>
        <p:spPr>
          <a:xfrm>
            <a:off x="5504688" y="3337560"/>
            <a:ext cx="1389888" cy="1097280"/>
          </a:xfrm>
          <a:prstGeom prst="rect">
            <a:avLst/>
          </a:prstGeom>
          <a:noFill/>
          <a:ln/>
        </p:spPr>
        <p:txBody>
          <a:bodyPr wrap="square" rtlCol="0" anchor="t"/>
          <a:lstStyle/>
          <a:p>
            <a:pPr algn="ctr" indent="0" marL="0">
              <a:buNone/>
            </a:pPr>
            <a:r>
              <a:rPr lang="en-US" sz="950" dirty="0">
                <a:solidFill>
                  <a:srgbClr val="DDDDDD"/>
                </a:solidFill>
                <a:latin typeface="Calibri" pitchFamily="34" charset="0"/>
                <a:ea typeface="Calibri" pitchFamily="34" charset="-122"/>
                <a:cs typeface="Calibri" pitchFamily="34" charset="-120"/>
              </a:rPr>
              <a:t>Turn first-time visitors into loyal, returning fans</a:t>
            </a:r>
            <a:endParaRPr lang="en-US" sz="950" dirty="0"/>
          </a:p>
        </p:txBody>
      </p:sp>
      <p:sp>
        <p:nvSpPr>
          <p:cNvPr id="29" name="Shape 23"/>
          <p:cNvSpPr/>
          <p:nvPr/>
        </p:nvSpPr>
        <p:spPr>
          <a:xfrm>
            <a:off x="7150608" y="1389888"/>
            <a:ext cx="1536192" cy="3200400"/>
          </a:xfrm>
          <a:prstGeom prst="rect">
            <a:avLst/>
          </a:prstGeom>
          <a:solidFill>
            <a:srgbClr val="6B1414"/>
          </a:solidFill>
          <a:ln w="12700">
            <a:solidFill>
              <a:srgbClr val="E8A020"/>
            </a:solidFill>
            <a:prstDash val="solid"/>
          </a:ln>
        </p:spPr>
      </p:sp>
      <p:sp>
        <p:nvSpPr>
          <p:cNvPr id="30" name="Shape 24"/>
          <p:cNvSpPr/>
          <p:nvPr/>
        </p:nvSpPr>
        <p:spPr>
          <a:xfrm>
            <a:off x="7690104" y="1481328"/>
            <a:ext cx="457200" cy="457200"/>
          </a:xfrm>
          <a:prstGeom prst="ellipse">
            <a:avLst/>
          </a:prstGeom>
          <a:solidFill>
            <a:srgbClr val="E8A020"/>
          </a:solidFill>
          <a:ln w="12700">
            <a:solidFill>
              <a:srgbClr val="E8A020"/>
            </a:solidFill>
            <a:prstDash val="solid"/>
          </a:ln>
        </p:spPr>
      </p:sp>
      <p:sp>
        <p:nvSpPr>
          <p:cNvPr id="31" name="Text 25"/>
          <p:cNvSpPr/>
          <p:nvPr/>
        </p:nvSpPr>
        <p:spPr>
          <a:xfrm>
            <a:off x="7690104" y="1481328"/>
            <a:ext cx="457200" cy="457200"/>
          </a:xfrm>
          <a:prstGeom prst="rect">
            <a:avLst/>
          </a:prstGeom>
          <a:noFill/>
          <a:ln/>
        </p:spPr>
        <p:txBody>
          <a:bodyPr wrap="square" rtlCol="0" anchor="ctr"/>
          <a:lstStyle/>
          <a:p>
            <a:pPr algn="ctr" indent="0" marL="0">
              <a:buNone/>
            </a:pPr>
            <a:r>
              <a:rPr lang="en-US" sz="1400" b="1" dirty="0">
                <a:solidFill>
                  <a:srgbClr val="2B2B2B"/>
                </a:solidFill>
                <a:latin typeface="Calibri" pitchFamily="34" charset="0"/>
                <a:ea typeface="Calibri" pitchFamily="34" charset="-122"/>
                <a:cs typeface="Calibri" pitchFamily="34" charset="-120"/>
              </a:rPr>
              <a:t>5</a:t>
            </a:r>
            <a:endParaRPr lang="en-US" sz="1400" dirty="0"/>
          </a:p>
        </p:txBody>
      </p:sp>
      <p:pic>
        <p:nvPicPr>
          <p:cNvPr id="32" name="Image 4" descr="preencoded.png">    </p:cNvPr>
          <p:cNvPicPr>
            <a:picLocks noChangeAspect="1"/>
          </p:cNvPicPr>
          <p:nvPr/>
        </p:nvPicPr>
        <p:blipFill>
          <a:blip r:embed="rId5"/>
          <a:stretch>
            <a:fillRect/>
          </a:stretch>
        </p:blipFill>
        <p:spPr>
          <a:xfrm>
            <a:off x="7690104" y="2103120"/>
            <a:ext cx="457200" cy="457200"/>
          </a:xfrm>
          <a:prstGeom prst="rect">
            <a:avLst/>
          </a:prstGeom>
        </p:spPr>
      </p:pic>
      <p:sp>
        <p:nvSpPr>
          <p:cNvPr id="33" name="Text 26"/>
          <p:cNvSpPr/>
          <p:nvPr/>
        </p:nvSpPr>
        <p:spPr>
          <a:xfrm>
            <a:off x="7223760" y="2697480"/>
            <a:ext cx="1389888" cy="594360"/>
          </a:xfrm>
          <a:prstGeom prst="rect">
            <a:avLst/>
          </a:prstGeom>
          <a:noFill/>
          <a:ln/>
        </p:spPr>
        <p:txBody>
          <a:bodyPr wrap="square" rtlCol="0" anchor="t"/>
          <a:lstStyle/>
          <a:p>
            <a:pPr algn="ctr" indent="0" marL="0">
              <a:buNone/>
            </a:pPr>
            <a:r>
              <a:rPr lang="en-US" sz="1050" b="1" dirty="0">
                <a:solidFill>
                  <a:srgbClr val="E8A020"/>
                </a:solidFill>
                <a:latin typeface="Calibri" pitchFamily="34" charset="0"/>
                <a:ea typeface="Calibri" pitchFamily="34" charset="-122"/>
                <a:cs typeface="Calibri" pitchFamily="34" charset="-120"/>
              </a:rPr>
              <a:t>Build Community Engagement</a:t>
            </a:r>
            <a:endParaRPr lang="en-US" sz="1050" dirty="0"/>
          </a:p>
        </p:txBody>
      </p:sp>
      <p:sp>
        <p:nvSpPr>
          <p:cNvPr id="34" name="Text 27"/>
          <p:cNvSpPr/>
          <p:nvPr/>
        </p:nvSpPr>
        <p:spPr>
          <a:xfrm>
            <a:off x="7223760" y="3337560"/>
            <a:ext cx="1389888" cy="1097280"/>
          </a:xfrm>
          <a:prstGeom prst="rect">
            <a:avLst/>
          </a:prstGeom>
          <a:noFill/>
          <a:ln/>
        </p:spPr>
        <p:txBody>
          <a:bodyPr wrap="square" rtlCol="0" anchor="t"/>
          <a:lstStyle/>
          <a:p>
            <a:pPr algn="ctr" indent="0" marL="0">
              <a:buNone/>
            </a:pPr>
            <a:r>
              <a:rPr lang="en-US" sz="950" dirty="0">
                <a:solidFill>
                  <a:srgbClr val="DDDDDD"/>
                </a:solidFill>
                <a:latin typeface="Calibri" pitchFamily="34" charset="0"/>
                <a:ea typeface="Calibri" pitchFamily="34" charset="-122"/>
                <a:cs typeface="Calibri" pitchFamily="34" charset="-120"/>
              </a:rPr>
              <a:t>Create an active local food community on Facebook</a:t>
            </a:r>
            <a:endParaRPr lang="en-US" sz="950" dirty="0"/>
          </a:p>
        </p:txBody>
      </p:sp>
      <p:sp>
        <p:nvSpPr>
          <p:cNvPr id="35" name="Text 28"/>
          <p:cNvSpPr/>
          <p:nvPr/>
        </p:nvSpPr>
        <p:spPr>
          <a:xfrm>
            <a:off x="274320" y="4892040"/>
            <a:ext cx="7680960" cy="182880"/>
          </a:xfrm>
          <a:prstGeom prst="rect">
            <a:avLst/>
          </a:prstGeom>
          <a:noFill/>
          <a:ln/>
        </p:spPr>
        <p:txBody>
          <a:bodyPr wrap="square" rtlCol="0" anchor="ctr"/>
          <a:lstStyle/>
          <a:p>
            <a:pPr algn="l" indent="0" marL="0">
              <a:buNone/>
            </a:pPr>
            <a:r>
              <a:rPr lang="en-US" sz="800" dirty="0">
                <a:solidFill>
                  <a:srgbClr val="AAAAAA"/>
                </a:solidFill>
                <a:latin typeface="Calibri" pitchFamily="34" charset="0"/>
                <a:ea typeface="Calibri" pitchFamily="34" charset="-122"/>
                <a:cs typeface="Calibri" pitchFamily="34" charset="-120"/>
              </a:rPr>
              <a:t>Noodle House  |  Facebook Marketing Strategy</a:t>
            </a:r>
            <a:endParaRPr lang="en-US" sz="800" dirty="0"/>
          </a:p>
        </p:txBody>
      </p:sp>
      <p:sp>
        <p:nvSpPr>
          <p:cNvPr id="36" name="Text 29"/>
          <p:cNvSpPr/>
          <p:nvPr/>
        </p:nvSpPr>
        <p:spPr>
          <a:xfrm>
            <a:off x="8595360" y="4892040"/>
            <a:ext cx="365760" cy="182880"/>
          </a:xfrm>
          <a:prstGeom prst="rect">
            <a:avLst/>
          </a:prstGeom>
          <a:noFill/>
          <a:ln/>
        </p:spPr>
        <p:txBody>
          <a:bodyPr wrap="square"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6EC"/>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8B1A1A"/>
          </a:solidFill>
          <a:ln w="12700">
            <a:solidFill>
              <a:srgbClr val="8B1A1A"/>
            </a:solidFill>
            <a:prstDash val="solid"/>
          </a:ln>
        </p:spPr>
      </p:sp>
      <p:sp>
        <p:nvSpPr>
          <p:cNvPr id="3" name="Text 1"/>
          <p:cNvSpPr/>
          <p:nvPr/>
        </p:nvSpPr>
        <p:spPr>
          <a:xfrm>
            <a:off x="365760" y="0"/>
            <a:ext cx="8412480" cy="8686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Target Audience</a:t>
            </a:r>
            <a:endParaRPr lang="en-US" sz="2600" dirty="0"/>
          </a:p>
        </p:txBody>
      </p:sp>
      <p:sp>
        <p:nvSpPr>
          <p:cNvPr id="4" name="Shape 2"/>
          <p:cNvSpPr/>
          <p:nvPr/>
        </p:nvSpPr>
        <p:spPr>
          <a:xfrm>
            <a:off x="228600" y="960120"/>
            <a:ext cx="1993392" cy="3840480"/>
          </a:xfrm>
          <a:prstGeom prst="rect">
            <a:avLst/>
          </a:prstGeom>
          <a:solidFill>
            <a:srgbClr val="FFFFFF"/>
          </a:solidFill>
          <a:ln w="6350">
            <a:solidFill>
              <a:srgbClr val="DDDDDD"/>
            </a:solidFill>
            <a:prstDash val="solid"/>
          </a:ln>
          <a:effectLst>
            <a:outerShdw sx="100000" sy="100000" kx="0" ky="0" algn="bl" rotWithShape="0" blurRad="76200" dist="25400" dir="8100000">
              <a:srgbClr val="000000">
                <a:alpha val="10000"/>
              </a:srgbClr>
            </a:outerShdw>
          </a:effectLst>
        </p:spPr>
      </p:sp>
      <p:sp>
        <p:nvSpPr>
          <p:cNvPr id="5" name="Shape 3"/>
          <p:cNvSpPr/>
          <p:nvPr/>
        </p:nvSpPr>
        <p:spPr>
          <a:xfrm>
            <a:off x="228600" y="960120"/>
            <a:ext cx="1993392" cy="502920"/>
          </a:xfrm>
          <a:prstGeom prst="rect">
            <a:avLst/>
          </a:prstGeom>
          <a:solidFill>
            <a:srgbClr val="1877F2"/>
          </a:solidFill>
          <a:ln w="12700">
            <a:solidFill>
              <a:srgbClr val="1877F2"/>
            </a:solidFill>
            <a:prstDash val="solid"/>
          </a:ln>
        </p:spPr>
      </p:sp>
      <p:sp>
        <p:nvSpPr>
          <p:cNvPr id="6" name="Text 4"/>
          <p:cNvSpPr/>
          <p:nvPr/>
        </p:nvSpPr>
        <p:spPr>
          <a:xfrm>
            <a:off x="301752" y="960120"/>
            <a:ext cx="1847088"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Students</a:t>
            </a:r>
            <a:endParaRPr lang="en-US" sz="1300" dirty="0"/>
          </a:p>
        </p:txBody>
      </p:sp>
      <p:sp>
        <p:nvSpPr>
          <p:cNvPr id="7" name="Text 5"/>
          <p:cNvSpPr/>
          <p:nvPr/>
        </p:nvSpPr>
        <p:spPr>
          <a:xfrm>
            <a:off x="338328" y="1572768"/>
            <a:ext cx="1773936" cy="256032"/>
          </a:xfrm>
          <a:prstGeom prst="rect">
            <a:avLst/>
          </a:prstGeom>
          <a:noFill/>
          <a:ln/>
        </p:spPr>
        <p:txBody>
          <a:bodyPr wrap="square" rtlCol="0" anchor="ctr"/>
          <a:lstStyle/>
          <a:p>
            <a:pPr indent="0" marL="0">
              <a:buNone/>
            </a:pPr>
            <a:r>
              <a:rPr lang="en-US" sz="1000" b="1" dirty="0">
                <a:solidFill>
                  <a:srgbClr val="1877F2"/>
                </a:solidFill>
                <a:latin typeface="Calibri" pitchFamily="34" charset="0"/>
                <a:ea typeface="Calibri" pitchFamily="34" charset="-122"/>
                <a:cs typeface="Calibri" pitchFamily="34" charset="-120"/>
              </a:rPr>
              <a:t>Need:</a:t>
            </a:r>
            <a:endParaRPr lang="en-US" sz="1000" dirty="0"/>
          </a:p>
        </p:txBody>
      </p:sp>
      <p:sp>
        <p:nvSpPr>
          <p:cNvPr id="8" name="Text 6"/>
          <p:cNvSpPr/>
          <p:nvPr/>
        </p:nvSpPr>
        <p:spPr>
          <a:xfrm>
            <a:off x="338328" y="1828800"/>
            <a:ext cx="1773936" cy="685800"/>
          </a:xfrm>
          <a:prstGeom prst="rect">
            <a:avLst/>
          </a:prstGeom>
          <a:noFill/>
          <a:ln/>
        </p:spPr>
        <p:txBody>
          <a:bodyPr wrap="square" rtlCol="0" anchor="ctr"/>
          <a:lstStyle/>
          <a:p>
            <a:pPr indent="0" marL="0">
              <a:buNone/>
            </a:pPr>
            <a:r>
              <a:rPr lang="en-US" sz="1000" dirty="0">
                <a:solidFill>
                  <a:srgbClr val="2B2B2B"/>
                </a:solidFill>
                <a:latin typeface="Calibri" pitchFamily="34" charset="0"/>
                <a:ea typeface="Calibri" pitchFamily="34" charset="-122"/>
                <a:cs typeface="Calibri" pitchFamily="34" charset="-120"/>
              </a:rPr>
              <a:t>Affordable, filling meals between classes</a:t>
            </a:r>
            <a:endParaRPr lang="en-US" sz="1000" dirty="0"/>
          </a:p>
        </p:txBody>
      </p:sp>
      <p:sp>
        <p:nvSpPr>
          <p:cNvPr id="9" name="Text 7"/>
          <p:cNvSpPr/>
          <p:nvPr/>
        </p:nvSpPr>
        <p:spPr>
          <a:xfrm>
            <a:off x="338328" y="2651760"/>
            <a:ext cx="1773936" cy="256032"/>
          </a:xfrm>
          <a:prstGeom prst="rect">
            <a:avLst/>
          </a:prstGeom>
          <a:noFill/>
          <a:ln/>
        </p:spPr>
        <p:txBody>
          <a:bodyPr wrap="square" rtlCol="0" anchor="ctr"/>
          <a:lstStyle/>
          <a:p>
            <a:pPr indent="0" marL="0">
              <a:buNone/>
            </a:pPr>
            <a:r>
              <a:rPr lang="en-US" sz="1000" b="1" dirty="0">
                <a:solidFill>
                  <a:srgbClr val="1877F2"/>
                </a:solidFill>
                <a:latin typeface="Calibri" pitchFamily="34" charset="0"/>
                <a:ea typeface="Calibri" pitchFamily="34" charset="-122"/>
                <a:cs typeface="Calibri" pitchFamily="34" charset="-120"/>
              </a:rPr>
              <a:t>Trigger:</a:t>
            </a:r>
            <a:endParaRPr lang="en-US" sz="1000" dirty="0"/>
          </a:p>
        </p:txBody>
      </p:sp>
      <p:sp>
        <p:nvSpPr>
          <p:cNvPr id="10" name="Text 8"/>
          <p:cNvSpPr/>
          <p:nvPr/>
        </p:nvSpPr>
        <p:spPr>
          <a:xfrm>
            <a:off x="338328" y="2907792"/>
            <a:ext cx="1773936" cy="685800"/>
          </a:xfrm>
          <a:prstGeom prst="rect">
            <a:avLst/>
          </a:prstGeom>
          <a:noFill/>
          <a:ln/>
        </p:spPr>
        <p:txBody>
          <a:bodyPr wrap="square" rtlCol="0" anchor="ctr"/>
          <a:lstStyle/>
          <a:p>
            <a:pPr indent="0" marL="0">
              <a:buNone/>
            </a:pPr>
            <a:r>
              <a:rPr lang="en-US" sz="1000" dirty="0">
                <a:solidFill>
                  <a:srgbClr val="2B2B2B"/>
                </a:solidFill>
                <a:latin typeface="Calibri" pitchFamily="34" charset="0"/>
                <a:ea typeface="Calibri" pitchFamily="34" charset="-122"/>
                <a:cs typeface="Calibri" pitchFamily="34" charset="-120"/>
              </a:rPr>
              <a:t>Lunch combo deals, student discounts</a:t>
            </a:r>
            <a:endParaRPr lang="en-US" sz="1000" dirty="0"/>
          </a:p>
        </p:txBody>
      </p:sp>
      <p:sp>
        <p:nvSpPr>
          <p:cNvPr id="11" name="Text 9"/>
          <p:cNvSpPr/>
          <p:nvPr/>
        </p:nvSpPr>
        <p:spPr>
          <a:xfrm>
            <a:off x="338328" y="3730752"/>
            <a:ext cx="1773936" cy="256032"/>
          </a:xfrm>
          <a:prstGeom prst="rect">
            <a:avLst/>
          </a:prstGeom>
          <a:noFill/>
          <a:ln/>
        </p:spPr>
        <p:txBody>
          <a:bodyPr wrap="square" rtlCol="0" anchor="ctr"/>
          <a:lstStyle/>
          <a:p>
            <a:pPr indent="0" marL="0">
              <a:buNone/>
            </a:pPr>
            <a:r>
              <a:rPr lang="en-US" sz="1000" b="1" dirty="0">
                <a:solidFill>
                  <a:srgbClr val="1877F2"/>
                </a:solidFill>
                <a:latin typeface="Calibri" pitchFamily="34" charset="0"/>
                <a:ea typeface="Calibri" pitchFamily="34" charset="-122"/>
                <a:cs typeface="Calibri" pitchFamily="34" charset="-120"/>
              </a:rPr>
              <a:t>Best Content:</a:t>
            </a:r>
            <a:endParaRPr lang="en-US" sz="1000" dirty="0"/>
          </a:p>
        </p:txBody>
      </p:sp>
      <p:sp>
        <p:nvSpPr>
          <p:cNvPr id="12" name="Text 10"/>
          <p:cNvSpPr/>
          <p:nvPr/>
        </p:nvSpPr>
        <p:spPr>
          <a:xfrm>
            <a:off x="338328" y="3986784"/>
            <a:ext cx="1773936" cy="685800"/>
          </a:xfrm>
          <a:prstGeom prst="rect">
            <a:avLst/>
          </a:prstGeom>
          <a:noFill/>
          <a:ln/>
        </p:spPr>
        <p:txBody>
          <a:bodyPr wrap="square" rtlCol="0" anchor="ctr"/>
          <a:lstStyle/>
          <a:p>
            <a:pPr indent="0" marL="0">
              <a:buNone/>
            </a:pPr>
            <a:r>
              <a:rPr lang="en-US" sz="1000" dirty="0">
                <a:solidFill>
                  <a:srgbClr val="2B2B2B"/>
                </a:solidFill>
                <a:latin typeface="Calibri" pitchFamily="34" charset="0"/>
                <a:ea typeface="Calibri" pitchFamily="34" charset="-122"/>
                <a:cs typeface="Calibri" pitchFamily="34" charset="-120"/>
              </a:rPr>
              <a:t>Meme posts, student offers, quick reels</a:t>
            </a:r>
            <a:endParaRPr lang="en-US" sz="1000" dirty="0"/>
          </a:p>
        </p:txBody>
      </p:sp>
      <p:sp>
        <p:nvSpPr>
          <p:cNvPr id="13" name="Shape 11"/>
          <p:cNvSpPr/>
          <p:nvPr/>
        </p:nvSpPr>
        <p:spPr>
          <a:xfrm>
            <a:off x="2404872" y="960120"/>
            <a:ext cx="1993392" cy="3840480"/>
          </a:xfrm>
          <a:prstGeom prst="rect">
            <a:avLst/>
          </a:prstGeom>
          <a:solidFill>
            <a:srgbClr val="FFFFFF"/>
          </a:solidFill>
          <a:ln w="6350">
            <a:solidFill>
              <a:srgbClr val="DDDDDD"/>
            </a:solidFill>
            <a:prstDash val="solid"/>
          </a:ln>
          <a:effectLst>
            <a:outerShdw sx="100000" sy="100000" kx="0" ky="0" algn="bl" rotWithShape="0" blurRad="76200" dist="25400" dir="8100000">
              <a:srgbClr val="000000">
                <a:alpha val="10000"/>
              </a:srgbClr>
            </a:outerShdw>
          </a:effectLst>
        </p:spPr>
      </p:sp>
      <p:sp>
        <p:nvSpPr>
          <p:cNvPr id="14" name="Shape 12"/>
          <p:cNvSpPr/>
          <p:nvPr/>
        </p:nvSpPr>
        <p:spPr>
          <a:xfrm>
            <a:off x="2404872" y="960120"/>
            <a:ext cx="1993392" cy="502920"/>
          </a:xfrm>
          <a:prstGeom prst="rect">
            <a:avLst/>
          </a:prstGeom>
          <a:solidFill>
            <a:srgbClr val="8B1A1A"/>
          </a:solidFill>
          <a:ln w="12700">
            <a:solidFill>
              <a:srgbClr val="8B1A1A"/>
            </a:solidFill>
            <a:prstDash val="solid"/>
          </a:ln>
        </p:spPr>
      </p:sp>
      <p:sp>
        <p:nvSpPr>
          <p:cNvPr id="15" name="Text 13"/>
          <p:cNvSpPr/>
          <p:nvPr/>
        </p:nvSpPr>
        <p:spPr>
          <a:xfrm>
            <a:off x="2478024" y="960120"/>
            <a:ext cx="1847088"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Young Professionals</a:t>
            </a:r>
            <a:endParaRPr lang="en-US" sz="1300" dirty="0"/>
          </a:p>
        </p:txBody>
      </p:sp>
      <p:sp>
        <p:nvSpPr>
          <p:cNvPr id="16" name="Text 14"/>
          <p:cNvSpPr/>
          <p:nvPr/>
        </p:nvSpPr>
        <p:spPr>
          <a:xfrm>
            <a:off x="2514600" y="1572768"/>
            <a:ext cx="1773936" cy="256032"/>
          </a:xfrm>
          <a:prstGeom prst="rect">
            <a:avLst/>
          </a:prstGeom>
          <a:noFill/>
          <a:ln/>
        </p:spPr>
        <p:txBody>
          <a:bodyPr wrap="square" rtlCol="0" anchor="ctr"/>
          <a:lstStyle/>
          <a:p>
            <a:pPr indent="0" marL="0">
              <a:buNone/>
            </a:pPr>
            <a:r>
              <a:rPr lang="en-US" sz="1000" b="1" dirty="0">
                <a:solidFill>
                  <a:srgbClr val="8B1A1A"/>
                </a:solidFill>
                <a:latin typeface="Calibri" pitchFamily="34" charset="0"/>
                <a:ea typeface="Calibri" pitchFamily="34" charset="-122"/>
                <a:cs typeface="Calibri" pitchFamily="34" charset="-120"/>
              </a:rPr>
              <a:t>Need:</a:t>
            </a:r>
            <a:endParaRPr lang="en-US" sz="1000" dirty="0"/>
          </a:p>
        </p:txBody>
      </p:sp>
      <p:sp>
        <p:nvSpPr>
          <p:cNvPr id="17" name="Text 15"/>
          <p:cNvSpPr/>
          <p:nvPr/>
        </p:nvSpPr>
        <p:spPr>
          <a:xfrm>
            <a:off x="2514600" y="1828800"/>
            <a:ext cx="1773936" cy="685800"/>
          </a:xfrm>
          <a:prstGeom prst="rect">
            <a:avLst/>
          </a:prstGeom>
          <a:noFill/>
          <a:ln/>
        </p:spPr>
        <p:txBody>
          <a:bodyPr wrap="square" rtlCol="0" anchor="ctr"/>
          <a:lstStyle/>
          <a:p>
            <a:pPr indent="0" marL="0">
              <a:buNone/>
            </a:pPr>
            <a:r>
              <a:rPr lang="en-US" sz="1000" dirty="0">
                <a:solidFill>
                  <a:srgbClr val="2B2B2B"/>
                </a:solidFill>
                <a:latin typeface="Calibri" pitchFamily="34" charset="0"/>
                <a:ea typeface="Calibri" pitchFamily="34" charset="-122"/>
                <a:cs typeface="Calibri" pitchFamily="34" charset="-120"/>
              </a:rPr>
              <a:t>Fast, tasty lunch or dinner after work</a:t>
            </a:r>
            <a:endParaRPr lang="en-US" sz="1000" dirty="0"/>
          </a:p>
        </p:txBody>
      </p:sp>
      <p:sp>
        <p:nvSpPr>
          <p:cNvPr id="18" name="Text 16"/>
          <p:cNvSpPr/>
          <p:nvPr/>
        </p:nvSpPr>
        <p:spPr>
          <a:xfrm>
            <a:off x="2514600" y="2651760"/>
            <a:ext cx="1773936" cy="256032"/>
          </a:xfrm>
          <a:prstGeom prst="rect">
            <a:avLst/>
          </a:prstGeom>
          <a:noFill/>
          <a:ln/>
        </p:spPr>
        <p:txBody>
          <a:bodyPr wrap="square" rtlCol="0" anchor="ctr"/>
          <a:lstStyle/>
          <a:p>
            <a:pPr indent="0" marL="0">
              <a:buNone/>
            </a:pPr>
            <a:r>
              <a:rPr lang="en-US" sz="1000" b="1" dirty="0">
                <a:solidFill>
                  <a:srgbClr val="8B1A1A"/>
                </a:solidFill>
                <a:latin typeface="Calibri" pitchFamily="34" charset="0"/>
                <a:ea typeface="Calibri" pitchFamily="34" charset="-122"/>
                <a:cs typeface="Calibri" pitchFamily="34" charset="-120"/>
              </a:rPr>
              <a:t>Trigger:</a:t>
            </a:r>
            <a:endParaRPr lang="en-US" sz="1000" dirty="0"/>
          </a:p>
        </p:txBody>
      </p:sp>
      <p:sp>
        <p:nvSpPr>
          <p:cNvPr id="19" name="Text 17"/>
          <p:cNvSpPr/>
          <p:nvPr/>
        </p:nvSpPr>
        <p:spPr>
          <a:xfrm>
            <a:off x="2514600" y="2907792"/>
            <a:ext cx="1773936" cy="685800"/>
          </a:xfrm>
          <a:prstGeom prst="rect">
            <a:avLst/>
          </a:prstGeom>
          <a:noFill/>
          <a:ln/>
        </p:spPr>
        <p:txBody>
          <a:bodyPr wrap="square" rtlCol="0" anchor="ctr"/>
          <a:lstStyle/>
          <a:p>
            <a:pPr indent="0" marL="0">
              <a:buNone/>
            </a:pPr>
            <a:r>
              <a:rPr lang="en-US" sz="1000" dirty="0">
                <a:solidFill>
                  <a:srgbClr val="2B2B2B"/>
                </a:solidFill>
                <a:latin typeface="Calibri" pitchFamily="34" charset="0"/>
                <a:ea typeface="Calibri" pitchFamily="34" charset="-122"/>
                <a:cs typeface="Calibri" pitchFamily="34" charset="-120"/>
              </a:rPr>
              <a:t>Speed, convenience, quality for price</a:t>
            </a:r>
            <a:endParaRPr lang="en-US" sz="1000" dirty="0"/>
          </a:p>
        </p:txBody>
      </p:sp>
      <p:sp>
        <p:nvSpPr>
          <p:cNvPr id="20" name="Text 18"/>
          <p:cNvSpPr/>
          <p:nvPr/>
        </p:nvSpPr>
        <p:spPr>
          <a:xfrm>
            <a:off x="2514600" y="3730752"/>
            <a:ext cx="1773936" cy="256032"/>
          </a:xfrm>
          <a:prstGeom prst="rect">
            <a:avLst/>
          </a:prstGeom>
          <a:noFill/>
          <a:ln/>
        </p:spPr>
        <p:txBody>
          <a:bodyPr wrap="square" rtlCol="0" anchor="ctr"/>
          <a:lstStyle/>
          <a:p>
            <a:pPr indent="0" marL="0">
              <a:buNone/>
            </a:pPr>
            <a:r>
              <a:rPr lang="en-US" sz="1000" b="1" dirty="0">
                <a:solidFill>
                  <a:srgbClr val="8B1A1A"/>
                </a:solidFill>
                <a:latin typeface="Calibri" pitchFamily="34" charset="0"/>
                <a:ea typeface="Calibri" pitchFamily="34" charset="-122"/>
                <a:cs typeface="Calibri" pitchFamily="34" charset="-120"/>
              </a:rPr>
              <a:t>Best Content:</a:t>
            </a:r>
            <a:endParaRPr lang="en-US" sz="1000" dirty="0"/>
          </a:p>
        </p:txBody>
      </p:sp>
      <p:sp>
        <p:nvSpPr>
          <p:cNvPr id="21" name="Text 19"/>
          <p:cNvSpPr/>
          <p:nvPr/>
        </p:nvSpPr>
        <p:spPr>
          <a:xfrm>
            <a:off x="2514600" y="3986784"/>
            <a:ext cx="1773936" cy="685800"/>
          </a:xfrm>
          <a:prstGeom prst="rect">
            <a:avLst/>
          </a:prstGeom>
          <a:noFill/>
          <a:ln/>
        </p:spPr>
        <p:txBody>
          <a:bodyPr wrap="square" rtlCol="0" anchor="ctr"/>
          <a:lstStyle/>
          <a:p>
            <a:pPr indent="0" marL="0">
              <a:buNone/>
            </a:pPr>
            <a:r>
              <a:rPr lang="en-US" sz="1000" dirty="0">
                <a:solidFill>
                  <a:srgbClr val="2B2B2B"/>
                </a:solidFill>
                <a:latin typeface="Calibri" pitchFamily="34" charset="0"/>
                <a:ea typeface="Calibri" pitchFamily="34" charset="-122"/>
                <a:cs typeface="Calibri" pitchFamily="34" charset="-120"/>
              </a:rPr>
              <a:t>Food photography, office delivery, time-saving ads</a:t>
            </a:r>
            <a:endParaRPr lang="en-US" sz="1000" dirty="0"/>
          </a:p>
        </p:txBody>
      </p:sp>
      <p:sp>
        <p:nvSpPr>
          <p:cNvPr id="22" name="Shape 20"/>
          <p:cNvSpPr/>
          <p:nvPr/>
        </p:nvSpPr>
        <p:spPr>
          <a:xfrm>
            <a:off x="4581144" y="960120"/>
            <a:ext cx="1993392" cy="3840480"/>
          </a:xfrm>
          <a:prstGeom prst="rect">
            <a:avLst/>
          </a:prstGeom>
          <a:solidFill>
            <a:srgbClr val="FFFFFF"/>
          </a:solidFill>
          <a:ln w="6350">
            <a:solidFill>
              <a:srgbClr val="DDDDDD"/>
            </a:solidFill>
            <a:prstDash val="solid"/>
          </a:ln>
          <a:effectLst>
            <a:outerShdw sx="100000" sy="100000" kx="0" ky="0" algn="bl" rotWithShape="0" blurRad="76200" dist="25400" dir="8100000">
              <a:srgbClr val="000000">
                <a:alpha val="10000"/>
              </a:srgbClr>
            </a:outerShdw>
          </a:effectLst>
        </p:spPr>
      </p:sp>
      <p:sp>
        <p:nvSpPr>
          <p:cNvPr id="23" name="Shape 21"/>
          <p:cNvSpPr/>
          <p:nvPr/>
        </p:nvSpPr>
        <p:spPr>
          <a:xfrm>
            <a:off x="4581144" y="960120"/>
            <a:ext cx="1993392" cy="502920"/>
          </a:xfrm>
          <a:prstGeom prst="rect">
            <a:avLst/>
          </a:prstGeom>
          <a:solidFill>
            <a:srgbClr val="4A7C59"/>
          </a:solidFill>
          <a:ln w="12700">
            <a:solidFill>
              <a:srgbClr val="4A7C59"/>
            </a:solidFill>
            <a:prstDash val="solid"/>
          </a:ln>
        </p:spPr>
      </p:sp>
      <p:sp>
        <p:nvSpPr>
          <p:cNvPr id="24" name="Text 22"/>
          <p:cNvSpPr/>
          <p:nvPr/>
        </p:nvSpPr>
        <p:spPr>
          <a:xfrm>
            <a:off x="4654296" y="960120"/>
            <a:ext cx="1847088"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Families</a:t>
            </a:r>
            <a:endParaRPr lang="en-US" sz="1300" dirty="0"/>
          </a:p>
        </p:txBody>
      </p:sp>
      <p:sp>
        <p:nvSpPr>
          <p:cNvPr id="25" name="Text 23"/>
          <p:cNvSpPr/>
          <p:nvPr/>
        </p:nvSpPr>
        <p:spPr>
          <a:xfrm>
            <a:off x="4690872" y="1572768"/>
            <a:ext cx="1773936" cy="256032"/>
          </a:xfrm>
          <a:prstGeom prst="rect">
            <a:avLst/>
          </a:prstGeom>
          <a:noFill/>
          <a:ln/>
        </p:spPr>
        <p:txBody>
          <a:bodyPr wrap="square" rtlCol="0" anchor="ctr"/>
          <a:lstStyle/>
          <a:p>
            <a:pPr indent="0" marL="0">
              <a:buNone/>
            </a:pPr>
            <a:r>
              <a:rPr lang="en-US" sz="1000" b="1" dirty="0">
                <a:solidFill>
                  <a:srgbClr val="4A7C59"/>
                </a:solidFill>
                <a:latin typeface="Calibri" pitchFamily="34" charset="0"/>
                <a:ea typeface="Calibri" pitchFamily="34" charset="-122"/>
                <a:cs typeface="Calibri" pitchFamily="34" charset="-120"/>
              </a:rPr>
              <a:t>Need:</a:t>
            </a:r>
            <a:endParaRPr lang="en-US" sz="1000" dirty="0"/>
          </a:p>
        </p:txBody>
      </p:sp>
      <p:sp>
        <p:nvSpPr>
          <p:cNvPr id="26" name="Text 24"/>
          <p:cNvSpPr/>
          <p:nvPr/>
        </p:nvSpPr>
        <p:spPr>
          <a:xfrm>
            <a:off x="4690872" y="1828800"/>
            <a:ext cx="1773936" cy="685800"/>
          </a:xfrm>
          <a:prstGeom prst="rect">
            <a:avLst/>
          </a:prstGeom>
          <a:noFill/>
          <a:ln/>
        </p:spPr>
        <p:txBody>
          <a:bodyPr wrap="square" rtlCol="0" anchor="ctr"/>
          <a:lstStyle/>
          <a:p>
            <a:pPr indent="0" marL="0">
              <a:buNone/>
            </a:pPr>
            <a:r>
              <a:rPr lang="en-US" sz="1000" dirty="0">
                <a:solidFill>
                  <a:srgbClr val="2B2B2B"/>
                </a:solidFill>
                <a:latin typeface="Calibri" pitchFamily="34" charset="0"/>
                <a:ea typeface="Calibri" pitchFamily="34" charset="-122"/>
                <a:cs typeface="Calibri" pitchFamily="34" charset="-120"/>
              </a:rPr>
              <a:t>Casual, comfortable meal for everyone</a:t>
            </a:r>
            <a:endParaRPr lang="en-US" sz="1000" dirty="0"/>
          </a:p>
        </p:txBody>
      </p:sp>
      <p:sp>
        <p:nvSpPr>
          <p:cNvPr id="27" name="Text 25"/>
          <p:cNvSpPr/>
          <p:nvPr/>
        </p:nvSpPr>
        <p:spPr>
          <a:xfrm>
            <a:off x="4690872" y="2651760"/>
            <a:ext cx="1773936" cy="256032"/>
          </a:xfrm>
          <a:prstGeom prst="rect">
            <a:avLst/>
          </a:prstGeom>
          <a:noFill/>
          <a:ln/>
        </p:spPr>
        <p:txBody>
          <a:bodyPr wrap="square" rtlCol="0" anchor="ctr"/>
          <a:lstStyle/>
          <a:p>
            <a:pPr indent="0" marL="0">
              <a:buNone/>
            </a:pPr>
            <a:r>
              <a:rPr lang="en-US" sz="1000" b="1" dirty="0">
                <a:solidFill>
                  <a:srgbClr val="4A7C59"/>
                </a:solidFill>
                <a:latin typeface="Calibri" pitchFamily="34" charset="0"/>
                <a:ea typeface="Calibri" pitchFamily="34" charset="-122"/>
                <a:cs typeface="Calibri" pitchFamily="34" charset="-120"/>
              </a:rPr>
              <a:t>Trigger:</a:t>
            </a:r>
            <a:endParaRPr lang="en-US" sz="1000" dirty="0"/>
          </a:p>
        </p:txBody>
      </p:sp>
      <p:sp>
        <p:nvSpPr>
          <p:cNvPr id="28" name="Text 26"/>
          <p:cNvSpPr/>
          <p:nvPr/>
        </p:nvSpPr>
        <p:spPr>
          <a:xfrm>
            <a:off x="4690872" y="2907792"/>
            <a:ext cx="1773936" cy="685800"/>
          </a:xfrm>
          <a:prstGeom prst="rect">
            <a:avLst/>
          </a:prstGeom>
          <a:noFill/>
          <a:ln/>
        </p:spPr>
        <p:txBody>
          <a:bodyPr wrap="square" rtlCol="0" anchor="ctr"/>
          <a:lstStyle/>
          <a:p>
            <a:pPr indent="0" marL="0">
              <a:buNone/>
            </a:pPr>
            <a:r>
              <a:rPr lang="en-US" sz="1000" dirty="0">
                <a:solidFill>
                  <a:srgbClr val="2B2B2B"/>
                </a:solidFill>
                <a:latin typeface="Calibri" pitchFamily="34" charset="0"/>
                <a:ea typeface="Calibri" pitchFamily="34" charset="-122"/>
                <a:cs typeface="Calibri" pitchFamily="34" charset="-120"/>
              </a:rPr>
              <a:t>Family boxes, weekend specials, variety</a:t>
            </a:r>
            <a:endParaRPr lang="en-US" sz="1000" dirty="0"/>
          </a:p>
        </p:txBody>
      </p:sp>
      <p:sp>
        <p:nvSpPr>
          <p:cNvPr id="29" name="Text 27"/>
          <p:cNvSpPr/>
          <p:nvPr/>
        </p:nvSpPr>
        <p:spPr>
          <a:xfrm>
            <a:off x="4690872" y="3730752"/>
            <a:ext cx="1773936" cy="256032"/>
          </a:xfrm>
          <a:prstGeom prst="rect">
            <a:avLst/>
          </a:prstGeom>
          <a:noFill/>
          <a:ln/>
        </p:spPr>
        <p:txBody>
          <a:bodyPr wrap="square" rtlCol="0" anchor="ctr"/>
          <a:lstStyle/>
          <a:p>
            <a:pPr indent="0" marL="0">
              <a:buNone/>
            </a:pPr>
            <a:r>
              <a:rPr lang="en-US" sz="1000" b="1" dirty="0">
                <a:solidFill>
                  <a:srgbClr val="4A7C59"/>
                </a:solidFill>
                <a:latin typeface="Calibri" pitchFamily="34" charset="0"/>
                <a:ea typeface="Calibri" pitchFamily="34" charset="-122"/>
                <a:cs typeface="Calibri" pitchFamily="34" charset="-120"/>
              </a:rPr>
              <a:t>Best Content:</a:t>
            </a:r>
            <a:endParaRPr lang="en-US" sz="1000" dirty="0"/>
          </a:p>
        </p:txBody>
      </p:sp>
      <p:sp>
        <p:nvSpPr>
          <p:cNvPr id="30" name="Text 28"/>
          <p:cNvSpPr/>
          <p:nvPr/>
        </p:nvSpPr>
        <p:spPr>
          <a:xfrm>
            <a:off x="4690872" y="3986784"/>
            <a:ext cx="1773936" cy="685800"/>
          </a:xfrm>
          <a:prstGeom prst="rect">
            <a:avLst/>
          </a:prstGeom>
          <a:noFill/>
          <a:ln/>
        </p:spPr>
        <p:txBody>
          <a:bodyPr wrap="square" rtlCol="0" anchor="ctr"/>
          <a:lstStyle/>
          <a:p>
            <a:pPr indent="0" marL="0">
              <a:buNone/>
            </a:pPr>
            <a:r>
              <a:rPr lang="en-US" sz="1000" dirty="0">
                <a:solidFill>
                  <a:srgbClr val="2B2B2B"/>
                </a:solidFill>
                <a:latin typeface="Calibri" pitchFamily="34" charset="0"/>
                <a:ea typeface="Calibri" pitchFamily="34" charset="-122"/>
                <a:cs typeface="Calibri" pitchFamily="34" charset="-120"/>
              </a:rPr>
              <a:t>Family combos, wholesome stories, weekend promotions</a:t>
            </a:r>
            <a:endParaRPr lang="en-US" sz="1000" dirty="0"/>
          </a:p>
        </p:txBody>
      </p:sp>
      <p:sp>
        <p:nvSpPr>
          <p:cNvPr id="31" name="Shape 29"/>
          <p:cNvSpPr/>
          <p:nvPr/>
        </p:nvSpPr>
        <p:spPr>
          <a:xfrm>
            <a:off x="6757416" y="960120"/>
            <a:ext cx="1993392" cy="3840480"/>
          </a:xfrm>
          <a:prstGeom prst="rect">
            <a:avLst/>
          </a:prstGeom>
          <a:solidFill>
            <a:srgbClr val="FFFFFF"/>
          </a:solidFill>
          <a:ln w="6350">
            <a:solidFill>
              <a:srgbClr val="DDDDDD"/>
            </a:solidFill>
            <a:prstDash val="solid"/>
          </a:ln>
          <a:effectLst>
            <a:outerShdw sx="100000" sy="100000" kx="0" ky="0" algn="bl" rotWithShape="0" blurRad="76200" dist="25400" dir="8100000">
              <a:srgbClr val="000000">
                <a:alpha val="10000"/>
              </a:srgbClr>
            </a:outerShdw>
          </a:effectLst>
        </p:spPr>
      </p:sp>
      <p:sp>
        <p:nvSpPr>
          <p:cNvPr id="32" name="Shape 30"/>
          <p:cNvSpPr/>
          <p:nvPr/>
        </p:nvSpPr>
        <p:spPr>
          <a:xfrm>
            <a:off x="6757416" y="960120"/>
            <a:ext cx="1993392" cy="502920"/>
          </a:xfrm>
          <a:prstGeom prst="rect">
            <a:avLst/>
          </a:prstGeom>
          <a:solidFill>
            <a:srgbClr val="D4890A"/>
          </a:solidFill>
          <a:ln w="12700">
            <a:solidFill>
              <a:srgbClr val="D4890A"/>
            </a:solidFill>
            <a:prstDash val="solid"/>
          </a:ln>
        </p:spPr>
      </p:sp>
      <p:sp>
        <p:nvSpPr>
          <p:cNvPr id="33" name="Text 31"/>
          <p:cNvSpPr/>
          <p:nvPr/>
        </p:nvSpPr>
        <p:spPr>
          <a:xfrm>
            <a:off x="6830568" y="960120"/>
            <a:ext cx="1847088"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Food Lovers</a:t>
            </a:r>
            <a:endParaRPr lang="en-US" sz="1300" dirty="0"/>
          </a:p>
        </p:txBody>
      </p:sp>
      <p:sp>
        <p:nvSpPr>
          <p:cNvPr id="34" name="Text 32"/>
          <p:cNvSpPr/>
          <p:nvPr/>
        </p:nvSpPr>
        <p:spPr>
          <a:xfrm>
            <a:off x="6867144" y="1572768"/>
            <a:ext cx="1773936" cy="256032"/>
          </a:xfrm>
          <a:prstGeom prst="rect">
            <a:avLst/>
          </a:prstGeom>
          <a:noFill/>
          <a:ln/>
        </p:spPr>
        <p:txBody>
          <a:bodyPr wrap="square" rtlCol="0" anchor="ctr"/>
          <a:lstStyle/>
          <a:p>
            <a:pPr indent="0" marL="0">
              <a:buNone/>
            </a:pPr>
            <a:r>
              <a:rPr lang="en-US" sz="1000" b="1" dirty="0">
                <a:solidFill>
                  <a:srgbClr val="D4890A"/>
                </a:solidFill>
                <a:latin typeface="Calibri" pitchFamily="34" charset="0"/>
                <a:ea typeface="Calibri" pitchFamily="34" charset="-122"/>
                <a:cs typeface="Calibri" pitchFamily="34" charset="-120"/>
              </a:rPr>
              <a:t>Need:</a:t>
            </a:r>
            <a:endParaRPr lang="en-US" sz="1000" dirty="0"/>
          </a:p>
        </p:txBody>
      </p:sp>
      <p:sp>
        <p:nvSpPr>
          <p:cNvPr id="35" name="Text 33"/>
          <p:cNvSpPr/>
          <p:nvPr/>
        </p:nvSpPr>
        <p:spPr>
          <a:xfrm>
            <a:off x="6867144" y="1828800"/>
            <a:ext cx="1773936" cy="685800"/>
          </a:xfrm>
          <a:prstGeom prst="rect">
            <a:avLst/>
          </a:prstGeom>
          <a:noFill/>
          <a:ln/>
        </p:spPr>
        <p:txBody>
          <a:bodyPr wrap="square" rtlCol="0" anchor="ctr"/>
          <a:lstStyle/>
          <a:p>
            <a:pPr indent="0" marL="0">
              <a:buNone/>
            </a:pPr>
            <a:r>
              <a:rPr lang="en-US" sz="1000" dirty="0">
                <a:solidFill>
                  <a:srgbClr val="2B2B2B"/>
                </a:solidFill>
                <a:latin typeface="Calibri" pitchFamily="34" charset="0"/>
                <a:ea typeface="Calibri" pitchFamily="34" charset="-122"/>
                <a:cs typeface="Calibri" pitchFamily="34" charset="-120"/>
              </a:rPr>
              <a:t>Bold new flavours, local food experiences</a:t>
            </a:r>
            <a:endParaRPr lang="en-US" sz="1000" dirty="0"/>
          </a:p>
        </p:txBody>
      </p:sp>
      <p:sp>
        <p:nvSpPr>
          <p:cNvPr id="36" name="Text 34"/>
          <p:cNvSpPr/>
          <p:nvPr/>
        </p:nvSpPr>
        <p:spPr>
          <a:xfrm>
            <a:off x="6867144" y="2651760"/>
            <a:ext cx="1773936" cy="256032"/>
          </a:xfrm>
          <a:prstGeom prst="rect">
            <a:avLst/>
          </a:prstGeom>
          <a:noFill/>
          <a:ln/>
        </p:spPr>
        <p:txBody>
          <a:bodyPr wrap="square" rtlCol="0" anchor="ctr"/>
          <a:lstStyle/>
          <a:p>
            <a:pPr indent="0" marL="0">
              <a:buNone/>
            </a:pPr>
            <a:r>
              <a:rPr lang="en-US" sz="1000" b="1" dirty="0">
                <a:solidFill>
                  <a:srgbClr val="D4890A"/>
                </a:solidFill>
                <a:latin typeface="Calibri" pitchFamily="34" charset="0"/>
                <a:ea typeface="Calibri" pitchFamily="34" charset="-122"/>
                <a:cs typeface="Calibri" pitchFamily="34" charset="-120"/>
              </a:rPr>
              <a:t>Trigger:</a:t>
            </a:r>
            <a:endParaRPr lang="en-US" sz="1000" dirty="0"/>
          </a:p>
        </p:txBody>
      </p:sp>
      <p:sp>
        <p:nvSpPr>
          <p:cNvPr id="37" name="Text 35"/>
          <p:cNvSpPr/>
          <p:nvPr/>
        </p:nvSpPr>
        <p:spPr>
          <a:xfrm>
            <a:off x="6867144" y="2907792"/>
            <a:ext cx="1773936" cy="685800"/>
          </a:xfrm>
          <a:prstGeom prst="rect">
            <a:avLst/>
          </a:prstGeom>
          <a:noFill/>
          <a:ln/>
        </p:spPr>
        <p:txBody>
          <a:bodyPr wrap="square" rtlCol="0" anchor="ctr"/>
          <a:lstStyle/>
          <a:p>
            <a:pPr indent="0" marL="0">
              <a:buNone/>
            </a:pPr>
            <a:r>
              <a:rPr lang="en-US" sz="1000" dirty="0">
                <a:solidFill>
                  <a:srgbClr val="2B2B2B"/>
                </a:solidFill>
                <a:latin typeface="Calibri" pitchFamily="34" charset="0"/>
                <a:ea typeface="Calibri" pitchFamily="34" charset="-122"/>
                <a:cs typeface="Calibri" pitchFamily="34" charset="-120"/>
              </a:rPr>
              <a:t>New menu items, chef specials, unique flavours</a:t>
            </a:r>
            <a:endParaRPr lang="en-US" sz="1000" dirty="0"/>
          </a:p>
        </p:txBody>
      </p:sp>
      <p:sp>
        <p:nvSpPr>
          <p:cNvPr id="38" name="Text 36"/>
          <p:cNvSpPr/>
          <p:nvPr/>
        </p:nvSpPr>
        <p:spPr>
          <a:xfrm>
            <a:off x="6867144" y="3730752"/>
            <a:ext cx="1773936" cy="256032"/>
          </a:xfrm>
          <a:prstGeom prst="rect">
            <a:avLst/>
          </a:prstGeom>
          <a:noFill/>
          <a:ln/>
        </p:spPr>
        <p:txBody>
          <a:bodyPr wrap="square" rtlCol="0" anchor="ctr"/>
          <a:lstStyle/>
          <a:p>
            <a:pPr indent="0" marL="0">
              <a:buNone/>
            </a:pPr>
            <a:r>
              <a:rPr lang="en-US" sz="1000" b="1" dirty="0">
                <a:solidFill>
                  <a:srgbClr val="D4890A"/>
                </a:solidFill>
                <a:latin typeface="Calibri" pitchFamily="34" charset="0"/>
                <a:ea typeface="Calibri" pitchFamily="34" charset="-122"/>
                <a:cs typeface="Calibri" pitchFamily="34" charset="-120"/>
              </a:rPr>
              <a:t>Best Content:</a:t>
            </a:r>
            <a:endParaRPr lang="en-US" sz="1000" dirty="0"/>
          </a:p>
        </p:txBody>
      </p:sp>
      <p:sp>
        <p:nvSpPr>
          <p:cNvPr id="39" name="Text 37"/>
          <p:cNvSpPr/>
          <p:nvPr/>
        </p:nvSpPr>
        <p:spPr>
          <a:xfrm>
            <a:off x="6867144" y="3986784"/>
            <a:ext cx="1773936" cy="685800"/>
          </a:xfrm>
          <a:prstGeom prst="rect">
            <a:avLst/>
          </a:prstGeom>
          <a:noFill/>
          <a:ln/>
        </p:spPr>
        <p:txBody>
          <a:bodyPr wrap="square" rtlCol="0" anchor="ctr"/>
          <a:lstStyle/>
          <a:p>
            <a:pPr indent="0" marL="0">
              <a:buNone/>
            </a:pPr>
            <a:r>
              <a:rPr lang="en-US" sz="1000" dirty="0">
                <a:solidFill>
                  <a:srgbClr val="2B2B2B"/>
                </a:solidFill>
                <a:latin typeface="Calibri" pitchFamily="34" charset="0"/>
                <a:ea typeface="Calibri" pitchFamily="34" charset="-122"/>
                <a:cs typeface="Calibri" pitchFamily="34" charset="-120"/>
              </a:rPr>
              <a:t>Food reels, behind-the-scenes, ingredient spotlights</a:t>
            </a:r>
            <a:endParaRPr lang="en-US" sz="1000" dirty="0"/>
          </a:p>
        </p:txBody>
      </p:sp>
      <p:sp>
        <p:nvSpPr>
          <p:cNvPr id="40" name="Text 38"/>
          <p:cNvSpPr/>
          <p:nvPr/>
        </p:nvSpPr>
        <p:spPr>
          <a:xfrm>
            <a:off x="274320" y="4892040"/>
            <a:ext cx="7680960" cy="182880"/>
          </a:xfrm>
          <a:prstGeom prst="rect">
            <a:avLst/>
          </a:prstGeom>
          <a:noFill/>
          <a:ln/>
        </p:spPr>
        <p:txBody>
          <a:bodyPr wrap="square" rtlCol="0" anchor="ctr"/>
          <a:lstStyle/>
          <a:p>
            <a:pPr algn="l" indent="0" marL="0">
              <a:buNone/>
            </a:pPr>
            <a:r>
              <a:rPr lang="en-US" sz="800" dirty="0">
                <a:solidFill>
                  <a:srgbClr val="AAAAAA"/>
                </a:solidFill>
                <a:latin typeface="Calibri" pitchFamily="34" charset="0"/>
                <a:ea typeface="Calibri" pitchFamily="34" charset="-122"/>
                <a:cs typeface="Calibri" pitchFamily="34" charset="-120"/>
              </a:rPr>
              <a:t>Noodle House  |  Facebook Marketing Strategy</a:t>
            </a:r>
            <a:endParaRPr lang="en-US" sz="800" dirty="0"/>
          </a:p>
        </p:txBody>
      </p:sp>
      <p:sp>
        <p:nvSpPr>
          <p:cNvPr id="41" name="Text 39"/>
          <p:cNvSpPr/>
          <p:nvPr/>
        </p:nvSpPr>
        <p:spPr>
          <a:xfrm>
            <a:off x="8595360" y="4892040"/>
            <a:ext cx="365760" cy="182880"/>
          </a:xfrm>
          <a:prstGeom prst="rect">
            <a:avLst/>
          </a:prstGeom>
          <a:noFill/>
          <a:ln/>
        </p:spPr>
        <p:txBody>
          <a:bodyPr wrap="square"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B2B2B"/>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8B1A1A"/>
          </a:solidFill>
          <a:ln w="12700">
            <a:solidFill>
              <a:srgbClr val="8B1A1A"/>
            </a:solidFill>
            <a:prstDash val="solid"/>
          </a:ln>
        </p:spPr>
      </p:sp>
      <p:sp>
        <p:nvSpPr>
          <p:cNvPr id="3" name="Text 1"/>
          <p:cNvSpPr/>
          <p:nvPr/>
        </p:nvSpPr>
        <p:spPr>
          <a:xfrm>
            <a:off x="365760" y="0"/>
            <a:ext cx="8412480" cy="8686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Brand Positioning &amp; Message</a:t>
            </a:r>
            <a:endParaRPr lang="en-US" sz="2600" dirty="0"/>
          </a:p>
        </p:txBody>
      </p:sp>
      <p:sp>
        <p:nvSpPr>
          <p:cNvPr id="4" name="Shape 2"/>
          <p:cNvSpPr/>
          <p:nvPr/>
        </p:nvSpPr>
        <p:spPr>
          <a:xfrm>
            <a:off x="365760" y="1005840"/>
            <a:ext cx="8412480" cy="1097280"/>
          </a:xfrm>
          <a:prstGeom prst="rect">
            <a:avLst/>
          </a:prstGeom>
          <a:solidFill>
            <a:srgbClr val="E8A020"/>
          </a:solidFill>
          <a:ln w="12700">
            <a:solidFill>
              <a:srgbClr val="E8A020"/>
            </a:solidFill>
            <a:prstDash val="solid"/>
          </a:ln>
        </p:spPr>
      </p:sp>
      <p:sp>
        <p:nvSpPr>
          <p:cNvPr id="5" name="Text 3"/>
          <p:cNvSpPr/>
          <p:nvPr/>
        </p:nvSpPr>
        <p:spPr>
          <a:xfrm>
            <a:off x="548640" y="1024128"/>
            <a:ext cx="2286000" cy="347472"/>
          </a:xfrm>
          <a:prstGeom prst="rect">
            <a:avLst/>
          </a:prstGeom>
          <a:noFill/>
          <a:ln/>
        </p:spPr>
        <p:txBody>
          <a:bodyPr wrap="square" rtlCol="0" anchor="ctr"/>
          <a:lstStyle/>
          <a:p>
            <a:pPr indent="0" marL="0">
              <a:buNone/>
            </a:pPr>
            <a:r>
              <a:rPr lang="en-US" sz="1200" b="1" dirty="0">
                <a:solidFill>
                  <a:srgbClr val="2B2B2B"/>
                </a:solidFill>
                <a:latin typeface="Calibri" pitchFamily="34" charset="0"/>
                <a:ea typeface="Calibri" pitchFamily="34" charset="-122"/>
                <a:cs typeface="Calibri" pitchFamily="34" charset="-120"/>
              </a:rPr>
              <a:t>Brand Promise</a:t>
            </a:r>
            <a:endParaRPr lang="en-US" sz="1200" dirty="0"/>
          </a:p>
        </p:txBody>
      </p:sp>
      <p:sp>
        <p:nvSpPr>
          <p:cNvPr id="6" name="Text 4"/>
          <p:cNvSpPr/>
          <p:nvPr/>
        </p:nvSpPr>
        <p:spPr>
          <a:xfrm>
            <a:off x="548640" y="1353312"/>
            <a:ext cx="8046720" cy="640080"/>
          </a:xfrm>
          <a:prstGeom prst="rect">
            <a:avLst/>
          </a:prstGeom>
          <a:noFill/>
          <a:ln/>
        </p:spPr>
        <p:txBody>
          <a:bodyPr wrap="square" rtlCol="0" anchor="ctr"/>
          <a:lstStyle/>
          <a:p>
            <a:pPr indent="0" marL="0">
              <a:buNone/>
            </a:pPr>
            <a:r>
              <a:rPr lang="en-US" sz="2200" b="1" i="1" dirty="0">
                <a:solidFill>
                  <a:srgbClr val="2B2B2B"/>
                </a:solidFill>
                <a:latin typeface="Calibri" pitchFamily="34" charset="0"/>
                <a:ea typeface="Calibri" pitchFamily="34" charset="-122"/>
                <a:cs typeface="Calibri" pitchFamily="34" charset="-120"/>
              </a:rPr>
              <a:t>"Fresh noodles, fast service, bold flavours."</a:t>
            </a:r>
            <a:endParaRPr lang="en-US" sz="2200" dirty="0"/>
          </a:p>
        </p:txBody>
      </p:sp>
      <p:sp>
        <p:nvSpPr>
          <p:cNvPr id="7" name="Text 5"/>
          <p:cNvSpPr/>
          <p:nvPr/>
        </p:nvSpPr>
        <p:spPr>
          <a:xfrm>
            <a:off x="365760" y="2304288"/>
            <a:ext cx="4114800" cy="347472"/>
          </a:xfrm>
          <a:prstGeom prst="rect">
            <a:avLst/>
          </a:prstGeom>
          <a:noFill/>
          <a:ln/>
        </p:spPr>
        <p:txBody>
          <a:bodyPr wrap="square" rtlCol="0" anchor="ctr"/>
          <a:lstStyle/>
          <a:p>
            <a:pPr indent="0" marL="0">
              <a:buNone/>
            </a:pPr>
            <a:r>
              <a:rPr lang="en-US" sz="1400" b="1" dirty="0">
                <a:solidFill>
                  <a:srgbClr val="E8A020"/>
                </a:solidFill>
                <a:latin typeface="Calibri" pitchFamily="34" charset="0"/>
                <a:ea typeface="Calibri" pitchFamily="34" charset="-122"/>
                <a:cs typeface="Calibri" pitchFamily="34" charset="-120"/>
              </a:rPr>
              <a:t>Tone of Voice</a:t>
            </a:r>
            <a:endParaRPr lang="en-US" sz="1400" dirty="0"/>
          </a:p>
        </p:txBody>
      </p:sp>
      <p:sp>
        <p:nvSpPr>
          <p:cNvPr id="8" name="Shape 6"/>
          <p:cNvSpPr/>
          <p:nvPr/>
        </p:nvSpPr>
        <p:spPr>
          <a:xfrm>
            <a:off x="365760" y="2743200"/>
            <a:ext cx="4023360" cy="384048"/>
          </a:xfrm>
          <a:prstGeom prst="rect">
            <a:avLst/>
          </a:prstGeom>
          <a:solidFill>
            <a:srgbClr val="3A3A3A"/>
          </a:solidFill>
          <a:ln w="6350">
            <a:solidFill>
              <a:srgbClr val="555555"/>
            </a:solidFill>
            <a:prstDash val="solid"/>
          </a:ln>
        </p:spPr>
      </p:sp>
      <p:sp>
        <p:nvSpPr>
          <p:cNvPr id="9" name="Text 7"/>
          <p:cNvSpPr/>
          <p:nvPr/>
        </p:nvSpPr>
        <p:spPr>
          <a:xfrm>
            <a:off x="457200" y="2743200"/>
            <a:ext cx="1417320" cy="384048"/>
          </a:xfrm>
          <a:prstGeom prst="rect">
            <a:avLst/>
          </a:prstGeom>
          <a:noFill/>
          <a:ln/>
        </p:spPr>
        <p:txBody>
          <a:bodyPr wrap="square" rtlCol="0" anchor="ctr"/>
          <a:lstStyle/>
          <a:p>
            <a:pPr indent="0" marL="0">
              <a:buNone/>
            </a:pPr>
            <a:r>
              <a:rPr lang="en-US" sz="1050" b="1" dirty="0">
                <a:solidFill>
                  <a:srgbClr val="E8A020"/>
                </a:solidFill>
                <a:latin typeface="Calibri" pitchFamily="34" charset="0"/>
                <a:ea typeface="Calibri" pitchFamily="34" charset="-122"/>
                <a:cs typeface="Calibri" pitchFamily="34" charset="-120"/>
              </a:rPr>
              <a:t>😊 Friendly</a:t>
            </a:r>
            <a:endParaRPr lang="en-US" sz="1050" dirty="0"/>
          </a:p>
        </p:txBody>
      </p:sp>
      <p:sp>
        <p:nvSpPr>
          <p:cNvPr id="10" name="Text 8"/>
          <p:cNvSpPr/>
          <p:nvPr/>
        </p:nvSpPr>
        <p:spPr>
          <a:xfrm>
            <a:off x="1920240" y="2743200"/>
            <a:ext cx="2423160" cy="384048"/>
          </a:xfrm>
          <a:prstGeom prst="rect">
            <a:avLst/>
          </a:prstGeom>
          <a:noFill/>
          <a:ln/>
        </p:spPr>
        <p:txBody>
          <a:bodyPr wrap="square" rtlCol="0" anchor="ctr"/>
          <a:lstStyle/>
          <a:p>
            <a:pPr indent="0" marL="0">
              <a:buNone/>
            </a:pPr>
            <a:r>
              <a:rPr lang="en-US" sz="1000" dirty="0">
                <a:solidFill>
                  <a:srgbClr val="CCCCCC"/>
                </a:solidFill>
                <a:latin typeface="Calibri" pitchFamily="34" charset="0"/>
                <a:ea typeface="Calibri" pitchFamily="34" charset="-122"/>
                <a:cs typeface="Calibri" pitchFamily="34" charset="-120"/>
              </a:rPr>
              <a:t>Talk to customers like a neighbour, not a corporation</a:t>
            </a:r>
            <a:endParaRPr lang="en-US" sz="1000" dirty="0"/>
          </a:p>
        </p:txBody>
      </p:sp>
      <p:sp>
        <p:nvSpPr>
          <p:cNvPr id="11" name="Shape 9"/>
          <p:cNvSpPr/>
          <p:nvPr/>
        </p:nvSpPr>
        <p:spPr>
          <a:xfrm>
            <a:off x="365760" y="3172968"/>
            <a:ext cx="4023360" cy="384048"/>
          </a:xfrm>
          <a:prstGeom prst="rect">
            <a:avLst/>
          </a:prstGeom>
          <a:solidFill>
            <a:srgbClr val="3A3A3A"/>
          </a:solidFill>
          <a:ln w="6350">
            <a:solidFill>
              <a:srgbClr val="555555"/>
            </a:solidFill>
            <a:prstDash val="solid"/>
          </a:ln>
        </p:spPr>
      </p:sp>
      <p:sp>
        <p:nvSpPr>
          <p:cNvPr id="12" name="Text 10"/>
          <p:cNvSpPr/>
          <p:nvPr/>
        </p:nvSpPr>
        <p:spPr>
          <a:xfrm>
            <a:off x="457200" y="3172968"/>
            <a:ext cx="1417320" cy="384048"/>
          </a:xfrm>
          <a:prstGeom prst="rect">
            <a:avLst/>
          </a:prstGeom>
          <a:noFill/>
          <a:ln/>
        </p:spPr>
        <p:txBody>
          <a:bodyPr wrap="square" rtlCol="0" anchor="ctr"/>
          <a:lstStyle/>
          <a:p>
            <a:pPr indent="0" marL="0">
              <a:buNone/>
            </a:pPr>
            <a:r>
              <a:rPr lang="en-US" sz="1050" b="1" dirty="0">
                <a:solidFill>
                  <a:srgbClr val="E8A020"/>
                </a:solidFill>
                <a:latin typeface="Calibri" pitchFamily="34" charset="0"/>
                <a:ea typeface="Calibri" pitchFamily="34" charset="-122"/>
                <a:cs typeface="Calibri" pitchFamily="34" charset="-120"/>
              </a:rPr>
              <a:t>⚡ Energetic</a:t>
            </a:r>
            <a:endParaRPr lang="en-US" sz="1050" dirty="0"/>
          </a:p>
        </p:txBody>
      </p:sp>
      <p:sp>
        <p:nvSpPr>
          <p:cNvPr id="13" name="Text 11"/>
          <p:cNvSpPr/>
          <p:nvPr/>
        </p:nvSpPr>
        <p:spPr>
          <a:xfrm>
            <a:off x="1920240" y="3172968"/>
            <a:ext cx="2423160" cy="384048"/>
          </a:xfrm>
          <a:prstGeom prst="rect">
            <a:avLst/>
          </a:prstGeom>
          <a:noFill/>
          <a:ln/>
        </p:spPr>
        <p:txBody>
          <a:bodyPr wrap="square" rtlCol="0" anchor="ctr"/>
          <a:lstStyle/>
          <a:p>
            <a:pPr indent="0" marL="0">
              <a:buNone/>
            </a:pPr>
            <a:r>
              <a:rPr lang="en-US" sz="1000" dirty="0">
                <a:solidFill>
                  <a:srgbClr val="CCCCCC"/>
                </a:solidFill>
                <a:latin typeface="Calibri" pitchFamily="34" charset="0"/>
                <a:ea typeface="Calibri" pitchFamily="34" charset="-122"/>
                <a:cs typeface="Calibri" pitchFamily="34" charset="-120"/>
              </a:rPr>
              <a:t>High-energy posts that match the pace of Mumbai</a:t>
            </a:r>
            <a:endParaRPr lang="en-US" sz="1000" dirty="0"/>
          </a:p>
        </p:txBody>
      </p:sp>
      <p:sp>
        <p:nvSpPr>
          <p:cNvPr id="14" name="Shape 12"/>
          <p:cNvSpPr/>
          <p:nvPr/>
        </p:nvSpPr>
        <p:spPr>
          <a:xfrm>
            <a:off x="365760" y="3602736"/>
            <a:ext cx="4023360" cy="384048"/>
          </a:xfrm>
          <a:prstGeom prst="rect">
            <a:avLst/>
          </a:prstGeom>
          <a:solidFill>
            <a:srgbClr val="3A3A3A"/>
          </a:solidFill>
          <a:ln w="6350">
            <a:solidFill>
              <a:srgbClr val="555555"/>
            </a:solidFill>
            <a:prstDash val="solid"/>
          </a:ln>
        </p:spPr>
      </p:sp>
      <p:sp>
        <p:nvSpPr>
          <p:cNvPr id="15" name="Text 13"/>
          <p:cNvSpPr/>
          <p:nvPr/>
        </p:nvSpPr>
        <p:spPr>
          <a:xfrm>
            <a:off x="457200" y="3602736"/>
            <a:ext cx="1417320" cy="384048"/>
          </a:xfrm>
          <a:prstGeom prst="rect">
            <a:avLst/>
          </a:prstGeom>
          <a:noFill/>
          <a:ln/>
        </p:spPr>
        <p:txBody>
          <a:bodyPr wrap="square" rtlCol="0" anchor="ctr"/>
          <a:lstStyle/>
          <a:p>
            <a:pPr indent="0" marL="0">
              <a:buNone/>
            </a:pPr>
            <a:r>
              <a:rPr lang="en-US" sz="1050" b="1" dirty="0">
                <a:solidFill>
                  <a:srgbClr val="E8A020"/>
                </a:solidFill>
                <a:latin typeface="Calibri" pitchFamily="34" charset="0"/>
                <a:ea typeface="Calibri" pitchFamily="34" charset="-122"/>
                <a:cs typeface="Calibri" pitchFamily="34" charset="-120"/>
              </a:rPr>
              <a:t>📍 Local</a:t>
            </a:r>
            <a:endParaRPr lang="en-US" sz="1050" dirty="0"/>
          </a:p>
        </p:txBody>
      </p:sp>
      <p:sp>
        <p:nvSpPr>
          <p:cNvPr id="16" name="Text 14"/>
          <p:cNvSpPr/>
          <p:nvPr/>
        </p:nvSpPr>
        <p:spPr>
          <a:xfrm>
            <a:off x="1920240" y="3602736"/>
            <a:ext cx="2423160" cy="384048"/>
          </a:xfrm>
          <a:prstGeom prst="rect">
            <a:avLst/>
          </a:prstGeom>
          <a:noFill/>
          <a:ln/>
        </p:spPr>
        <p:txBody>
          <a:bodyPr wrap="square" rtlCol="0" anchor="ctr"/>
          <a:lstStyle/>
          <a:p>
            <a:pPr indent="0" marL="0">
              <a:buNone/>
            </a:pPr>
            <a:r>
              <a:rPr lang="en-US" sz="1000" dirty="0">
                <a:solidFill>
                  <a:srgbClr val="CCCCCC"/>
                </a:solidFill>
                <a:latin typeface="Calibri" pitchFamily="34" charset="0"/>
                <a:ea typeface="Calibri" pitchFamily="34" charset="-122"/>
                <a:cs typeface="Calibri" pitchFamily="34" charset="-120"/>
              </a:rPr>
              <a:t>Always reference Mumbai — make every person feel seen</a:t>
            </a:r>
            <a:endParaRPr lang="en-US" sz="1000" dirty="0"/>
          </a:p>
        </p:txBody>
      </p:sp>
      <p:sp>
        <p:nvSpPr>
          <p:cNvPr id="17" name="Shape 15"/>
          <p:cNvSpPr/>
          <p:nvPr/>
        </p:nvSpPr>
        <p:spPr>
          <a:xfrm>
            <a:off x="365760" y="4032504"/>
            <a:ext cx="4023360" cy="384048"/>
          </a:xfrm>
          <a:prstGeom prst="rect">
            <a:avLst/>
          </a:prstGeom>
          <a:solidFill>
            <a:srgbClr val="3A3A3A"/>
          </a:solidFill>
          <a:ln w="6350">
            <a:solidFill>
              <a:srgbClr val="555555"/>
            </a:solidFill>
            <a:prstDash val="solid"/>
          </a:ln>
        </p:spPr>
      </p:sp>
      <p:sp>
        <p:nvSpPr>
          <p:cNvPr id="18" name="Text 16"/>
          <p:cNvSpPr/>
          <p:nvPr/>
        </p:nvSpPr>
        <p:spPr>
          <a:xfrm>
            <a:off x="457200" y="4032504"/>
            <a:ext cx="1417320" cy="384048"/>
          </a:xfrm>
          <a:prstGeom prst="rect">
            <a:avLst/>
          </a:prstGeom>
          <a:noFill/>
          <a:ln/>
        </p:spPr>
        <p:txBody>
          <a:bodyPr wrap="square" rtlCol="0" anchor="ctr"/>
          <a:lstStyle/>
          <a:p>
            <a:pPr indent="0" marL="0">
              <a:buNone/>
            </a:pPr>
            <a:r>
              <a:rPr lang="en-US" sz="1050" b="1" dirty="0">
                <a:solidFill>
                  <a:srgbClr val="E8A020"/>
                </a:solidFill>
                <a:latin typeface="Calibri" pitchFamily="34" charset="0"/>
                <a:ea typeface="Calibri" pitchFamily="34" charset="-122"/>
                <a:cs typeface="Calibri" pitchFamily="34" charset="-120"/>
              </a:rPr>
              <a:t>🍜 Appetizing</a:t>
            </a:r>
            <a:endParaRPr lang="en-US" sz="1050" dirty="0"/>
          </a:p>
        </p:txBody>
      </p:sp>
      <p:sp>
        <p:nvSpPr>
          <p:cNvPr id="19" name="Text 17"/>
          <p:cNvSpPr/>
          <p:nvPr/>
        </p:nvSpPr>
        <p:spPr>
          <a:xfrm>
            <a:off x="1920240" y="4032504"/>
            <a:ext cx="2423160" cy="384048"/>
          </a:xfrm>
          <a:prstGeom prst="rect">
            <a:avLst/>
          </a:prstGeom>
          <a:noFill/>
          <a:ln/>
        </p:spPr>
        <p:txBody>
          <a:bodyPr wrap="square" rtlCol="0" anchor="ctr"/>
          <a:lstStyle/>
          <a:p>
            <a:pPr indent="0" marL="0">
              <a:buNone/>
            </a:pPr>
            <a:r>
              <a:rPr lang="en-US" sz="1000" dirty="0">
                <a:solidFill>
                  <a:srgbClr val="CCCCCC"/>
                </a:solidFill>
                <a:latin typeface="Calibri" pitchFamily="34" charset="0"/>
                <a:ea typeface="Calibri" pitchFamily="34" charset="-122"/>
                <a:cs typeface="Calibri" pitchFamily="34" charset="-120"/>
              </a:rPr>
              <a:t>Make every food post look and sound delicious</a:t>
            </a:r>
            <a:endParaRPr lang="en-US" sz="1000" dirty="0"/>
          </a:p>
        </p:txBody>
      </p:sp>
      <p:sp>
        <p:nvSpPr>
          <p:cNvPr id="20" name="Shape 18"/>
          <p:cNvSpPr/>
          <p:nvPr/>
        </p:nvSpPr>
        <p:spPr>
          <a:xfrm>
            <a:off x="365760" y="4462272"/>
            <a:ext cx="4023360" cy="384048"/>
          </a:xfrm>
          <a:prstGeom prst="rect">
            <a:avLst/>
          </a:prstGeom>
          <a:solidFill>
            <a:srgbClr val="3A3A3A"/>
          </a:solidFill>
          <a:ln w="6350">
            <a:solidFill>
              <a:srgbClr val="555555"/>
            </a:solidFill>
            <a:prstDash val="solid"/>
          </a:ln>
        </p:spPr>
      </p:sp>
      <p:sp>
        <p:nvSpPr>
          <p:cNvPr id="21" name="Text 19"/>
          <p:cNvSpPr/>
          <p:nvPr/>
        </p:nvSpPr>
        <p:spPr>
          <a:xfrm>
            <a:off x="457200" y="4462272"/>
            <a:ext cx="1417320" cy="384048"/>
          </a:xfrm>
          <a:prstGeom prst="rect">
            <a:avLst/>
          </a:prstGeom>
          <a:noFill/>
          <a:ln/>
        </p:spPr>
        <p:txBody>
          <a:bodyPr wrap="square" rtlCol="0" anchor="ctr"/>
          <a:lstStyle/>
          <a:p>
            <a:pPr indent="0" marL="0">
              <a:buNone/>
            </a:pPr>
            <a:r>
              <a:rPr lang="en-US" sz="1050" b="1" dirty="0">
                <a:solidFill>
                  <a:srgbClr val="E8A020"/>
                </a:solidFill>
                <a:latin typeface="Calibri" pitchFamily="34" charset="0"/>
                <a:ea typeface="Calibri" pitchFamily="34" charset="-122"/>
                <a:cs typeface="Calibri" pitchFamily="34" charset="-120"/>
              </a:rPr>
              <a:t>💸 Value-Focused</a:t>
            </a:r>
            <a:endParaRPr lang="en-US" sz="1050" dirty="0"/>
          </a:p>
        </p:txBody>
      </p:sp>
      <p:sp>
        <p:nvSpPr>
          <p:cNvPr id="22" name="Text 20"/>
          <p:cNvSpPr/>
          <p:nvPr/>
        </p:nvSpPr>
        <p:spPr>
          <a:xfrm>
            <a:off x="1920240" y="4462272"/>
            <a:ext cx="2423160" cy="384048"/>
          </a:xfrm>
          <a:prstGeom prst="rect">
            <a:avLst/>
          </a:prstGeom>
          <a:noFill/>
          <a:ln/>
        </p:spPr>
        <p:txBody>
          <a:bodyPr wrap="square" rtlCol="0" anchor="ctr"/>
          <a:lstStyle/>
          <a:p>
            <a:pPr indent="0" marL="0">
              <a:buNone/>
            </a:pPr>
            <a:r>
              <a:rPr lang="en-US" sz="1000" dirty="0">
                <a:solidFill>
                  <a:srgbClr val="CCCCCC"/>
                </a:solidFill>
                <a:latin typeface="Calibri" pitchFamily="34" charset="0"/>
                <a:ea typeface="Calibri" pitchFamily="34" charset="-122"/>
                <a:cs typeface="Calibri" pitchFamily="34" charset="-120"/>
              </a:rPr>
              <a:t>Remind customers they get quality without overpaying</a:t>
            </a:r>
            <a:endParaRPr lang="en-US" sz="1000" dirty="0"/>
          </a:p>
        </p:txBody>
      </p:sp>
      <p:sp>
        <p:nvSpPr>
          <p:cNvPr id="23" name="Shape 21"/>
          <p:cNvSpPr/>
          <p:nvPr/>
        </p:nvSpPr>
        <p:spPr>
          <a:xfrm>
            <a:off x="4663440" y="2304288"/>
            <a:ext cx="4114800" cy="2651760"/>
          </a:xfrm>
          <a:prstGeom prst="rect">
            <a:avLst/>
          </a:prstGeom>
          <a:solidFill>
            <a:srgbClr val="6B1414"/>
          </a:solidFill>
          <a:ln w="12700">
            <a:solidFill>
              <a:srgbClr val="E8A020"/>
            </a:solidFill>
            <a:prstDash val="solid"/>
          </a:ln>
        </p:spPr>
      </p:sp>
      <p:sp>
        <p:nvSpPr>
          <p:cNvPr id="24" name="Text 22"/>
          <p:cNvSpPr/>
          <p:nvPr/>
        </p:nvSpPr>
        <p:spPr>
          <a:xfrm>
            <a:off x="4800600" y="2423160"/>
            <a:ext cx="3840480" cy="347472"/>
          </a:xfrm>
          <a:prstGeom prst="rect">
            <a:avLst/>
          </a:prstGeom>
          <a:noFill/>
          <a:ln/>
        </p:spPr>
        <p:txBody>
          <a:bodyPr wrap="square" rtlCol="0" anchor="ctr"/>
          <a:lstStyle/>
          <a:p>
            <a:pPr indent="0" marL="0">
              <a:buNone/>
            </a:pPr>
            <a:r>
              <a:rPr lang="en-US" sz="1200" b="1" dirty="0">
                <a:solidFill>
                  <a:srgbClr val="E8A020"/>
                </a:solidFill>
                <a:latin typeface="Calibri" pitchFamily="34" charset="0"/>
                <a:ea typeface="Calibri" pitchFamily="34" charset="-122"/>
                <a:cs typeface="Calibri" pitchFamily="34" charset="-120"/>
              </a:rPr>
              <a:t>Positioning Statement</a:t>
            </a:r>
            <a:endParaRPr lang="en-US" sz="1200" dirty="0"/>
          </a:p>
        </p:txBody>
      </p:sp>
      <p:sp>
        <p:nvSpPr>
          <p:cNvPr id="25" name="Text 23"/>
          <p:cNvSpPr/>
          <p:nvPr/>
        </p:nvSpPr>
        <p:spPr>
          <a:xfrm>
            <a:off x="4800600" y="2834640"/>
            <a:ext cx="3840480" cy="1965960"/>
          </a:xfrm>
          <a:prstGeom prst="rect">
            <a:avLst/>
          </a:prstGeom>
          <a:noFill/>
          <a:ln/>
        </p:spPr>
        <p:txBody>
          <a:bodyPr wrap="square" rtlCol="0" anchor="t"/>
          <a:lstStyle/>
          <a:p>
            <a:pPr indent="0" marL="0">
              <a:buNone/>
            </a:pPr>
            <a:r>
              <a:rPr lang="en-US" sz="1150" dirty="0">
                <a:solidFill>
                  <a:srgbClr val="FFFFFF"/>
                </a:solidFill>
                <a:latin typeface="Calibri" pitchFamily="34" charset="0"/>
                <a:ea typeface="Calibri" pitchFamily="34" charset="-122"/>
                <a:cs typeface="Calibri" pitchFamily="34" charset="-120"/>
              </a:rPr>
              <a:t>For hungry Mumbaikars who want a real, satisfying meal without the wait or the price tag — Noodle House is the quick-service noodle restaurant that delivers bold flavours, fresh ingredients, and fast service, every single day.</a:t>
            </a:r>
            <a:endParaRPr lang="en-US" sz="1150" dirty="0"/>
          </a:p>
        </p:txBody>
      </p:sp>
      <p:sp>
        <p:nvSpPr>
          <p:cNvPr id="26" name="Text 24"/>
          <p:cNvSpPr/>
          <p:nvPr/>
        </p:nvSpPr>
        <p:spPr>
          <a:xfrm>
            <a:off x="274320" y="4892040"/>
            <a:ext cx="7680960" cy="182880"/>
          </a:xfrm>
          <a:prstGeom prst="rect">
            <a:avLst/>
          </a:prstGeom>
          <a:noFill/>
          <a:ln/>
        </p:spPr>
        <p:txBody>
          <a:bodyPr wrap="square" rtlCol="0" anchor="ctr"/>
          <a:lstStyle/>
          <a:p>
            <a:pPr algn="l" indent="0" marL="0">
              <a:buNone/>
            </a:pPr>
            <a:r>
              <a:rPr lang="en-US" sz="800" dirty="0">
                <a:solidFill>
                  <a:srgbClr val="AAAAAA"/>
                </a:solidFill>
                <a:latin typeface="Calibri" pitchFamily="34" charset="0"/>
                <a:ea typeface="Calibri" pitchFamily="34" charset="-122"/>
                <a:cs typeface="Calibri" pitchFamily="34" charset="-120"/>
              </a:rPr>
              <a:t>Noodle House  |  Facebook Marketing Strategy</a:t>
            </a:r>
            <a:endParaRPr lang="en-US" sz="800" dirty="0"/>
          </a:p>
        </p:txBody>
      </p:sp>
      <p:sp>
        <p:nvSpPr>
          <p:cNvPr id="27" name="Text 25"/>
          <p:cNvSpPr/>
          <p:nvPr/>
        </p:nvSpPr>
        <p:spPr>
          <a:xfrm>
            <a:off x="8595360" y="4892040"/>
            <a:ext cx="365760" cy="182880"/>
          </a:xfrm>
          <a:prstGeom prst="rect">
            <a:avLst/>
          </a:prstGeom>
          <a:noFill/>
          <a:ln/>
        </p:spPr>
        <p:txBody>
          <a:bodyPr wrap="square"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6EC"/>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8B1A1A"/>
          </a:solidFill>
          <a:ln w="12700">
            <a:solidFill>
              <a:srgbClr val="8B1A1A"/>
            </a:solidFill>
            <a:prstDash val="solid"/>
          </a:ln>
        </p:spPr>
      </p:sp>
      <p:sp>
        <p:nvSpPr>
          <p:cNvPr id="3" name="Text 1"/>
          <p:cNvSpPr/>
          <p:nvPr/>
        </p:nvSpPr>
        <p:spPr>
          <a:xfrm>
            <a:off x="365760" y="0"/>
            <a:ext cx="8412480" cy="8686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Facebook Page Setup</a:t>
            </a:r>
            <a:endParaRPr lang="en-US" sz="2600" dirty="0"/>
          </a:p>
        </p:txBody>
      </p:sp>
      <p:sp>
        <p:nvSpPr>
          <p:cNvPr id="4" name="Text 2"/>
          <p:cNvSpPr/>
          <p:nvPr/>
        </p:nvSpPr>
        <p:spPr>
          <a:xfrm>
            <a:off x="365760" y="960120"/>
            <a:ext cx="8412480" cy="365760"/>
          </a:xfrm>
          <a:prstGeom prst="rect">
            <a:avLst/>
          </a:prstGeom>
          <a:noFill/>
          <a:ln/>
        </p:spPr>
        <p:txBody>
          <a:bodyPr wrap="square" rtlCol="0" anchor="ctr"/>
          <a:lstStyle/>
          <a:p>
            <a:pPr indent="0" marL="0">
              <a:buNone/>
            </a:pPr>
            <a:r>
              <a:rPr lang="en-US" sz="1300" i="1" dirty="0">
                <a:solidFill>
                  <a:srgbClr val="555555"/>
                </a:solidFill>
                <a:latin typeface="Calibri" pitchFamily="34" charset="0"/>
                <a:ea typeface="Calibri" pitchFamily="34" charset="-122"/>
                <a:cs typeface="Calibri" pitchFamily="34" charset="-120"/>
              </a:rPr>
              <a:t>Your Facebook page is your digital restaurant front door. Set it up right.</a:t>
            </a:r>
            <a:endParaRPr lang="en-US" sz="1300" dirty="0"/>
          </a:p>
        </p:txBody>
      </p:sp>
      <p:sp>
        <p:nvSpPr>
          <p:cNvPr id="5" name="Shape 3"/>
          <p:cNvSpPr/>
          <p:nvPr/>
        </p:nvSpPr>
        <p:spPr>
          <a:xfrm>
            <a:off x="274320" y="1481328"/>
            <a:ext cx="2697480" cy="1417320"/>
          </a:xfrm>
          <a:prstGeom prst="rect">
            <a:avLst/>
          </a:prstGeom>
          <a:solidFill>
            <a:srgbClr val="FFFFFF"/>
          </a:solidFill>
          <a:ln w="6350">
            <a:solidFill>
              <a:srgbClr val="DDDDDD"/>
            </a:solidFill>
            <a:prstDash val="solid"/>
          </a:ln>
          <a:effectLst>
            <a:outerShdw sx="100000" sy="100000" kx="0" ky="0" algn="bl" rotWithShape="0" blurRad="63500" dist="25400" dir="8100000">
              <a:srgbClr val="000000">
                <a:alpha val="10000"/>
              </a:srgbClr>
            </a:outerShdw>
          </a:effectLst>
        </p:spPr>
      </p:sp>
      <p:sp>
        <p:nvSpPr>
          <p:cNvPr id="6" name="Shape 4"/>
          <p:cNvSpPr/>
          <p:nvPr/>
        </p:nvSpPr>
        <p:spPr>
          <a:xfrm>
            <a:off x="274320" y="1481328"/>
            <a:ext cx="594360" cy="502920"/>
          </a:xfrm>
          <a:prstGeom prst="rect">
            <a:avLst/>
          </a:prstGeom>
          <a:solidFill>
            <a:srgbClr val="8B1A1A"/>
          </a:solidFill>
          <a:ln w="12700">
            <a:solidFill>
              <a:srgbClr val="8B1A1A"/>
            </a:solidFill>
            <a:prstDash val="solid"/>
          </a:ln>
        </p:spPr>
      </p:sp>
      <p:sp>
        <p:nvSpPr>
          <p:cNvPr id="7" name="Text 5"/>
          <p:cNvSpPr/>
          <p:nvPr/>
        </p:nvSpPr>
        <p:spPr>
          <a:xfrm>
            <a:off x="274320" y="1481328"/>
            <a:ext cx="594360" cy="502920"/>
          </a:xfrm>
          <a:prstGeom prst="rect">
            <a:avLst/>
          </a:prstGeom>
          <a:noFill/>
          <a:ln/>
        </p:spPr>
        <p:txBody>
          <a:bodyPr wrap="square" rtlCol="0" anchor="ctr"/>
          <a:lstStyle/>
          <a:p>
            <a:pPr algn="ctr" indent="0" marL="0">
              <a:buNone/>
            </a:pPr>
            <a:r>
              <a:rPr lang="en-US" sz="1400" b="1" dirty="0">
                <a:solidFill>
                  <a:srgbClr val="E8A020"/>
                </a:solidFill>
                <a:latin typeface="Calibri" pitchFamily="34" charset="0"/>
                <a:ea typeface="Calibri" pitchFamily="34" charset="-122"/>
                <a:cs typeface="Calibri" pitchFamily="34" charset="-120"/>
              </a:rPr>
              <a:t>01</a:t>
            </a:r>
            <a:endParaRPr lang="en-US" sz="1400" dirty="0"/>
          </a:p>
        </p:txBody>
      </p:sp>
      <p:pic>
        <p:nvPicPr>
          <p:cNvPr id="8" name="Image 0" descr="preencoded.png">    </p:cNvPr>
          <p:cNvPicPr>
            <a:picLocks noChangeAspect="1"/>
          </p:cNvPicPr>
          <p:nvPr/>
        </p:nvPicPr>
        <p:blipFill>
          <a:blip r:embed="rId1"/>
          <a:stretch>
            <a:fillRect/>
          </a:stretch>
        </p:blipFill>
        <p:spPr>
          <a:xfrm>
            <a:off x="932688" y="1527048"/>
            <a:ext cx="365760" cy="365760"/>
          </a:xfrm>
          <a:prstGeom prst="rect">
            <a:avLst/>
          </a:prstGeom>
        </p:spPr>
      </p:pic>
      <p:sp>
        <p:nvSpPr>
          <p:cNvPr id="9" name="Text 6"/>
          <p:cNvSpPr/>
          <p:nvPr/>
        </p:nvSpPr>
        <p:spPr>
          <a:xfrm>
            <a:off x="347472" y="2011680"/>
            <a:ext cx="2578608" cy="292608"/>
          </a:xfrm>
          <a:prstGeom prst="rect">
            <a:avLst/>
          </a:prstGeom>
          <a:noFill/>
          <a:ln/>
        </p:spPr>
        <p:txBody>
          <a:bodyPr wrap="square" rtlCol="0" anchor="ctr"/>
          <a:lstStyle/>
          <a:p>
            <a:pPr indent="0" marL="0">
              <a:buNone/>
            </a:pPr>
            <a:r>
              <a:rPr lang="en-US" sz="1100" b="1" dirty="0">
                <a:solidFill>
                  <a:srgbClr val="8B1A1A"/>
                </a:solidFill>
                <a:latin typeface="Calibri" pitchFamily="34" charset="0"/>
                <a:ea typeface="Calibri" pitchFamily="34" charset="-122"/>
                <a:cs typeface="Calibri" pitchFamily="34" charset="-120"/>
              </a:rPr>
              <a:t>Cover Image &amp; Logo</a:t>
            </a:r>
            <a:endParaRPr lang="en-US" sz="1100" dirty="0"/>
          </a:p>
        </p:txBody>
      </p:sp>
      <p:sp>
        <p:nvSpPr>
          <p:cNvPr id="10" name="Text 7"/>
          <p:cNvSpPr/>
          <p:nvPr/>
        </p:nvSpPr>
        <p:spPr>
          <a:xfrm>
            <a:off x="347472" y="2286000"/>
            <a:ext cx="2578608" cy="566928"/>
          </a:xfrm>
          <a:prstGeom prst="rect">
            <a:avLst/>
          </a:prstGeom>
          <a:noFill/>
          <a:ln/>
        </p:spPr>
        <p:txBody>
          <a:bodyPr wrap="square" rtlCol="0" anchor="ctr"/>
          <a:lstStyle/>
          <a:p>
            <a:pPr indent="0" marL="0">
              <a:buNone/>
            </a:pPr>
            <a:r>
              <a:rPr lang="en-US" sz="950" dirty="0">
                <a:solidFill>
                  <a:srgbClr val="555555"/>
                </a:solidFill>
                <a:latin typeface="Calibri" pitchFamily="34" charset="0"/>
                <a:ea typeface="Calibri" pitchFamily="34" charset="-122"/>
                <a:cs typeface="Calibri" pitchFamily="34" charset="-120"/>
              </a:rPr>
              <a:t>Professional food photo as cover; logo as profile picture. First impression matters.</a:t>
            </a:r>
            <a:endParaRPr lang="en-US" sz="950" dirty="0"/>
          </a:p>
        </p:txBody>
      </p:sp>
      <p:sp>
        <p:nvSpPr>
          <p:cNvPr id="11" name="Shape 8"/>
          <p:cNvSpPr/>
          <p:nvPr/>
        </p:nvSpPr>
        <p:spPr>
          <a:xfrm>
            <a:off x="3200400" y="1481328"/>
            <a:ext cx="2697480" cy="1417320"/>
          </a:xfrm>
          <a:prstGeom prst="rect">
            <a:avLst/>
          </a:prstGeom>
          <a:solidFill>
            <a:srgbClr val="FFFFFF"/>
          </a:solidFill>
          <a:ln w="6350">
            <a:solidFill>
              <a:srgbClr val="DDDDDD"/>
            </a:solidFill>
            <a:prstDash val="solid"/>
          </a:ln>
          <a:effectLst>
            <a:outerShdw sx="100000" sy="100000" kx="0" ky="0" algn="bl" rotWithShape="0" blurRad="63500" dist="25400" dir="8100000">
              <a:srgbClr val="000000">
                <a:alpha val="10000"/>
              </a:srgbClr>
            </a:outerShdw>
          </a:effectLst>
        </p:spPr>
      </p:sp>
      <p:sp>
        <p:nvSpPr>
          <p:cNvPr id="12" name="Shape 9"/>
          <p:cNvSpPr/>
          <p:nvPr/>
        </p:nvSpPr>
        <p:spPr>
          <a:xfrm>
            <a:off x="3200400" y="1481328"/>
            <a:ext cx="594360" cy="502920"/>
          </a:xfrm>
          <a:prstGeom prst="rect">
            <a:avLst/>
          </a:prstGeom>
          <a:solidFill>
            <a:srgbClr val="8B1A1A"/>
          </a:solidFill>
          <a:ln w="12700">
            <a:solidFill>
              <a:srgbClr val="8B1A1A"/>
            </a:solidFill>
            <a:prstDash val="solid"/>
          </a:ln>
        </p:spPr>
      </p:sp>
      <p:sp>
        <p:nvSpPr>
          <p:cNvPr id="13" name="Text 10"/>
          <p:cNvSpPr/>
          <p:nvPr/>
        </p:nvSpPr>
        <p:spPr>
          <a:xfrm>
            <a:off x="3200400" y="1481328"/>
            <a:ext cx="594360" cy="502920"/>
          </a:xfrm>
          <a:prstGeom prst="rect">
            <a:avLst/>
          </a:prstGeom>
          <a:noFill/>
          <a:ln/>
        </p:spPr>
        <p:txBody>
          <a:bodyPr wrap="square" rtlCol="0" anchor="ctr"/>
          <a:lstStyle/>
          <a:p>
            <a:pPr algn="ctr" indent="0" marL="0">
              <a:buNone/>
            </a:pPr>
            <a:r>
              <a:rPr lang="en-US" sz="1400" b="1" dirty="0">
                <a:solidFill>
                  <a:srgbClr val="E8A020"/>
                </a:solidFill>
                <a:latin typeface="Calibri" pitchFamily="34" charset="0"/>
                <a:ea typeface="Calibri" pitchFamily="34" charset="-122"/>
                <a:cs typeface="Calibri" pitchFamily="34" charset="-120"/>
              </a:rPr>
              <a:t>02</a:t>
            </a:r>
            <a:endParaRPr lang="en-US" sz="1400" dirty="0"/>
          </a:p>
        </p:txBody>
      </p:sp>
      <p:pic>
        <p:nvPicPr>
          <p:cNvPr id="14" name="Image 1" descr="preencoded.png">    </p:cNvPr>
          <p:cNvPicPr>
            <a:picLocks noChangeAspect="1"/>
          </p:cNvPicPr>
          <p:nvPr/>
        </p:nvPicPr>
        <p:blipFill>
          <a:blip r:embed="rId2"/>
          <a:stretch>
            <a:fillRect/>
          </a:stretch>
        </p:blipFill>
        <p:spPr>
          <a:xfrm>
            <a:off x="3858768" y="1527048"/>
            <a:ext cx="365760" cy="365760"/>
          </a:xfrm>
          <a:prstGeom prst="rect">
            <a:avLst/>
          </a:prstGeom>
        </p:spPr>
      </p:pic>
      <p:sp>
        <p:nvSpPr>
          <p:cNvPr id="15" name="Text 11"/>
          <p:cNvSpPr/>
          <p:nvPr/>
        </p:nvSpPr>
        <p:spPr>
          <a:xfrm>
            <a:off x="3273552" y="2011680"/>
            <a:ext cx="2578608" cy="292608"/>
          </a:xfrm>
          <a:prstGeom prst="rect">
            <a:avLst/>
          </a:prstGeom>
          <a:noFill/>
          <a:ln/>
        </p:spPr>
        <p:txBody>
          <a:bodyPr wrap="square" rtlCol="0" anchor="ctr"/>
          <a:lstStyle/>
          <a:p>
            <a:pPr indent="0" marL="0">
              <a:buNone/>
            </a:pPr>
            <a:r>
              <a:rPr lang="en-US" sz="1100" b="1" dirty="0">
                <a:solidFill>
                  <a:srgbClr val="8B1A1A"/>
                </a:solidFill>
                <a:latin typeface="Calibri" pitchFamily="34" charset="0"/>
                <a:ea typeface="Calibri" pitchFamily="34" charset="-122"/>
                <a:cs typeface="Calibri" pitchFamily="34" charset="-120"/>
              </a:rPr>
              <a:t>Complete Business Info</a:t>
            </a:r>
            <a:endParaRPr lang="en-US" sz="1100" dirty="0"/>
          </a:p>
        </p:txBody>
      </p:sp>
      <p:sp>
        <p:nvSpPr>
          <p:cNvPr id="16" name="Text 12"/>
          <p:cNvSpPr/>
          <p:nvPr/>
        </p:nvSpPr>
        <p:spPr>
          <a:xfrm>
            <a:off x="3273552" y="2286000"/>
            <a:ext cx="2578608" cy="566928"/>
          </a:xfrm>
          <a:prstGeom prst="rect">
            <a:avLst/>
          </a:prstGeom>
          <a:noFill/>
          <a:ln/>
        </p:spPr>
        <p:txBody>
          <a:bodyPr wrap="square" rtlCol="0" anchor="ctr"/>
          <a:lstStyle/>
          <a:p>
            <a:pPr indent="0" marL="0">
              <a:buNone/>
            </a:pPr>
            <a:r>
              <a:rPr lang="en-US" sz="950" dirty="0">
                <a:solidFill>
                  <a:srgbClr val="555555"/>
                </a:solidFill>
                <a:latin typeface="Calibri" pitchFamily="34" charset="0"/>
                <a:ea typeface="Calibri" pitchFamily="34" charset="-122"/>
                <a:cs typeface="Calibri" pitchFamily="34" charset="-120"/>
              </a:rPr>
              <a:t>Menu link, opening hours, address, phone number, WhatsApp order link.</a:t>
            </a:r>
            <a:endParaRPr lang="en-US" sz="950" dirty="0"/>
          </a:p>
        </p:txBody>
      </p:sp>
      <p:sp>
        <p:nvSpPr>
          <p:cNvPr id="17" name="Shape 13"/>
          <p:cNvSpPr/>
          <p:nvPr/>
        </p:nvSpPr>
        <p:spPr>
          <a:xfrm>
            <a:off x="6126480" y="1481328"/>
            <a:ext cx="2697480" cy="1417320"/>
          </a:xfrm>
          <a:prstGeom prst="rect">
            <a:avLst/>
          </a:prstGeom>
          <a:solidFill>
            <a:srgbClr val="FFFFFF"/>
          </a:solidFill>
          <a:ln w="6350">
            <a:solidFill>
              <a:srgbClr val="DDDDDD"/>
            </a:solidFill>
            <a:prstDash val="solid"/>
          </a:ln>
          <a:effectLst>
            <a:outerShdw sx="100000" sy="100000" kx="0" ky="0" algn="bl" rotWithShape="0" blurRad="63500" dist="25400" dir="8100000">
              <a:srgbClr val="000000">
                <a:alpha val="10000"/>
              </a:srgbClr>
            </a:outerShdw>
          </a:effectLst>
        </p:spPr>
      </p:sp>
      <p:sp>
        <p:nvSpPr>
          <p:cNvPr id="18" name="Shape 14"/>
          <p:cNvSpPr/>
          <p:nvPr/>
        </p:nvSpPr>
        <p:spPr>
          <a:xfrm>
            <a:off x="6126480" y="1481328"/>
            <a:ext cx="594360" cy="502920"/>
          </a:xfrm>
          <a:prstGeom prst="rect">
            <a:avLst/>
          </a:prstGeom>
          <a:solidFill>
            <a:srgbClr val="8B1A1A"/>
          </a:solidFill>
          <a:ln w="12700">
            <a:solidFill>
              <a:srgbClr val="8B1A1A"/>
            </a:solidFill>
            <a:prstDash val="solid"/>
          </a:ln>
        </p:spPr>
      </p:sp>
      <p:sp>
        <p:nvSpPr>
          <p:cNvPr id="19" name="Text 15"/>
          <p:cNvSpPr/>
          <p:nvPr/>
        </p:nvSpPr>
        <p:spPr>
          <a:xfrm>
            <a:off x="6126480" y="1481328"/>
            <a:ext cx="594360" cy="502920"/>
          </a:xfrm>
          <a:prstGeom prst="rect">
            <a:avLst/>
          </a:prstGeom>
          <a:noFill/>
          <a:ln/>
        </p:spPr>
        <p:txBody>
          <a:bodyPr wrap="square" rtlCol="0" anchor="ctr"/>
          <a:lstStyle/>
          <a:p>
            <a:pPr algn="ctr" indent="0" marL="0">
              <a:buNone/>
            </a:pPr>
            <a:r>
              <a:rPr lang="en-US" sz="1400" b="1" dirty="0">
                <a:solidFill>
                  <a:srgbClr val="E8A020"/>
                </a:solidFill>
                <a:latin typeface="Calibri" pitchFamily="34" charset="0"/>
                <a:ea typeface="Calibri" pitchFamily="34" charset="-122"/>
                <a:cs typeface="Calibri" pitchFamily="34" charset="-120"/>
              </a:rPr>
              <a:t>03</a:t>
            </a:r>
            <a:endParaRPr lang="en-US" sz="1400" dirty="0"/>
          </a:p>
        </p:txBody>
      </p:sp>
      <p:pic>
        <p:nvPicPr>
          <p:cNvPr id="20" name="Image 2" descr="preencoded.png">    </p:cNvPr>
          <p:cNvPicPr>
            <a:picLocks noChangeAspect="1"/>
          </p:cNvPicPr>
          <p:nvPr/>
        </p:nvPicPr>
        <p:blipFill>
          <a:blip r:embed="rId3"/>
          <a:stretch>
            <a:fillRect/>
          </a:stretch>
        </p:blipFill>
        <p:spPr>
          <a:xfrm>
            <a:off x="6784848" y="1527048"/>
            <a:ext cx="365760" cy="365760"/>
          </a:xfrm>
          <a:prstGeom prst="rect">
            <a:avLst/>
          </a:prstGeom>
        </p:spPr>
      </p:pic>
      <p:sp>
        <p:nvSpPr>
          <p:cNvPr id="21" name="Text 16"/>
          <p:cNvSpPr/>
          <p:nvPr/>
        </p:nvSpPr>
        <p:spPr>
          <a:xfrm>
            <a:off x="6199632" y="2011680"/>
            <a:ext cx="2578608" cy="292608"/>
          </a:xfrm>
          <a:prstGeom prst="rect">
            <a:avLst/>
          </a:prstGeom>
          <a:noFill/>
          <a:ln/>
        </p:spPr>
        <p:txBody>
          <a:bodyPr wrap="square" rtlCol="0" anchor="ctr"/>
          <a:lstStyle/>
          <a:p>
            <a:pPr indent="0" marL="0">
              <a:buNone/>
            </a:pPr>
            <a:r>
              <a:rPr lang="en-US" sz="1100" b="1" dirty="0">
                <a:solidFill>
                  <a:srgbClr val="8B1A1A"/>
                </a:solidFill>
                <a:latin typeface="Calibri" pitchFamily="34" charset="0"/>
                <a:ea typeface="Calibri" pitchFamily="34" charset="-122"/>
                <a:cs typeface="Calibri" pitchFamily="34" charset="-120"/>
              </a:rPr>
              <a:t>Call-to-Action Button</a:t>
            </a:r>
            <a:endParaRPr lang="en-US" sz="1100" dirty="0"/>
          </a:p>
        </p:txBody>
      </p:sp>
      <p:sp>
        <p:nvSpPr>
          <p:cNvPr id="22" name="Text 17"/>
          <p:cNvSpPr/>
          <p:nvPr/>
        </p:nvSpPr>
        <p:spPr>
          <a:xfrm>
            <a:off x="6199632" y="2286000"/>
            <a:ext cx="2578608" cy="566928"/>
          </a:xfrm>
          <a:prstGeom prst="rect">
            <a:avLst/>
          </a:prstGeom>
          <a:noFill/>
          <a:ln/>
        </p:spPr>
        <p:txBody>
          <a:bodyPr wrap="square" rtlCol="0" anchor="ctr"/>
          <a:lstStyle/>
          <a:p>
            <a:pPr indent="0" marL="0">
              <a:buNone/>
            </a:pPr>
            <a:r>
              <a:rPr lang="en-US" sz="950" dirty="0">
                <a:solidFill>
                  <a:srgbClr val="555555"/>
                </a:solidFill>
                <a:latin typeface="Calibri" pitchFamily="34" charset="0"/>
                <a:ea typeface="Calibri" pitchFamily="34" charset="-122"/>
                <a:cs typeface="Calibri" pitchFamily="34" charset="-120"/>
              </a:rPr>
              <a:t>Set CTA to 'Order Now' or 'Send Message' — makes ordering one click away.</a:t>
            </a:r>
            <a:endParaRPr lang="en-US" sz="950" dirty="0"/>
          </a:p>
        </p:txBody>
      </p:sp>
      <p:sp>
        <p:nvSpPr>
          <p:cNvPr id="23" name="Shape 18"/>
          <p:cNvSpPr/>
          <p:nvPr/>
        </p:nvSpPr>
        <p:spPr>
          <a:xfrm>
            <a:off x="274320" y="3108960"/>
            <a:ext cx="2697480" cy="1417320"/>
          </a:xfrm>
          <a:prstGeom prst="rect">
            <a:avLst/>
          </a:prstGeom>
          <a:solidFill>
            <a:srgbClr val="FFFFFF"/>
          </a:solidFill>
          <a:ln w="6350">
            <a:solidFill>
              <a:srgbClr val="DDDDDD"/>
            </a:solidFill>
            <a:prstDash val="solid"/>
          </a:ln>
          <a:effectLst>
            <a:outerShdw sx="100000" sy="100000" kx="0" ky="0" algn="bl" rotWithShape="0" blurRad="63500" dist="25400" dir="8100000">
              <a:srgbClr val="000000">
                <a:alpha val="10000"/>
              </a:srgbClr>
            </a:outerShdw>
          </a:effectLst>
        </p:spPr>
      </p:sp>
      <p:sp>
        <p:nvSpPr>
          <p:cNvPr id="24" name="Shape 19"/>
          <p:cNvSpPr/>
          <p:nvPr/>
        </p:nvSpPr>
        <p:spPr>
          <a:xfrm>
            <a:off x="274320" y="3108960"/>
            <a:ext cx="594360" cy="502920"/>
          </a:xfrm>
          <a:prstGeom prst="rect">
            <a:avLst/>
          </a:prstGeom>
          <a:solidFill>
            <a:srgbClr val="8B1A1A"/>
          </a:solidFill>
          <a:ln w="12700">
            <a:solidFill>
              <a:srgbClr val="8B1A1A"/>
            </a:solidFill>
            <a:prstDash val="solid"/>
          </a:ln>
        </p:spPr>
      </p:sp>
      <p:sp>
        <p:nvSpPr>
          <p:cNvPr id="25" name="Text 20"/>
          <p:cNvSpPr/>
          <p:nvPr/>
        </p:nvSpPr>
        <p:spPr>
          <a:xfrm>
            <a:off x="274320" y="3108960"/>
            <a:ext cx="594360" cy="502920"/>
          </a:xfrm>
          <a:prstGeom prst="rect">
            <a:avLst/>
          </a:prstGeom>
          <a:noFill/>
          <a:ln/>
        </p:spPr>
        <p:txBody>
          <a:bodyPr wrap="square" rtlCol="0" anchor="ctr"/>
          <a:lstStyle/>
          <a:p>
            <a:pPr algn="ctr" indent="0" marL="0">
              <a:buNone/>
            </a:pPr>
            <a:r>
              <a:rPr lang="en-US" sz="1400" b="1" dirty="0">
                <a:solidFill>
                  <a:srgbClr val="E8A020"/>
                </a:solidFill>
                <a:latin typeface="Calibri" pitchFamily="34" charset="0"/>
                <a:ea typeface="Calibri" pitchFamily="34" charset="-122"/>
                <a:cs typeface="Calibri" pitchFamily="34" charset="-120"/>
              </a:rPr>
              <a:t>04</a:t>
            </a:r>
            <a:endParaRPr lang="en-US" sz="1400" dirty="0"/>
          </a:p>
        </p:txBody>
      </p:sp>
      <p:pic>
        <p:nvPicPr>
          <p:cNvPr id="26" name="Image 3" descr="preencoded.png">    </p:cNvPr>
          <p:cNvPicPr>
            <a:picLocks noChangeAspect="1"/>
          </p:cNvPicPr>
          <p:nvPr/>
        </p:nvPicPr>
        <p:blipFill>
          <a:blip r:embed="rId4"/>
          <a:stretch>
            <a:fillRect/>
          </a:stretch>
        </p:blipFill>
        <p:spPr>
          <a:xfrm>
            <a:off x="932688" y="3154680"/>
            <a:ext cx="365760" cy="365760"/>
          </a:xfrm>
          <a:prstGeom prst="rect">
            <a:avLst/>
          </a:prstGeom>
        </p:spPr>
      </p:pic>
      <p:sp>
        <p:nvSpPr>
          <p:cNvPr id="27" name="Text 21"/>
          <p:cNvSpPr/>
          <p:nvPr/>
        </p:nvSpPr>
        <p:spPr>
          <a:xfrm>
            <a:off x="347472" y="3639312"/>
            <a:ext cx="2578608" cy="292608"/>
          </a:xfrm>
          <a:prstGeom prst="rect">
            <a:avLst/>
          </a:prstGeom>
          <a:noFill/>
          <a:ln/>
        </p:spPr>
        <p:txBody>
          <a:bodyPr wrap="square" rtlCol="0" anchor="ctr"/>
          <a:lstStyle/>
          <a:p>
            <a:pPr indent="0" marL="0">
              <a:buNone/>
            </a:pPr>
            <a:r>
              <a:rPr lang="en-US" sz="1100" b="1" dirty="0">
                <a:solidFill>
                  <a:srgbClr val="8B1A1A"/>
                </a:solidFill>
                <a:latin typeface="Calibri" pitchFamily="34" charset="0"/>
                <a:ea typeface="Calibri" pitchFamily="34" charset="-122"/>
                <a:cs typeface="Calibri" pitchFamily="34" charset="-120"/>
              </a:rPr>
              <a:t>Pinned Launch Offer</a:t>
            </a:r>
            <a:endParaRPr lang="en-US" sz="1100" dirty="0"/>
          </a:p>
        </p:txBody>
      </p:sp>
      <p:sp>
        <p:nvSpPr>
          <p:cNvPr id="28" name="Text 22"/>
          <p:cNvSpPr/>
          <p:nvPr/>
        </p:nvSpPr>
        <p:spPr>
          <a:xfrm>
            <a:off x="347472" y="3913632"/>
            <a:ext cx="2578608" cy="566928"/>
          </a:xfrm>
          <a:prstGeom prst="rect">
            <a:avLst/>
          </a:prstGeom>
          <a:noFill/>
          <a:ln/>
        </p:spPr>
        <p:txBody>
          <a:bodyPr wrap="square" rtlCol="0" anchor="ctr"/>
          <a:lstStyle/>
          <a:p>
            <a:pPr indent="0" marL="0">
              <a:buNone/>
            </a:pPr>
            <a:r>
              <a:rPr lang="en-US" sz="950" dirty="0">
                <a:solidFill>
                  <a:srgbClr val="555555"/>
                </a:solidFill>
                <a:latin typeface="Calibri" pitchFamily="34" charset="0"/>
                <a:ea typeface="Calibri" pitchFamily="34" charset="-122"/>
                <a:cs typeface="Calibri" pitchFamily="34" charset="-120"/>
              </a:rPr>
              <a:t>Pin a post with your grand opening offer so every new visitor sees it first.</a:t>
            </a:r>
            <a:endParaRPr lang="en-US" sz="950" dirty="0"/>
          </a:p>
        </p:txBody>
      </p:sp>
      <p:sp>
        <p:nvSpPr>
          <p:cNvPr id="29" name="Shape 23"/>
          <p:cNvSpPr/>
          <p:nvPr/>
        </p:nvSpPr>
        <p:spPr>
          <a:xfrm>
            <a:off x="3200400" y="3108960"/>
            <a:ext cx="2697480" cy="1417320"/>
          </a:xfrm>
          <a:prstGeom prst="rect">
            <a:avLst/>
          </a:prstGeom>
          <a:solidFill>
            <a:srgbClr val="FFFFFF"/>
          </a:solidFill>
          <a:ln w="6350">
            <a:solidFill>
              <a:srgbClr val="DDDDDD"/>
            </a:solidFill>
            <a:prstDash val="solid"/>
          </a:ln>
          <a:effectLst>
            <a:outerShdw sx="100000" sy="100000" kx="0" ky="0" algn="bl" rotWithShape="0" blurRad="63500" dist="25400" dir="8100000">
              <a:srgbClr val="000000">
                <a:alpha val="10000"/>
              </a:srgbClr>
            </a:outerShdw>
          </a:effectLst>
        </p:spPr>
      </p:sp>
      <p:sp>
        <p:nvSpPr>
          <p:cNvPr id="30" name="Shape 24"/>
          <p:cNvSpPr/>
          <p:nvPr/>
        </p:nvSpPr>
        <p:spPr>
          <a:xfrm>
            <a:off x="3200400" y="3108960"/>
            <a:ext cx="594360" cy="502920"/>
          </a:xfrm>
          <a:prstGeom prst="rect">
            <a:avLst/>
          </a:prstGeom>
          <a:solidFill>
            <a:srgbClr val="8B1A1A"/>
          </a:solidFill>
          <a:ln w="12700">
            <a:solidFill>
              <a:srgbClr val="8B1A1A"/>
            </a:solidFill>
            <a:prstDash val="solid"/>
          </a:ln>
        </p:spPr>
      </p:sp>
      <p:sp>
        <p:nvSpPr>
          <p:cNvPr id="31" name="Text 25"/>
          <p:cNvSpPr/>
          <p:nvPr/>
        </p:nvSpPr>
        <p:spPr>
          <a:xfrm>
            <a:off x="3200400" y="3108960"/>
            <a:ext cx="594360" cy="502920"/>
          </a:xfrm>
          <a:prstGeom prst="rect">
            <a:avLst/>
          </a:prstGeom>
          <a:noFill/>
          <a:ln/>
        </p:spPr>
        <p:txBody>
          <a:bodyPr wrap="square" rtlCol="0" anchor="ctr"/>
          <a:lstStyle/>
          <a:p>
            <a:pPr algn="ctr" indent="0" marL="0">
              <a:buNone/>
            </a:pPr>
            <a:r>
              <a:rPr lang="en-US" sz="1400" b="1" dirty="0">
                <a:solidFill>
                  <a:srgbClr val="E8A020"/>
                </a:solidFill>
                <a:latin typeface="Calibri" pitchFamily="34" charset="0"/>
                <a:ea typeface="Calibri" pitchFamily="34" charset="-122"/>
                <a:cs typeface="Calibri" pitchFamily="34" charset="-120"/>
              </a:rPr>
              <a:t>05</a:t>
            </a:r>
            <a:endParaRPr lang="en-US" sz="1400" dirty="0"/>
          </a:p>
        </p:txBody>
      </p:sp>
      <p:pic>
        <p:nvPicPr>
          <p:cNvPr id="32" name="Image 4" descr="preencoded.png">    </p:cNvPr>
          <p:cNvPicPr>
            <a:picLocks noChangeAspect="1"/>
          </p:cNvPicPr>
          <p:nvPr/>
        </p:nvPicPr>
        <p:blipFill>
          <a:blip r:embed="rId5"/>
          <a:stretch>
            <a:fillRect/>
          </a:stretch>
        </p:blipFill>
        <p:spPr>
          <a:xfrm>
            <a:off x="3858768" y="3154680"/>
            <a:ext cx="365760" cy="365760"/>
          </a:xfrm>
          <a:prstGeom prst="rect">
            <a:avLst/>
          </a:prstGeom>
        </p:spPr>
      </p:pic>
      <p:sp>
        <p:nvSpPr>
          <p:cNvPr id="33" name="Text 26"/>
          <p:cNvSpPr/>
          <p:nvPr/>
        </p:nvSpPr>
        <p:spPr>
          <a:xfrm>
            <a:off x="3273552" y="3639312"/>
            <a:ext cx="2578608" cy="292608"/>
          </a:xfrm>
          <a:prstGeom prst="rect">
            <a:avLst/>
          </a:prstGeom>
          <a:noFill/>
          <a:ln/>
        </p:spPr>
        <p:txBody>
          <a:bodyPr wrap="square" rtlCol="0" anchor="ctr"/>
          <a:lstStyle/>
          <a:p>
            <a:pPr indent="0" marL="0">
              <a:buNone/>
            </a:pPr>
            <a:r>
              <a:rPr lang="en-US" sz="1100" b="1" dirty="0">
                <a:solidFill>
                  <a:srgbClr val="8B1A1A"/>
                </a:solidFill>
                <a:latin typeface="Calibri" pitchFamily="34" charset="0"/>
                <a:ea typeface="Calibri" pitchFamily="34" charset="-122"/>
                <a:cs typeface="Calibri" pitchFamily="34" charset="-120"/>
              </a:rPr>
              <a:t>Reviews &amp; Local Keywords</a:t>
            </a:r>
            <a:endParaRPr lang="en-US" sz="1100" dirty="0"/>
          </a:p>
        </p:txBody>
      </p:sp>
      <p:sp>
        <p:nvSpPr>
          <p:cNvPr id="34" name="Text 27"/>
          <p:cNvSpPr/>
          <p:nvPr/>
        </p:nvSpPr>
        <p:spPr>
          <a:xfrm>
            <a:off x="3273552" y="3913632"/>
            <a:ext cx="2578608" cy="566928"/>
          </a:xfrm>
          <a:prstGeom prst="rect">
            <a:avLst/>
          </a:prstGeom>
          <a:noFill/>
          <a:ln/>
        </p:spPr>
        <p:txBody>
          <a:bodyPr wrap="square" rtlCol="0" anchor="ctr"/>
          <a:lstStyle/>
          <a:p>
            <a:pPr indent="0" marL="0">
              <a:buNone/>
            </a:pPr>
            <a:r>
              <a:rPr lang="en-US" sz="950" dirty="0">
                <a:solidFill>
                  <a:srgbClr val="555555"/>
                </a:solidFill>
                <a:latin typeface="Calibri" pitchFamily="34" charset="0"/>
                <a:ea typeface="Calibri" pitchFamily="34" charset="-122"/>
                <a:cs typeface="Calibri" pitchFamily="34" charset="-120"/>
              </a:rPr>
              <a:t>Enable recommendations, location tagging, and add Mumbai &amp; noodles in your bio.</a:t>
            </a:r>
            <a:endParaRPr lang="en-US" sz="950" dirty="0"/>
          </a:p>
        </p:txBody>
      </p:sp>
      <p:sp>
        <p:nvSpPr>
          <p:cNvPr id="35" name="Shape 28"/>
          <p:cNvSpPr/>
          <p:nvPr/>
        </p:nvSpPr>
        <p:spPr>
          <a:xfrm>
            <a:off x="6126480" y="3108960"/>
            <a:ext cx="2697480" cy="1417320"/>
          </a:xfrm>
          <a:prstGeom prst="rect">
            <a:avLst/>
          </a:prstGeom>
          <a:solidFill>
            <a:srgbClr val="FFFFFF"/>
          </a:solidFill>
          <a:ln w="6350">
            <a:solidFill>
              <a:srgbClr val="DDDDDD"/>
            </a:solidFill>
            <a:prstDash val="solid"/>
          </a:ln>
          <a:effectLst>
            <a:outerShdw sx="100000" sy="100000" kx="0" ky="0" algn="bl" rotWithShape="0" blurRad="63500" dist="25400" dir="8100000">
              <a:srgbClr val="000000">
                <a:alpha val="10000"/>
              </a:srgbClr>
            </a:outerShdw>
          </a:effectLst>
        </p:spPr>
      </p:sp>
      <p:sp>
        <p:nvSpPr>
          <p:cNvPr id="36" name="Shape 29"/>
          <p:cNvSpPr/>
          <p:nvPr/>
        </p:nvSpPr>
        <p:spPr>
          <a:xfrm>
            <a:off x="6126480" y="3108960"/>
            <a:ext cx="594360" cy="502920"/>
          </a:xfrm>
          <a:prstGeom prst="rect">
            <a:avLst/>
          </a:prstGeom>
          <a:solidFill>
            <a:srgbClr val="8B1A1A"/>
          </a:solidFill>
          <a:ln w="12700">
            <a:solidFill>
              <a:srgbClr val="8B1A1A"/>
            </a:solidFill>
            <a:prstDash val="solid"/>
          </a:ln>
        </p:spPr>
      </p:sp>
      <p:sp>
        <p:nvSpPr>
          <p:cNvPr id="37" name="Text 30"/>
          <p:cNvSpPr/>
          <p:nvPr/>
        </p:nvSpPr>
        <p:spPr>
          <a:xfrm>
            <a:off x="6126480" y="3108960"/>
            <a:ext cx="594360" cy="502920"/>
          </a:xfrm>
          <a:prstGeom prst="rect">
            <a:avLst/>
          </a:prstGeom>
          <a:noFill/>
          <a:ln/>
        </p:spPr>
        <p:txBody>
          <a:bodyPr wrap="square" rtlCol="0" anchor="ctr"/>
          <a:lstStyle/>
          <a:p>
            <a:pPr algn="ctr" indent="0" marL="0">
              <a:buNone/>
            </a:pPr>
            <a:r>
              <a:rPr lang="en-US" sz="1400" b="1" dirty="0">
                <a:solidFill>
                  <a:srgbClr val="E8A020"/>
                </a:solidFill>
                <a:latin typeface="Calibri" pitchFamily="34" charset="0"/>
                <a:ea typeface="Calibri" pitchFamily="34" charset="-122"/>
                <a:cs typeface="Calibri" pitchFamily="34" charset="-120"/>
              </a:rPr>
              <a:t>06</a:t>
            </a:r>
            <a:endParaRPr lang="en-US" sz="1400" dirty="0"/>
          </a:p>
        </p:txBody>
      </p:sp>
      <p:pic>
        <p:nvPicPr>
          <p:cNvPr id="38" name="Image 5" descr="preencoded.png">    </p:cNvPr>
          <p:cNvPicPr>
            <a:picLocks noChangeAspect="1"/>
          </p:cNvPicPr>
          <p:nvPr/>
        </p:nvPicPr>
        <p:blipFill>
          <a:blip r:embed="rId6"/>
          <a:stretch>
            <a:fillRect/>
          </a:stretch>
        </p:blipFill>
        <p:spPr>
          <a:xfrm>
            <a:off x="6784848" y="3154680"/>
            <a:ext cx="365760" cy="365760"/>
          </a:xfrm>
          <a:prstGeom prst="rect">
            <a:avLst/>
          </a:prstGeom>
        </p:spPr>
      </p:pic>
      <p:sp>
        <p:nvSpPr>
          <p:cNvPr id="39" name="Text 31"/>
          <p:cNvSpPr/>
          <p:nvPr/>
        </p:nvSpPr>
        <p:spPr>
          <a:xfrm>
            <a:off x="6199632" y="3639312"/>
            <a:ext cx="2578608" cy="292608"/>
          </a:xfrm>
          <a:prstGeom prst="rect">
            <a:avLst/>
          </a:prstGeom>
          <a:noFill/>
          <a:ln/>
        </p:spPr>
        <p:txBody>
          <a:bodyPr wrap="square" rtlCol="0" anchor="ctr"/>
          <a:lstStyle/>
          <a:p>
            <a:pPr indent="0" marL="0">
              <a:buNone/>
            </a:pPr>
            <a:r>
              <a:rPr lang="en-US" sz="1100" b="1" dirty="0">
                <a:solidFill>
                  <a:srgbClr val="8B1A1A"/>
                </a:solidFill>
                <a:latin typeface="Calibri" pitchFamily="34" charset="0"/>
                <a:ea typeface="Calibri" pitchFamily="34" charset="-122"/>
                <a:cs typeface="Calibri" pitchFamily="34" charset="-120"/>
              </a:rPr>
              <a:t>Linked WhatsApp &amp; Website</a:t>
            </a:r>
            <a:endParaRPr lang="en-US" sz="1100" dirty="0"/>
          </a:p>
        </p:txBody>
      </p:sp>
      <p:sp>
        <p:nvSpPr>
          <p:cNvPr id="40" name="Text 32"/>
          <p:cNvSpPr/>
          <p:nvPr/>
        </p:nvSpPr>
        <p:spPr>
          <a:xfrm>
            <a:off x="6199632" y="3913632"/>
            <a:ext cx="2578608" cy="566928"/>
          </a:xfrm>
          <a:prstGeom prst="rect">
            <a:avLst/>
          </a:prstGeom>
          <a:noFill/>
          <a:ln/>
        </p:spPr>
        <p:txBody>
          <a:bodyPr wrap="square" rtlCol="0" anchor="ctr"/>
          <a:lstStyle/>
          <a:p>
            <a:pPr indent="0" marL="0">
              <a:buNone/>
            </a:pPr>
            <a:r>
              <a:rPr lang="en-US" sz="950" dirty="0">
                <a:solidFill>
                  <a:srgbClr val="555555"/>
                </a:solidFill>
                <a:latin typeface="Calibri" pitchFamily="34" charset="0"/>
                <a:ea typeface="Calibri" pitchFamily="34" charset="-122"/>
                <a:cs typeface="Calibri" pitchFamily="34" charset="-120"/>
              </a:rPr>
              <a:t>Connect delivery link, Swiggy/Zomato, and WhatsApp for seamless ordering.</a:t>
            </a:r>
            <a:endParaRPr lang="en-US" sz="950" dirty="0"/>
          </a:p>
        </p:txBody>
      </p:sp>
      <p:sp>
        <p:nvSpPr>
          <p:cNvPr id="41" name="Text 33"/>
          <p:cNvSpPr/>
          <p:nvPr/>
        </p:nvSpPr>
        <p:spPr>
          <a:xfrm>
            <a:off x="274320" y="4892040"/>
            <a:ext cx="7680960" cy="182880"/>
          </a:xfrm>
          <a:prstGeom prst="rect">
            <a:avLst/>
          </a:prstGeom>
          <a:noFill/>
          <a:ln/>
        </p:spPr>
        <p:txBody>
          <a:bodyPr wrap="square" rtlCol="0" anchor="ctr"/>
          <a:lstStyle/>
          <a:p>
            <a:pPr algn="l" indent="0" marL="0">
              <a:buNone/>
            </a:pPr>
            <a:r>
              <a:rPr lang="en-US" sz="800" dirty="0">
                <a:solidFill>
                  <a:srgbClr val="AAAAAA"/>
                </a:solidFill>
                <a:latin typeface="Calibri" pitchFamily="34" charset="0"/>
                <a:ea typeface="Calibri" pitchFamily="34" charset="-122"/>
                <a:cs typeface="Calibri" pitchFamily="34" charset="-120"/>
              </a:rPr>
              <a:t>Noodle House  |  Facebook Marketing Strategy</a:t>
            </a:r>
            <a:endParaRPr lang="en-US" sz="800" dirty="0"/>
          </a:p>
        </p:txBody>
      </p:sp>
      <p:sp>
        <p:nvSpPr>
          <p:cNvPr id="42" name="Text 34"/>
          <p:cNvSpPr/>
          <p:nvPr/>
        </p:nvSpPr>
        <p:spPr>
          <a:xfrm>
            <a:off x="8595360" y="4892040"/>
            <a:ext cx="365760" cy="182880"/>
          </a:xfrm>
          <a:prstGeom prst="rect">
            <a:avLst/>
          </a:prstGeom>
          <a:noFill/>
          <a:ln/>
        </p:spPr>
        <p:txBody>
          <a:bodyPr wrap="square"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B2B2B"/>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8B1A1A"/>
          </a:solidFill>
          <a:ln w="12700">
            <a:solidFill>
              <a:srgbClr val="8B1A1A"/>
            </a:solidFill>
            <a:prstDash val="solid"/>
          </a:ln>
        </p:spPr>
      </p:sp>
      <p:sp>
        <p:nvSpPr>
          <p:cNvPr id="3" name="Text 1"/>
          <p:cNvSpPr/>
          <p:nvPr/>
        </p:nvSpPr>
        <p:spPr>
          <a:xfrm>
            <a:off x="365760" y="0"/>
            <a:ext cx="8412480" cy="8686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Content Pillars</a:t>
            </a:r>
            <a:endParaRPr lang="en-US" sz="2600" dirty="0"/>
          </a:p>
        </p:txBody>
      </p:sp>
      <p:sp>
        <p:nvSpPr>
          <p:cNvPr id="4" name="Text 2"/>
          <p:cNvSpPr/>
          <p:nvPr/>
        </p:nvSpPr>
        <p:spPr>
          <a:xfrm>
            <a:off x="365760" y="960120"/>
            <a:ext cx="8412480" cy="347472"/>
          </a:xfrm>
          <a:prstGeom prst="rect">
            <a:avLst/>
          </a:prstGeom>
          <a:noFill/>
          <a:ln/>
        </p:spPr>
        <p:txBody>
          <a:bodyPr wrap="square" rtlCol="0" anchor="ctr"/>
          <a:lstStyle/>
          <a:p>
            <a:pPr indent="0" marL="0">
              <a:buNone/>
            </a:pPr>
            <a:r>
              <a:rPr lang="en-US" sz="1250" i="1" dirty="0">
                <a:solidFill>
                  <a:srgbClr val="CCCCCC"/>
                </a:solidFill>
                <a:latin typeface="Calibri" pitchFamily="34" charset="0"/>
                <a:ea typeface="Calibri" pitchFamily="34" charset="-122"/>
                <a:cs typeface="Calibri" pitchFamily="34" charset="-120"/>
              </a:rPr>
              <a:t>5 content types that keep posts varied, strategic, and on-brand:</a:t>
            </a:r>
            <a:endParaRPr lang="en-US" sz="1250" dirty="0"/>
          </a:p>
        </p:txBody>
      </p:sp>
      <p:sp>
        <p:nvSpPr>
          <p:cNvPr id="5" name="Shape 3"/>
          <p:cNvSpPr/>
          <p:nvPr/>
        </p:nvSpPr>
        <p:spPr>
          <a:xfrm>
            <a:off x="228600" y="1417320"/>
            <a:ext cx="1572768" cy="3383280"/>
          </a:xfrm>
          <a:prstGeom prst="rect">
            <a:avLst/>
          </a:prstGeom>
          <a:solidFill>
            <a:srgbClr val="303030"/>
          </a:solidFill>
          <a:ln w="19050">
            <a:solidFill>
              <a:srgbClr val="8B1A1A"/>
            </a:solidFill>
            <a:prstDash val="solid"/>
          </a:ln>
        </p:spPr>
      </p:sp>
      <p:sp>
        <p:nvSpPr>
          <p:cNvPr id="6" name="Shape 4"/>
          <p:cNvSpPr/>
          <p:nvPr/>
        </p:nvSpPr>
        <p:spPr>
          <a:xfrm>
            <a:off x="228600" y="1417320"/>
            <a:ext cx="1572768" cy="640080"/>
          </a:xfrm>
          <a:prstGeom prst="rect">
            <a:avLst/>
          </a:prstGeom>
          <a:solidFill>
            <a:srgbClr val="8B1A1A"/>
          </a:solidFill>
          <a:ln w="12700">
            <a:solidFill>
              <a:srgbClr val="8B1A1A"/>
            </a:solidFill>
            <a:prstDash val="solid"/>
          </a:ln>
        </p:spPr>
      </p:sp>
      <p:pic>
        <p:nvPicPr>
          <p:cNvPr id="7" name="Image 0" descr="preencoded.png">    </p:cNvPr>
          <p:cNvPicPr>
            <a:picLocks noChangeAspect="1"/>
          </p:cNvPicPr>
          <p:nvPr/>
        </p:nvPicPr>
        <p:blipFill>
          <a:blip r:embed="rId1"/>
          <a:stretch>
            <a:fillRect/>
          </a:stretch>
        </p:blipFill>
        <p:spPr>
          <a:xfrm>
            <a:off x="786384" y="1508760"/>
            <a:ext cx="457200" cy="457200"/>
          </a:xfrm>
          <a:prstGeom prst="rect">
            <a:avLst/>
          </a:prstGeom>
        </p:spPr>
      </p:pic>
      <p:sp>
        <p:nvSpPr>
          <p:cNvPr id="8" name="Text 5"/>
          <p:cNvSpPr/>
          <p:nvPr/>
        </p:nvSpPr>
        <p:spPr>
          <a:xfrm>
            <a:off x="301752" y="2148840"/>
            <a:ext cx="1426464" cy="384048"/>
          </a:xfrm>
          <a:prstGeom prst="rect">
            <a:avLst/>
          </a:prstGeom>
          <a:noFill/>
          <a:ln/>
        </p:spPr>
        <p:txBody>
          <a:bodyPr wrap="square" rtlCol="0" anchor="ctr"/>
          <a:lstStyle/>
          <a:p>
            <a:pPr algn="ctr" indent="0" marL="0">
              <a:buNone/>
            </a:pPr>
            <a:r>
              <a:rPr lang="en-US" sz="2400" b="1" dirty="0">
                <a:solidFill>
                  <a:srgbClr val="8B1A1A"/>
                </a:solidFill>
                <a:latin typeface="Calibri" pitchFamily="34" charset="0"/>
                <a:ea typeface="Calibri" pitchFamily="34" charset="-122"/>
                <a:cs typeface="Calibri" pitchFamily="34" charset="-120"/>
              </a:rPr>
              <a:t>1</a:t>
            </a:r>
            <a:endParaRPr lang="en-US" sz="2400" dirty="0"/>
          </a:p>
        </p:txBody>
      </p:sp>
      <p:sp>
        <p:nvSpPr>
          <p:cNvPr id="9" name="Text 6"/>
          <p:cNvSpPr/>
          <p:nvPr/>
        </p:nvSpPr>
        <p:spPr>
          <a:xfrm>
            <a:off x="301752" y="2514600"/>
            <a:ext cx="1426464" cy="594360"/>
          </a:xfrm>
          <a:prstGeom prst="rect">
            <a:avLst/>
          </a:prstGeom>
          <a:noFill/>
          <a:ln/>
        </p:spPr>
        <p:txBody>
          <a:bodyPr wrap="square" rtlCol="0" anchor="ctr"/>
          <a:lstStyle/>
          <a:p>
            <a:pPr algn="ctr" indent="0" marL="0">
              <a:buNone/>
            </a:pPr>
            <a:r>
              <a:rPr lang="en-US" sz="1050" b="1" dirty="0">
                <a:solidFill>
                  <a:srgbClr val="E8A020"/>
                </a:solidFill>
                <a:latin typeface="Calibri" pitchFamily="34" charset="0"/>
                <a:ea typeface="Calibri" pitchFamily="34" charset="-122"/>
                <a:cs typeface="Calibri" pitchFamily="34" charset="-120"/>
              </a:rPr>
              <a:t>Hero Food Posts</a:t>
            </a:r>
            <a:endParaRPr lang="en-US" sz="1050" dirty="0"/>
          </a:p>
        </p:txBody>
      </p:sp>
      <p:sp>
        <p:nvSpPr>
          <p:cNvPr id="10" name="Text 7"/>
          <p:cNvSpPr/>
          <p:nvPr/>
        </p:nvSpPr>
        <p:spPr>
          <a:xfrm>
            <a:off x="320040" y="3154680"/>
            <a:ext cx="1389888" cy="1554480"/>
          </a:xfrm>
          <a:prstGeom prst="rect">
            <a:avLst/>
          </a:prstGeom>
          <a:noFill/>
          <a:ln/>
        </p:spPr>
        <p:txBody>
          <a:bodyPr wrap="square" rtlCol="0" anchor="t"/>
          <a:lstStyle/>
          <a:p>
            <a:pPr algn="ctr" indent="0" marL="0">
              <a:buNone/>
            </a:pPr>
            <a:r>
              <a:rPr lang="en-US" sz="950" dirty="0">
                <a:solidFill>
                  <a:srgbClr val="CCCCCC"/>
                </a:solidFill>
                <a:latin typeface="Calibri" pitchFamily="34" charset="0"/>
                <a:ea typeface="Calibri" pitchFamily="34" charset="-122"/>
                <a:cs typeface="Calibri" pitchFamily="34" charset="-120"/>
              </a:rPr>
              <a:t>Stunning close-up food photography. Noodle bowls, steam rising, toppings in detail. The visual core of the brand.</a:t>
            </a:r>
            <a:endParaRPr lang="en-US" sz="950" dirty="0"/>
          </a:p>
        </p:txBody>
      </p:sp>
      <p:sp>
        <p:nvSpPr>
          <p:cNvPr id="11" name="Shape 8"/>
          <p:cNvSpPr/>
          <p:nvPr/>
        </p:nvSpPr>
        <p:spPr>
          <a:xfrm>
            <a:off x="1965960" y="1417320"/>
            <a:ext cx="1572768" cy="3383280"/>
          </a:xfrm>
          <a:prstGeom prst="rect">
            <a:avLst/>
          </a:prstGeom>
          <a:solidFill>
            <a:srgbClr val="303030"/>
          </a:solidFill>
          <a:ln w="19050">
            <a:solidFill>
              <a:srgbClr val="1877F2"/>
            </a:solidFill>
            <a:prstDash val="solid"/>
          </a:ln>
        </p:spPr>
      </p:sp>
      <p:sp>
        <p:nvSpPr>
          <p:cNvPr id="12" name="Shape 9"/>
          <p:cNvSpPr/>
          <p:nvPr/>
        </p:nvSpPr>
        <p:spPr>
          <a:xfrm>
            <a:off x="1965960" y="1417320"/>
            <a:ext cx="1572768" cy="640080"/>
          </a:xfrm>
          <a:prstGeom prst="rect">
            <a:avLst/>
          </a:prstGeom>
          <a:solidFill>
            <a:srgbClr val="1877F2"/>
          </a:solidFill>
          <a:ln w="12700">
            <a:solidFill>
              <a:srgbClr val="1877F2"/>
            </a:solidFill>
            <a:prstDash val="solid"/>
          </a:ln>
        </p:spPr>
      </p:sp>
      <p:pic>
        <p:nvPicPr>
          <p:cNvPr id="13" name="Image 1" descr="preencoded.png">    </p:cNvPr>
          <p:cNvPicPr>
            <a:picLocks noChangeAspect="1"/>
          </p:cNvPicPr>
          <p:nvPr/>
        </p:nvPicPr>
        <p:blipFill>
          <a:blip r:embed="rId2"/>
          <a:stretch>
            <a:fillRect/>
          </a:stretch>
        </p:blipFill>
        <p:spPr>
          <a:xfrm>
            <a:off x="2523744" y="1508760"/>
            <a:ext cx="457200" cy="457200"/>
          </a:xfrm>
          <a:prstGeom prst="rect">
            <a:avLst/>
          </a:prstGeom>
        </p:spPr>
      </p:pic>
      <p:sp>
        <p:nvSpPr>
          <p:cNvPr id="14" name="Text 10"/>
          <p:cNvSpPr/>
          <p:nvPr/>
        </p:nvSpPr>
        <p:spPr>
          <a:xfrm>
            <a:off x="2039112" y="2148840"/>
            <a:ext cx="1426464" cy="384048"/>
          </a:xfrm>
          <a:prstGeom prst="rect">
            <a:avLst/>
          </a:prstGeom>
          <a:noFill/>
          <a:ln/>
        </p:spPr>
        <p:txBody>
          <a:bodyPr wrap="square" rtlCol="0" anchor="ctr"/>
          <a:lstStyle/>
          <a:p>
            <a:pPr algn="ctr" indent="0" marL="0">
              <a:buNone/>
            </a:pPr>
            <a:r>
              <a:rPr lang="en-US" sz="2400" b="1" dirty="0">
                <a:solidFill>
                  <a:srgbClr val="1877F2"/>
                </a:solidFill>
                <a:latin typeface="Calibri" pitchFamily="34" charset="0"/>
                <a:ea typeface="Calibri" pitchFamily="34" charset="-122"/>
                <a:cs typeface="Calibri" pitchFamily="34" charset="-120"/>
              </a:rPr>
              <a:t>2</a:t>
            </a:r>
            <a:endParaRPr lang="en-US" sz="2400" dirty="0"/>
          </a:p>
        </p:txBody>
      </p:sp>
      <p:sp>
        <p:nvSpPr>
          <p:cNvPr id="15" name="Text 11"/>
          <p:cNvSpPr/>
          <p:nvPr/>
        </p:nvSpPr>
        <p:spPr>
          <a:xfrm>
            <a:off x="2039112" y="2514600"/>
            <a:ext cx="1426464" cy="594360"/>
          </a:xfrm>
          <a:prstGeom prst="rect">
            <a:avLst/>
          </a:prstGeom>
          <a:noFill/>
          <a:ln/>
        </p:spPr>
        <p:txBody>
          <a:bodyPr wrap="square" rtlCol="0" anchor="ctr"/>
          <a:lstStyle/>
          <a:p>
            <a:pPr algn="ctr" indent="0" marL="0">
              <a:buNone/>
            </a:pPr>
            <a:r>
              <a:rPr lang="en-US" sz="1050" b="1" dirty="0">
                <a:solidFill>
                  <a:srgbClr val="E8A020"/>
                </a:solidFill>
                <a:latin typeface="Calibri" pitchFamily="34" charset="0"/>
                <a:ea typeface="Calibri" pitchFamily="34" charset="-122"/>
                <a:cs typeface="Calibri" pitchFamily="34" charset="-120"/>
              </a:rPr>
              <a:t>Behind-the-Scenes</a:t>
            </a:r>
            <a:endParaRPr lang="en-US" sz="1050" dirty="0"/>
          </a:p>
        </p:txBody>
      </p:sp>
      <p:sp>
        <p:nvSpPr>
          <p:cNvPr id="16" name="Text 12"/>
          <p:cNvSpPr/>
          <p:nvPr/>
        </p:nvSpPr>
        <p:spPr>
          <a:xfrm>
            <a:off x="2057400" y="3154680"/>
            <a:ext cx="1389888" cy="1554480"/>
          </a:xfrm>
          <a:prstGeom prst="rect">
            <a:avLst/>
          </a:prstGeom>
          <a:noFill/>
          <a:ln/>
        </p:spPr>
        <p:txBody>
          <a:bodyPr wrap="square" rtlCol="0" anchor="t"/>
          <a:lstStyle/>
          <a:p>
            <a:pPr algn="ctr" indent="0" marL="0">
              <a:buNone/>
            </a:pPr>
            <a:r>
              <a:rPr lang="en-US" sz="950" dirty="0">
                <a:solidFill>
                  <a:srgbClr val="CCCCCC"/>
                </a:solidFill>
                <a:latin typeface="Calibri" pitchFamily="34" charset="0"/>
                <a:ea typeface="Calibri" pitchFamily="34" charset="-122"/>
                <a:cs typeface="Calibri" pitchFamily="34" charset="-120"/>
              </a:rPr>
              <a:t>Kitchen prep, sauce mixing, team energy. Shows authenticity and builds trust in food quality.</a:t>
            </a:r>
            <a:endParaRPr lang="en-US" sz="950" dirty="0"/>
          </a:p>
        </p:txBody>
      </p:sp>
      <p:sp>
        <p:nvSpPr>
          <p:cNvPr id="17" name="Shape 13"/>
          <p:cNvSpPr/>
          <p:nvPr/>
        </p:nvSpPr>
        <p:spPr>
          <a:xfrm>
            <a:off x="3703320" y="1417320"/>
            <a:ext cx="1572768" cy="3383280"/>
          </a:xfrm>
          <a:prstGeom prst="rect">
            <a:avLst/>
          </a:prstGeom>
          <a:solidFill>
            <a:srgbClr val="303030"/>
          </a:solidFill>
          <a:ln w="19050">
            <a:solidFill>
              <a:srgbClr val="4A7C59"/>
            </a:solidFill>
            <a:prstDash val="solid"/>
          </a:ln>
        </p:spPr>
      </p:sp>
      <p:sp>
        <p:nvSpPr>
          <p:cNvPr id="18" name="Shape 14"/>
          <p:cNvSpPr/>
          <p:nvPr/>
        </p:nvSpPr>
        <p:spPr>
          <a:xfrm>
            <a:off x="3703320" y="1417320"/>
            <a:ext cx="1572768" cy="640080"/>
          </a:xfrm>
          <a:prstGeom prst="rect">
            <a:avLst/>
          </a:prstGeom>
          <a:solidFill>
            <a:srgbClr val="4A7C59"/>
          </a:solidFill>
          <a:ln w="12700">
            <a:solidFill>
              <a:srgbClr val="4A7C59"/>
            </a:solidFill>
            <a:prstDash val="solid"/>
          </a:ln>
        </p:spPr>
      </p:sp>
      <p:pic>
        <p:nvPicPr>
          <p:cNvPr id="19" name="Image 2" descr="preencoded.png">    </p:cNvPr>
          <p:cNvPicPr>
            <a:picLocks noChangeAspect="1"/>
          </p:cNvPicPr>
          <p:nvPr/>
        </p:nvPicPr>
        <p:blipFill>
          <a:blip r:embed="rId3"/>
          <a:stretch>
            <a:fillRect/>
          </a:stretch>
        </p:blipFill>
        <p:spPr>
          <a:xfrm>
            <a:off x="4261104" y="1508760"/>
            <a:ext cx="457200" cy="457200"/>
          </a:xfrm>
          <a:prstGeom prst="rect">
            <a:avLst/>
          </a:prstGeom>
        </p:spPr>
      </p:pic>
      <p:sp>
        <p:nvSpPr>
          <p:cNvPr id="20" name="Text 15"/>
          <p:cNvSpPr/>
          <p:nvPr/>
        </p:nvSpPr>
        <p:spPr>
          <a:xfrm>
            <a:off x="3776472" y="2148840"/>
            <a:ext cx="1426464" cy="384048"/>
          </a:xfrm>
          <a:prstGeom prst="rect">
            <a:avLst/>
          </a:prstGeom>
          <a:noFill/>
          <a:ln/>
        </p:spPr>
        <p:txBody>
          <a:bodyPr wrap="square" rtlCol="0" anchor="ctr"/>
          <a:lstStyle/>
          <a:p>
            <a:pPr algn="ctr" indent="0" marL="0">
              <a:buNone/>
            </a:pPr>
            <a:r>
              <a:rPr lang="en-US" sz="2400" b="1" dirty="0">
                <a:solidFill>
                  <a:srgbClr val="4A7C59"/>
                </a:solidFill>
                <a:latin typeface="Calibri" pitchFamily="34" charset="0"/>
                <a:ea typeface="Calibri" pitchFamily="34" charset="-122"/>
                <a:cs typeface="Calibri" pitchFamily="34" charset="-120"/>
              </a:rPr>
              <a:t>3</a:t>
            </a:r>
            <a:endParaRPr lang="en-US" sz="2400" dirty="0"/>
          </a:p>
        </p:txBody>
      </p:sp>
      <p:sp>
        <p:nvSpPr>
          <p:cNvPr id="21" name="Text 16"/>
          <p:cNvSpPr/>
          <p:nvPr/>
        </p:nvSpPr>
        <p:spPr>
          <a:xfrm>
            <a:off x="3776472" y="2514600"/>
            <a:ext cx="1426464" cy="594360"/>
          </a:xfrm>
          <a:prstGeom prst="rect">
            <a:avLst/>
          </a:prstGeom>
          <a:noFill/>
          <a:ln/>
        </p:spPr>
        <p:txBody>
          <a:bodyPr wrap="square" rtlCol="0" anchor="ctr"/>
          <a:lstStyle/>
          <a:p>
            <a:pPr algn="ctr" indent="0" marL="0">
              <a:buNone/>
            </a:pPr>
            <a:r>
              <a:rPr lang="en-US" sz="1050" b="1" dirty="0">
                <a:solidFill>
                  <a:srgbClr val="E8A020"/>
                </a:solidFill>
                <a:latin typeface="Calibri" pitchFamily="34" charset="0"/>
                <a:ea typeface="Calibri" pitchFamily="34" charset="-122"/>
                <a:cs typeface="Calibri" pitchFamily="34" charset="-120"/>
              </a:rPr>
              <a:t>Founder Stories</a:t>
            </a:r>
            <a:endParaRPr lang="en-US" sz="1050" dirty="0"/>
          </a:p>
        </p:txBody>
      </p:sp>
      <p:sp>
        <p:nvSpPr>
          <p:cNvPr id="22" name="Text 17"/>
          <p:cNvSpPr/>
          <p:nvPr/>
        </p:nvSpPr>
        <p:spPr>
          <a:xfrm>
            <a:off x="3794760" y="3154680"/>
            <a:ext cx="1389888" cy="1554480"/>
          </a:xfrm>
          <a:prstGeom prst="rect">
            <a:avLst/>
          </a:prstGeom>
          <a:noFill/>
          <a:ln/>
        </p:spPr>
        <p:txBody>
          <a:bodyPr wrap="square" rtlCol="0" anchor="t"/>
          <a:lstStyle/>
          <a:p>
            <a:pPr algn="ctr" indent="0" marL="0">
              <a:buNone/>
            </a:pPr>
            <a:r>
              <a:rPr lang="en-US" sz="950" dirty="0">
                <a:solidFill>
                  <a:srgbClr val="CCCCCC"/>
                </a:solidFill>
                <a:latin typeface="Calibri" pitchFamily="34" charset="0"/>
                <a:ea typeface="Calibri" pitchFamily="34" charset="-122"/>
                <a:cs typeface="Calibri" pitchFamily="34" charset="-120"/>
              </a:rPr>
              <a:t>Karan and Rohit's journey, why they started, what drives them. Humanises the brand.</a:t>
            </a:r>
            <a:endParaRPr lang="en-US" sz="950" dirty="0"/>
          </a:p>
        </p:txBody>
      </p:sp>
      <p:sp>
        <p:nvSpPr>
          <p:cNvPr id="23" name="Shape 18"/>
          <p:cNvSpPr/>
          <p:nvPr/>
        </p:nvSpPr>
        <p:spPr>
          <a:xfrm>
            <a:off x="5440680" y="1417320"/>
            <a:ext cx="1572768" cy="3383280"/>
          </a:xfrm>
          <a:prstGeom prst="rect">
            <a:avLst/>
          </a:prstGeom>
          <a:solidFill>
            <a:srgbClr val="303030"/>
          </a:solidFill>
          <a:ln w="19050">
            <a:solidFill>
              <a:srgbClr val="D4890A"/>
            </a:solidFill>
            <a:prstDash val="solid"/>
          </a:ln>
        </p:spPr>
      </p:sp>
      <p:sp>
        <p:nvSpPr>
          <p:cNvPr id="24" name="Shape 19"/>
          <p:cNvSpPr/>
          <p:nvPr/>
        </p:nvSpPr>
        <p:spPr>
          <a:xfrm>
            <a:off x="5440680" y="1417320"/>
            <a:ext cx="1572768" cy="640080"/>
          </a:xfrm>
          <a:prstGeom prst="rect">
            <a:avLst/>
          </a:prstGeom>
          <a:solidFill>
            <a:srgbClr val="D4890A"/>
          </a:solidFill>
          <a:ln w="12700">
            <a:solidFill>
              <a:srgbClr val="D4890A"/>
            </a:solidFill>
            <a:prstDash val="solid"/>
          </a:ln>
        </p:spPr>
      </p:sp>
      <p:pic>
        <p:nvPicPr>
          <p:cNvPr id="25" name="Image 3" descr="preencoded.png">    </p:cNvPr>
          <p:cNvPicPr>
            <a:picLocks noChangeAspect="1"/>
          </p:cNvPicPr>
          <p:nvPr/>
        </p:nvPicPr>
        <p:blipFill>
          <a:blip r:embed="rId4"/>
          <a:stretch>
            <a:fillRect/>
          </a:stretch>
        </p:blipFill>
        <p:spPr>
          <a:xfrm>
            <a:off x="5998464" y="1508760"/>
            <a:ext cx="457200" cy="457200"/>
          </a:xfrm>
          <a:prstGeom prst="rect">
            <a:avLst/>
          </a:prstGeom>
        </p:spPr>
      </p:pic>
      <p:sp>
        <p:nvSpPr>
          <p:cNvPr id="26" name="Text 20"/>
          <p:cNvSpPr/>
          <p:nvPr/>
        </p:nvSpPr>
        <p:spPr>
          <a:xfrm>
            <a:off x="5513832" y="2148840"/>
            <a:ext cx="1426464" cy="384048"/>
          </a:xfrm>
          <a:prstGeom prst="rect">
            <a:avLst/>
          </a:prstGeom>
          <a:noFill/>
          <a:ln/>
        </p:spPr>
        <p:txBody>
          <a:bodyPr wrap="square" rtlCol="0" anchor="ctr"/>
          <a:lstStyle/>
          <a:p>
            <a:pPr algn="ctr" indent="0" marL="0">
              <a:buNone/>
            </a:pPr>
            <a:r>
              <a:rPr lang="en-US" sz="2400" b="1" dirty="0">
                <a:solidFill>
                  <a:srgbClr val="D4890A"/>
                </a:solidFill>
                <a:latin typeface="Calibri" pitchFamily="34" charset="0"/>
                <a:ea typeface="Calibri" pitchFamily="34" charset="-122"/>
                <a:cs typeface="Calibri" pitchFamily="34" charset="-120"/>
              </a:rPr>
              <a:t>4</a:t>
            </a:r>
            <a:endParaRPr lang="en-US" sz="2400" dirty="0"/>
          </a:p>
        </p:txBody>
      </p:sp>
      <p:sp>
        <p:nvSpPr>
          <p:cNvPr id="27" name="Text 21"/>
          <p:cNvSpPr/>
          <p:nvPr/>
        </p:nvSpPr>
        <p:spPr>
          <a:xfrm>
            <a:off x="5513832" y="2514600"/>
            <a:ext cx="1426464" cy="594360"/>
          </a:xfrm>
          <a:prstGeom prst="rect">
            <a:avLst/>
          </a:prstGeom>
          <a:noFill/>
          <a:ln/>
        </p:spPr>
        <p:txBody>
          <a:bodyPr wrap="square" rtlCol="0" anchor="ctr"/>
          <a:lstStyle/>
          <a:p>
            <a:pPr algn="ctr" indent="0" marL="0">
              <a:buNone/>
            </a:pPr>
            <a:r>
              <a:rPr lang="en-US" sz="1050" b="1" dirty="0">
                <a:solidFill>
                  <a:srgbClr val="E8A020"/>
                </a:solidFill>
                <a:latin typeface="Calibri" pitchFamily="34" charset="0"/>
                <a:ea typeface="Calibri" pitchFamily="34" charset="-122"/>
                <a:cs typeface="Calibri" pitchFamily="34" charset="-120"/>
              </a:rPr>
              <a:t>Offers &amp; Combos</a:t>
            </a:r>
            <a:endParaRPr lang="en-US" sz="1050" dirty="0"/>
          </a:p>
        </p:txBody>
      </p:sp>
      <p:sp>
        <p:nvSpPr>
          <p:cNvPr id="28" name="Text 22"/>
          <p:cNvSpPr/>
          <p:nvPr/>
        </p:nvSpPr>
        <p:spPr>
          <a:xfrm>
            <a:off x="5532120" y="3154680"/>
            <a:ext cx="1389888" cy="1554480"/>
          </a:xfrm>
          <a:prstGeom prst="rect">
            <a:avLst/>
          </a:prstGeom>
          <a:noFill/>
          <a:ln/>
        </p:spPr>
        <p:txBody>
          <a:bodyPr wrap="square" rtlCol="0" anchor="t"/>
          <a:lstStyle/>
          <a:p>
            <a:pPr algn="ctr" indent="0" marL="0">
              <a:buNone/>
            </a:pPr>
            <a:r>
              <a:rPr lang="en-US" sz="950" dirty="0">
                <a:solidFill>
                  <a:srgbClr val="CCCCCC"/>
                </a:solidFill>
                <a:latin typeface="Calibri" pitchFamily="34" charset="0"/>
                <a:ea typeface="Calibri" pitchFamily="34" charset="-122"/>
                <a:cs typeface="Calibri" pitchFamily="34" charset="-120"/>
              </a:rPr>
              <a:t>Lunch combos, student deals, weekend specials. Drives immediate footfall and orders.</a:t>
            </a:r>
            <a:endParaRPr lang="en-US" sz="950" dirty="0"/>
          </a:p>
        </p:txBody>
      </p:sp>
      <p:sp>
        <p:nvSpPr>
          <p:cNvPr id="29" name="Shape 23"/>
          <p:cNvSpPr/>
          <p:nvPr/>
        </p:nvSpPr>
        <p:spPr>
          <a:xfrm>
            <a:off x="7178040" y="1417320"/>
            <a:ext cx="1572768" cy="3383280"/>
          </a:xfrm>
          <a:prstGeom prst="rect">
            <a:avLst/>
          </a:prstGeom>
          <a:solidFill>
            <a:srgbClr val="303030"/>
          </a:solidFill>
          <a:ln w="19050">
            <a:solidFill>
              <a:srgbClr val="7B2D8B"/>
            </a:solidFill>
            <a:prstDash val="solid"/>
          </a:ln>
        </p:spPr>
      </p:sp>
      <p:sp>
        <p:nvSpPr>
          <p:cNvPr id="30" name="Shape 24"/>
          <p:cNvSpPr/>
          <p:nvPr/>
        </p:nvSpPr>
        <p:spPr>
          <a:xfrm>
            <a:off x="7178040" y="1417320"/>
            <a:ext cx="1572768" cy="640080"/>
          </a:xfrm>
          <a:prstGeom prst="rect">
            <a:avLst/>
          </a:prstGeom>
          <a:solidFill>
            <a:srgbClr val="7B2D8B"/>
          </a:solidFill>
          <a:ln w="12700">
            <a:solidFill>
              <a:srgbClr val="7B2D8B"/>
            </a:solidFill>
            <a:prstDash val="solid"/>
          </a:ln>
        </p:spPr>
      </p:sp>
      <p:pic>
        <p:nvPicPr>
          <p:cNvPr id="31" name="Image 4" descr="preencoded.png">    </p:cNvPr>
          <p:cNvPicPr>
            <a:picLocks noChangeAspect="1"/>
          </p:cNvPicPr>
          <p:nvPr/>
        </p:nvPicPr>
        <p:blipFill>
          <a:blip r:embed="rId5"/>
          <a:stretch>
            <a:fillRect/>
          </a:stretch>
        </p:blipFill>
        <p:spPr>
          <a:xfrm>
            <a:off x="7735824" y="1508760"/>
            <a:ext cx="457200" cy="457200"/>
          </a:xfrm>
          <a:prstGeom prst="rect">
            <a:avLst/>
          </a:prstGeom>
        </p:spPr>
      </p:pic>
      <p:sp>
        <p:nvSpPr>
          <p:cNvPr id="32" name="Text 25"/>
          <p:cNvSpPr/>
          <p:nvPr/>
        </p:nvSpPr>
        <p:spPr>
          <a:xfrm>
            <a:off x="7251192" y="2148840"/>
            <a:ext cx="1426464" cy="384048"/>
          </a:xfrm>
          <a:prstGeom prst="rect">
            <a:avLst/>
          </a:prstGeom>
          <a:noFill/>
          <a:ln/>
        </p:spPr>
        <p:txBody>
          <a:bodyPr wrap="square" rtlCol="0" anchor="ctr"/>
          <a:lstStyle/>
          <a:p>
            <a:pPr algn="ctr" indent="0" marL="0">
              <a:buNone/>
            </a:pPr>
            <a:r>
              <a:rPr lang="en-US" sz="2400" b="1" dirty="0">
                <a:solidFill>
                  <a:srgbClr val="7B2D8B"/>
                </a:solidFill>
                <a:latin typeface="Calibri" pitchFamily="34" charset="0"/>
                <a:ea typeface="Calibri" pitchFamily="34" charset="-122"/>
                <a:cs typeface="Calibri" pitchFamily="34" charset="-120"/>
              </a:rPr>
              <a:t>5</a:t>
            </a:r>
            <a:endParaRPr lang="en-US" sz="2400" dirty="0"/>
          </a:p>
        </p:txBody>
      </p:sp>
      <p:sp>
        <p:nvSpPr>
          <p:cNvPr id="33" name="Text 26"/>
          <p:cNvSpPr/>
          <p:nvPr/>
        </p:nvSpPr>
        <p:spPr>
          <a:xfrm>
            <a:off x="7251192" y="2514600"/>
            <a:ext cx="1426464" cy="594360"/>
          </a:xfrm>
          <a:prstGeom prst="rect">
            <a:avLst/>
          </a:prstGeom>
          <a:noFill/>
          <a:ln/>
        </p:spPr>
        <p:txBody>
          <a:bodyPr wrap="square" rtlCol="0" anchor="ctr"/>
          <a:lstStyle/>
          <a:p>
            <a:pPr algn="ctr" indent="0" marL="0">
              <a:buNone/>
            </a:pPr>
            <a:r>
              <a:rPr lang="en-US" sz="1050" b="1" dirty="0">
                <a:solidFill>
                  <a:srgbClr val="E8A020"/>
                </a:solidFill>
                <a:latin typeface="Calibri" pitchFamily="34" charset="0"/>
                <a:ea typeface="Calibri" pitchFamily="34" charset="-122"/>
                <a:cs typeface="Calibri" pitchFamily="34" charset="-120"/>
              </a:rPr>
              <a:t>Customer UGC &amp; Reviews</a:t>
            </a:r>
            <a:endParaRPr lang="en-US" sz="1050" dirty="0"/>
          </a:p>
        </p:txBody>
      </p:sp>
      <p:sp>
        <p:nvSpPr>
          <p:cNvPr id="34" name="Text 27"/>
          <p:cNvSpPr/>
          <p:nvPr/>
        </p:nvSpPr>
        <p:spPr>
          <a:xfrm>
            <a:off x="7269480" y="3154680"/>
            <a:ext cx="1389888" cy="1554480"/>
          </a:xfrm>
          <a:prstGeom prst="rect">
            <a:avLst/>
          </a:prstGeom>
          <a:noFill/>
          <a:ln/>
        </p:spPr>
        <p:txBody>
          <a:bodyPr wrap="square" rtlCol="0" anchor="t"/>
          <a:lstStyle/>
          <a:p>
            <a:pPr algn="ctr" indent="0" marL="0">
              <a:buNone/>
            </a:pPr>
            <a:r>
              <a:rPr lang="en-US" sz="950" dirty="0">
                <a:solidFill>
                  <a:srgbClr val="CCCCCC"/>
                </a:solidFill>
                <a:latin typeface="Calibri" pitchFamily="34" charset="0"/>
                <a:ea typeface="Calibri" pitchFamily="34" charset="-122"/>
                <a:cs typeface="Calibri" pitchFamily="34" charset="-120"/>
              </a:rPr>
              <a:t>Real customer photos, reels, testimonials. Social proof is the most credible content.</a:t>
            </a:r>
            <a:endParaRPr lang="en-US" sz="950" dirty="0"/>
          </a:p>
        </p:txBody>
      </p:sp>
      <p:sp>
        <p:nvSpPr>
          <p:cNvPr id="35" name="Text 28"/>
          <p:cNvSpPr/>
          <p:nvPr/>
        </p:nvSpPr>
        <p:spPr>
          <a:xfrm>
            <a:off x="274320" y="4892040"/>
            <a:ext cx="7680960" cy="182880"/>
          </a:xfrm>
          <a:prstGeom prst="rect">
            <a:avLst/>
          </a:prstGeom>
          <a:noFill/>
          <a:ln/>
        </p:spPr>
        <p:txBody>
          <a:bodyPr wrap="square" rtlCol="0" anchor="ctr"/>
          <a:lstStyle/>
          <a:p>
            <a:pPr algn="l" indent="0" marL="0">
              <a:buNone/>
            </a:pPr>
            <a:r>
              <a:rPr lang="en-US" sz="800" dirty="0">
                <a:solidFill>
                  <a:srgbClr val="AAAAAA"/>
                </a:solidFill>
                <a:latin typeface="Calibri" pitchFamily="34" charset="0"/>
                <a:ea typeface="Calibri" pitchFamily="34" charset="-122"/>
                <a:cs typeface="Calibri" pitchFamily="34" charset="-120"/>
              </a:rPr>
              <a:t>Noodle House  |  Facebook Marketing Strategy</a:t>
            </a:r>
            <a:endParaRPr lang="en-US" sz="800" dirty="0"/>
          </a:p>
        </p:txBody>
      </p:sp>
      <p:sp>
        <p:nvSpPr>
          <p:cNvPr id="36" name="Text 29"/>
          <p:cNvSpPr/>
          <p:nvPr/>
        </p:nvSpPr>
        <p:spPr>
          <a:xfrm>
            <a:off x="8595360" y="4892040"/>
            <a:ext cx="365760" cy="182880"/>
          </a:xfrm>
          <a:prstGeom prst="rect">
            <a:avLst/>
          </a:prstGeom>
          <a:noFill/>
          <a:ln/>
        </p:spPr>
        <p:txBody>
          <a:bodyPr wrap="square"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F6EC"/>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8B1A1A"/>
          </a:solidFill>
          <a:ln w="12700">
            <a:solidFill>
              <a:srgbClr val="8B1A1A"/>
            </a:solidFill>
            <a:prstDash val="solid"/>
          </a:ln>
        </p:spPr>
      </p:sp>
      <p:sp>
        <p:nvSpPr>
          <p:cNvPr id="3" name="Text 1"/>
          <p:cNvSpPr/>
          <p:nvPr/>
        </p:nvSpPr>
        <p:spPr>
          <a:xfrm>
            <a:off x="365760" y="0"/>
            <a:ext cx="8412480" cy="8686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Weekly Content Calendar</a:t>
            </a:r>
            <a:endParaRPr lang="en-US" sz="2600" dirty="0"/>
          </a:p>
        </p:txBody>
      </p:sp>
      <p:sp>
        <p:nvSpPr>
          <p:cNvPr id="4" name="Text 2"/>
          <p:cNvSpPr/>
          <p:nvPr/>
        </p:nvSpPr>
        <p:spPr>
          <a:xfrm>
            <a:off x="365760" y="950976"/>
            <a:ext cx="8412480" cy="347472"/>
          </a:xfrm>
          <a:prstGeom prst="rect">
            <a:avLst/>
          </a:prstGeom>
          <a:noFill/>
          <a:ln/>
        </p:spPr>
        <p:txBody>
          <a:bodyPr wrap="square" rtlCol="0" anchor="ctr"/>
          <a:lstStyle/>
          <a:p>
            <a:pPr indent="0" marL="0">
              <a:buNone/>
            </a:pPr>
            <a:r>
              <a:rPr lang="en-US" sz="1300" i="1" dirty="0">
                <a:solidFill>
                  <a:srgbClr val="555555"/>
                </a:solidFill>
                <a:latin typeface="Calibri" pitchFamily="34" charset="0"/>
                <a:ea typeface="Calibri" pitchFamily="34" charset="-122"/>
                <a:cs typeface="Calibri" pitchFamily="34" charset="-120"/>
              </a:rPr>
              <a:t>Sample posting plan — 7 days, 7 posts, 1 consistent brand story:</a:t>
            </a:r>
            <a:endParaRPr lang="en-US" sz="1300" dirty="0"/>
          </a:p>
        </p:txBody>
      </p:sp>
      <p:sp>
        <p:nvSpPr>
          <p:cNvPr id="5" name="Shape 3"/>
          <p:cNvSpPr/>
          <p:nvPr/>
        </p:nvSpPr>
        <p:spPr>
          <a:xfrm>
            <a:off x="256032" y="1389888"/>
            <a:ext cx="1097280" cy="3474720"/>
          </a:xfrm>
          <a:prstGeom prst="rect">
            <a:avLst/>
          </a:prstGeom>
          <a:solidFill>
            <a:srgbClr val="FFFFFF"/>
          </a:solidFill>
          <a:ln w="6350">
            <a:solidFill>
              <a:srgbClr val="DDDDDD"/>
            </a:solidFill>
            <a:prstDash val="solid"/>
          </a:ln>
          <a:effectLst>
            <a:outerShdw sx="100000" sy="100000" kx="0" ky="0" algn="bl" rotWithShape="0" blurRad="50800" dist="12700" dir="8100000">
              <a:srgbClr val="000000">
                <a:alpha val="8000"/>
              </a:srgbClr>
            </a:outerShdw>
          </a:effectLst>
        </p:spPr>
      </p:sp>
      <p:sp>
        <p:nvSpPr>
          <p:cNvPr id="6" name="Shape 4"/>
          <p:cNvSpPr/>
          <p:nvPr/>
        </p:nvSpPr>
        <p:spPr>
          <a:xfrm>
            <a:off x="256032" y="1389888"/>
            <a:ext cx="1097280" cy="475488"/>
          </a:xfrm>
          <a:prstGeom prst="rect">
            <a:avLst/>
          </a:prstGeom>
          <a:solidFill>
            <a:srgbClr val="8B1A1A"/>
          </a:solidFill>
          <a:ln w="12700">
            <a:solidFill>
              <a:srgbClr val="8B1A1A"/>
            </a:solidFill>
            <a:prstDash val="solid"/>
          </a:ln>
        </p:spPr>
      </p:sp>
      <p:sp>
        <p:nvSpPr>
          <p:cNvPr id="7" name="Text 5"/>
          <p:cNvSpPr/>
          <p:nvPr/>
        </p:nvSpPr>
        <p:spPr>
          <a:xfrm>
            <a:off x="256032" y="1389888"/>
            <a:ext cx="1097280" cy="47548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MON</a:t>
            </a:r>
            <a:endParaRPr lang="en-US" sz="1300" dirty="0"/>
          </a:p>
        </p:txBody>
      </p:sp>
      <p:sp>
        <p:nvSpPr>
          <p:cNvPr id="8" name="Text 6"/>
          <p:cNvSpPr/>
          <p:nvPr/>
        </p:nvSpPr>
        <p:spPr>
          <a:xfrm>
            <a:off x="256032" y="1920240"/>
            <a:ext cx="1097280" cy="347472"/>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9" name="Text 7"/>
          <p:cNvSpPr/>
          <p:nvPr/>
        </p:nvSpPr>
        <p:spPr>
          <a:xfrm>
            <a:off x="310896" y="2286000"/>
            <a:ext cx="987552" cy="502920"/>
          </a:xfrm>
          <a:prstGeom prst="rect">
            <a:avLst/>
          </a:prstGeom>
          <a:noFill/>
          <a:ln/>
        </p:spPr>
        <p:txBody>
          <a:bodyPr wrap="square" rtlCol="0" anchor="ctr"/>
          <a:lstStyle/>
          <a:p>
            <a:pPr algn="ctr" indent="0" marL="0">
              <a:buNone/>
            </a:pPr>
            <a:r>
              <a:rPr lang="en-US" sz="950" b="1" dirty="0">
                <a:solidFill>
                  <a:srgbClr val="8B1A1A"/>
                </a:solidFill>
                <a:latin typeface="Calibri" pitchFamily="34" charset="0"/>
                <a:ea typeface="Calibri" pitchFamily="34" charset="-122"/>
                <a:cs typeface="Calibri" pitchFamily="34" charset="-120"/>
              </a:rPr>
              <a:t>Menu Highlight</a:t>
            </a:r>
            <a:endParaRPr lang="en-US" sz="950" dirty="0"/>
          </a:p>
        </p:txBody>
      </p:sp>
      <p:sp>
        <p:nvSpPr>
          <p:cNvPr id="10" name="Text 8"/>
          <p:cNvSpPr/>
          <p:nvPr/>
        </p:nvSpPr>
        <p:spPr>
          <a:xfrm>
            <a:off x="310896" y="2834640"/>
            <a:ext cx="987552" cy="1417320"/>
          </a:xfrm>
          <a:prstGeom prst="rect">
            <a:avLst/>
          </a:prstGeom>
          <a:noFill/>
          <a:ln/>
        </p:spPr>
        <p:txBody>
          <a:bodyPr wrap="square" rtlCol="0" anchor="t"/>
          <a:lstStyle/>
          <a:p>
            <a:pPr indent="0" marL="0">
              <a:buNone/>
            </a:pPr>
            <a:r>
              <a:rPr lang="en-US" sz="850" dirty="0">
                <a:solidFill>
                  <a:srgbClr val="555555"/>
                </a:solidFill>
                <a:latin typeface="Calibri" pitchFamily="34" charset="0"/>
                <a:ea typeface="Calibri" pitchFamily="34" charset="-122"/>
                <a:cs typeface="Calibri" pitchFamily="34" charset="-120"/>
              </a:rPr>
              <a:t>Signature noodle bowl photo with ingredients &amp; price. Caption: 'Monday just got better.' Tag: #NoodleHouseMumbai</a:t>
            </a:r>
            <a:endParaRPr lang="en-US" sz="850" dirty="0"/>
          </a:p>
        </p:txBody>
      </p:sp>
      <p:sp>
        <p:nvSpPr>
          <p:cNvPr id="11" name="Shape 9"/>
          <p:cNvSpPr/>
          <p:nvPr/>
        </p:nvSpPr>
        <p:spPr>
          <a:xfrm>
            <a:off x="310896" y="4315968"/>
            <a:ext cx="987552" cy="256032"/>
          </a:xfrm>
          <a:prstGeom prst="rect">
            <a:avLst/>
          </a:prstGeom>
          <a:solidFill>
            <a:srgbClr val="8B1A1A"/>
          </a:solidFill>
          <a:ln w="12700">
            <a:solidFill>
              <a:srgbClr val="8B1A1A"/>
            </a:solidFill>
            <a:prstDash val="solid"/>
          </a:ln>
        </p:spPr>
      </p:sp>
      <p:sp>
        <p:nvSpPr>
          <p:cNvPr id="12" name="Text 10"/>
          <p:cNvSpPr/>
          <p:nvPr/>
        </p:nvSpPr>
        <p:spPr>
          <a:xfrm>
            <a:off x="310896" y="4315968"/>
            <a:ext cx="98755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Hero Food</a:t>
            </a:r>
            <a:endParaRPr lang="en-US" sz="800" dirty="0"/>
          </a:p>
        </p:txBody>
      </p:sp>
      <p:sp>
        <p:nvSpPr>
          <p:cNvPr id="13" name="Shape 11"/>
          <p:cNvSpPr/>
          <p:nvPr/>
        </p:nvSpPr>
        <p:spPr>
          <a:xfrm>
            <a:off x="1490472" y="1389888"/>
            <a:ext cx="1097280" cy="3474720"/>
          </a:xfrm>
          <a:prstGeom prst="rect">
            <a:avLst/>
          </a:prstGeom>
          <a:solidFill>
            <a:srgbClr val="FFFFFF"/>
          </a:solidFill>
          <a:ln w="6350">
            <a:solidFill>
              <a:srgbClr val="DDDDDD"/>
            </a:solidFill>
            <a:prstDash val="solid"/>
          </a:ln>
          <a:effectLst>
            <a:outerShdw sx="100000" sy="100000" kx="0" ky="0" algn="bl" rotWithShape="0" blurRad="50800" dist="12700" dir="8100000">
              <a:srgbClr val="000000">
                <a:alpha val="8000"/>
              </a:srgbClr>
            </a:outerShdw>
          </a:effectLst>
        </p:spPr>
      </p:sp>
      <p:sp>
        <p:nvSpPr>
          <p:cNvPr id="14" name="Shape 12"/>
          <p:cNvSpPr/>
          <p:nvPr/>
        </p:nvSpPr>
        <p:spPr>
          <a:xfrm>
            <a:off x="1490472" y="1389888"/>
            <a:ext cx="1097280" cy="475488"/>
          </a:xfrm>
          <a:prstGeom prst="rect">
            <a:avLst/>
          </a:prstGeom>
          <a:solidFill>
            <a:srgbClr val="1877F2"/>
          </a:solidFill>
          <a:ln w="12700">
            <a:solidFill>
              <a:srgbClr val="1877F2"/>
            </a:solidFill>
            <a:prstDash val="solid"/>
          </a:ln>
        </p:spPr>
      </p:sp>
      <p:sp>
        <p:nvSpPr>
          <p:cNvPr id="15" name="Text 13"/>
          <p:cNvSpPr/>
          <p:nvPr/>
        </p:nvSpPr>
        <p:spPr>
          <a:xfrm>
            <a:off x="1490472" y="1389888"/>
            <a:ext cx="1097280" cy="47548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TUE</a:t>
            </a:r>
            <a:endParaRPr lang="en-US" sz="1300" dirty="0"/>
          </a:p>
        </p:txBody>
      </p:sp>
      <p:sp>
        <p:nvSpPr>
          <p:cNvPr id="16" name="Text 14"/>
          <p:cNvSpPr/>
          <p:nvPr/>
        </p:nvSpPr>
        <p:spPr>
          <a:xfrm>
            <a:off x="1490472" y="1920240"/>
            <a:ext cx="1097280" cy="347472"/>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7" name="Text 15"/>
          <p:cNvSpPr/>
          <p:nvPr/>
        </p:nvSpPr>
        <p:spPr>
          <a:xfrm>
            <a:off x="1545336" y="2286000"/>
            <a:ext cx="987552" cy="502920"/>
          </a:xfrm>
          <a:prstGeom prst="rect">
            <a:avLst/>
          </a:prstGeom>
          <a:noFill/>
          <a:ln/>
        </p:spPr>
        <p:txBody>
          <a:bodyPr wrap="square" rtlCol="0" anchor="ctr"/>
          <a:lstStyle/>
          <a:p>
            <a:pPr algn="ctr" indent="0" marL="0">
              <a:buNone/>
            </a:pPr>
            <a:r>
              <a:rPr lang="en-US" sz="950" b="1" dirty="0">
                <a:solidFill>
                  <a:srgbClr val="1877F2"/>
                </a:solidFill>
                <a:latin typeface="Calibri" pitchFamily="34" charset="0"/>
                <a:ea typeface="Calibri" pitchFamily="34" charset="-122"/>
                <a:cs typeface="Calibri" pitchFamily="34" charset="-120"/>
              </a:rPr>
              <a:t>Behind-the-Scenes</a:t>
            </a:r>
            <a:endParaRPr lang="en-US" sz="950" dirty="0"/>
          </a:p>
        </p:txBody>
      </p:sp>
      <p:sp>
        <p:nvSpPr>
          <p:cNvPr id="18" name="Text 16"/>
          <p:cNvSpPr/>
          <p:nvPr/>
        </p:nvSpPr>
        <p:spPr>
          <a:xfrm>
            <a:off x="1545336" y="2834640"/>
            <a:ext cx="987552" cy="1417320"/>
          </a:xfrm>
          <a:prstGeom prst="rect">
            <a:avLst/>
          </a:prstGeom>
          <a:noFill/>
          <a:ln/>
        </p:spPr>
        <p:txBody>
          <a:bodyPr wrap="square" rtlCol="0" anchor="t"/>
          <a:lstStyle/>
          <a:p>
            <a:pPr indent="0" marL="0">
              <a:buNone/>
            </a:pPr>
            <a:r>
              <a:rPr lang="en-US" sz="850" dirty="0">
                <a:solidFill>
                  <a:srgbClr val="555555"/>
                </a:solidFill>
                <a:latin typeface="Calibri" pitchFamily="34" charset="0"/>
                <a:ea typeface="Calibri" pitchFamily="34" charset="-122"/>
                <a:cs typeface="Calibri" pitchFamily="34" charset="-120"/>
              </a:rPr>
              <a:t>30-second kitchen prep reel. Show the team, the steam, the energy. Caption: 'Fresh every single day.'</a:t>
            </a:r>
            <a:endParaRPr lang="en-US" sz="850" dirty="0"/>
          </a:p>
        </p:txBody>
      </p:sp>
      <p:sp>
        <p:nvSpPr>
          <p:cNvPr id="19" name="Shape 17"/>
          <p:cNvSpPr/>
          <p:nvPr/>
        </p:nvSpPr>
        <p:spPr>
          <a:xfrm>
            <a:off x="1545336" y="4315968"/>
            <a:ext cx="987552" cy="256032"/>
          </a:xfrm>
          <a:prstGeom prst="rect">
            <a:avLst/>
          </a:prstGeom>
          <a:solidFill>
            <a:srgbClr val="1877F2"/>
          </a:solidFill>
          <a:ln w="12700">
            <a:solidFill>
              <a:srgbClr val="1877F2"/>
            </a:solidFill>
            <a:prstDash val="solid"/>
          </a:ln>
        </p:spPr>
      </p:sp>
      <p:sp>
        <p:nvSpPr>
          <p:cNvPr id="20" name="Text 18"/>
          <p:cNvSpPr/>
          <p:nvPr/>
        </p:nvSpPr>
        <p:spPr>
          <a:xfrm>
            <a:off x="1545336" y="4315968"/>
            <a:ext cx="98755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BTS</a:t>
            </a:r>
            <a:endParaRPr lang="en-US" sz="800" dirty="0"/>
          </a:p>
        </p:txBody>
      </p:sp>
      <p:sp>
        <p:nvSpPr>
          <p:cNvPr id="21" name="Shape 19"/>
          <p:cNvSpPr/>
          <p:nvPr/>
        </p:nvSpPr>
        <p:spPr>
          <a:xfrm>
            <a:off x="2724912" y="1389888"/>
            <a:ext cx="1097280" cy="3474720"/>
          </a:xfrm>
          <a:prstGeom prst="rect">
            <a:avLst/>
          </a:prstGeom>
          <a:solidFill>
            <a:srgbClr val="FFFFFF"/>
          </a:solidFill>
          <a:ln w="6350">
            <a:solidFill>
              <a:srgbClr val="DDDDDD"/>
            </a:solidFill>
            <a:prstDash val="solid"/>
          </a:ln>
          <a:effectLst>
            <a:outerShdw sx="100000" sy="100000" kx="0" ky="0" algn="bl" rotWithShape="0" blurRad="50800" dist="12700" dir="8100000">
              <a:srgbClr val="000000">
                <a:alpha val="8000"/>
              </a:srgbClr>
            </a:outerShdw>
          </a:effectLst>
        </p:spPr>
      </p:sp>
      <p:sp>
        <p:nvSpPr>
          <p:cNvPr id="22" name="Shape 20"/>
          <p:cNvSpPr/>
          <p:nvPr/>
        </p:nvSpPr>
        <p:spPr>
          <a:xfrm>
            <a:off x="2724912" y="1389888"/>
            <a:ext cx="1097280" cy="475488"/>
          </a:xfrm>
          <a:prstGeom prst="rect">
            <a:avLst/>
          </a:prstGeom>
          <a:solidFill>
            <a:srgbClr val="4A7C59"/>
          </a:solidFill>
          <a:ln w="12700">
            <a:solidFill>
              <a:srgbClr val="4A7C59"/>
            </a:solidFill>
            <a:prstDash val="solid"/>
          </a:ln>
        </p:spPr>
      </p:sp>
      <p:sp>
        <p:nvSpPr>
          <p:cNvPr id="23" name="Text 21"/>
          <p:cNvSpPr/>
          <p:nvPr/>
        </p:nvSpPr>
        <p:spPr>
          <a:xfrm>
            <a:off x="2724912" y="1389888"/>
            <a:ext cx="1097280" cy="47548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WED</a:t>
            </a:r>
            <a:endParaRPr lang="en-US" sz="1300" dirty="0"/>
          </a:p>
        </p:txBody>
      </p:sp>
      <p:sp>
        <p:nvSpPr>
          <p:cNvPr id="24" name="Text 22"/>
          <p:cNvSpPr/>
          <p:nvPr/>
        </p:nvSpPr>
        <p:spPr>
          <a:xfrm>
            <a:off x="2724912" y="1920240"/>
            <a:ext cx="1097280" cy="347472"/>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25" name="Text 23"/>
          <p:cNvSpPr/>
          <p:nvPr/>
        </p:nvSpPr>
        <p:spPr>
          <a:xfrm>
            <a:off x="2779776" y="2286000"/>
            <a:ext cx="987552" cy="502920"/>
          </a:xfrm>
          <a:prstGeom prst="rect">
            <a:avLst/>
          </a:prstGeom>
          <a:noFill/>
          <a:ln/>
        </p:spPr>
        <p:txBody>
          <a:bodyPr wrap="square" rtlCol="0" anchor="ctr"/>
          <a:lstStyle/>
          <a:p>
            <a:pPr algn="ctr" indent="0" marL="0">
              <a:buNone/>
            </a:pPr>
            <a:r>
              <a:rPr lang="en-US" sz="950" b="1" dirty="0">
                <a:solidFill>
                  <a:srgbClr val="4A7C59"/>
                </a:solidFill>
                <a:latin typeface="Calibri" pitchFamily="34" charset="0"/>
                <a:ea typeface="Calibri" pitchFamily="34" charset="-122"/>
                <a:cs typeface="Calibri" pitchFamily="34" charset="-120"/>
              </a:rPr>
              <a:t>Lunch Combo Offer</a:t>
            </a:r>
            <a:endParaRPr lang="en-US" sz="950" dirty="0"/>
          </a:p>
        </p:txBody>
      </p:sp>
      <p:sp>
        <p:nvSpPr>
          <p:cNvPr id="26" name="Text 24"/>
          <p:cNvSpPr/>
          <p:nvPr/>
        </p:nvSpPr>
        <p:spPr>
          <a:xfrm>
            <a:off x="2779776" y="2834640"/>
            <a:ext cx="987552" cy="1417320"/>
          </a:xfrm>
          <a:prstGeom prst="rect">
            <a:avLst/>
          </a:prstGeom>
          <a:noFill/>
          <a:ln/>
        </p:spPr>
        <p:txBody>
          <a:bodyPr wrap="square" rtlCol="0" anchor="t"/>
          <a:lstStyle/>
          <a:p>
            <a:pPr indent="0" marL="0">
              <a:buNone/>
            </a:pPr>
            <a:r>
              <a:rPr lang="en-US" sz="850" dirty="0">
                <a:solidFill>
                  <a:srgbClr val="555555"/>
                </a:solidFill>
                <a:latin typeface="Calibri" pitchFamily="34" charset="0"/>
                <a:ea typeface="Calibri" pitchFamily="34" charset="-122"/>
                <a:cs typeface="Calibri" pitchFamily="34" charset="-120"/>
              </a:rPr>
              <a:t>Combo deal graphic. 'Noodle Bowl + Drink = ₹199 only. Today till 3pm.' Add order link.</a:t>
            </a:r>
            <a:endParaRPr lang="en-US" sz="850" dirty="0"/>
          </a:p>
        </p:txBody>
      </p:sp>
      <p:sp>
        <p:nvSpPr>
          <p:cNvPr id="27" name="Shape 25"/>
          <p:cNvSpPr/>
          <p:nvPr/>
        </p:nvSpPr>
        <p:spPr>
          <a:xfrm>
            <a:off x="2779776" y="4315968"/>
            <a:ext cx="987552" cy="256032"/>
          </a:xfrm>
          <a:prstGeom prst="rect">
            <a:avLst/>
          </a:prstGeom>
          <a:solidFill>
            <a:srgbClr val="4A7C59"/>
          </a:solidFill>
          <a:ln w="12700">
            <a:solidFill>
              <a:srgbClr val="4A7C59"/>
            </a:solidFill>
            <a:prstDash val="solid"/>
          </a:ln>
        </p:spPr>
      </p:sp>
      <p:sp>
        <p:nvSpPr>
          <p:cNvPr id="28" name="Text 26"/>
          <p:cNvSpPr/>
          <p:nvPr/>
        </p:nvSpPr>
        <p:spPr>
          <a:xfrm>
            <a:off x="2779776" y="4315968"/>
            <a:ext cx="98755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Offer</a:t>
            </a:r>
            <a:endParaRPr lang="en-US" sz="800" dirty="0"/>
          </a:p>
        </p:txBody>
      </p:sp>
      <p:sp>
        <p:nvSpPr>
          <p:cNvPr id="29" name="Shape 27"/>
          <p:cNvSpPr/>
          <p:nvPr/>
        </p:nvSpPr>
        <p:spPr>
          <a:xfrm>
            <a:off x="3959352" y="1389888"/>
            <a:ext cx="1097280" cy="3474720"/>
          </a:xfrm>
          <a:prstGeom prst="rect">
            <a:avLst/>
          </a:prstGeom>
          <a:solidFill>
            <a:srgbClr val="FFFFFF"/>
          </a:solidFill>
          <a:ln w="6350">
            <a:solidFill>
              <a:srgbClr val="DDDDDD"/>
            </a:solidFill>
            <a:prstDash val="solid"/>
          </a:ln>
          <a:effectLst>
            <a:outerShdw sx="100000" sy="100000" kx="0" ky="0" algn="bl" rotWithShape="0" blurRad="50800" dist="12700" dir="8100000">
              <a:srgbClr val="000000">
                <a:alpha val="8000"/>
              </a:srgbClr>
            </a:outerShdw>
          </a:effectLst>
        </p:spPr>
      </p:sp>
      <p:sp>
        <p:nvSpPr>
          <p:cNvPr id="30" name="Shape 28"/>
          <p:cNvSpPr/>
          <p:nvPr/>
        </p:nvSpPr>
        <p:spPr>
          <a:xfrm>
            <a:off x="3959352" y="1389888"/>
            <a:ext cx="1097280" cy="475488"/>
          </a:xfrm>
          <a:prstGeom prst="rect">
            <a:avLst/>
          </a:prstGeom>
          <a:solidFill>
            <a:srgbClr val="D4890A"/>
          </a:solidFill>
          <a:ln w="12700">
            <a:solidFill>
              <a:srgbClr val="D4890A"/>
            </a:solidFill>
            <a:prstDash val="solid"/>
          </a:ln>
        </p:spPr>
      </p:sp>
      <p:sp>
        <p:nvSpPr>
          <p:cNvPr id="31" name="Text 29"/>
          <p:cNvSpPr/>
          <p:nvPr/>
        </p:nvSpPr>
        <p:spPr>
          <a:xfrm>
            <a:off x="3959352" y="1389888"/>
            <a:ext cx="1097280" cy="47548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THU</a:t>
            </a:r>
            <a:endParaRPr lang="en-US" sz="1300" dirty="0"/>
          </a:p>
        </p:txBody>
      </p:sp>
      <p:sp>
        <p:nvSpPr>
          <p:cNvPr id="32" name="Text 30"/>
          <p:cNvSpPr/>
          <p:nvPr/>
        </p:nvSpPr>
        <p:spPr>
          <a:xfrm>
            <a:off x="3959352" y="1920240"/>
            <a:ext cx="1097280" cy="347472"/>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33" name="Text 31"/>
          <p:cNvSpPr/>
          <p:nvPr/>
        </p:nvSpPr>
        <p:spPr>
          <a:xfrm>
            <a:off x="4014216" y="2286000"/>
            <a:ext cx="987552" cy="502920"/>
          </a:xfrm>
          <a:prstGeom prst="rect">
            <a:avLst/>
          </a:prstGeom>
          <a:noFill/>
          <a:ln/>
        </p:spPr>
        <p:txBody>
          <a:bodyPr wrap="square" rtlCol="0" anchor="ctr"/>
          <a:lstStyle/>
          <a:p>
            <a:pPr algn="ctr" indent="0" marL="0">
              <a:buNone/>
            </a:pPr>
            <a:r>
              <a:rPr lang="en-US" sz="950" b="1" dirty="0">
                <a:solidFill>
                  <a:srgbClr val="D4890A"/>
                </a:solidFill>
                <a:latin typeface="Calibri" pitchFamily="34" charset="0"/>
                <a:ea typeface="Calibri" pitchFamily="34" charset="-122"/>
                <a:cs typeface="Calibri" pitchFamily="34" charset="-120"/>
              </a:rPr>
              <a:t>Poll or Q&amp;A</a:t>
            </a:r>
            <a:endParaRPr lang="en-US" sz="950" dirty="0"/>
          </a:p>
        </p:txBody>
      </p:sp>
      <p:sp>
        <p:nvSpPr>
          <p:cNvPr id="34" name="Text 32"/>
          <p:cNvSpPr/>
          <p:nvPr/>
        </p:nvSpPr>
        <p:spPr>
          <a:xfrm>
            <a:off x="4014216" y="2834640"/>
            <a:ext cx="987552" cy="1417320"/>
          </a:xfrm>
          <a:prstGeom prst="rect">
            <a:avLst/>
          </a:prstGeom>
          <a:noFill/>
          <a:ln/>
        </p:spPr>
        <p:txBody>
          <a:bodyPr wrap="square" rtlCol="0" anchor="t"/>
          <a:lstStyle/>
          <a:p>
            <a:pPr indent="0" marL="0">
              <a:buNone/>
            </a:pPr>
            <a:r>
              <a:rPr lang="en-US" sz="850" dirty="0">
                <a:solidFill>
                  <a:srgbClr val="555555"/>
                </a:solidFill>
                <a:latin typeface="Calibri" pitchFamily="34" charset="0"/>
                <a:ea typeface="Calibri" pitchFamily="34" charset="-122"/>
                <a:cs typeface="Calibri" pitchFamily="34" charset="-120"/>
              </a:rPr>
              <a:t>Engagement poll: 'Which would you pick — Spicy Schezwan or Classic Hakka?' Drives comments.</a:t>
            </a:r>
            <a:endParaRPr lang="en-US" sz="850" dirty="0"/>
          </a:p>
        </p:txBody>
      </p:sp>
      <p:sp>
        <p:nvSpPr>
          <p:cNvPr id="35" name="Shape 33"/>
          <p:cNvSpPr/>
          <p:nvPr/>
        </p:nvSpPr>
        <p:spPr>
          <a:xfrm>
            <a:off x="4014216" y="4315968"/>
            <a:ext cx="987552" cy="256032"/>
          </a:xfrm>
          <a:prstGeom prst="rect">
            <a:avLst/>
          </a:prstGeom>
          <a:solidFill>
            <a:srgbClr val="D4890A"/>
          </a:solidFill>
          <a:ln w="12700">
            <a:solidFill>
              <a:srgbClr val="D4890A"/>
            </a:solidFill>
            <a:prstDash val="solid"/>
          </a:ln>
        </p:spPr>
      </p:sp>
      <p:sp>
        <p:nvSpPr>
          <p:cNvPr id="36" name="Text 34"/>
          <p:cNvSpPr/>
          <p:nvPr/>
        </p:nvSpPr>
        <p:spPr>
          <a:xfrm>
            <a:off x="4014216" y="4315968"/>
            <a:ext cx="98755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Engagement</a:t>
            </a:r>
            <a:endParaRPr lang="en-US" sz="800" dirty="0"/>
          </a:p>
        </p:txBody>
      </p:sp>
      <p:sp>
        <p:nvSpPr>
          <p:cNvPr id="37" name="Shape 35"/>
          <p:cNvSpPr/>
          <p:nvPr/>
        </p:nvSpPr>
        <p:spPr>
          <a:xfrm>
            <a:off x="5193792" y="1389888"/>
            <a:ext cx="1097280" cy="3474720"/>
          </a:xfrm>
          <a:prstGeom prst="rect">
            <a:avLst/>
          </a:prstGeom>
          <a:solidFill>
            <a:srgbClr val="FFFFFF"/>
          </a:solidFill>
          <a:ln w="6350">
            <a:solidFill>
              <a:srgbClr val="DDDDDD"/>
            </a:solidFill>
            <a:prstDash val="solid"/>
          </a:ln>
          <a:effectLst>
            <a:outerShdw sx="100000" sy="100000" kx="0" ky="0" algn="bl" rotWithShape="0" blurRad="50800" dist="12700" dir="8100000">
              <a:srgbClr val="000000">
                <a:alpha val="8000"/>
              </a:srgbClr>
            </a:outerShdw>
          </a:effectLst>
        </p:spPr>
      </p:sp>
      <p:sp>
        <p:nvSpPr>
          <p:cNvPr id="38" name="Shape 36"/>
          <p:cNvSpPr/>
          <p:nvPr/>
        </p:nvSpPr>
        <p:spPr>
          <a:xfrm>
            <a:off x="5193792" y="1389888"/>
            <a:ext cx="1097280" cy="475488"/>
          </a:xfrm>
          <a:prstGeom prst="rect">
            <a:avLst/>
          </a:prstGeom>
          <a:solidFill>
            <a:srgbClr val="7B2D8B"/>
          </a:solidFill>
          <a:ln w="12700">
            <a:solidFill>
              <a:srgbClr val="7B2D8B"/>
            </a:solidFill>
            <a:prstDash val="solid"/>
          </a:ln>
        </p:spPr>
      </p:sp>
      <p:sp>
        <p:nvSpPr>
          <p:cNvPr id="39" name="Text 37"/>
          <p:cNvSpPr/>
          <p:nvPr/>
        </p:nvSpPr>
        <p:spPr>
          <a:xfrm>
            <a:off x="5193792" y="1389888"/>
            <a:ext cx="1097280" cy="47548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FRI</a:t>
            </a:r>
            <a:endParaRPr lang="en-US" sz="1300" dirty="0"/>
          </a:p>
        </p:txBody>
      </p:sp>
      <p:sp>
        <p:nvSpPr>
          <p:cNvPr id="40" name="Text 38"/>
          <p:cNvSpPr/>
          <p:nvPr/>
        </p:nvSpPr>
        <p:spPr>
          <a:xfrm>
            <a:off x="5193792" y="1920240"/>
            <a:ext cx="1097280" cy="347472"/>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41" name="Text 39"/>
          <p:cNvSpPr/>
          <p:nvPr/>
        </p:nvSpPr>
        <p:spPr>
          <a:xfrm>
            <a:off x="5248656" y="2286000"/>
            <a:ext cx="987552" cy="502920"/>
          </a:xfrm>
          <a:prstGeom prst="rect">
            <a:avLst/>
          </a:prstGeom>
          <a:noFill/>
          <a:ln/>
        </p:spPr>
        <p:txBody>
          <a:bodyPr wrap="square" rtlCol="0" anchor="ctr"/>
          <a:lstStyle/>
          <a:p>
            <a:pPr algn="ctr" indent="0" marL="0">
              <a:buNone/>
            </a:pPr>
            <a:r>
              <a:rPr lang="en-US" sz="950" b="1" dirty="0">
                <a:solidFill>
                  <a:srgbClr val="7B2D8B"/>
                </a:solidFill>
                <a:latin typeface="Calibri" pitchFamily="34" charset="0"/>
                <a:ea typeface="Calibri" pitchFamily="34" charset="-122"/>
                <a:cs typeface="Calibri" pitchFamily="34" charset="-120"/>
              </a:rPr>
              <a:t>Weekend Special</a:t>
            </a:r>
            <a:endParaRPr lang="en-US" sz="950" dirty="0"/>
          </a:p>
        </p:txBody>
      </p:sp>
      <p:sp>
        <p:nvSpPr>
          <p:cNvPr id="42" name="Text 40"/>
          <p:cNvSpPr/>
          <p:nvPr/>
        </p:nvSpPr>
        <p:spPr>
          <a:xfrm>
            <a:off x="5248656" y="2834640"/>
            <a:ext cx="987552" cy="1417320"/>
          </a:xfrm>
          <a:prstGeom prst="rect">
            <a:avLst/>
          </a:prstGeom>
          <a:noFill/>
          <a:ln/>
        </p:spPr>
        <p:txBody>
          <a:bodyPr wrap="square" rtlCol="0" anchor="t"/>
          <a:lstStyle/>
          <a:p>
            <a:pPr indent="0" marL="0">
              <a:buNone/>
            </a:pPr>
            <a:r>
              <a:rPr lang="en-US" sz="850" dirty="0">
                <a:solidFill>
                  <a:srgbClr val="555555"/>
                </a:solidFill>
                <a:latin typeface="Calibri" pitchFamily="34" charset="0"/>
                <a:ea typeface="Calibri" pitchFamily="34" charset="-122"/>
                <a:cs typeface="Calibri" pitchFamily="34" charset="-120"/>
              </a:rPr>
              <a:t>Weekend promo card. 'Friday = Noodle Night. Order in or come by.' Link to delivery.</a:t>
            </a:r>
            <a:endParaRPr lang="en-US" sz="850" dirty="0"/>
          </a:p>
        </p:txBody>
      </p:sp>
      <p:sp>
        <p:nvSpPr>
          <p:cNvPr id="43" name="Shape 41"/>
          <p:cNvSpPr/>
          <p:nvPr/>
        </p:nvSpPr>
        <p:spPr>
          <a:xfrm>
            <a:off x="5248656" y="4315968"/>
            <a:ext cx="987552" cy="256032"/>
          </a:xfrm>
          <a:prstGeom prst="rect">
            <a:avLst/>
          </a:prstGeom>
          <a:solidFill>
            <a:srgbClr val="7B2D8B"/>
          </a:solidFill>
          <a:ln w="12700">
            <a:solidFill>
              <a:srgbClr val="7B2D8B"/>
            </a:solidFill>
            <a:prstDash val="solid"/>
          </a:ln>
        </p:spPr>
      </p:sp>
      <p:sp>
        <p:nvSpPr>
          <p:cNvPr id="44" name="Text 42"/>
          <p:cNvSpPr/>
          <p:nvPr/>
        </p:nvSpPr>
        <p:spPr>
          <a:xfrm>
            <a:off x="5248656" y="4315968"/>
            <a:ext cx="98755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Offer</a:t>
            </a:r>
            <a:endParaRPr lang="en-US" sz="800" dirty="0"/>
          </a:p>
        </p:txBody>
      </p:sp>
      <p:sp>
        <p:nvSpPr>
          <p:cNvPr id="45" name="Shape 43"/>
          <p:cNvSpPr/>
          <p:nvPr/>
        </p:nvSpPr>
        <p:spPr>
          <a:xfrm>
            <a:off x="6428232" y="1389888"/>
            <a:ext cx="1097280" cy="3474720"/>
          </a:xfrm>
          <a:prstGeom prst="rect">
            <a:avLst/>
          </a:prstGeom>
          <a:solidFill>
            <a:srgbClr val="FFFFFF"/>
          </a:solidFill>
          <a:ln w="6350">
            <a:solidFill>
              <a:srgbClr val="DDDDDD"/>
            </a:solidFill>
            <a:prstDash val="solid"/>
          </a:ln>
          <a:effectLst>
            <a:outerShdw sx="100000" sy="100000" kx="0" ky="0" algn="bl" rotWithShape="0" blurRad="50800" dist="12700" dir="8100000">
              <a:srgbClr val="000000">
                <a:alpha val="8000"/>
              </a:srgbClr>
            </a:outerShdw>
          </a:effectLst>
        </p:spPr>
      </p:sp>
      <p:sp>
        <p:nvSpPr>
          <p:cNvPr id="46" name="Shape 44"/>
          <p:cNvSpPr/>
          <p:nvPr/>
        </p:nvSpPr>
        <p:spPr>
          <a:xfrm>
            <a:off x="6428232" y="1389888"/>
            <a:ext cx="1097280" cy="475488"/>
          </a:xfrm>
          <a:prstGeom prst="rect">
            <a:avLst/>
          </a:prstGeom>
          <a:solidFill>
            <a:srgbClr val="8B1A1A"/>
          </a:solidFill>
          <a:ln w="12700">
            <a:solidFill>
              <a:srgbClr val="8B1A1A"/>
            </a:solidFill>
            <a:prstDash val="solid"/>
          </a:ln>
        </p:spPr>
      </p:sp>
      <p:sp>
        <p:nvSpPr>
          <p:cNvPr id="47" name="Text 45"/>
          <p:cNvSpPr/>
          <p:nvPr/>
        </p:nvSpPr>
        <p:spPr>
          <a:xfrm>
            <a:off x="6428232" y="1389888"/>
            <a:ext cx="1097280" cy="47548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SAT</a:t>
            </a:r>
            <a:endParaRPr lang="en-US" sz="1300" dirty="0"/>
          </a:p>
        </p:txBody>
      </p:sp>
      <p:sp>
        <p:nvSpPr>
          <p:cNvPr id="48" name="Text 46"/>
          <p:cNvSpPr/>
          <p:nvPr/>
        </p:nvSpPr>
        <p:spPr>
          <a:xfrm>
            <a:off x="6428232" y="1920240"/>
            <a:ext cx="1097280" cy="347472"/>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49" name="Text 47"/>
          <p:cNvSpPr/>
          <p:nvPr/>
        </p:nvSpPr>
        <p:spPr>
          <a:xfrm>
            <a:off x="6483096" y="2286000"/>
            <a:ext cx="987552" cy="502920"/>
          </a:xfrm>
          <a:prstGeom prst="rect">
            <a:avLst/>
          </a:prstGeom>
          <a:noFill/>
          <a:ln/>
        </p:spPr>
        <p:txBody>
          <a:bodyPr wrap="square" rtlCol="0" anchor="ctr"/>
          <a:lstStyle/>
          <a:p>
            <a:pPr algn="ctr" indent="0" marL="0">
              <a:buNone/>
            </a:pPr>
            <a:r>
              <a:rPr lang="en-US" sz="950" b="1" dirty="0">
                <a:solidFill>
                  <a:srgbClr val="8B1A1A"/>
                </a:solidFill>
                <a:latin typeface="Calibri" pitchFamily="34" charset="0"/>
                <a:ea typeface="Calibri" pitchFamily="34" charset="-122"/>
                <a:cs typeface="Calibri" pitchFamily="34" charset="-120"/>
              </a:rPr>
              <a:t>Customer Reel / UGC</a:t>
            </a:r>
            <a:endParaRPr lang="en-US" sz="950" dirty="0"/>
          </a:p>
        </p:txBody>
      </p:sp>
      <p:sp>
        <p:nvSpPr>
          <p:cNvPr id="50" name="Text 48"/>
          <p:cNvSpPr/>
          <p:nvPr/>
        </p:nvSpPr>
        <p:spPr>
          <a:xfrm>
            <a:off x="6483096" y="2834640"/>
            <a:ext cx="987552" cy="1417320"/>
          </a:xfrm>
          <a:prstGeom prst="rect">
            <a:avLst/>
          </a:prstGeom>
          <a:noFill/>
          <a:ln/>
        </p:spPr>
        <p:txBody>
          <a:bodyPr wrap="square" rtlCol="0" anchor="t"/>
          <a:lstStyle/>
          <a:p>
            <a:pPr indent="0" marL="0">
              <a:buNone/>
            </a:pPr>
            <a:r>
              <a:rPr lang="en-US" sz="850" dirty="0">
                <a:solidFill>
                  <a:srgbClr val="555555"/>
                </a:solidFill>
                <a:latin typeface="Calibri" pitchFamily="34" charset="0"/>
                <a:ea typeface="Calibri" pitchFamily="34" charset="-122"/>
                <a:cs typeface="Calibri" pitchFamily="34" charset="-120"/>
              </a:rPr>
              <a:t>Repost customer photo or shoot a short 'customer reaction' reel in-store. Ask permission first.</a:t>
            </a:r>
            <a:endParaRPr lang="en-US" sz="850" dirty="0"/>
          </a:p>
        </p:txBody>
      </p:sp>
      <p:sp>
        <p:nvSpPr>
          <p:cNvPr id="51" name="Shape 49"/>
          <p:cNvSpPr/>
          <p:nvPr/>
        </p:nvSpPr>
        <p:spPr>
          <a:xfrm>
            <a:off x="6483096" y="4315968"/>
            <a:ext cx="987552" cy="256032"/>
          </a:xfrm>
          <a:prstGeom prst="rect">
            <a:avLst/>
          </a:prstGeom>
          <a:solidFill>
            <a:srgbClr val="8B1A1A"/>
          </a:solidFill>
          <a:ln w="12700">
            <a:solidFill>
              <a:srgbClr val="8B1A1A"/>
            </a:solidFill>
            <a:prstDash val="solid"/>
          </a:ln>
        </p:spPr>
      </p:sp>
      <p:sp>
        <p:nvSpPr>
          <p:cNvPr id="52" name="Text 50"/>
          <p:cNvSpPr/>
          <p:nvPr/>
        </p:nvSpPr>
        <p:spPr>
          <a:xfrm>
            <a:off x="6483096" y="4315968"/>
            <a:ext cx="98755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UGC</a:t>
            </a:r>
            <a:endParaRPr lang="en-US" sz="800" dirty="0"/>
          </a:p>
        </p:txBody>
      </p:sp>
      <p:sp>
        <p:nvSpPr>
          <p:cNvPr id="53" name="Shape 51"/>
          <p:cNvSpPr/>
          <p:nvPr/>
        </p:nvSpPr>
        <p:spPr>
          <a:xfrm>
            <a:off x="7662672" y="1389888"/>
            <a:ext cx="1097280" cy="3474720"/>
          </a:xfrm>
          <a:prstGeom prst="rect">
            <a:avLst/>
          </a:prstGeom>
          <a:solidFill>
            <a:srgbClr val="FFFFFF"/>
          </a:solidFill>
          <a:ln w="6350">
            <a:solidFill>
              <a:srgbClr val="DDDDDD"/>
            </a:solidFill>
            <a:prstDash val="solid"/>
          </a:ln>
          <a:effectLst>
            <a:outerShdw sx="100000" sy="100000" kx="0" ky="0" algn="bl" rotWithShape="0" blurRad="50800" dist="12700" dir="8100000">
              <a:srgbClr val="000000">
                <a:alpha val="8000"/>
              </a:srgbClr>
            </a:outerShdw>
          </a:effectLst>
        </p:spPr>
      </p:sp>
      <p:sp>
        <p:nvSpPr>
          <p:cNvPr id="54" name="Shape 52"/>
          <p:cNvSpPr/>
          <p:nvPr/>
        </p:nvSpPr>
        <p:spPr>
          <a:xfrm>
            <a:off x="7662672" y="1389888"/>
            <a:ext cx="1097280" cy="475488"/>
          </a:xfrm>
          <a:prstGeom prst="rect">
            <a:avLst/>
          </a:prstGeom>
          <a:solidFill>
            <a:srgbClr val="4A7C59"/>
          </a:solidFill>
          <a:ln w="12700">
            <a:solidFill>
              <a:srgbClr val="4A7C59"/>
            </a:solidFill>
            <a:prstDash val="solid"/>
          </a:ln>
        </p:spPr>
      </p:sp>
      <p:sp>
        <p:nvSpPr>
          <p:cNvPr id="55" name="Text 53"/>
          <p:cNvSpPr/>
          <p:nvPr/>
        </p:nvSpPr>
        <p:spPr>
          <a:xfrm>
            <a:off x="7662672" y="1389888"/>
            <a:ext cx="1097280" cy="47548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SUN</a:t>
            </a:r>
            <a:endParaRPr lang="en-US" sz="1300" dirty="0"/>
          </a:p>
        </p:txBody>
      </p:sp>
      <p:sp>
        <p:nvSpPr>
          <p:cNvPr id="56" name="Text 54"/>
          <p:cNvSpPr/>
          <p:nvPr/>
        </p:nvSpPr>
        <p:spPr>
          <a:xfrm>
            <a:off x="7662672" y="1920240"/>
            <a:ext cx="1097280" cy="347472"/>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57" name="Text 55"/>
          <p:cNvSpPr/>
          <p:nvPr/>
        </p:nvSpPr>
        <p:spPr>
          <a:xfrm>
            <a:off x="7717536" y="2286000"/>
            <a:ext cx="987552" cy="502920"/>
          </a:xfrm>
          <a:prstGeom prst="rect">
            <a:avLst/>
          </a:prstGeom>
          <a:noFill/>
          <a:ln/>
        </p:spPr>
        <p:txBody>
          <a:bodyPr wrap="square" rtlCol="0" anchor="ctr"/>
          <a:lstStyle/>
          <a:p>
            <a:pPr algn="ctr" indent="0" marL="0">
              <a:buNone/>
            </a:pPr>
            <a:r>
              <a:rPr lang="en-US" sz="950" b="1" dirty="0">
                <a:solidFill>
                  <a:srgbClr val="4A7C59"/>
                </a:solidFill>
                <a:latin typeface="Calibri" pitchFamily="34" charset="0"/>
                <a:ea typeface="Calibri" pitchFamily="34" charset="-122"/>
                <a:cs typeface="Calibri" pitchFamily="34" charset="-120"/>
              </a:rPr>
              <a:t>Review or Founder Story</a:t>
            </a:r>
            <a:endParaRPr lang="en-US" sz="950" dirty="0"/>
          </a:p>
        </p:txBody>
      </p:sp>
      <p:sp>
        <p:nvSpPr>
          <p:cNvPr id="58" name="Text 56"/>
          <p:cNvSpPr/>
          <p:nvPr/>
        </p:nvSpPr>
        <p:spPr>
          <a:xfrm>
            <a:off x="7717536" y="2834640"/>
            <a:ext cx="987552" cy="1417320"/>
          </a:xfrm>
          <a:prstGeom prst="rect">
            <a:avLst/>
          </a:prstGeom>
          <a:noFill/>
          <a:ln/>
        </p:spPr>
        <p:txBody>
          <a:bodyPr wrap="square" rtlCol="0" anchor="t"/>
          <a:lstStyle/>
          <a:p>
            <a:pPr indent="0" marL="0">
              <a:buNone/>
            </a:pPr>
            <a:r>
              <a:rPr lang="en-US" sz="850" dirty="0">
                <a:solidFill>
                  <a:srgbClr val="555555"/>
                </a:solidFill>
                <a:latin typeface="Calibri" pitchFamily="34" charset="0"/>
                <a:ea typeface="Calibri" pitchFamily="34" charset="-122"/>
                <a:cs typeface="Calibri" pitchFamily="34" charset="-120"/>
              </a:rPr>
              <a:t>Share a customer review with a thank-you caption, OR a founder update from Karan or Rohit.</a:t>
            </a:r>
            <a:endParaRPr lang="en-US" sz="850" dirty="0"/>
          </a:p>
        </p:txBody>
      </p:sp>
      <p:sp>
        <p:nvSpPr>
          <p:cNvPr id="59" name="Shape 57"/>
          <p:cNvSpPr/>
          <p:nvPr/>
        </p:nvSpPr>
        <p:spPr>
          <a:xfrm>
            <a:off x="7717536" y="4315968"/>
            <a:ext cx="987552" cy="256032"/>
          </a:xfrm>
          <a:prstGeom prst="rect">
            <a:avLst/>
          </a:prstGeom>
          <a:solidFill>
            <a:srgbClr val="4A7C59"/>
          </a:solidFill>
          <a:ln w="12700">
            <a:solidFill>
              <a:srgbClr val="4A7C59"/>
            </a:solidFill>
            <a:prstDash val="solid"/>
          </a:ln>
        </p:spPr>
      </p:sp>
      <p:sp>
        <p:nvSpPr>
          <p:cNvPr id="60" name="Text 58"/>
          <p:cNvSpPr/>
          <p:nvPr/>
        </p:nvSpPr>
        <p:spPr>
          <a:xfrm>
            <a:off x="7717536" y="4315968"/>
            <a:ext cx="98755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Story</a:t>
            </a:r>
            <a:endParaRPr lang="en-US" sz="800" dirty="0"/>
          </a:p>
        </p:txBody>
      </p:sp>
      <p:sp>
        <p:nvSpPr>
          <p:cNvPr id="61" name="Text 59"/>
          <p:cNvSpPr/>
          <p:nvPr/>
        </p:nvSpPr>
        <p:spPr>
          <a:xfrm>
            <a:off x="274320" y="4892040"/>
            <a:ext cx="7680960" cy="182880"/>
          </a:xfrm>
          <a:prstGeom prst="rect">
            <a:avLst/>
          </a:prstGeom>
          <a:noFill/>
          <a:ln/>
        </p:spPr>
        <p:txBody>
          <a:bodyPr wrap="square" rtlCol="0" anchor="ctr"/>
          <a:lstStyle/>
          <a:p>
            <a:pPr algn="l" indent="0" marL="0">
              <a:buNone/>
            </a:pPr>
            <a:r>
              <a:rPr lang="en-US" sz="800" dirty="0">
                <a:solidFill>
                  <a:srgbClr val="AAAAAA"/>
                </a:solidFill>
                <a:latin typeface="Calibri" pitchFamily="34" charset="0"/>
                <a:ea typeface="Calibri" pitchFamily="34" charset="-122"/>
                <a:cs typeface="Calibri" pitchFamily="34" charset="-120"/>
              </a:rPr>
              <a:t>Noodle House  |  Facebook Marketing Strategy</a:t>
            </a:r>
            <a:endParaRPr lang="en-US" sz="800" dirty="0"/>
          </a:p>
        </p:txBody>
      </p:sp>
      <p:sp>
        <p:nvSpPr>
          <p:cNvPr id="62" name="Text 60"/>
          <p:cNvSpPr/>
          <p:nvPr/>
        </p:nvSpPr>
        <p:spPr>
          <a:xfrm>
            <a:off x="8595360" y="4892040"/>
            <a:ext cx="365760" cy="182880"/>
          </a:xfrm>
          <a:prstGeom prst="rect">
            <a:avLst/>
          </a:prstGeom>
          <a:noFill/>
          <a:ln/>
        </p:spPr>
        <p:txBody>
          <a:bodyPr wrap="square"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B2B2B"/>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8B1A1A"/>
          </a:solidFill>
          <a:ln w="12700">
            <a:solidFill>
              <a:srgbClr val="8B1A1A"/>
            </a:solidFill>
            <a:prstDash val="solid"/>
          </a:ln>
        </p:spPr>
      </p:sp>
      <p:sp>
        <p:nvSpPr>
          <p:cNvPr id="3" name="Text 1"/>
          <p:cNvSpPr/>
          <p:nvPr/>
        </p:nvSpPr>
        <p:spPr>
          <a:xfrm>
            <a:off x="365760" y="0"/>
            <a:ext cx="8412480" cy="8686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Paid Facebook Ads Strategy</a:t>
            </a:r>
            <a:endParaRPr lang="en-US" sz="2600" dirty="0"/>
          </a:p>
        </p:txBody>
      </p:sp>
      <p:sp>
        <p:nvSpPr>
          <p:cNvPr id="4" name="Shape 2"/>
          <p:cNvSpPr/>
          <p:nvPr/>
        </p:nvSpPr>
        <p:spPr>
          <a:xfrm>
            <a:off x="640080" y="1005840"/>
            <a:ext cx="7863840" cy="841248"/>
          </a:xfrm>
          <a:prstGeom prst="rect">
            <a:avLst/>
          </a:prstGeom>
          <a:solidFill>
            <a:srgbClr val="1877F2"/>
          </a:solidFill>
          <a:ln w="12700">
            <a:solidFill>
              <a:srgbClr val="1877F2"/>
            </a:solidFill>
            <a:prstDash val="solid"/>
          </a:ln>
        </p:spPr>
      </p:sp>
      <p:sp>
        <p:nvSpPr>
          <p:cNvPr id="5" name="Text 3"/>
          <p:cNvSpPr/>
          <p:nvPr/>
        </p:nvSpPr>
        <p:spPr>
          <a:xfrm>
            <a:off x="749808" y="1005840"/>
            <a:ext cx="1371600" cy="84124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AWARENESS</a:t>
            </a:r>
            <a:endParaRPr lang="en-US" sz="1100" dirty="0"/>
          </a:p>
        </p:txBody>
      </p:sp>
      <p:sp>
        <p:nvSpPr>
          <p:cNvPr id="6" name="Text 4"/>
          <p:cNvSpPr/>
          <p:nvPr/>
        </p:nvSpPr>
        <p:spPr>
          <a:xfrm>
            <a:off x="2148840" y="1005840"/>
            <a:ext cx="6263640" cy="420624"/>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Reach Ads — Target Mumbai locals aged 18–45 within 5 km radius</a:t>
            </a:r>
            <a:endParaRPr lang="en-US" sz="950" dirty="0"/>
          </a:p>
        </p:txBody>
      </p:sp>
      <p:sp>
        <p:nvSpPr>
          <p:cNvPr id="7" name="Text 5"/>
          <p:cNvSpPr/>
          <p:nvPr/>
        </p:nvSpPr>
        <p:spPr>
          <a:xfrm>
            <a:off x="2148840" y="1443289"/>
            <a:ext cx="6263640" cy="403799"/>
          </a:xfrm>
          <a:prstGeom prst="rect">
            <a:avLst/>
          </a:prstGeom>
          <a:noFill/>
          <a:ln/>
        </p:spPr>
        <p:txBody>
          <a:bodyPr wrap="square" rtlCol="0" anchor="ctr"/>
          <a:lstStyle/>
          <a:p>
            <a:pPr indent="0" marL="0">
              <a:buNone/>
            </a:pPr>
            <a:r>
              <a:rPr lang="en-US" sz="850" dirty="0">
                <a:solidFill>
                  <a:srgbClr val="DDDDDD"/>
                </a:solidFill>
                <a:latin typeface="Calibri" pitchFamily="34" charset="0"/>
                <a:ea typeface="Calibri" pitchFamily="34" charset="-122"/>
                <a:cs typeface="Calibri" pitchFamily="34" charset="-120"/>
              </a:rPr>
              <a:t>Format: Photo/Video ads | Objective: Brand Awareness | Audience: Lookalike + Local interest</a:t>
            </a:r>
            <a:endParaRPr lang="en-US" sz="850" dirty="0"/>
          </a:p>
        </p:txBody>
      </p:sp>
      <p:sp>
        <p:nvSpPr>
          <p:cNvPr id="8" name="Shape 6"/>
          <p:cNvSpPr/>
          <p:nvPr/>
        </p:nvSpPr>
        <p:spPr>
          <a:xfrm>
            <a:off x="1280160" y="2029968"/>
            <a:ext cx="6583680" cy="841248"/>
          </a:xfrm>
          <a:prstGeom prst="rect">
            <a:avLst/>
          </a:prstGeom>
          <a:solidFill>
            <a:srgbClr val="8B1A1A"/>
          </a:solidFill>
          <a:ln w="12700">
            <a:solidFill>
              <a:srgbClr val="8B1A1A"/>
            </a:solidFill>
            <a:prstDash val="solid"/>
          </a:ln>
        </p:spPr>
      </p:sp>
      <p:sp>
        <p:nvSpPr>
          <p:cNvPr id="9" name="Text 7"/>
          <p:cNvSpPr/>
          <p:nvPr/>
        </p:nvSpPr>
        <p:spPr>
          <a:xfrm>
            <a:off x="1389888" y="2029968"/>
            <a:ext cx="1371600" cy="84124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ENGAGEMENT</a:t>
            </a:r>
            <a:endParaRPr lang="en-US" sz="1100" dirty="0"/>
          </a:p>
        </p:txBody>
      </p:sp>
      <p:sp>
        <p:nvSpPr>
          <p:cNvPr id="10" name="Text 8"/>
          <p:cNvSpPr/>
          <p:nvPr/>
        </p:nvSpPr>
        <p:spPr>
          <a:xfrm>
            <a:off x="2788920" y="2029968"/>
            <a:ext cx="4983480" cy="420624"/>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Engagement Ads — Boost best food photos &amp; reels for likes, shares, saves</a:t>
            </a:r>
            <a:endParaRPr lang="en-US" sz="950" dirty="0"/>
          </a:p>
        </p:txBody>
      </p:sp>
      <p:sp>
        <p:nvSpPr>
          <p:cNvPr id="11" name="Text 9"/>
          <p:cNvSpPr/>
          <p:nvPr/>
        </p:nvSpPr>
        <p:spPr>
          <a:xfrm>
            <a:off x="2788920" y="2467417"/>
            <a:ext cx="4983480" cy="403799"/>
          </a:xfrm>
          <a:prstGeom prst="rect">
            <a:avLst/>
          </a:prstGeom>
          <a:noFill/>
          <a:ln/>
        </p:spPr>
        <p:txBody>
          <a:bodyPr wrap="square" rtlCol="0" anchor="ctr"/>
          <a:lstStyle/>
          <a:p>
            <a:pPr indent="0" marL="0">
              <a:buNone/>
            </a:pPr>
            <a:r>
              <a:rPr lang="en-US" sz="850" dirty="0">
                <a:solidFill>
                  <a:srgbClr val="DDDDDD"/>
                </a:solidFill>
                <a:latin typeface="Calibri" pitchFamily="34" charset="0"/>
                <a:ea typeface="Calibri" pitchFamily="34" charset="-122"/>
                <a:cs typeface="Calibri" pitchFamily="34" charset="-120"/>
              </a:rPr>
              <a:t>Format: Carousel + Reel Boost | Objective: Post Engagement | Audience: Page followers + Food lovers</a:t>
            </a:r>
            <a:endParaRPr lang="en-US" sz="850" dirty="0"/>
          </a:p>
        </p:txBody>
      </p:sp>
      <p:sp>
        <p:nvSpPr>
          <p:cNvPr id="12" name="Shape 10"/>
          <p:cNvSpPr/>
          <p:nvPr/>
        </p:nvSpPr>
        <p:spPr>
          <a:xfrm>
            <a:off x="1920240" y="3054096"/>
            <a:ext cx="5303520" cy="841248"/>
          </a:xfrm>
          <a:prstGeom prst="rect">
            <a:avLst/>
          </a:prstGeom>
          <a:solidFill>
            <a:srgbClr val="4A7C59"/>
          </a:solidFill>
          <a:ln w="12700">
            <a:solidFill>
              <a:srgbClr val="4A7C59"/>
            </a:solidFill>
            <a:prstDash val="solid"/>
          </a:ln>
        </p:spPr>
      </p:sp>
      <p:sp>
        <p:nvSpPr>
          <p:cNvPr id="13" name="Text 11"/>
          <p:cNvSpPr/>
          <p:nvPr/>
        </p:nvSpPr>
        <p:spPr>
          <a:xfrm>
            <a:off x="2029968" y="3054096"/>
            <a:ext cx="1371600" cy="84124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CONVERSION</a:t>
            </a:r>
            <a:endParaRPr lang="en-US" sz="1100" dirty="0"/>
          </a:p>
        </p:txBody>
      </p:sp>
      <p:sp>
        <p:nvSpPr>
          <p:cNvPr id="14" name="Text 12"/>
          <p:cNvSpPr/>
          <p:nvPr/>
        </p:nvSpPr>
        <p:spPr>
          <a:xfrm>
            <a:off x="3429000" y="3054096"/>
            <a:ext cx="3703320" cy="420624"/>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Offer Ads — Drive click-to-order &amp; store visits with combo deals</a:t>
            </a:r>
            <a:endParaRPr lang="en-US" sz="950" dirty="0"/>
          </a:p>
        </p:txBody>
      </p:sp>
      <p:sp>
        <p:nvSpPr>
          <p:cNvPr id="15" name="Text 13"/>
          <p:cNvSpPr/>
          <p:nvPr/>
        </p:nvSpPr>
        <p:spPr>
          <a:xfrm>
            <a:off x="3429000" y="3491545"/>
            <a:ext cx="3703320" cy="403799"/>
          </a:xfrm>
          <a:prstGeom prst="rect">
            <a:avLst/>
          </a:prstGeom>
          <a:noFill/>
          <a:ln/>
        </p:spPr>
        <p:txBody>
          <a:bodyPr wrap="square" rtlCol="0" anchor="ctr"/>
          <a:lstStyle/>
          <a:p>
            <a:pPr indent="0" marL="0">
              <a:buNone/>
            </a:pPr>
            <a:r>
              <a:rPr lang="en-US" sz="850" dirty="0">
                <a:solidFill>
                  <a:srgbClr val="DDDDDD"/>
                </a:solidFill>
                <a:latin typeface="Calibri" pitchFamily="34" charset="0"/>
                <a:ea typeface="Calibri" pitchFamily="34" charset="-122"/>
                <a:cs typeface="Calibri" pitchFamily="34" charset="-120"/>
              </a:rPr>
              <a:t>Format: Offer ads | Objective: Traffic / Messages | Audience: Engaged users + Custom audiences</a:t>
            </a:r>
            <a:endParaRPr lang="en-US" sz="850" dirty="0"/>
          </a:p>
        </p:txBody>
      </p:sp>
      <p:sp>
        <p:nvSpPr>
          <p:cNvPr id="16" name="Shape 14"/>
          <p:cNvSpPr/>
          <p:nvPr/>
        </p:nvSpPr>
        <p:spPr>
          <a:xfrm>
            <a:off x="2560320" y="4078224"/>
            <a:ext cx="4023360" cy="704088"/>
          </a:xfrm>
          <a:prstGeom prst="rect">
            <a:avLst/>
          </a:prstGeom>
          <a:solidFill>
            <a:srgbClr val="D4890A"/>
          </a:solidFill>
          <a:ln w="12700">
            <a:solidFill>
              <a:srgbClr val="D4890A"/>
            </a:solidFill>
            <a:prstDash val="solid"/>
          </a:ln>
        </p:spPr>
      </p:sp>
      <p:sp>
        <p:nvSpPr>
          <p:cNvPr id="17" name="Text 15"/>
          <p:cNvSpPr/>
          <p:nvPr/>
        </p:nvSpPr>
        <p:spPr>
          <a:xfrm>
            <a:off x="2670048" y="4078224"/>
            <a:ext cx="1371600" cy="7040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RETARGETING</a:t>
            </a:r>
            <a:endParaRPr lang="en-US" sz="1100" dirty="0"/>
          </a:p>
        </p:txBody>
      </p:sp>
      <p:sp>
        <p:nvSpPr>
          <p:cNvPr id="18" name="Text 16"/>
          <p:cNvSpPr/>
          <p:nvPr/>
        </p:nvSpPr>
        <p:spPr>
          <a:xfrm>
            <a:off x="4069080" y="4078224"/>
            <a:ext cx="2423160" cy="352044"/>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Retarget — Re-engage users who saw ads but didn't order yet</a:t>
            </a:r>
            <a:endParaRPr lang="en-US" sz="950" dirty="0"/>
          </a:p>
        </p:txBody>
      </p:sp>
      <p:sp>
        <p:nvSpPr>
          <p:cNvPr id="19" name="Text 17"/>
          <p:cNvSpPr/>
          <p:nvPr/>
        </p:nvSpPr>
        <p:spPr>
          <a:xfrm>
            <a:off x="4069080" y="4444350"/>
            <a:ext cx="2423160" cy="337962"/>
          </a:xfrm>
          <a:prstGeom prst="rect">
            <a:avLst/>
          </a:prstGeom>
          <a:noFill/>
          <a:ln/>
        </p:spPr>
        <p:txBody>
          <a:bodyPr wrap="square" rtlCol="0" anchor="ctr"/>
          <a:lstStyle/>
          <a:p>
            <a:pPr indent="0" marL="0">
              <a:buNone/>
            </a:pPr>
            <a:r>
              <a:rPr lang="en-US" sz="850" dirty="0">
                <a:solidFill>
                  <a:srgbClr val="DDDDDD"/>
                </a:solidFill>
                <a:latin typeface="Calibri" pitchFamily="34" charset="0"/>
                <a:ea typeface="Calibri" pitchFamily="34" charset="-122"/>
                <a:cs typeface="Calibri" pitchFamily="34" charset="-120"/>
              </a:rPr>
              <a:t>Format: Reminder + Discount | Objective: Conversions | Audience: Website visitors, video viewers</a:t>
            </a:r>
            <a:endParaRPr lang="en-US" sz="850" dirty="0"/>
          </a:p>
        </p:txBody>
      </p:sp>
      <p:sp>
        <p:nvSpPr>
          <p:cNvPr id="20" name="Text 18"/>
          <p:cNvSpPr/>
          <p:nvPr/>
        </p:nvSpPr>
        <p:spPr>
          <a:xfrm>
            <a:off x="274320" y="4892040"/>
            <a:ext cx="7680960" cy="182880"/>
          </a:xfrm>
          <a:prstGeom prst="rect">
            <a:avLst/>
          </a:prstGeom>
          <a:noFill/>
          <a:ln/>
        </p:spPr>
        <p:txBody>
          <a:bodyPr wrap="square" rtlCol="0" anchor="ctr"/>
          <a:lstStyle/>
          <a:p>
            <a:pPr algn="l" indent="0" marL="0">
              <a:buNone/>
            </a:pPr>
            <a:r>
              <a:rPr lang="en-US" sz="800" dirty="0">
                <a:solidFill>
                  <a:srgbClr val="AAAAAA"/>
                </a:solidFill>
                <a:latin typeface="Calibri" pitchFamily="34" charset="0"/>
                <a:ea typeface="Calibri" pitchFamily="34" charset="-122"/>
                <a:cs typeface="Calibri" pitchFamily="34" charset="-120"/>
              </a:rPr>
              <a:t>Noodle House  |  Facebook Marketing Strategy</a:t>
            </a:r>
            <a:endParaRPr lang="en-US" sz="800" dirty="0"/>
          </a:p>
        </p:txBody>
      </p:sp>
      <p:sp>
        <p:nvSpPr>
          <p:cNvPr id="21" name="Text 19"/>
          <p:cNvSpPr/>
          <p:nvPr/>
        </p:nvSpPr>
        <p:spPr>
          <a:xfrm>
            <a:off x="8595360" y="4892040"/>
            <a:ext cx="365760" cy="182880"/>
          </a:xfrm>
          <a:prstGeom prst="rect">
            <a:avLst/>
          </a:prstGeom>
          <a:noFill/>
          <a:ln/>
        </p:spPr>
        <p:txBody>
          <a:bodyPr wrap="square"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F6EC"/>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8B1A1A"/>
          </a:solidFill>
          <a:ln w="12700">
            <a:solidFill>
              <a:srgbClr val="8B1A1A"/>
            </a:solidFill>
            <a:prstDash val="solid"/>
          </a:ln>
        </p:spPr>
      </p:sp>
      <p:sp>
        <p:nvSpPr>
          <p:cNvPr id="3" name="Text 1"/>
          <p:cNvSpPr/>
          <p:nvPr/>
        </p:nvSpPr>
        <p:spPr>
          <a:xfrm>
            <a:off x="365760" y="0"/>
            <a:ext cx="8412480" cy="8686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Offers &amp; Campaign Ideas</a:t>
            </a:r>
            <a:endParaRPr lang="en-US" sz="2600" dirty="0"/>
          </a:p>
        </p:txBody>
      </p:sp>
      <p:sp>
        <p:nvSpPr>
          <p:cNvPr id="4" name="Shape 2"/>
          <p:cNvSpPr/>
          <p:nvPr/>
        </p:nvSpPr>
        <p:spPr>
          <a:xfrm>
            <a:off x="274320" y="1005840"/>
            <a:ext cx="2697480" cy="1691640"/>
          </a:xfrm>
          <a:prstGeom prst="rect">
            <a:avLst/>
          </a:prstGeom>
          <a:solidFill>
            <a:srgbClr val="FFFFFF"/>
          </a:solidFill>
          <a:ln w="6350">
            <a:solidFill>
              <a:srgbClr val="DDDDDD"/>
            </a:solidFill>
            <a:prstDash val="solid"/>
          </a:ln>
          <a:effectLst>
            <a:outerShdw sx="100000" sy="100000" kx="0" ky="0" algn="bl" rotWithShape="0" blurRad="63500" dist="25400" dir="8100000">
              <a:srgbClr val="000000">
                <a:alpha val="10000"/>
              </a:srgbClr>
            </a:outerShdw>
          </a:effectLst>
        </p:spPr>
      </p:sp>
      <p:sp>
        <p:nvSpPr>
          <p:cNvPr id="5" name="Shape 3"/>
          <p:cNvSpPr/>
          <p:nvPr/>
        </p:nvSpPr>
        <p:spPr>
          <a:xfrm>
            <a:off x="274320" y="1005840"/>
            <a:ext cx="2697480" cy="475488"/>
          </a:xfrm>
          <a:prstGeom prst="rect">
            <a:avLst/>
          </a:prstGeom>
          <a:solidFill>
            <a:srgbClr val="8B1A1A"/>
          </a:solidFill>
          <a:ln w="12700">
            <a:solidFill>
              <a:srgbClr val="8B1A1A"/>
            </a:solidFill>
            <a:prstDash val="solid"/>
          </a:ln>
        </p:spPr>
      </p:sp>
      <p:sp>
        <p:nvSpPr>
          <p:cNvPr id="6" name="Text 4"/>
          <p:cNvSpPr/>
          <p:nvPr/>
        </p:nvSpPr>
        <p:spPr>
          <a:xfrm>
            <a:off x="365760" y="1005840"/>
            <a:ext cx="251460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Grand Opening Offer</a:t>
            </a:r>
            <a:endParaRPr lang="en-US" sz="1100" dirty="0"/>
          </a:p>
        </p:txBody>
      </p:sp>
      <p:sp>
        <p:nvSpPr>
          <p:cNvPr id="7" name="Text 5"/>
          <p:cNvSpPr/>
          <p:nvPr/>
        </p:nvSpPr>
        <p:spPr>
          <a:xfrm>
            <a:off x="365760" y="1527048"/>
            <a:ext cx="2514600" cy="822960"/>
          </a:xfrm>
          <a:prstGeom prst="rect">
            <a:avLst/>
          </a:prstGeom>
          <a:noFill/>
          <a:ln/>
        </p:spPr>
        <p:txBody>
          <a:bodyPr wrap="square" rtlCol="0" anchor="t"/>
          <a:lstStyle/>
          <a:p>
            <a:pPr indent="0" marL="0">
              <a:buNone/>
            </a:pPr>
            <a:r>
              <a:rPr lang="en-US" sz="1050" dirty="0">
                <a:solidFill>
                  <a:srgbClr val="444444"/>
                </a:solidFill>
                <a:latin typeface="Calibri" pitchFamily="34" charset="0"/>
                <a:ea typeface="Calibri" pitchFamily="34" charset="-122"/>
                <a:cs typeface="Calibri" pitchFamily="34" charset="-120"/>
              </a:rPr>
              <a:t>First 100 customers get 20% off. Create urgency and early buzz.</a:t>
            </a:r>
            <a:endParaRPr lang="en-US" sz="1050" dirty="0"/>
          </a:p>
        </p:txBody>
      </p:sp>
      <p:sp>
        <p:nvSpPr>
          <p:cNvPr id="8" name="Shape 6"/>
          <p:cNvSpPr/>
          <p:nvPr/>
        </p:nvSpPr>
        <p:spPr>
          <a:xfrm>
            <a:off x="365760" y="2423160"/>
            <a:ext cx="822960" cy="219456"/>
          </a:xfrm>
          <a:prstGeom prst="rect">
            <a:avLst/>
          </a:prstGeom>
          <a:solidFill>
            <a:srgbClr val="8B1A1A"/>
          </a:solidFill>
          <a:ln w="12700">
            <a:solidFill>
              <a:srgbClr val="8B1A1A"/>
            </a:solidFill>
            <a:prstDash val="solid"/>
          </a:ln>
        </p:spPr>
      </p:sp>
      <p:sp>
        <p:nvSpPr>
          <p:cNvPr id="9" name="Text 7"/>
          <p:cNvSpPr/>
          <p:nvPr/>
        </p:nvSpPr>
        <p:spPr>
          <a:xfrm>
            <a:off x="365760" y="2423160"/>
            <a:ext cx="822960" cy="219456"/>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Days 1–7</a:t>
            </a:r>
            <a:endParaRPr lang="en-US" sz="850" dirty="0"/>
          </a:p>
        </p:txBody>
      </p:sp>
      <p:sp>
        <p:nvSpPr>
          <p:cNvPr id="10" name="Shape 8"/>
          <p:cNvSpPr/>
          <p:nvPr/>
        </p:nvSpPr>
        <p:spPr>
          <a:xfrm>
            <a:off x="3200400" y="1005840"/>
            <a:ext cx="2697480" cy="1691640"/>
          </a:xfrm>
          <a:prstGeom prst="rect">
            <a:avLst/>
          </a:prstGeom>
          <a:solidFill>
            <a:srgbClr val="FFFFFF"/>
          </a:solidFill>
          <a:ln w="6350">
            <a:solidFill>
              <a:srgbClr val="DDDDDD"/>
            </a:solidFill>
            <a:prstDash val="solid"/>
          </a:ln>
          <a:effectLst>
            <a:outerShdw sx="100000" sy="100000" kx="0" ky="0" algn="bl" rotWithShape="0" blurRad="63500" dist="25400" dir="8100000">
              <a:srgbClr val="000000">
                <a:alpha val="10000"/>
              </a:srgbClr>
            </a:outerShdw>
          </a:effectLst>
        </p:spPr>
      </p:sp>
      <p:sp>
        <p:nvSpPr>
          <p:cNvPr id="11" name="Shape 9"/>
          <p:cNvSpPr/>
          <p:nvPr/>
        </p:nvSpPr>
        <p:spPr>
          <a:xfrm>
            <a:off x="3200400" y="1005840"/>
            <a:ext cx="2697480" cy="475488"/>
          </a:xfrm>
          <a:prstGeom prst="rect">
            <a:avLst/>
          </a:prstGeom>
          <a:solidFill>
            <a:srgbClr val="1877F2"/>
          </a:solidFill>
          <a:ln w="12700">
            <a:solidFill>
              <a:srgbClr val="1877F2"/>
            </a:solidFill>
            <a:prstDash val="solid"/>
          </a:ln>
        </p:spPr>
      </p:sp>
      <p:sp>
        <p:nvSpPr>
          <p:cNvPr id="12" name="Text 10"/>
          <p:cNvSpPr/>
          <p:nvPr/>
        </p:nvSpPr>
        <p:spPr>
          <a:xfrm>
            <a:off x="3291840" y="1005840"/>
            <a:ext cx="251460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Tag a Noodle Buddy</a:t>
            </a:r>
            <a:endParaRPr lang="en-US" sz="1100" dirty="0"/>
          </a:p>
        </p:txBody>
      </p:sp>
      <p:sp>
        <p:nvSpPr>
          <p:cNvPr id="13" name="Text 11"/>
          <p:cNvSpPr/>
          <p:nvPr/>
        </p:nvSpPr>
        <p:spPr>
          <a:xfrm>
            <a:off x="3291840" y="1527048"/>
            <a:ext cx="2514600" cy="822960"/>
          </a:xfrm>
          <a:prstGeom prst="rect">
            <a:avLst/>
          </a:prstGeom>
          <a:noFill/>
          <a:ln/>
        </p:spPr>
        <p:txBody>
          <a:bodyPr wrap="square" rtlCol="0" anchor="t"/>
          <a:lstStyle/>
          <a:p>
            <a:pPr indent="0" marL="0">
              <a:buNone/>
            </a:pPr>
            <a:r>
              <a:rPr lang="en-US" sz="1050" dirty="0">
                <a:solidFill>
                  <a:srgbClr val="444444"/>
                </a:solidFill>
                <a:latin typeface="Calibri" pitchFamily="34" charset="0"/>
                <a:ea typeface="Calibri" pitchFamily="34" charset="-122"/>
                <a:cs typeface="Calibri" pitchFamily="34" charset="-120"/>
              </a:rPr>
              <a:t>'Tag a friend who needs noodles' contest. Winner gets free bowls for two.</a:t>
            </a:r>
            <a:endParaRPr lang="en-US" sz="1050" dirty="0"/>
          </a:p>
        </p:txBody>
      </p:sp>
      <p:sp>
        <p:nvSpPr>
          <p:cNvPr id="14" name="Shape 12"/>
          <p:cNvSpPr/>
          <p:nvPr/>
        </p:nvSpPr>
        <p:spPr>
          <a:xfrm>
            <a:off x="3291840" y="2423160"/>
            <a:ext cx="822960" cy="219456"/>
          </a:xfrm>
          <a:prstGeom prst="rect">
            <a:avLst/>
          </a:prstGeom>
          <a:solidFill>
            <a:srgbClr val="1877F2"/>
          </a:solidFill>
          <a:ln w="12700">
            <a:solidFill>
              <a:srgbClr val="1877F2"/>
            </a:solidFill>
            <a:prstDash val="solid"/>
          </a:ln>
        </p:spPr>
      </p:sp>
      <p:sp>
        <p:nvSpPr>
          <p:cNvPr id="15" name="Text 13"/>
          <p:cNvSpPr/>
          <p:nvPr/>
        </p:nvSpPr>
        <p:spPr>
          <a:xfrm>
            <a:off x="3291840" y="2423160"/>
            <a:ext cx="822960" cy="219456"/>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Week 2</a:t>
            </a:r>
            <a:endParaRPr lang="en-US" sz="850" dirty="0"/>
          </a:p>
        </p:txBody>
      </p:sp>
      <p:sp>
        <p:nvSpPr>
          <p:cNvPr id="16" name="Shape 14"/>
          <p:cNvSpPr/>
          <p:nvPr/>
        </p:nvSpPr>
        <p:spPr>
          <a:xfrm>
            <a:off x="6126480" y="1005840"/>
            <a:ext cx="2697480" cy="1691640"/>
          </a:xfrm>
          <a:prstGeom prst="rect">
            <a:avLst/>
          </a:prstGeom>
          <a:solidFill>
            <a:srgbClr val="FFFFFF"/>
          </a:solidFill>
          <a:ln w="6350">
            <a:solidFill>
              <a:srgbClr val="DDDDDD"/>
            </a:solidFill>
            <a:prstDash val="solid"/>
          </a:ln>
          <a:effectLst>
            <a:outerShdw sx="100000" sy="100000" kx="0" ky="0" algn="bl" rotWithShape="0" blurRad="63500" dist="25400" dir="8100000">
              <a:srgbClr val="000000">
                <a:alpha val="10000"/>
              </a:srgbClr>
            </a:outerShdw>
          </a:effectLst>
        </p:spPr>
      </p:sp>
      <p:sp>
        <p:nvSpPr>
          <p:cNvPr id="17" name="Shape 15"/>
          <p:cNvSpPr/>
          <p:nvPr/>
        </p:nvSpPr>
        <p:spPr>
          <a:xfrm>
            <a:off x="6126480" y="1005840"/>
            <a:ext cx="2697480" cy="475488"/>
          </a:xfrm>
          <a:prstGeom prst="rect">
            <a:avLst/>
          </a:prstGeom>
          <a:solidFill>
            <a:srgbClr val="4A7C59"/>
          </a:solidFill>
          <a:ln w="12700">
            <a:solidFill>
              <a:srgbClr val="4A7C59"/>
            </a:solidFill>
            <a:prstDash val="solid"/>
          </a:ln>
        </p:spPr>
      </p:sp>
      <p:sp>
        <p:nvSpPr>
          <p:cNvPr id="18" name="Text 16"/>
          <p:cNvSpPr/>
          <p:nvPr/>
        </p:nvSpPr>
        <p:spPr>
          <a:xfrm>
            <a:off x="6217920" y="1005840"/>
            <a:ext cx="251460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Student Lunch Combo</a:t>
            </a:r>
            <a:endParaRPr lang="en-US" sz="1100" dirty="0"/>
          </a:p>
        </p:txBody>
      </p:sp>
      <p:sp>
        <p:nvSpPr>
          <p:cNvPr id="19" name="Text 17"/>
          <p:cNvSpPr/>
          <p:nvPr/>
        </p:nvSpPr>
        <p:spPr>
          <a:xfrm>
            <a:off x="6217920" y="1527048"/>
            <a:ext cx="2514600" cy="822960"/>
          </a:xfrm>
          <a:prstGeom prst="rect">
            <a:avLst/>
          </a:prstGeom>
          <a:noFill/>
          <a:ln/>
        </p:spPr>
        <p:txBody>
          <a:bodyPr wrap="square" rtlCol="0" anchor="t"/>
          <a:lstStyle/>
          <a:p>
            <a:pPr indent="0" marL="0">
              <a:buNone/>
            </a:pPr>
            <a:r>
              <a:rPr lang="en-US" sz="1050" dirty="0">
                <a:solidFill>
                  <a:srgbClr val="444444"/>
                </a:solidFill>
                <a:latin typeface="Calibri" pitchFamily="34" charset="0"/>
                <a:ea typeface="Calibri" pitchFamily="34" charset="-122"/>
                <a:cs typeface="Calibri" pitchFamily="34" charset="-120"/>
              </a:rPr>
              <a:t>Show college ID, get a combo at ₹149. Target students on Facebook.</a:t>
            </a:r>
            <a:endParaRPr lang="en-US" sz="1050" dirty="0"/>
          </a:p>
        </p:txBody>
      </p:sp>
      <p:sp>
        <p:nvSpPr>
          <p:cNvPr id="20" name="Shape 18"/>
          <p:cNvSpPr/>
          <p:nvPr/>
        </p:nvSpPr>
        <p:spPr>
          <a:xfrm>
            <a:off x="6217920" y="2423160"/>
            <a:ext cx="822960" cy="219456"/>
          </a:xfrm>
          <a:prstGeom prst="rect">
            <a:avLst/>
          </a:prstGeom>
          <a:solidFill>
            <a:srgbClr val="4A7C59"/>
          </a:solidFill>
          <a:ln w="12700">
            <a:solidFill>
              <a:srgbClr val="4A7C59"/>
            </a:solidFill>
            <a:prstDash val="solid"/>
          </a:ln>
        </p:spPr>
      </p:sp>
      <p:sp>
        <p:nvSpPr>
          <p:cNvPr id="21" name="Text 19"/>
          <p:cNvSpPr/>
          <p:nvPr/>
        </p:nvSpPr>
        <p:spPr>
          <a:xfrm>
            <a:off x="6217920" y="2423160"/>
            <a:ext cx="822960" cy="219456"/>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Ongoing</a:t>
            </a:r>
            <a:endParaRPr lang="en-US" sz="850" dirty="0"/>
          </a:p>
        </p:txBody>
      </p:sp>
      <p:sp>
        <p:nvSpPr>
          <p:cNvPr id="22" name="Shape 20"/>
          <p:cNvSpPr/>
          <p:nvPr/>
        </p:nvSpPr>
        <p:spPr>
          <a:xfrm>
            <a:off x="274320" y="2880360"/>
            <a:ext cx="2697480" cy="1691640"/>
          </a:xfrm>
          <a:prstGeom prst="rect">
            <a:avLst/>
          </a:prstGeom>
          <a:solidFill>
            <a:srgbClr val="FFFFFF"/>
          </a:solidFill>
          <a:ln w="6350">
            <a:solidFill>
              <a:srgbClr val="DDDDDD"/>
            </a:solidFill>
            <a:prstDash val="solid"/>
          </a:ln>
          <a:effectLst>
            <a:outerShdw sx="100000" sy="100000" kx="0" ky="0" algn="bl" rotWithShape="0" blurRad="63500" dist="25400" dir="8100000">
              <a:srgbClr val="000000">
                <a:alpha val="10000"/>
              </a:srgbClr>
            </a:outerShdw>
          </a:effectLst>
        </p:spPr>
      </p:sp>
      <p:sp>
        <p:nvSpPr>
          <p:cNvPr id="23" name="Shape 21"/>
          <p:cNvSpPr/>
          <p:nvPr/>
        </p:nvSpPr>
        <p:spPr>
          <a:xfrm>
            <a:off x="274320" y="2880360"/>
            <a:ext cx="2697480" cy="475488"/>
          </a:xfrm>
          <a:prstGeom prst="rect">
            <a:avLst/>
          </a:prstGeom>
          <a:solidFill>
            <a:srgbClr val="D4890A"/>
          </a:solidFill>
          <a:ln w="12700">
            <a:solidFill>
              <a:srgbClr val="D4890A"/>
            </a:solidFill>
            <a:prstDash val="solid"/>
          </a:ln>
        </p:spPr>
      </p:sp>
      <p:sp>
        <p:nvSpPr>
          <p:cNvPr id="24" name="Text 22"/>
          <p:cNvSpPr/>
          <p:nvPr/>
        </p:nvSpPr>
        <p:spPr>
          <a:xfrm>
            <a:off x="365760" y="2880360"/>
            <a:ext cx="251460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Office Bulk Order Deal</a:t>
            </a:r>
            <a:endParaRPr lang="en-US" sz="1100" dirty="0"/>
          </a:p>
        </p:txBody>
      </p:sp>
      <p:sp>
        <p:nvSpPr>
          <p:cNvPr id="25" name="Text 23"/>
          <p:cNvSpPr/>
          <p:nvPr/>
        </p:nvSpPr>
        <p:spPr>
          <a:xfrm>
            <a:off x="365760" y="3401568"/>
            <a:ext cx="2514600" cy="822960"/>
          </a:xfrm>
          <a:prstGeom prst="rect">
            <a:avLst/>
          </a:prstGeom>
          <a:noFill/>
          <a:ln/>
        </p:spPr>
        <p:txBody>
          <a:bodyPr wrap="square" rtlCol="0" anchor="t"/>
          <a:lstStyle/>
          <a:p>
            <a:pPr indent="0" marL="0">
              <a:buNone/>
            </a:pPr>
            <a:r>
              <a:rPr lang="en-US" sz="1050" dirty="0">
                <a:solidFill>
                  <a:srgbClr val="444444"/>
                </a:solidFill>
                <a:latin typeface="Calibri" pitchFamily="34" charset="0"/>
                <a:ea typeface="Calibri" pitchFamily="34" charset="-122"/>
                <a:cs typeface="Calibri" pitchFamily="34" charset="-120"/>
              </a:rPr>
              <a:t>Order 5 bowls, get 1 free. Target nearby offices via Facebook local ads.</a:t>
            </a:r>
            <a:endParaRPr lang="en-US" sz="1050" dirty="0"/>
          </a:p>
        </p:txBody>
      </p:sp>
      <p:sp>
        <p:nvSpPr>
          <p:cNvPr id="26" name="Shape 24"/>
          <p:cNvSpPr/>
          <p:nvPr/>
        </p:nvSpPr>
        <p:spPr>
          <a:xfrm>
            <a:off x="365760" y="4297680"/>
            <a:ext cx="822960" cy="219456"/>
          </a:xfrm>
          <a:prstGeom prst="rect">
            <a:avLst/>
          </a:prstGeom>
          <a:solidFill>
            <a:srgbClr val="D4890A"/>
          </a:solidFill>
          <a:ln w="12700">
            <a:solidFill>
              <a:srgbClr val="D4890A"/>
            </a:solidFill>
            <a:prstDash val="solid"/>
          </a:ln>
        </p:spPr>
      </p:sp>
      <p:sp>
        <p:nvSpPr>
          <p:cNvPr id="27" name="Text 25"/>
          <p:cNvSpPr/>
          <p:nvPr/>
        </p:nvSpPr>
        <p:spPr>
          <a:xfrm>
            <a:off x="365760" y="4297680"/>
            <a:ext cx="822960" cy="219456"/>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Week 3+</a:t>
            </a:r>
            <a:endParaRPr lang="en-US" sz="850" dirty="0"/>
          </a:p>
        </p:txBody>
      </p:sp>
      <p:sp>
        <p:nvSpPr>
          <p:cNvPr id="28" name="Shape 26"/>
          <p:cNvSpPr/>
          <p:nvPr/>
        </p:nvSpPr>
        <p:spPr>
          <a:xfrm>
            <a:off x="3200400" y="2880360"/>
            <a:ext cx="2697480" cy="1691640"/>
          </a:xfrm>
          <a:prstGeom prst="rect">
            <a:avLst/>
          </a:prstGeom>
          <a:solidFill>
            <a:srgbClr val="FFFFFF"/>
          </a:solidFill>
          <a:ln w="6350">
            <a:solidFill>
              <a:srgbClr val="DDDDDD"/>
            </a:solidFill>
            <a:prstDash val="solid"/>
          </a:ln>
          <a:effectLst>
            <a:outerShdw sx="100000" sy="100000" kx="0" ky="0" algn="bl" rotWithShape="0" blurRad="63500" dist="25400" dir="8100000">
              <a:srgbClr val="000000">
                <a:alpha val="10000"/>
              </a:srgbClr>
            </a:outerShdw>
          </a:effectLst>
        </p:spPr>
      </p:sp>
      <p:sp>
        <p:nvSpPr>
          <p:cNvPr id="29" name="Shape 27"/>
          <p:cNvSpPr/>
          <p:nvPr/>
        </p:nvSpPr>
        <p:spPr>
          <a:xfrm>
            <a:off x="3200400" y="2880360"/>
            <a:ext cx="2697480" cy="475488"/>
          </a:xfrm>
          <a:prstGeom prst="rect">
            <a:avLst/>
          </a:prstGeom>
          <a:solidFill>
            <a:srgbClr val="7B2D8B"/>
          </a:solidFill>
          <a:ln w="12700">
            <a:solidFill>
              <a:srgbClr val="7B2D8B"/>
            </a:solidFill>
            <a:prstDash val="solid"/>
          </a:ln>
        </p:spPr>
      </p:sp>
      <p:sp>
        <p:nvSpPr>
          <p:cNvPr id="30" name="Text 28"/>
          <p:cNvSpPr/>
          <p:nvPr/>
        </p:nvSpPr>
        <p:spPr>
          <a:xfrm>
            <a:off x="3291840" y="2880360"/>
            <a:ext cx="251460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Weekend Family Noodle Box</a:t>
            </a:r>
            <a:endParaRPr lang="en-US" sz="1100" dirty="0"/>
          </a:p>
        </p:txBody>
      </p:sp>
      <p:sp>
        <p:nvSpPr>
          <p:cNvPr id="31" name="Text 29"/>
          <p:cNvSpPr/>
          <p:nvPr/>
        </p:nvSpPr>
        <p:spPr>
          <a:xfrm>
            <a:off x="3291840" y="3401568"/>
            <a:ext cx="2514600" cy="822960"/>
          </a:xfrm>
          <a:prstGeom prst="rect">
            <a:avLst/>
          </a:prstGeom>
          <a:noFill/>
          <a:ln/>
        </p:spPr>
        <p:txBody>
          <a:bodyPr wrap="square" rtlCol="0" anchor="t"/>
          <a:lstStyle/>
          <a:p>
            <a:pPr indent="0" marL="0">
              <a:buNone/>
            </a:pPr>
            <a:r>
              <a:rPr lang="en-US" sz="1050" dirty="0">
                <a:solidFill>
                  <a:srgbClr val="444444"/>
                </a:solidFill>
                <a:latin typeface="Calibri" pitchFamily="34" charset="0"/>
                <a:ea typeface="Calibri" pitchFamily="34" charset="-122"/>
                <a:cs typeface="Calibri" pitchFamily="34" charset="-120"/>
              </a:rPr>
              <a:t>Family box for 4 at ₹599. Post Friday–Saturday with delivery link.</a:t>
            </a:r>
            <a:endParaRPr lang="en-US" sz="1050" dirty="0"/>
          </a:p>
        </p:txBody>
      </p:sp>
      <p:sp>
        <p:nvSpPr>
          <p:cNvPr id="32" name="Shape 30"/>
          <p:cNvSpPr/>
          <p:nvPr/>
        </p:nvSpPr>
        <p:spPr>
          <a:xfrm>
            <a:off x="3291840" y="4297680"/>
            <a:ext cx="822960" cy="219456"/>
          </a:xfrm>
          <a:prstGeom prst="rect">
            <a:avLst/>
          </a:prstGeom>
          <a:solidFill>
            <a:srgbClr val="7B2D8B"/>
          </a:solidFill>
          <a:ln w="12700">
            <a:solidFill>
              <a:srgbClr val="7B2D8B"/>
            </a:solidFill>
            <a:prstDash val="solid"/>
          </a:ln>
        </p:spPr>
      </p:sp>
      <p:sp>
        <p:nvSpPr>
          <p:cNvPr id="33" name="Text 31"/>
          <p:cNvSpPr/>
          <p:nvPr/>
        </p:nvSpPr>
        <p:spPr>
          <a:xfrm>
            <a:off x="3291840" y="4297680"/>
            <a:ext cx="822960" cy="219456"/>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Weekly</a:t>
            </a:r>
            <a:endParaRPr lang="en-US" sz="850" dirty="0"/>
          </a:p>
        </p:txBody>
      </p:sp>
      <p:sp>
        <p:nvSpPr>
          <p:cNvPr id="34" name="Shape 32"/>
          <p:cNvSpPr/>
          <p:nvPr/>
        </p:nvSpPr>
        <p:spPr>
          <a:xfrm>
            <a:off x="6126480" y="2880360"/>
            <a:ext cx="2697480" cy="1691640"/>
          </a:xfrm>
          <a:prstGeom prst="rect">
            <a:avLst/>
          </a:prstGeom>
          <a:solidFill>
            <a:srgbClr val="FFFFFF"/>
          </a:solidFill>
          <a:ln w="6350">
            <a:solidFill>
              <a:srgbClr val="DDDDDD"/>
            </a:solidFill>
            <a:prstDash val="solid"/>
          </a:ln>
          <a:effectLst>
            <a:outerShdw sx="100000" sy="100000" kx="0" ky="0" algn="bl" rotWithShape="0" blurRad="63500" dist="25400" dir="8100000">
              <a:srgbClr val="000000">
                <a:alpha val="10000"/>
              </a:srgbClr>
            </a:outerShdw>
          </a:effectLst>
        </p:spPr>
      </p:sp>
      <p:sp>
        <p:nvSpPr>
          <p:cNvPr id="35" name="Shape 33"/>
          <p:cNvSpPr/>
          <p:nvPr/>
        </p:nvSpPr>
        <p:spPr>
          <a:xfrm>
            <a:off x="6126480" y="2880360"/>
            <a:ext cx="2697480" cy="475488"/>
          </a:xfrm>
          <a:prstGeom prst="rect">
            <a:avLst/>
          </a:prstGeom>
          <a:solidFill>
            <a:srgbClr val="8B1A1A"/>
          </a:solidFill>
          <a:ln w="12700">
            <a:solidFill>
              <a:srgbClr val="8B1A1A"/>
            </a:solidFill>
            <a:prstDash val="solid"/>
          </a:ln>
        </p:spPr>
      </p:sp>
      <p:sp>
        <p:nvSpPr>
          <p:cNvPr id="36" name="Text 34"/>
          <p:cNvSpPr/>
          <p:nvPr/>
        </p:nvSpPr>
        <p:spPr>
          <a:xfrm>
            <a:off x="6217920" y="2880360"/>
            <a:ext cx="251460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Review &amp; Win</a:t>
            </a:r>
            <a:endParaRPr lang="en-US" sz="1100" dirty="0"/>
          </a:p>
        </p:txBody>
      </p:sp>
      <p:sp>
        <p:nvSpPr>
          <p:cNvPr id="37" name="Text 35"/>
          <p:cNvSpPr/>
          <p:nvPr/>
        </p:nvSpPr>
        <p:spPr>
          <a:xfrm>
            <a:off x="6217920" y="3401568"/>
            <a:ext cx="2514600" cy="822960"/>
          </a:xfrm>
          <a:prstGeom prst="rect">
            <a:avLst/>
          </a:prstGeom>
          <a:noFill/>
          <a:ln/>
        </p:spPr>
        <p:txBody>
          <a:bodyPr wrap="square" rtlCol="0" anchor="t"/>
          <a:lstStyle/>
          <a:p>
            <a:pPr indent="0" marL="0">
              <a:buNone/>
            </a:pPr>
            <a:r>
              <a:rPr lang="en-US" sz="1050" dirty="0">
                <a:solidFill>
                  <a:srgbClr val="444444"/>
                </a:solidFill>
                <a:latin typeface="Calibri" pitchFamily="34" charset="0"/>
                <a:ea typeface="Calibri" pitchFamily="34" charset="-122"/>
                <a:cs typeface="Calibri" pitchFamily="34" charset="-120"/>
              </a:rPr>
              <a:t>Leave a Facebook review, get entered into a monthly lucky draw for free meals.</a:t>
            </a:r>
            <a:endParaRPr lang="en-US" sz="1050" dirty="0"/>
          </a:p>
        </p:txBody>
      </p:sp>
      <p:sp>
        <p:nvSpPr>
          <p:cNvPr id="38" name="Shape 36"/>
          <p:cNvSpPr/>
          <p:nvPr/>
        </p:nvSpPr>
        <p:spPr>
          <a:xfrm>
            <a:off x="6217920" y="4297680"/>
            <a:ext cx="822960" cy="219456"/>
          </a:xfrm>
          <a:prstGeom prst="rect">
            <a:avLst/>
          </a:prstGeom>
          <a:solidFill>
            <a:srgbClr val="8B1A1A"/>
          </a:solidFill>
          <a:ln w="12700">
            <a:solidFill>
              <a:srgbClr val="8B1A1A"/>
            </a:solidFill>
            <a:prstDash val="solid"/>
          </a:ln>
        </p:spPr>
      </p:sp>
      <p:sp>
        <p:nvSpPr>
          <p:cNvPr id="39" name="Text 37"/>
          <p:cNvSpPr/>
          <p:nvPr/>
        </p:nvSpPr>
        <p:spPr>
          <a:xfrm>
            <a:off x="6217920" y="4297680"/>
            <a:ext cx="822960" cy="219456"/>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Monthly</a:t>
            </a:r>
            <a:endParaRPr lang="en-US" sz="850" dirty="0"/>
          </a:p>
        </p:txBody>
      </p:sp>
      <p:sp>
        <p:nvSpPr>
          <p:cNvPr id="40" name="Text 38"/>
          <p:cNvSpPr/>
          <p:nvPr/>
        </p:nvSpPr>
        <p:spPr>
          <a:xfrm>
            <a:off x="274320" y="4892040"/>
            <a:ext cx="7680960" cy="182880"/>
          </a:xfrm>
          <a:prstGeom prst="rect">
            <a:avLst/>
          </a:prstGeom>
          <a:noFill/>
          <a:ln/>
        </p:spPr>
        <p:txBody>
          <a:bodyPr wrap="square" rtlCol="0" anchor="ctr"/>
          <a:lstStyle/>
          <a:p>
            <a:pPr algn="l" indent="0" marL="0">
              <a:buNone/>
            </a:pPr>
            <a:r>
              <a:rPr lang="en-US" sz="800" dirty="0">
                <a:solidFill>
                  <a:srgbClr val="AAAAAA"/>
                </a:solidFill>
                <a:latin typeface="Calibri" pitchFamily="34" charset="0"/>
                <a:ea typeface="Calibri" pitchFamily="34" charset="-122"/>
                <a:cs typeface="Calibri" pitchFamily="34" charset="-120"/>
              </a:rPr>
              <a:t>Noodle House  |  Facebook Marketing Strategy</a:t>
            </a:r>
            <a:endParaRPr lang="en-US" sz="800" dirty="0"/>
          </a:p>
        </p:txBody>
      </p:sp>
      <p:sp>
        <p:nvSpPr>
          <p:cNvPr id="41" name="Text 39"/>
          <p:cNvSpPr/>
          <p:nvPr/>
        </p:nvSpPr>
        <p:spPr>
          <a:xfrm>
            <a:off x="8595360" y="4892040"/>
            <a:ext cx="365760" cy="182880"/>
          </a:xfrm>
          <a:prstGeom prst="rect">
            <a:avLst/>
          </a:prstGeom>
          <a:noFill/>
          <a:ln/>
        </p:spPr>
        <p:txBody>
          <a:bodyPr wrap="square"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B2B2B"/>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8B1A1A"/>
          </a:solidFill>
          <a:ln w="12700">
            <a:solidFill>
              <a:srgbClr val="8B1A1A"/>
            </a:solidFill>
            <a:prstDash val="solid"/>
          </a:ln>
        </p:spPr>
      </p:sp>
      <p:sp>
        <p:nvSpPr>
          <p:cNvPr id="3" name="Text 1"/>
          <p:cNvSpPr/>
          <p:nvPr/>
        </p:nvSpPr>
        <p:spPr>
          <a:xfrm>
            <a:off x="365760" y="0"/>
            <a:ext cx="8412480" cy="8686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Measurement, KPIs &amp; Budget</a:t>
            </a:r>
            <a:endParaRPr lang="en-US" sz="2600" dirty="0"/>
          </a:p>
        </p:txBody>
      </p:sp>
      <p:sp>
        <p:nvSpPr>
          <p:cNvPr id="4" name="Text 2"/>
          <p:cNvSpPr/>
          <p:nvPr/>
        </p:nvSpPr>
        <p:spPr>
          <a:xfrm>
            <a:off x="365760" y="932688"/>
            <a:ext cx="5029200" cy="365760"/>
          </a:xfrm>
          <a:prstGeom prst="rect">
            <a:avLst/>
          </a:prstGeom>
          <a:noFill/>
          <a:ln/>
        </p:spPr>
        <p:txBody>
          <a:bodyPr wrap="square" rtlCol="0" anchor="ctr"/>
          <a:lstStyle/>
          <a:p>
            <a:pPr indent="0" marL="0">
              <a:buNone/>
            </a:pPr>
            <a:r>
              <a:rPr lang="en-US" sz="1300" b="1" dirty="0">
                <a:solidFill>
                  <a:srgbClr val="E8A020"/>
                </a:solidFill>
                <a:latin typeface="Calibri" pitchFamily="34" charset="0"/>
                <a:ea typeface="Calibri" pitchFamily="34" charset="-122"/>
                <a:cs typeface="Calibri" pitchFamily="34" charset="-120"/>
              </a:rPr>
              <a:t>Key Performance Indicators (Track Weekly)</a:t>
            </a:r>
            <a:endParaRPr lang="en-US" sz="1300" dirty="0"/>
          </a:p>
        </p:txBody>
      </p:sp>
      <p:sp>
        <p:nvSpPr>
          <p:cNvPr id="5" name="Shape 3"/>
          <p:cNvSpPr/>
          <p:nvPr/>
        </p:nvSpPr>
        <p:spPr>
          <a:xfrm>
            <a:off x="320040" y="1389888"/>
            <a:ext cx="1508760" cy="749808"/>
          </a:xfrm>
          <a:prstGeom prst="rect">
            <a:avLst/>
          </a:prstGeom>
          <a:solidFill>
            <a:srgbClr val="333333"/>
          </a:solidFill>
          <a:ln w="12700">
            <a:solidFill>
              <a:srgbClr val="1877F2"/>
            </a:solidFill>
            <a:prstDash val="solid"/>
          </a:ln>
        </p:spPr>
      </p:sp>
      <p:sp>
        <p:nvSpPr>
          <p:cNvPr id="6" name="Shape 4"/>
          <p:cNvSpPr/>
          <p:nvPr/>
        </p:nvSpPr>
        <p:spPr>
          <a:xfrm>
            <a:off x="320040" y="1389888"/>
            <a:ext cx="1508760" cy="109728"/>
          </a:xfrm>
          <a:prstGeom prst="rect">
            <a:avLst/>
          </a:prstGeom>
          <a:solidFill>
            <a:srgbClr val="1877F2"/>
          </a:solidFill>
          <a:ln w="12700">
            <a:solidFill>
              <a:srgbClr val="1877F2"/>
            </a:solidFill>
            <a:prstDash val="solid"/>
          </a:ln>
        </p:spPr>
      </p:sp>
      <p:sp>
        <p:nvSpPr>
          <p:cNvPr id="7" name="Text 5"/>
          <p:cNvSpPr/>
          <p:nvPr/>
        </p:nvSpPr>
        <p:spPr>
          <a:xfrm>
            <a:off x="320040" y="1517904"/>
            <a:ext cx="1508760" cy="347472"/>
          </a:xfrm>
          <a:prstGeom prst="rect">
            <a:avLst/>
          </a:prstGeom>
          <a:noFill/>
          <a:ln/>
        </p:spPr>
        <p:txBody>
          <a:bodyPr wrap="square" rtlCol="0" anchor="ctr"/>
          <a:lstStyle/>
          <a:p>
            <a:pPr algn="ctr" indent="0" marL="0">
              <a:buNone/>
            </a:pPr>
            <a:r>
              <a:rPr lang="en-US" sz="1800" b="1" dirty="0">
                <a:solidFill>
                  <a:srgbClr val="1877F2"/>
                </a:solidFill>
                <a:latin typeface="Calibri" pitchFamily="34" charset="0"/>
                <a:ea typeface="Calibri" pitchFamily="34" charset="-122"/>
                <a:cs typeface="Calibri" pitchFamily="34" charset="-120"/>
              </a:rPr>
              <a:t>5,000+/wk</a:t>
            </a:r>
            <a:endParaRPr lang="en-US" sz="1800" dirty="0"/>
          </a:p>
        </p:txBody>
      </p:sp>
      <p:sp>
        <p:nvSpPr>
          <p:cNvPr id="8" name="Text 6"/>
          <p:cNvSpPr/>
          <p:nvPr/>
        </p:nvSpPr>
        <p:spPr>
          <a:xfrm>
            <a:off x="320040" y="1847088"/>
            <a:ext cx="1508760" cy="274320"/>
          </a:xfrm>
          <a:prstGeom prst="rect">
            <a:avLst/>
          </a:prstGeom>
          <a:noFill/>
          <a:ln/>
        </p:spPr>
        <p:txBody>
          <a:bodyPr wrap="square" rtlCol="0" anchor="ctr"/>
          <a:lstStyle/>
          <a:p>
            <a:pPr algn="ctr" indent="0" marL="0">
              <a:buNone/>
            </a:pPr>
            <a:r>
              <a:rPr lang="en-US" sz="850" dirty="0">
                <a:solidFill>
                  <a:srgbClr val="CCCCCC"/>
                </a:solidFill>
                <a:latin typeface="Calibri" pitchFamily="34" charset="0"/>
                <a:ea typeface="Calibri" pitchFamily="34" charset="-122"/>
                <a:cs typeface="Calibri" pitchFamily="34" charset="-120"/>
              </a:rPr>
              <a:t>Page Reach</a:t>
            </a:r>
            <a:endParaRPr lang="en-US" sz="850" dirty="0"/>
          </a:p>
        </p:txBody>
      </p:sp>
      <p:sp>
        <p:nvSpPr>
          <p:cNvPr id="9" name="Shape 7"/>
          <p:cNvSpPr/>
          <p:nvPr/>
        </p:nvSpPr>
        <p:spPr>
          <a:xfrm>
            <a:off x="2011680" y="1389888"/>
            <a:ext cx="1508760" cy="749808"/>
          </a:xfrm>
          <a:prstGeom prst="rect">
            <a:avLst/>
          </a:prstGeom>
          <a:solidFill>
            <a:srgbClr val="333333"/>
          </a:solidFill>
          <a:ln w="12700">
            <a:solidFill>
              <a:srgbClr val="8B1A1A"/>
            </a:solidFill>
            <a:prstDash val="solid"/>
          </a:ln>
        </p:spPr>
      </p:sp>
      <p:sp>
        <p:nvSpPr>
          <p:cNvPr id="10" name="Shape 8"/>
          <p:cNvSpPr/>
          <p:nvPr/>
        </p:nvSpPr>
        <p:spPr>
          <a:xfrm>
            <a:off x="2011680" y="1389888"/>
            <a:ext cx="1508760" cy="109728"/>
          </a:xfrm>
          <a:prstGeom prst="rect">
            <a:avLst/>
          </a:prstGeom>
          <a:solidFill>
            <a:srgbClr val="8B1A1A"/>
          </a:solidFill>
          <a:ln w="12700">
            <a:solidFill>
              <a:srgbClr val="8B1A1A"/>
            </a:solidFill>
            <a:prstDash val="solid"/>
          </a:ln>
        </p:spPr>
      </p:sp>
      <p:sp>
        <p:nvSpPr>
          <p:cNvPr id="11" name="Text 9"/>
          <p:cNvSpPr/>
          <p:nvPr/>
        </p:nvSpPr>
        <p:spPr>
          <a:xfrm>
            <a:off x="2011680" y="1517904"/>
            <a:ext cx="1508760" cy="347472"/>
          </a:xfrm>
          <a:prstGeom prst="rect">
            <a:avLst/>
          </a:prstGeom>
          <a:noFill/>
          <a:ln/>
        </p:spPr>
        <p:txBody>
          <a:bodyPr wrap="square" rtlCol="0" anchor="ctr"/>
          <a:lstStyle/>
          <a:p>
            <a:pPr algn="ctr" indent="0" marL="0">
              <a:buNone/>
            </a:pPr>
            <a:r>
              <a:rPr lang="en-US" sz="1800" b="1" dirty="0">
                <a:solidFill>
                  <a:srgbClr val="8B1A1A"/>
                </a:solidFill>
                <a:latin typeface="Calibri" pitchFamily="34" charset="0"/>
                <a:ea typeface="Calibri" pitchFamily="34" charset="-122"/>
                <a:cs typeface="Calibri" pitchFamily="34" charset="-120"/>
              </a:rPr>
              <a:t>3–6%</a:t>
            </a:r>
            <a:endParaRPr lang="en-US" sz="1800" dirty="0"/>
          </a:p>
        </p:txBody>
      </p:sp>
      <p:sp>
        <p:nvSpPr>
          <p:cNvPr id="12" name="Text 10"/>
          <p:cNvSpPr/>
          <p:nvPr/>
        </p:nvSpPr>
        <p:spPr>
          <a:xfrm>
            <a:off x="2011680" y="1847088"/>
            <a:ext cx="1508760" cy="274320"/>
          </a:xfrm>
          <a:prstGeom prst="rect">
            <a:avLst/>
          </a:prstGeom>
          <a:noFill/>
          <a:ln/>
        </p:spPr>
        <p:txBody>
          <a:bodyPr wrap="square" rtlCol="0" anchor="ctr"/>
          <a:lstStyle/>
          <a:p>
            <a:pPr algn="ctr" indent="0" marL="0">
              <a:buNone/>
            </a:pPr>
            <a:r>
              <a:rPr lang="en-US" sz="850" dirty="0">
                <a:solidFill>
                  <a:srgbClr val="CCCCCC"/>
                </a:solidFill>
                <a:latin typeface="Calibri" pitchFamily="34" charset="0"/>
                <a:ea typeface="Calibri" pitchFamily="34" charset="-122"/>
                <a:cs typeface="Calibri" pitchFamily="34" charset="-120"/>
              </a:rPr>
              <a:t>Engagement Rate</a:t>
            </a:r>
            <a:endParaRPr lang="en-US" sz="850" dirty="0"/>
          </a:p>
        </p:txBody>
      </p:sp>
      <p:sp>
        <p:nvSpPr>
          <p:cNvPr id="13" name="Shape 11"/>
          <p:cNvSpPr/>
          <p:nvPr/>
        </p:nvSpPr>
        <p:spPr>
          <a:xfrm>
            <a:off x="3703320" y="1389888"/>
            <a:ext cx="1508760" cy="749808"/>
          </a:xfrm>
          <a:prstGeom prst="rect">
            <a:avLst/>
          </a:prstGeom>
          <a:solidFill>
            <a:srgbClr val="333333"/>
          </a:solidFill>
          <a:ln w="12700">
            <a:solidFill>
              <a:srgbClr val="4A7C59"/>
            </a:solidFill>
            <a:prstDash val="solid"/>
          </a:ln>
        </p:spPr>
      </p:sp>
      <p:sp>
        <p:nvSpPr>
          <p:cNvPr id="14" name="Shape 12"/>
          <p:cNvSpPr/>
          <p:nvPr/>
        </p:nvSpPr>
        <p:spPr>
          <a:xfrm>
            <a:off x="3703320" y="1389888"/>
            <a:ext cx="1508760" cy="109728"/>
          </a:xfrm>
          <a:prstGeom prst="rect">
            <a:avLst/>
          </a:prstGeom>
          <a:solidFill>
            <a:srgbClr val="4A7C59"/>
          </a:solidFill>
          <a:ln w="12700">
            <a:solidFill>
              <a:srgbClr val="4A7C59"/>
            </a:solidFill>
            <a:prstDash val="solid"/>
          </a:ln>
        </p:spPr>
      </p:sp>
      <p:sp>
        <p:nvSpPr>
          <p:cNvPr id="15" name="Text 13"/>
          <p:cNvSpPr/>
          <p:nvPr/>
        </p:nvSpPr>
        <p:spPr>
          <a:xfrm>
            <a:off x="3703320" y="1517904"/>
            <a:ext cx="1508760" cy="347472"/>
          </a:xfrm>
          <a:prstGeom prst="rect">
            <a:avLst/>
          </a:prstGeom>
          <a:noFill/>
          <a:ln/>
        </p:spPr>
        <p:txBody>
          <a:bodyPr wrap="square" rtlCol="0" anchor="ctr"/>
          <a:lstStyle/>
          <a:p>
            <a:pPr algn="ctr" indent="0" marL="0">
              <a:buNone/>
            </a:pPr>
            <a:r>
              <a:rPr lang="en-US" sz="1800" b="1" dirty="0">
                <a:solidFill>
                  <a:srgbClr val="4A7C59"/>
                </a:solidFill>
                <a:latin typeface="Calibri" pitchFamily="34" charset="0"/>
                <a:ea typeface="Calibri" pitchFamily="34" charset="-122"/>
                <a:cs typeface="Calibri" pitchFamily="34" charset="-120"/>
              </a:rPr>
              <a:t>200+/mo</a:t>
            </a:r>
            <a:endParaRPr lang="en-US" sz="1800" dirty="0"/>
          </a:p>
        </p:txBody>
      </p:sp>
      <p:sp>
        <p:nvSpPr>
          <p:cNvPr id="16" name="Text 14"/>
          <p:cNvSpPr/>
          <p:nvPr/>
        </p:nvSpPr>
        <p:spPr>
          <a:xfrm>
            <a:off x="3703320" y="1847088"/>
            <a:ext cx="1508760" cy="274320"/>
          </a:xfrm>
          <a:prstGeom prst="rect">
            <a:avLst/>
          </a:prstGeom>
          <a:noFill/>
          <a:ln/>
        </p:spPr>
        <p:txBody>
          <a:bodyPr wrap="square" rtlCol="0" anchor="ctr"/>
          <a:lstStyle/>
          <a:p>
            <a:pPr algn="ctr" indent="0" marL="0">
              <a:buNone/>
            </a:pPr>
            <a:r>
              <a:rPr lang="en-US" sz="850" dirty="0">
                <a:solidFill>
                  <a:srgbClr val="CCCCCC"/>
                </a:solidFill>
                <a:latin typeface="Calibri" pitchFamily="34" charset="0"/>
                <a:ea typeface="Calibri" pitchFamily="34" charset="-122"/>
                <a:cs typeface="Calibri" pitchFamily="34" charset="-120"/>
              </a:rPr>
              <a:t>Follower Growth</a:t>
            </a:r>
            <a:endParaRPr lang="en-US" sz="850" dirty="0"/>
          </a:p>
        </p:txBody>
      </p:sp>
      <p:sp>
        <p:nvSpPr>
          <p:cNvPr id="17" name="Shape 15"/>
          <p:cNvSpPr/>
          <p:nvPr/>
        </p:nvSpPr>
        <p:spPr>
          <a:xfrm>
            <a:off x="320040" y="2258568"/>
            <a:ext cx="1508760" cy="749808"/>
          </a:xfrm>
          <a:prstGeom prst="rect">
            <a:avLst/>
          </a:prstGeom>
          <a:solidFill>
            <a:srgbClr val="333333"/>
          </a:solidFill>
          <a:ln w="12700">
            <a:solidFill>
              <a:srgbClr val="D4890A"/>
            </a:solidFill>
            <a:prstDash val="solid"/>
          </a:ln>
        </p:spPr>
      </p:sp>
      <p:sp>
        <p:nvSpPr>
          <p:cNvPr id="18" name="Shape 16"/>
          <p:cNvSpPr/>
          <p:nvPr/>
        </p:nvSpPr>
        <p:spPr>
          <a:xfrm>
            <a:off x="320040" y="2258568"/>
            <a:ext cx="1508760" cy="109728"/>
          </a:xfrm>
          <a:prstGeom prst="rect">
            <a:avLst/>
          </a:prstGeom>
          <a:solidFill>
            <a:srgbClr val="D4890A"/>
          </a:solidFill>
          <a:ln w="12700">
            <a:solidFill>
              <a:srgbClr val="D4890A"/>
            </a:solidFill>
            <a:prstDash val="solid"/>
          </a:ln>
        </p:spPr>
      </p:sp>
      <p:sp>
        <p:nvSpPr>
          <p:cNvPr id="19" name="Text 17"/>
          <p:cNvSpPr/>
          <p:nvPr/>
        </p:nvSpPr>
        <p:spPr>
          <a:xfrm>
            <a:off x="320040" y="2386584"/>
            <a:ext cx="1508760" cy="347472"/>
          </a:xfrm>
          <a:prstGeom prst="rect">
            <a:avLst/>
          </a:prstGeom>
          <a:noFill/>
          <a:ln/>
        </p:spPr>
        <p:txBody>
          <a:bodyPr wrap="square" rtlCol="0" anchor="ctr"/>
          <a:lstStyle/>
          <a:p>
            <a:pPr algn="ctr" indent="0" marL="0">
              <a:buNone/>
            </a:pPr>
            <a:r>
              <a:rPr lang="en-US" sz="1800" b="1" dirty="0">
                <a:solidFill>
                  <a:srgbClr val="D4890A"/>
                </a:solidFill>
                <a:latin typeface="Calibri" pitchFamily="34" charset="0"/>
                <a:ea typeface="Calibri" pitchFamily="34" charset="-122"/>
                <a:cs typeface="Calibri" pitchFamily="34" charset="-120"/>
              </a:rPr>
              <a:t>500+/mo</a:t>
            </a:r>
            <a:endParaRPr lang="en-US" sz="1800" dirty="0"/>
          </a:p>
        </p:txBody>
      </p:sp>
      <p:sp>
        <p:nvSpPr>
          <p:cNvPr id="20" name="Text 18"/>
          <p:cNvSpPr/>
          <p:nvPr/>
        </p:nvSpPr>
        <p:spPr>
          <a:xfrm>
            <a:off x="320040" y="2715768"/>
            <a:ext cx="1508760" cy="274320"/>
          </a:xfrm>
          <a:prstGeom prst="rect">
            <a:avLst/>
          </a:prstGeom>
          <a:noFill/>
          <a:ln/>
        </p:spPr>
        <p:txBody>
          <a:bodyPr wrap="square" rtlCol="0" anchor="ctr"/>
          <a:lstStyle/>
          <a:p>
            <a:pPr algn="ctr" indent="0" marL="0">
              <a:buNone/>
            </a:pPr>
            <a:r>
              <a:rPr lang="en-US" sz="850" dirty="0">
                <a:solidFill>
                  <a:srgbClr val="CCCCCC"/>
                </a:solidFill>
                <a:latin typeface="Calibri" pitchFamily="34" charset="0"/>
                <a:ea typeface="Calibri" pitchFamily="34" charset="-122"/>
                <a:cs typeface="Calibri" pitchFamily="34" charset="-120"/>
              </a:rPr>
              <a:t>Clicks to Order Link</a:t>
            </a:r>
            <a:endParaRPr lang="en-US" sz="850" dirty="0"/>
          </a:p>
        </p:txBody>
      </p:sp>
      <p:sp>
        <p:nvSpPr>
          <p:cNvPr id="21" name="Shape 19"/>
          <p:cNvSpPr/>
          <p:nvPr/>
        </p:nvSpPr>
        <p:spPr>
          <a:xfrm>
            <a:off x="2011680" y="2258568"/>
            <a:ext cx="1508760" cy="749808"/>
          </a:xfrm>
          <a:prstGeom prst="rect">
            <a:avLst/>
          </a:prstGeom>
          <a:solidFill>
            <a:srgbClr val="333333"/>
          </a:solidFill>
          <a:ln w="12700">
            <a:solidFill>
              <a:srgbClr val="7B2D8B"/>
            </a:solidFill>
            <a:prstDash val="solid"/>
          </a:ln>
        </p:spPr>
      </p:sp>
      <p:sp>
        <p:nvSpPr>
          <p:cNvPr id="22" name="Shape 20"/>
          <p:cNvSpPr/>
          <p:nvPr/>
        </p:nvSpPr>
        <p:spPr>
          <a:xfrm>
            <a:off x="2011680" y="2258568"/>
            <a:ext cx="1508760" cy="109728"/>
          </a:xfrm>
          <a:prstGeom prst="rect">
            <a:avLst/>
          </a:prstGeom>
          <a:solidFill>
            <a:srgbClr val="7B2D8B"/>
          </a:solidFill>
          <a:ln w="12700">
            <a:solidFill>
              <a:srgbClr val="7B2D8B"/>
            </a:solidFill>
            <a:prstDash val="solid"/>
          </a:ln>
        </p:spPr>
      </p:sp>
      <p:sp>
        <p:nvSpPr>
          <p:cNvPr id="23" name="Text 21"/>
          <p:cNvSpPr/>
          <p:nvPr/>
        </p:nvSpPr>
        <p:spPr>
          <a:xfrm>
            <a:off x="2011680" y="2386584"/>
            <a:ext cx="1508760" cy="347472"/>
          </a:xfrm>
          <a:prstGeom prst="rect">
            <a:avLst/>
          </a:prstGeom>
          <a:noFill/>
          <a:ln/>
        </p:spPr>
        <p:txBody>
          <a:bodyPr wrap="square" rtlCol="0" anchor="ctr"/>
          <a:lstStyle/>
          <a:p>
            <a:pPr algn="ctr" indent="0" marL="0">
              <a:buNone/>
            </a:pPr>
            <a:r>
              <a:rPr lang="en-US" sz="1800" b="1" dirty="0">
                <a:solidFill>
                  <a:srgbClr val="7B2D8B"/>
                </a:solidFill>
                <a:latin typeface="Calibri" pitchFamily="34" charset="0"/>
                <a:ea typeface="Calibri" pitchFamily="34" charset="-122"/>
                <a:cs typeface="Calibri" pitchFamily="34" charset="-120"/>
              </a:rPr>
              <a:t>300+/mo</a:t>
            </a:r>
            <a:endParaRPr lang="en-US" sz="1800" dirty="0"/>
          </a:p>
        </p:txBody>
      </p:sp>
      <p:sp>
        <p:nvSpPr>
          <p:cNvPr id="24" name="Text 22"/>
          <p:cNvSpPr/>
          <p:nvPr/>
        </p:nvSpPr>
        <p:spPr>
          <a:xfrm>
            <a:off x="2011680" y="2715768"/>
            <a:ext cx="1508760" cy="274320"/>
          </a:xfrm>
          <a:prstGeom prst="rect">
            <a:avLst/>
          </a:prstGeom>
          <a:noFill/>
          <a:ln/>
        </p:spPr>
        <p:txBody>
          <a:bodyPr wrap="square" rtlCol="0" anchor="ctr"/>
          <a:lstStyle/>
          <a:p>
            <a:pPr algn="ctr" indent="0" marL="0">
              <a:buNone/>
            </a:pPr>
            <a:r>
              <a:rPr lang="en-US" sz="850" dirty="0">
                <a:solidFill>
                  <a:srgbClr val="CCCCCC"/>
                </a:solidFill>
                <a:latin typeface="Calibri" pitchFamily="34" charset="0"/>
                <a:ea typeface="Calibri" pitchFamily="34" charset="-122"/>
                <a:cs typeface="Calibri" pitchFamily="34" charset="-120"/>
              </a:rPr>
              <a:t>Direction Clicks</a:t>
            </a:r>
            <a:endParaRPr lang="en-US" sz="850" dirty="0"/>
          </a:p>
        </p:txBody>
      </p:sp>
      <p:sp>
        <p:nvSpPr>
          <p:cNvPr id="25" name="Shape 23"/>
          <p:cNvSpPr/>
          <p:nvPr/>
        </p:nvSpPr>
        <p:spPr>
          <a:xfrm>
            <a:off x="3703320" y="2258568"/>
            <a:ext cx="1508760" cy="749808"/>
          </a:xfrm>
          <a:prstGeom prst="rect">
            <a:avLst/>
          </a:prstGeom>
          <a:solidFill>
            <a:srgbClr val="333333"/>
          </a:solidFill>
          <a:ln w="12700">
            <a:solidFill>
              <a:srgbClr val="8B1A1A"/>
            </a:solidFill>
            <a:prstDash val="solid"/>
          </a:ln>
        </p:spPr>
      </p:sp>
      <p:sp>
        <p:nvSpPr>
          <p:cNvPr id="26" name="Shape 24"/>
          <p:cNvSpPr/>
          <p:nvPr/>
        </p:nvSpPr>
        <p:spPr>
          <a:xfrm>
            <a:off x="3703320" y="2258568"/>
            <a:ext cx="1508760" cy="109728"/>
          </a:xfrm>
          <a:prstGeom prst="rect">
            <a:avLst/>
          </a:prstGeom>
          <a:solidFill>
            <a:srgbClr val="8B1A1A"/>
          </a:solidFill>
          <a:ln w="12700">
            <a:solidFill>
              <a:srgbClr val="8B1A1A"/>
            </a:solidFill>
            <a:prstDash val="solid"/>
          </a:ln>
        </p:spPr>
      </p:sp>
      <p:sp>
        <p:nvSpPr>
          <p:cNvPr id="27" name="Text 25"/>
          <p:cNvSpPr/>
          <p:nvPr/>
        </p:nvSpPr>
        <p:spPr>
          <a:xfrm>
            <a:off x="3703320" y="2386584"/>
            <a:ext cx="1508760" cy="347472"/>
          </a:xfrm>
          <a:prstGeom prst="rect">
            <a:avLst/>
          </a:prstGeom>
          <a:noFill/>
          <a:ln/>
        </p:spPr>
        <p:txBody>
          <a:bodyPr wrap="square" rtlCol="0" anchor="ctr"/>
          <a:lstStyle/>
          <a:p>
            <a:pPr algn="ctr" indent="0" marL="0">
              <a:buNone/>
            </a:pPr>
            <a:r>
              <a:rPr lang="en-US" sz="1800" b="1" dirty="0">
                <a:solidFill>
                  <a:srgbClr val="8B1A1A"/>
                </a:solidFill>
                <a:latin typeface="Calibri" pitchFamily="34" charset="0"/>
                <a:ea typeface="Calibri" pitchFamily="34" charset="-122"/>
                <a:cs typeface="Calibri" pitchFamily="34" charset="-120"/>
              </a:rPr>
              <a:t>&lt; ₹20</a:t>
            </a:r>
            <a:endParaRPr lang="en-US" sz="1800" dirty="0"/>
          </a:p>
        </p:txBody>
      </p:sp>
      <p:sp>
        <p:nvSpPr>
          <p:cNvPr id="28" name="Text 26"/>
          <p:cNvSpPr/>
          <p:nvPr/>
        </p:nvSpPr>
        <p:spPr>
          <a:xfrm>
            <a:off x="3703320" y="2715768"/>
            <a:ext cx="1508760" cy="274320"/>
          </a:xfrm>
          <a:prstGeom prst="rect">
            <a:avLst/>
          </a:prstGeom>
          <a:noFill/>
          <a:ln/>
        </p:spPr>
        <p:txBody>
          <a:bodyPr wrap="square" rtlCol="0" anchor="ctr"/>
          <a:lstStyle/>
          <a:p>
            <a:pPr algn="ctr" indent="0" marL="0">
              <a:buNone/>
            </a:pPr>
            <a:r>
              <a:rPr lang="en-US" sz="850" dirty="0">
                <a:solidFill>
                  <a:srgbClr val="CCCCCC"/>
                </a:solidFill>
                <a:latin typeface="Calibri" pitchFamily="34" charset="0"/>
                <a:ea typeface="Calibri" pitchFamily="34" charset="-122"/>
                <a:cs typeface="Calibri" pitchFamily="34" charset="-120"/>
              </a:rPr>
              <a:t>Cost per Inquiry</a:t>
            </a:r>
            <a:endParaRPr lang="en-US" sz="850" dirty="0"/>
          </a:p>
        </p:txBody>
      </p:sp>
      <p:sp>
        <p:nvSpPr>
          <p:cNvPr id="29" name="Text 27"/>
          <p:cNvSpPr/>
          <p:nvPr/>
        </p:nvSpPr>
        <p:spPr>
          <a:xfrm>
            <a:off x="5349240" y="932688"/>
            <a:ext cx="3520440" cy="365760"/>
          </a:xfrm>
          <a:prstGeom prst="rect">
            <a:avLst/>
          </a:prstGeom>
          <a:noFill/>
          <a:ln/>
        </p:spPr>
        <p:txBody>
          <a:bodyPr wrap="square" rtlCol="0" anchor="ctr"/>
          <a:lstStyle/>
          <a:p>
            <a:pPr indent="0" marL="0">
              <a:buNone/>
            </a:pPr>
            <a:r>
              <a:rPr lang="en-US" sz="1100" b="1" dirty="0">
                <a:solidFill>
                  <a:srgbClr val="E8A020"/>
                </a:solidFill>
                <a:latin typeface="Calibri" pitchFamily="34" charset="0"/>
                <a:ea typeface="Calibri" pitchFamily="34" charset="-122"/>
                <a:cs typeface="Calibri" pitchFamily="34" charset="-120"/>
              </a:rPr>
              <a:t>Sample Monthly Ad Budget (Estimate — ₹10 Lac total pool)</a:t>
            </a:r>
            <a:endParaRPr lang="en-US" sz="1100" dirty="0"/>
          </a:p>
        </p:txBody>
      </p:sp>
      <p:graphicFrame>
        <p:nvGraphicFramePr>
          <p:cNvPr id="30" name="Chart 0" descr=""/>
          <p:cNvGraphicFramePr/>
          <p:nvPr/>
        </p:nvGraphicFramePr>
        <p:xfrm>
          <a:off x="5303520" y="1298448"/>
          <a:ext cx="3520440" cy="3474720"/>
        </p:xfrm>
        <a:graphic xmlns:a="http://schemas.openxmlformats.org/drawingml/2006/main">
          <a:graphicData uri="http://schemas.openxmlformats.org/drawingml/2006/chart">
            <c:chart xmlns:c="http://schemas.openxmlformats.org/drawingml/2006/chart" r:id="rId1"/>
          </a:graphicData>
        </a:graphic>
      </p:graphicFrame>
      <p:sp>
        <p:nvSpPr>
          <p:cNvPr id="31" name="Text 28"/>
          <p:cNvSpPr/>
          <p:nvPr/>
        </p:nvSpPr>
        <p:spPr>
          <a:xfrm>
            <a:off x="320040" y="4663440"/>
            <a:ext cx="8503920" cy="228600"/>
          </a:xfrm>
          <a:prstGeom prst="rect">
            <a:avLst/>
          </a:prstGeom>
          <a:noFill/>
          <a:ln/>
        </p:spPr>
        <p:txBody>
          <a:bodyPr wrap="square" rtlCol="0" anchor="ctr"/>
          <a:lstStyle/>
          <a:p>
            <a:pPr indent="0" marL="0">
              <a:buNone/>
            </a:pPr>
            <a:r>
              <a:rPr lang="en-US" sz="800" i="1" dirty="0">
                <a:solidFill>
                  <a:srgbClr val="888888"/>
                </a:solidFill>
                <a:latin typeface="Calibri" pitchFamily="34" charset="0"/>
                <a:ea typeface="Calibri" pitchFamily="34" charset="-122"/>
                <a:cs typeface="Calibri" pitchFamily="34" charset="-120"/>
              </a:rPr>
              <a:t>Note: Projections are estimates only. Actual results will vary based on audience, creative, and seasonality.</a:t>
            </a:r>
            <a:endParaRPr lang="en-US" sz="800" dirty="0"/>
          </a:p>
        </p:txBody>
      </p:sp>
      <p:sp>
        <p:nvSpPr>
          <p:cNvPr id="32" name="Text 29"/>
          <p:cNvSpPr/>
          <p:nvPr/>
        </p:nvSpPr>
        <p:spPr>
          <a:xfrm>
            <a:off x="274320" y="4892040"/>
            <a:ext cx="7680960" cy="182880"/>
          </a:xfrm>
          <a:prstGeom prst="rect">
            <a:avLst/>
          </a:prstGeom>
          <a:noFill/>
          <a:ln/>
        </p:spPr>
        <p:txBody>
          <a:bodyPr wrap="square" rtlCol="0" anchor="ctr"/>
          <a:lstStyle/>
          <a:p>
            <a:pPr algn="l" indent="0" marL="0">
              <a:buNone/>
            </a:pPr>
            <a:r>
              <a:rPr lang="en-US" sz="800" dirty="0">
                <a:solidFill>
                  <a:srgbClr val="AAAAAA"/>
                </a:solidFill>
                <a:latin typeface="Calibri" pitchFamily="34" charset="0"/>
                <a:ea typeface="Calibri" pitchFamily="34" charset="-122"/>
                <a:cs typeface="Calibri" pitchFamily="34" charset="-120"/>
              </a:rPr>
              <a:t>Noodle House  |  Facebook Marketing Strategy</a:t>
            </a:r>
            <a:endParaRPr lang="en-US" sz="800" dirty="0"/>
          </a:p>
        </p:txBody>
      </p:sp>
      <p:sp>
        <p:nvSpPr>
          <p:cNvPr id="33" name="Text 30"/>
          <p:cNvSpPr/>
          <p:nvPr/>
        </p:nvSpPr>
        <p:spPr>
          <a:xfrm>
            <a:off x="8595360" y="4892040"/>
            <a:ext cx="365760" cy="182880"/>
          </a:xfrm>
          <a:prstGeom prst="rect">
            <a:avLst/>
          </a:prstGeom>
          <a:noFill/>
          <a:ln/>
        </p:spPr>
        <p:txBody>
          <a:bodyPr wrap="square"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DF6EC"/>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8B1A1A"/>
          </a:solidFill>
          <a:ln w="12700">
            <a:solidFill>
              <a:srgbClr val="8B1A1A"/>
            </a:solidFill>
            <a:prstDash val="solid"/>
          </a:ln>
        </p:spPr>
      </p:sp>
      <p:sp>
        <p:nvSpPr>
          <p:cNvPr id="3" name="Text 1"/>
          <p:cNvSpPr/>
          <p:nvPr/>
        </p:nvSpPr>
        <p:spPr>
          <a:xfrm>
            <a:off x="365760" y="0"/>
            <a:ext cx="8412480" cy="8686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90-Day Action Roadmap</a:t>
            </a:r>
            <a:endParaRPr lang="en-US" sz="2600" dirty="0"/>
          </a:p>
        </p:txBody>
      </p:sp>
      <p:sp>
        <p:nvSpPr>
          <p:cNvPr id="4" name="Shape 2"/>
          <p:cNvSpPr/>
          <p:nvPr/>
        </p:nvSpPr>
        <p:spPr>
          <a:xfrm>
            <a:off x="274320" y="987552"/>
            <a:ext cx="2651760" cy="2834640"/>
          </a:xfrm>
          <a:prstGeom prst="rect">
            <a:avLst/>
          </a:prstGeom>
          <a:solidFill>
            <a:srgbClr val="FFFFFF"/>
          </a:solidFill>
          <a:ln w="6350">
            <a:solidFill>
              <a:srgbClr val="DDDDDD"/>
            </a:solidFill>
            <a:prstDash val="solid"/>
          </a:ln>
          <a:effectLst>
            <a:outerShdw sx="100000" sy="100000" kx="0" ky="0" algn="bl" rotWithShape="0" blurRad="63500" dist="25400" dir="8100000">
              <a:srgbClr val="000000">
                <a:alpha val="10000"/>
              </a:srgbClr>
            </a:outerShdw>
          </a:effectLst>
        </p:spPr>
      </p:sp>
      <p:sp>
        <p:nvSpPr>
          <p:cNvPr id="5" name="Shape 3"/>
          <p:cNvSpPr/>
          <p:nvPr/>
        </p:nvSpPr>
        <p:spPr>
          <a:xfrm>
            <a:off x="274320" y="987552"/>
            <a:ext cx="2651760" cy="804672"/>
          </a:xfrm>
          <a:prstGeom prst="rect">
            <a:avLst/>
          </a:prstGeom>
          <a:solidFill>
            <a:srgbClr val="1877F2"/>
          </a:solidFill>
          <a:ln w="12700">
            <a:solidFill>
              <a:srgbClr val="1877F2"/>
            </a:solidFill>
            <a:prstDash val="solid"/>
          </a:ln>
        </p:spPr>
      </p:sp>
      <p:sp>
        <p:nvSpPr>
          <p:cNvPr id="6" name="Text 4"/>
          <p:cNvSpPr/>
          <p:nvPr/>
        </p:nvSpPr>
        <p:spPr>
          <a:xfrm>
            <a:off x="365760" y="1005840"/>
            <a:ext cx="2468880" cy="32004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Phase 1</a:t>
            </a:r>
            <a:endParaRPr lang="en-US" sz="1100" dirty="0"/>
          </a:p>
        </p:txBody>
      </p:sp>
      <p:sp>
        <p:nvSpPr>
          <p:cNvPr id="7" name="Text 5"/>
          <p:cNvSpPr/>
          <p:nvPr/>
        </p:nvSpPr>
        <p:spPr>
          <a:xfrm>
            <a:off x="365760" y="1307592"/>
            <a:ext cx="1371600" cy="256032"/>
          </a:xfrm>
          <a:prstGeom prst="rect">
            <a:avLst/>
          </a:prstGeom>
          <a:noFill/>
          <a:ln/>
        </p:spPr>
        <p:txBody>
          <a:bodyPr wrap="square" rtlCol="0" anchor="ctr"/>
          <a:lstStyle/>
          <a:p>
            <a:pPr indent="0" marL="0">
              <a:buNone/>
            </a:pPr>
            <a:r>
              <a:rPr lang="en-US" sz="1000" dirty="0">
                <a:solidFill>
                  <a:srgbClr val="DDDDDD"/>
                </a:solidFill>
                <a:latin typeface="Calibri" pitchFamily="34" charset="0"/>
                <a:ea typeface="Calibri" pitchFamily="34" charset="-122"/>
                <a:cs typeface="Calibri" pitchFamily="34" charset="-120"/>
              </a:rPr>
              <a:t>Days 1–30</a:t>
            </a:r>
            <a:endParaRPr lang="en-US" sz="1000" dirty="0"/>
          </a:p>
        </p:txBody>
      </p:sp>
      <p:sp>
        <p:nvSpPr>
          <p:cNvPr id="8" name="Text 6"/>
          <p:cNvSpPr/>
          <p:nvPr/>
        </p:nvSpPr>
        <p:spPr>
          <a:xfrm>
            <a:off x="365760" y="1536192"/>
            <a:ext cx="2468880" cy="320040"/>
          </a:xfrm>
          <a:prstGeom prst="rect">
            <a:avLst/>
          </a:prstGeom>
          <a:noFill/>
          <a:ln/>
        </p:spPr>
        <p:txBody>
          <a:bodyPr wrap="square" rtlCol="0" anchor="ctr"/>
          <a:lstStyle/>
          <a:p>
            <a:pPr indent="0" marL="0">
              <a:buNone/>
            </a:pPr>
            <a:r>
              <a:rPr lang="en-US" sz="1400" b="1" dirty="0">
                <a:solidFill>
                  <a:srgbClr val="1877F2"/>
                </a:solidFill>
                <a:latin typeface="Calibri" pitchFamily="34" charset="0"/>
                <a:ea typeface="Calibri" pitchFamily="34" charset="-122"/>
                <a:cs typeface="Calibri" pitchFamily="34" charset="-120"/>
              </a:rPr>
              <a:t>Setup &amp; Launch</a:t>
            </a:r>
            <a:endParaRPr lang="en-US" sz="1400" dirty="0"/>
          </a:p>
        </p:txBody>
      </p:sp>
      <p:sp>
        <p:nvSpPr>
          <p:cNvPr id="9" name="Text 7"/>
          <p:cNvSpPr/>
          <p:nvPr/>
        </p:nvSpPr>
        <p:spPr>
          <a:xfrm>
            <a:off x="384048" y="1920240"/>
            <a:ext cx="2432304" cy="329184"/>
          </a:xfrm>
          <a:prstGeom prst="rect">
            <a:avLst/>
          </a:prstGeom>
          <a:noFill/>
          <a:ln/>
        </p:spPr>
        <p:txBody>
          <a:bodyPr wrap="square" rtlCol="0" anchor="ctr"/>
          <a:lstStyle/>
          <a:p>
            <a:pPr indent="0" marL="0">
              <a:buNone/>
            </a:pPr>
            <a:r>
              <a:rPr lang="en-US" sz="1000" dirty="0">
                <a:solidFill>
                  <a:srgbClr val="333333"/>
                </a:solidFill>
                <a:latin typeface="Calibri" pitchFamily="34" charset="0"/>
                <a:ea typeface="Calibri" pitchFamily="34" charset="-122"/>
                <a:cs typeface="Calibri" pitchFamily="34" charset="-120"/>
              </a:rPr>
              <a:t>✓  Complete Facebook page setup</a:t>
            </a:r>
            <a:endParaRPr lang="en-US" sz="1000" dirty="0"/>
          </a:p>
        </p:txBody>
      </p:sp>
      <p:sp>
        <p:nvSpPr>
          <p:cNvPr id="10" name="Text 8"/>
          <p:cNvSpPr/>
          <p:nvPr/>
        </p:nvSpPr>
        <p:spPr>
          <a:xfrm>
            <a:off x="384048" y="2276856"/>
            <a:ext cx="2432304" cy="329184"/>
          </a:xfrm>
          <a:prstGeom prst="rect">
            <a:avLst/>
          </a:prstGeom>
          <a:noFill/>
          <a:ln/>
        </p:spPr>
        <p:txBody>
          <a:bodyPr wrap="square" rtlCol="0" anchor="ctr"/>
          <a:lstStyle/>
          <a:p>
            <a:pPr indent="0" marL="0">
              <a:buNone/>
            </a:pPr>
            <a:r>
              <a:rPr lang="en-US" sz="1000" dirty="0">
                <a:solidFill>
                  <a:srgbClr val="333333"/>
                </a:solidFill>
                <a:latin typeface="Calibri" pitchFamily="34" charset="0"/>
                <a:ea typeface="Calibri" pitchFamily="34" charset="-122"/>
                <a:cs typeface="Calibri" pitchFamily="34" charset="-120"/>
              </a:rPr>
              <a:t>✓  Create 30 days of content</a:t>
            </a:r>
            <a:endParaRPr lang="en-US" sz="1000" dirty="0"/>
          </a:p>
        </p:txBody>
      </p:sp>
      <p:sp>
        <p:nvSpPr>
          <p:cNvPr id="11" name="Text 9"/>
          <p:cNvSpPr/>
          <p:nvPr/>
        </p:nvSpPr>
        <p:spPr>
          <a:xfrm>
            <a:off x="384048" y="2633472"/>
            <a:ext cx="2432304" cy="329184"/>
          </a:xfrm>
          <a:prstGeom prst="rect">
            <a:avLst/>
          </a:prstGeom>
          <a:noFill/>
          <a:ln/>
        </p:spPr>
        <p:txBody>
          <a:bodyPr wrap="square" rtlCol="0" anchor="ctr"/>
          <a:lstStyle/>
          <a:p>
            <a:pPr indent="0" marL="0">
              <a:buNone/>
            </a:pPr>
            <a:r>
              <a:rPr lang="en-US" sz="1000" dirty="0">
                <a:solidFill>
                  <a:srgbClr val="333333"/>
                </a:solidFill>
                <a:latin typeface="Calibri" pitchFamily="34" charset="0"/>
                <a:ea typeface="Calibri" pitchFamily="34" charset="-122"/>
                <a:cs typeface="Calibri" pitchFamily="34" charset="-120"/>
              </a:rPr>
              <a:t>✓  Grand Opening campaign live</a:t>
            </a:r>
            <a:endParaRPr lang="en-US" sz="1000" dirty="0"/>
          </a:p>
        </p:txBody>
      </p:sp>
      <p:sp>
        <p:nvSpPr>
          <p:cNvPr id="12" name="Text 10"/>
          <p:cNvSpPr/>
          <p:nvPr/>
        </p:nvSpPr>
        <p:spPr>
          <a:xfrm>
            <a:off x="384048" y="2990088"/>
            <a:ext cx="2432304" cy="329184"/>
          </a:xfrm>
          <a:prstGeom prst="rect">
            <a:avLst/>
          </a:prstGeom>
          <a:noFill/>
          <a:ln/>
        </p:spPr>
        <p:txBody>
          <a:bodyPr wrap="square" rtlCol="0" anchor="ctr"/>
          <a:lstStyle/>
          <a:p>
            <a:pPr indent="0" marL="0">
              <a:buNone/>
            </a:pPr>
            <a:r>
              <a:rPr lang="en-US" sz="1000" dirty="0">
                <a:solidFill>
                  <a:srgbClr val="333333"/>
                </a:solidFill>
                <a:latin typeface="Calibri" pitchFamily="34" charset="0"/>
                <a:ea typeface="Calibri" pitchFamily="34" charset="-122"/>
                <a:cs typeface="Calibri" pitchFamily="34" charset="-120"/>
              </a:rPr>
              <a:t>✓  First paid awareness ads</a:t>
            </a:r>
            <a:endParaRPr lang="en-US" sz="1000" dirty="0"/>
          </a:p>
        </p:txBody>
      </p:sp>
      <p:sp>
        <p:nvSpPr>
          <p:cNvPr id="13" name="Text 11"/>
          <p:cNvSpPr/>
          <p:nvPr/>
        </p:nvSpPr>
        <p:spPr>
          <a:xfrm>
            <a:off x="384048" y="3346704"/>
            <a:ext cx="2432304" cy="329184"/>
          </a:xfrm>
          <a:prstGeom prst="rect">
            <a:avLst/>
          </a:prstGeom>
          <a:noFill/>
          <a:ln/>
        </p:spPr>
        <p:txBody>
          <a:bodyPr wrap="square" rtlCol="0" anchor="ctr"/>
          <a:lstStyle/>
          <a:p>
            <a:pPr indent="0" marL="0">
              <a:buNone/>
            </a:pPr>
            <a:r>
              <a:rPr lang="en-US" sz="1000" dirty="0">
                <a:solidFill>
                  <a:srgbClr val="333333"/>
                </a:solidFill>
                <a:latin typeface="Calibri" pitchFamily="34" charset="0"/>
                <a:ea typeface="Calibri" pitchFamily="34" charset="-122"/>
                <a:cs typeface="Calibri" pitchFamily="34" charset="-120"/>
              </a:rPr>
              <a:t>✓  Collect first customer reviews</a:t>
            </a:r>
            <a:endParaRPr lang="en-US" sz="1000" dirty="0"/>
          </a:p>
        </p:txBody>
      </p:sp>
      <p:sp>
        <p:nvSpPr>
          <p:cNvPr id="14" name="Shape 12"/>
          <p:cNvSpPr/>
          <p:nvPr/>
        </p:nvSpPr>
        <p:spPr>
          <a:xfrm>
            <a:off x="3200400" y="987552"/>
            <a:ext cx="2651760" cy="2834640"/>
          </a:xfrm>
          <a:prstGeom prst="rect">
            <a:avLst/>
          </a:prstGeom>
          <a:solidFill>
            <a:srgbClr val="FFFFFF"/>
          </a:solidFill>
          <a:ln w="6350">
            <a:solidFill>
              <a:srgbClr val="DDDDDD"/>
            </a:solidFill>
            <a:prstDash val="solid"/>
          </a:ln>
          <a:effectLst>
            <a:outerShdw sx="100000" sy="100000" kx="0" ky="0" algn="bl" rotWithShape="0" blurRad="63500" dist="25400" dir="8100000">
              <a:srgbClr val="000000">
                <a:alpha val="10000"/>
              </a:srgbClr>
            </a:outerShdw>
          </a:effectLst>
        </p:spPr>
      </p:sp>
      <p:sp>
        <p:nvSpPr>
          <p:cNvPr id="15" name="Shape 13"/>
          <p:cNvSpPr/>
          <p:nvPr/>
        </p:nvSpPr>
        <p:spPr>
          <a:xfrm>
            <a:off x="3200400" y="987552"/>
            <a:ext cx="2651760" cy="804672"/>
          </a:xfrm>
          <a:prstGeom prst="rect">
            <a:avLst/>
          </a:prstGeom>
          <a:solidFill>
            <a:srgbClr val="8B1A1A"/>
          </a:solidFill>
          <a:ln w="12700">
            <a:solidFill>
              <a:srgbClr val="8B1A1A"/>
            </a:solidFill>
            <a:prstDash val="solid"/>
          </a:ln>
        </p:spPr>
      </p:sp>
      <p:sp>
        <p:nvSpPr>
          <p:cNvPr id="16" name="Text 14"/>
          <p:cNvSpPr/>
          <p:nvPr/>
        </p:nvSpPr>
        <p:spPr>
          <a:xfrm>
            <a:off x="3291840" y="1005840"/>
            <a:ext cx="2468880" cy="32004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Phase 2</a:t>
            </a:r>
            <a:endParaRPr lang="en-US" sz="1100" dirty="0"/>
          </a:p>
        </p:txBody>
      </p:sp>
      <p:sp>
        <p:nvSpPr>
          <p:cNvPr id="17" name="Text 15"/>
          <p:cNvSpPr/>
          <p:nvPr/>
        </p:nvSpPr>
        <p:spPr>
          <a:xfrm>
            <a:off x="3291840" y="1307592"/>
            <a:ext cx="1371600" cy="256032"/>
          </a:xfrm>
          <a:prstGeom prst="rect">
            <a:avLst/>
          </a:prstGeom>
          <a:noFill/>
          <a:ln/>
        </p:spPr>
        <p:txBody>
          <a:bodyPr wrap="square" rtlCol="0" anchor="ctr"/>
          <a:lstStyle/>
          <a:p>
            <a:pPr indent="0" marL="0">
              <a:buNone/>
            </a:pPr>
            <a:r>
              <a:rPr lang="en-US" sz="1000" dirty="0">
                <a:solidFill>
                  <a:srgbClr val="DDDDDD"/>
                </a:solidFill>
                <a:latin typeface="Calibri" pitchFamily="34" charset="0"/>
                <a:ea typeface="Calibri" pitchFamily="34" charset="-122"/>
                <a:cs typeface="Calibri" pitchFamily="34" charset="-120"/>
              </a:rPr>
              <a:t>Days 31–60</a:t>
            </a:r>
            <a:endParaRPr lang="en-US" sz="1000" dirty="0"/>
          </a:p>
        </p:txBody>
      </p:sp>
      <p:sp>
        <p:nvSpPr>
          <p:cNvPr id="18" name="Text 16"/>
          <p:cNvSpPr/>
          <p:nvPr/>
        </p:nvSpPr>
        <p:spPr>
          <a:xfrm>
            <a:off x="3291840" y="1536192"/>
            <a:ext cx="2468880" cy="320040"/>
          </a:xfrm>
          <a:prstGeom prst="rect">
            <a:avLst/>
          </a:prstGeom>
          <a:noFill/>
          <a:ln/>
        </p:spPr>
        <p:txBody>
          <a:bodyPr wrap="square" rtlCol="0" anchor="ctr"/>
          <a:lstStyle/>
          <a:p>
            <a:pPr indent="0" marL="0">
              <a:buNone/>
            </a:pPr>
            <a:r>
              <a:rPr lang="en-US" sz="1400" b="1" dirty="0">
                <a:solidFill>
                  <a:srgbClr val="8B1A1A"/>
                </a:solidFill>
                <a:latin typeface="Calibri" pitchFamily="34" charset="0"/>
                <a:ea typeface="Calibri" pitchFamily="34" charset="-122"/>
                <a:cs typeface="Calibri" pitchFamily="34" charset="-120"/>
              </a:rPr>
              <a:t>Grow &amp; Engage</a:t>
            </a:r>
            <a:endParaRPr lang="en-US" sz="1400" dirty="0"/>
          </a:p>
        </p:txBody>
      </p:sp>
      <p:sp>
        <p:nvSpPr>
          <p:cNvPr id="19" name="Text 17"/>
          <p:cNvSpPr/>
          <p:nvPr/>
        </p:nvSpPr>
        <p:spPr>
          <a:xfrm>
            <a:off x="3310128" y="1920240"/>
            <a:ext cx="2432304" cy="329184"/>
          </a:xfrm>
          <a:prstGeom prst="rect">
            <a:avLst/>
          </a:prstGeom>
          <a:noFill/>
          <a:ln/>
        </p:spPr>
        <p:txBody>
          <a:bodyPr wrap="square" rtlCol="0" anchor="ctr"/>
          <a:lstStyle/>
          <a:p>
            <a:pPr indent="0" marL="0">
              <a:buNone/>
            </a:pPr>
            <a:r>
              <a:rPr lang="en-US" sz="1000" dirty="0">
                <a:solidFill>
                  <a:srgbClr val="333333"/>
                </a:solidFill>
                <a:latin typeface="Calibri" pitchFamily="34" charset="0"/>
                <a:ea typeface="Calibri" pitchFamily="34" charset="-122"/>
                <a:cs typeface="Calibri" pitchFamily="34" charset="-120"/>
              </a:rPr>
              <a:t>✓  Scale paid ad campaigns</a:t>
            </a:r>
            <a:endParaRPr lang="en-US" sz="1000" dirty="0"/>
          </a:p>
        </p:txBody>
      </p:sp>
      <p:sp>
        <p:nvSpPr>
          <p:cNvPr id="20" name="Text 18"/>
          <p:cNvSpPr/>
          <p:nvPr/>
        </p:nvSpPr>
        <p:spPr>
          <a:xfrm>
            <a:off x="3310128" y="2276856"/>
            <a:ext cx="2432304" cy="329184"/>
          </a:xfrm>
          <a:prstGeom prst="rect">
            <a:avLst/>
          </a:prstGeom>
          <a:noFill/>
          <a:ln/>
        </p:spPr>
        <p:txBody>
          <a:bodyPr wrap="square" rtlCol="0" anchor="ctr"/>
          <a:lstStyle/>
          <a:p>
            <a:pPr indent="0" marL="0">
              <a:buNone/>
            </a:pPr>
            <a:r>
              <a:rPr lang="en-US" sz="1000" dirty="0">
                <a:solidFill>
                  <a:srgbClr val="333333"/>
                </a:solidFill>
                <a:latin typeface="Calibri" pitchFamily="34" charset="0"/>
                <a:ea typeface="Calibri" pitchFamily="34" charset="-122"/>
                <a:cs typeface="Calibri" pitchFamily="34" charset="-120"/>
              </a:rPr>
              <a:t>✓  Run offer-based promotions</a:t>
            </a:r>
            <a:endParaRPr lang="en-US" sz="1000" dirty="0"/>
          </a:p>
        </p:txBody>
      </p:sp>
      <p:sp>
        <p:nvSpPr>
          <p:cNvPr id="21" name="Text 19"/>
          <p:cNvSpPr/>
          <p:nvPr/>
        </p:nvSpPr>
        <p:spPr>
          <a:xfrm>
            <a:off x="3310128" y="2633472"/>
            <a:ext cx="2432304" cy="329184"/>
          </a:xfrm>
          <a:prstGeom prst="rect">
            <a:avLst/>
          </a:prstGeom>
          <a:noFill/>
          <a:ln/>
        </p:spPr>
        <p:txBody>
          <a:bodyPr wrap="square" rtlCol="0" anchor="ctr"/>
          <a:lstStyle/>
          <a:p>
            <a:pPr indent="0" marL="0">
              <a:buNone/>
            </a:pPr>
            <a:r>
              <a:rPr lang="en-US" sz="1000" dirty="0">
                <a:solidFill>
                  <a:srgbClr val="333333"/>
                </a:solidFill>
                <a:latin typeface="Calibri" pitchFamily="34" charset="0"/>
                <a:ea typeface="Calibri" pitchFamily="34" charset="-122"/>
                <a:cs typeface="Calibri" pitchFamily="34" charset="-120"/>
              </a:rPr>
              <a:t>✓  Student &amp; office campaigns</a:t>
            </a:r>
            <a:endParaRPr lang="en-US" sz="1000" dirty="0"/>
          </a:p>
        </p:txBody>
      </p:sp>
      <p:sp>
        <p:nvSpPr>
          <p:cNvPr id="22" name="Text 20"/>
          <p:cNvSpPr/>
          <p:nvPr/>
        </p:nvSpPr>
        <p:spPr>
          <a:xfrm>
            <a:off x="3310128" y="2990088"/>
            <a:ext cx="2432304" cy="329184"/>
          </a:xfrm>
          <a:prstGeom prst="rect">
            <a:avLst/>
          </a:prstGeom>
          <a:noFill/>
          <a:ln/>
        </p:spPr>
        <p:txBody>
          <a:bodyPr wrap="square" rtlCol="0" anchor="ctr"/>
          <a:lstStyle/>
          <a:p>
            <a:pPr indent="0" marL="0">
              <a:buNone/>
            </a:pPr>
            <a:r>
              <a:rPr lang="en-US" sz="1000" dirty="0">
                <a:solidFill>
                  <a:srgbClr val="333333"/>
                </a:solidFill>
                <a:latin typeface="Calibri" pitchFamily="34" charset="0"/>
                <a:ea typeface="Calibri" pitchFamily="34" charset="-122"/>
                <a:cs typeface="Calibri" pitchFamily="34" charset="-120"/>
              </a:rPr>
              <a:t>✓  Build review base to 50+</a:t>
            </a:r>
            <a:endParaRPr lang="en-US" sz="1000" dirty="0"/>
          </a:p>
        </p:txBody>
      </p:sp>
      <p:sp>
        <p:nvSpPr>
          <p:cNvPr id="23" name="Text 21"/>
          <p:cNvSpPr/>
          <p:nvPr/>
        </p:nvSpPr>
        <p:spPr>
          <a:xfrm>
            <a:off x="3310128" y="3346704"/>
            <a:ext cx="2432304" cy="329184"/>
          </a:xfrm>
          <a:prstGeom prst="rect">
            <a:avLst/>
          </a:prstGeom>
          <a:noFill/>
          <a:ln/>
        </p:spPr>
        <p:txBody>
          <a:bodyPr wrap="square" rtlCol="0" anchor="ctr"/>
          <a:lstStyle/>
          <a:p>
            <a:pPr indent="0" marL="0">
              <a:buNone/>
            </a:pPr>
            <a:r>
              <a:rPr lang="en-US" sz="1000" dirty="0">
                <a:solidFill>
                  <a:srgbClr val="333333"/>
                </a:solidFill>
                <a:latin typeface="Calibri" pitchFamily="34" charset="0"/>
                <a:ea typeface="Calibri" pitchFamily="34" charset="-122"/>
                <a:cs typeface="Calibri" pitchFamily="34" charset="-120"/>
              </a:rPr>
              <a:t>✓  Launch UGC &amp; reel strategy</a:t>
            </a:r>
            <a:endParaRPr lang="en-US" sz="1000" dirty="0"/>
          </a:p>
        </p:txBody>
      </p:sp>
      <p:sp>
        <p:nvSpPr>
          <p:cNvPr id="24" name="Shape 22"/>
          <p:cNvSpPr/>
          <p:nvPr/>
        </p:nvSpPr>
        <p:spPr>
          <a:xfrm>
            <a:off x="6126480" y="987552"/>
            <a:ext cx="2651760" cy="2834640"/>
          </a:xfrm>
          <a:prstGeom prst="rect">
            <a:avLst/>
          </a:prstGeom>
          <a:solidFill>
            <a:srgbClr val="FFFFFF"/>
          </a:solidFill>
          <a:ln w="6350">
            <a:solidFill>
              <a:srgbClr val="DDDDDD"/>
            </a:solidFill>
            <a:prstDash val="solid"/>
          </a:ln>
          <a:effectLst>
            <a:outerShdw sx="100000" sy="100000" kx="0" ky="0" algn="bl" rotWithShape="0" blurRad="63500" dist="25400" dir="8100000">
              <a:srgbClr val="000000">
                <a:alpha val="10000"/>
              </a:srgbClr>
            </a:outerShdw>
          </a:effectLst>
        </p:spPr>
      </p:sp>
      <p:sp>
        <p:nvSpPr>
          <p:cNvPr id="25" name="Shape 23"/>
          <p:cNvSpPr/>
          <p:nvPr/>
        </p:nvSpPr>
        <p:spPr>
          <a:xfrm>
            <a:off x="6126480" y="987552"/>
            <a:ext cx="2651760" cy="804672"/>
          </a:xfrm>
          <a:prstGeom prst="rect">
            <a:avLst/>
          </a:prstGeom>
          <a:solidFill>
            <a:srgbClr val="4A7C59"/>
          </a:solidFill>
          <a:ln w="12700">
            <a:solidFill>
              <a:srgbClr val="4A7C59"/>
            </a:solidFill>
            <a:prstDash val="solid"/>
          </a:ln>
        </p:spPr>
      </p:sp>
      <p:sp>
        <p:nvSpPr>
          <p:cNvPr id="26" name="Text 24"/>
          <p:cNvSpPr/>
          <p:nvPr/>
        </p:nvSpPr>
        <p:spPr>
          <a:xfrm>
            <a:off x="6217920" y="1005840"/>
            <a:ext cx="2468880" cy="32004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Phase 3</a:t>
            </a:r>
            <a:endParaRPr lang="en-US" sz="1100" dirty="0"/>
          </a:p>
        </p:txBody>
      </p:sp>
      <p:sp>
        <p:nvSpPr>
          <p:cNvPr id="27" name="Text 25"/>
          <p:cNvSpPr/>
          <p:nvPr/>
        </p:nvSpPr>
        <p:spPr>
          <a:xfrm>
            <a:off x="6217920" y="1307592"/>
            <a:ext cx="1371600" cy="256032"/>
          </a:xfrm>
          <a:prstGeom prst="rect">
            <a:avLst/>
          </a:prstGeom>
          <a:noFill/>
          <a:ln/>
        </p:spPr>
        <p:txBody>
          <a:bodyPr wrap="square" rtlCol="0" anchor="ctr"/>
          <a:lstStyle/>
          <a:p>
            <a:pPr indent="0" marL="0">
              <a:buNone/>
            </a:pPr>
            <a:r>
              <a:rPr lang="en-US" sz="1000" dirty="0">
                <a:solidFill>
                  <a:srgbClr val="DDDDDD"/>
                </a:solidFill>
                <a:latin typeface="Calibri" pitchFamily="34" charset="0"/>
                <a:ea typeface="Calibri" pitchFamily="34" charset="-122"/>
                <a:cs typeface="Calibri" pitchFamily="34" charset="-120"/>
              </a:rPr>
              <a:t>Days 61–90</a:t>
            </a:r>
            <a:endParaRPr lang="en-US" sz="1000" dirty="0"/>
          </a:p>
        </p:txBody>
      </p:sp>
      <p:sp>
        <p:nvSpPr>
          <p:cNvPr id="28" name="Text 26"/>
          <p:cNvSpPr/>
          <p:nvPr/>
        </p:nvSpPr>
        <p:spPr>
          <a:xfrm>
            <a:off x="6217920" y="1536192"/>
            <a:ext cx="2468880" cy="320040"/>
          </a:xfrm>
          <a:prstGeom prst="rect">
            <a:avLst/>
          </a:prstGeom>
          <a:noFill/>
          <a:ln/>
        </p:spPr>
        <p:txBody>
          <a:bodyPr wrap="square" rtlCol="0" anchor="ctr"/>
          <a:lstStyle/>
          <a:p>
            <a:pPr indent="0" marL="0">
              <a:buNone/>
            </a:pPr>
            <a:r>
              <a:rPr lang="en-US" sz="1400" b="1" dirty="0">
                <a:solidFill>
                  <a:srgbClr val="4A7C59"/>
                </a:solidFill>
                <a:latin typeface="Calibri" pitchFamily="34" charset="0"/>
                <a:ea typeface="Calibri" pitchFamily="34" charset="-122"/>
                <a:cs typeface="Calibri" pitchFamily="34" charset="-120"/>
              </a:rPr>
              <a:t>Optimise &amp; Retain</a:t>
            </a:r>
            <a:endParaRPr lang="en-US" sz="1400" dirty="0"/>
          </a:p>
        </p:txBody>
      </p:sp>
      <p:sp>
        <p:nvSpPr>
          <p:cNvPr id="29" name="Text 27"/>
          <p:cNvSpPr/>
          <p:nvPr/>
        </p:nvSpPr>
        <p:spPr>
          <a:xfrm>
            <a:off x="6236208" y="1920240"/>
            <a:ext cx="2432304" cy="329184"/>
          </a:xfrm>
          <a:prstGeom prst="rect">
            <a:avLst/>
          </a:prstGeom>
          <a:noFill/>
          <a:ln/>
        </p:spPr>
        <p:txBody>
          <a:bodyPr wrap="square" rtlCol="0" anchor="ctr"/>
          <a:lstStyle/>
          <a:p>
            <a:pPr indent="0" marL="0">
              <a:buNone/>
            </a:pPr>
            <a:r>
              <a:rPr lang="en-US" sz="1000" dirty="0">
                <a:solidFill>
                  <a:srgbClr val="333333"/>
                </a:solidFill>
                <a:latin typeface="Calibri" pitchFamily="34" charset="0"/>
                <a:ea typeface="Calibri" pitchFamily="34" charset="-122"/>
                <a:cs typeface="Calibri" pitchFamily="34" charset="-120"/>
              </a:rPr>
              <a:t>✓  Launch retargeting campaigns</a:t>
            </a:r>
            <a:endParaRPr lang="en-US" sz="1000" dirty="0"/>
          </a:p>
        </p:txBody>
      </p:sp>
      <p:sp>
        <p:nvSpPr>
          <p:cNvPr id="30" name="Text 28"/>
          <p:cNvSpPr/>
          <p:nvPr/>
        </p:nvSpPr>
        <p:spPr>
          <a:xfrm>
            <a:off x="6236208" y="2276856"/>
            <a:ext cx="2432304" cy="329184"/>
          </a:xfrm>
          <a:prstGeom prst="rect">
            <a:avLst/>
          </a:prstGeom>
          <a:noFill/>
          <a:ln/>
        </p:spPr>
        <p:txBody>
          <a:bodyPr wrap="square" rtlCol="0" anchor="ctr"/>
          <a:lstStyle/>
          <a:p>
            <a:pPr indent="0" marL="0">
              <a:buNone/>
            </a:pPr>
            <a:r>
              <a:rPr lang="en-US" sz="1000" dirty="0">
                <a:solidFill>
                  <a:srgbClr val="333333"/>
                </a:solidFill>
                <a:latin typeface="Calibri" pitchFamily="34" charset="0"/>
                <a:ea typeface="Calibri" pitchFamily="34" charset="-122"/>
                <a:cs typeface="Calibri" pitchFamily="34" charset="-120"/>
              </a:rPr>
              <a:t>✓  Loyalty offer for regulars</a:t>
            </a:r>
            <a:endParaRPr lang="en-US" sz="1000" dirty="0"/>
          </a:p>
        </p:txBody>
      </p:sp>
      <p:sp>
        <p:nvSpPr>
          <p:cNvPr id="31" name="Text 29"/>
          <p:cNvSpPr/>
          <p:nvPr/>
        </p:nvSpPr>
        <p:spPr>
          <a:xfrm>
            <a:off x="6236208" y="2633472"/>
            <a:ext cx="2432304" cy="329184"/>
          </a:xfrm>
          <a:prstGeom prst="rect">
            <a:avLst/>
          </a:prstGeom>
          <a:noFill/>
          <a:ln/>
        </p:spPr>
        <p:txBody>
          <a:bodyPr wrap="square" rtlCol="0" anchor="ctr"/>
          <a:lstStyle/>
          <a:p>
            <a:pPr indent="0" marL="0">
              <a:buNone/>
            </a:pPr>
            <a:r>
              <a:rPr lang="en-US" sz="1000" dirty="0">
                <a:solidFill>
                  <a:srgbClr val="333333"/>
                </a:solidFill>
                <a:latin typeface="Calibri" pitchFamily="34" charset="0"/>
                <a:ea typeface="Calibri" pitchFamily="34" charset="-122"/>
                <a:cs typeface="Calibri" pitchFamily="34" charset="-120"/>
              </a:rPr>
              <a:t>✓  Analyse top-performing content</a:t>
            </a:r>
            <a:endParaRPr lang="en-US" sz="1000" dirty="0"/>
          </a:p>
        </p:txBody>
      </p:sp>
      <p:sp>
        <p:nvSpPr>
          <p:cNvPr id="32" name="Text 30"/>
          <p:cNvSpPr/>
          <p:nvPr/>
        </p:nvSpPr>
        <p:spPr>
          <a:xfrm>
            <a:off x="6236208" y="2990088"/>
            <a:ext cx="2432304" cy="329184"/>
          </a:xfrm>
          <a:prstGeom prst="rect">
            <a:avLst/>
          </a:prstGeom>
          <a:noFill/>
          <a:ln/>
        </p:spPr>
        <p:txBody>
          <a:bodyPr wrap="square" rtlCol="0" anchor="ctr"/>
          <a:lstStyle/>
          <a:p>
            <a:pPr indent="0" marL="0">
              <a:buNone/>
            </a:pPr>
            <a:r>
              <a:rPr lang="en-US" sz="1000" dirty="0">
                <a:solidFill>
                  <a:srgbClr val="333333"/>
                </a:solidFill>
                <a:latin typeface="Calibri" pitchFamily="34" charset="0"/>
                <a:ea typeface="Calibri" pitchFamily="34" charset="-122"/>
                <a:cs typeface="Calibri" pitchFamily="34" charset="-120"/>
              </a:rPr>
              <a:t>✓  Review KPIs &amp; adjust budget</a:t>
            </a:r>
            <a:endParaRPr lang="en-US" sz="1000" dirty="0"/>
          </a:p>
        </p:txBody>
      </p:sp>
      <p:sp>
        <p:nvSpPr>
          <p:cNvPr id="33" name="Text 31"/>
          <p:cNvSpPr/>
          <p:nvPr/>
        </p:nvSpPr>
        <p:spPr>
          <a:xfrm>
            <a:off x="6236208" y="3346704"/>
            <a:ext cx="2432304" cy="329184"/>
          </a:xfrm>
          <a:prstGeom prst="rect">
            <a:avLst/>
          </a:prstGeom>
          <a:noFill/>
          <a:ln/>
        </p:spPr>
        <p:txBody>
          <a:bodyPr wrap="square" rtlCol="0" anchor="ctr"/>
          <a:lstStyle/>
          <a:p>
            <a:pPr indent="0" marL="0">
              <a:buNone/>
            </a:pPr>
            <a:r>
              <a:rPr lang="en-US" sz="1000" dirty="0">
                <a:solidFill>
                  <a:srgbClr val="333333"/>
                </a:solidFill>
                <a:latin typeface="Calibri" pitchFamily="34" charset="0"/>
                <a:ea typeface="Calibri" pitchFamily="34" charset="-122"/>
                <a:cs typeface="Calibri" pitchFamily="34" charset="-120"/>
              </a:rPr>
              <a:t>✓  Plan Month 4 strategy</a:t>
            </a:r>
            <a:endParaRPr lang="en-US" sz="1000" dirty="0"/>
          </a:p>
        </p:txBody>
      </p:sp>
      <p:sp>
        <p:nvSpPr>
          <p:cNvPr id="34" name="Shape 32"/>
          <p:cNvSpPr/>
          <p:nvPr/>
        </p:nvSpPr>
        <p:spPr>
          <a:xfrm>
            <a:off x="274320" y="3886200"/>
            <a:ext cx="3977640" cy="896112"/>
          </a:xfrm>
          <a:prstGeom prst="rect">
            <a:avLst/>
          </a:prstGeom>
          <a:solidFill>
            <a:srgbClr val="1E3A5F"/>
          </a:solidFill>
          <a:ln w="12700">
            <a:solidFill>
              <a:srgbClr val="1877F2"/>
            </a:solidFill>
            <a:prstDash val="solid"/>
          </a:ln>
        </p:spPr>
      </p:sp>
      <p:sp>
        <p:nvSpPr>
          <p:cNvPr id="35" name="Text 33"/>
          <p:cNvSpPr/>
          <p:nvPr/>
        </p:nvSpPr>
        <p:spPr>
          <a:xfrm>
            <a:off x="365760" y="3904488"/>
            <a:ext cx="3794760" cy="292608"/>
          </a:xfrm>
          <a:prstGeom prst="rect">
            <a:avLst/>
          </a:prstGeom>
          <a:noFill/>
          <a:ln/>
        </p:spPr>
        <p:txBody>
          <a:bodyPr wrap="square" rtlCol="0" anchor="ctr"/>
          <a:lstStyle/>
          <a:p>
            <a:pPr indent="0" marL="0">
              <a:buNone/>
            </a:pPr>
            <a:r>
              <a:rPr lang="en-US" sz="1100" b="1" dirty="0">
                <a:solidFill>
                  <a:srgbClr val="1877F2"/>
                </a:solidFill>
                <a:latin typeface="Calibri" pitchFamily="34" charset="0"/>
                <a:ea typeface="Calibri" pitchFamily="34" charset="-122"/>
                <a:cs typeface="Calibri" pitchFamily="34" charset="-120"/>
              </a:rPr>
              <a:t>Karan's Focus</a:t>
            </a:r>
            <a:endParaRPr lang="en-US" sz="1100" dirty="0"/>
          </a:p>
        </p:txBody>
      </p:sp>
      <p:sp>
        <p:nvSpPr>
          <p:cNvPr id="36" name="Text 34"/>
          <p:cNvSpPr/>
          <p:nvPr/>
        </p:nvSpPr>
        <p:spPr>
          <a:xfrm>
            <a:off x="365760" y="4178808"/>
            <a:ext cx="3794760" cy="54864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Food quality · Customer experience · In-store promotions · Operations</a:t>
            </a:r>
            <a:endParaRPr lang="en-US" sz="1000" dirty="0"/>
          </a:p>
        </p:txBody>
      </p:sp>
      <p:sp>
        <p:nvSpPr>
          <p:cNvPr id="37" name="Shape 35"/>
          <p:cNvSpPr/>
          <p:nvPr/>
        </p:nvSpPr>
        <p:spPr>
          <a:xfrm>
            <a:off x="4846320" y="3886200"/>
            <a:ext cx="3977640" cy="896112"/>
          </a:xfrm>
          <a:prstGeom prst="rect">
            <a:avLst/>
          </a:prstGeom>
          <a:solidFill>
            <a:srgbClr val="3A1A1A"/>
          </a:solidFill>
          <a:ln w="12700">
            <a:solidFill>
              <a:srgbClr val="8B1A1A"/>
            </a:solidFill>
            <a:prstDash val="solid"/>
          </a:ln>
        </p:spPr>
      </p:sp>
      <p:sp>
        <p:nvSpPr>
          <p:cNvPr id="38" name="Text 36"/>
          <p:cNvSpPr/>
          <p:nvPr/>
        </p:nvSpPr>
        <p:spPr>
          <a:xfrm>
            <a:off x="4937760" y="3904488"/>
            <a:ext cx="3794760" cy="292608"/>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Rohit's Focus</a:t>
            </a:r>
            <a:endParaRPr lang="en-US" sz="1100" dirty="0"/>
          </a:p>
        </p:txBody>
      </p:sp>
      <p:sp>
        <p:nvSpPr>
          <p:cNvPr id="39" name="Text 37"/>
          <p:cNvSpPr/>
          <p:nvPr/>
        </p:nvSpPr>
        <p:spPr>
          <a:xfrm>
            <a:off x="4937760" y="4178808"/>
            <a:ext cx="3794760" cy="54864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Facebook page · Ads · Analytics · Content creation &amp; scheduling</a:t>
            </a:r>
            <a:endParaRPr lang="en-US" sz="1000" dirty="0"/>
          </a:p>
        </p:txBody>
      </p:sp>
      <p:sp>
        <p:nvSpPr>
          <p:cNvPr id="40" name="Text 38"/>
          <p:cNvSpPr/>
          <p:nvPr/>
        </p:nvSpPr>
        <p:spPr>
          <a:xfrm>
            <a:off x="274320" y="4892040"/>
            <a:ext cx="7680960" cy="182880"/>
          </a:xfrm>
          <a:prstGeom prst="rect">
            <a:avLst/>
          </a:prstGeom>
          <a:noFill/>
          <a:ln/>
        </p:spPr>
        <p:txBody>
          <a:bodyPr wrap="square" rtlCol="0" anchor="ctr"/>
          <a:lstStyle/>
          <a:p>
            <a:pPr algn="l" indent="0" marL="0">
              <a:buNone/>
            </a:pPr>
            <a:r>
              <a:rPr lang="en-US" sz="800" dirty="0">
                <a:solidFill>
                  <a:srgbClr val="AAAAAA"/>
                </a:solidFill>
                <a:latin typeface="Calibri" pitchFamily="34" charset="0"/>
                <a:ea typeface="Calibri" pitchFamily="34" charset="-122"/>
                <a:cs typeface="Calibri" pitchFamily="34" charset="-120"/>
              </a:rPr>
              <a:t>Noodle House  |  Facebook Marketing Strategy</a:t>
            </a:r>
            <a:endParaRPr lang="en-US" sz="800" dirty="0"/>
          </a:p>
        </p:txBody>
      </p:sp>
      <p:sp>
        <p:nvSpPr>
          <p:cNvPr id="41" name="Text 39"/>
          <p:cNvSpPr/>
          <p:nvPr/>
        </p:nvSpPr>
        <p:spPr>
          <a:xfrm>
            <a:off x="8595360" y="4892040"/>
            <a:ext cx="365760" cy="182880"/>
          </a:xfrm>
          <a:prstGeom prst="rect">
            <a:avLst/>
          </a:prstGeom>
          <a:noFill/>
          <a:ln/>
        </p:spPr>
        <p:txBody>
          <a:bodyPr wrap="square"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Facebook Marketing Strategy for Noodle House</dc:title>
  <dc:subject>PptxGenJS Presentation</dc:subject>
  <dc:creator>Noodle House Marketing Team</dc:creator>
  <cp:lastModifiedBy>Noodle House Marketing Team</cp:lastModifiedBy>
  <cp:revision>1</cp:revision>
  <dcterms:created xsi:type="dcterms:W3CDTF">2026-05-23T09:26:35Z</dcterms:created>
  <dcterms:modified xsi:type="dcterms:W3CDTF">2026-05-23T09:26:35Z</dcterms:modified>
</cp:coreProperties>
</file>