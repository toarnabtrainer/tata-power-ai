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73" autoAdjust="0"/>
    <p:restoredTop sz="94610"/>
  </p:normalViewPr>
  <p:slideViewPr>
    <p:cSldViewPr snapToGrid="0" snapToObjects="1">
      <p:cViewPr>
        <p:scale>
          <a:sx n="92" d="100"/>
          <a:sy n="92" d="100"/>
        </p:scale>
        <p:origin x="154" y="-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Delivered %</c:v>
                </c:pt>
              </c:strCache>
            </c:strRef>
          </c:tx>
          <c:spPr>
            <a:solidFill>
              <a:srgbClr val="007C8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2023
Q1</c:v>
                </c:pt>
                <c:pt idx="1">
                  <c:v>2023
Q2</c:v>
                </c:pt>
                <c:pt idx="2">
                  <c:v>2023
Q3</c:v>
                </c:pt>
                <c:pt idx="3">
                  <c:v>2023
Q4</c:v>
                </c:pt>
                <c:pt idx="4">
                  <c:v>2024
Q1</c:v>
                </c:pt>
                <c:pt idx="5">
                  <c:v>2024
Q2</c:v>
                </c:pt>
                <c:pt idx="6">
                  <c:v>2024
Q3</c:v>
                </c:pt>
                <c:pt idx="7">
                  <c:v>2024
Q4</c:v>
                </c:pt>
                <c:pt idx="8">
                  <c:v>2025
Q1</c:v>
                </c:pt>
                <c:pt idx="9">
                  <c:v>2025
Q2</c:v>
                </c:pt>
                <c:pt idx="10">
                  <c:v>2025
Q3</c:v>
                </c:pt>
                <c:pt idx="11">
                  <c:v>2025
Q4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0.32350000000000001</c:v>
                </c:pt>
                <c:pt idx="1">
                  <c:v>0.32979999999999998</c:v>
                </c:pt>
                <c:pt idx="2">
                  <c:v>0.34310000000000002</c:v>
                </c:pt>
                <c:pt idx="3">
                  <c:v>0.30420000000000003</c:v>
                </c:pt>
                <c:pt idx="4">
                  <c:v>0.33429999999999999</c:v>
                </c:pt>
                <c:pt idx="5">
                  <c:v>0.32990000000000003</c:v>
                </c:pt>
                <c:pt idx="6">
                  <c:v>0.28239999999999998</c:v>
                </c:pt>
                <c:pt idx="7">
                  <c:v>0.3175</c:v>
                </c:pt>
                <c:pt idx="8">
                  <c:v>0.32740000000000002</c:v>
                </c:pt>
                <c:pt idx="9">
                  <c:v>0.36609999999999998</c:v>
                </c:pt>
                <c:pt idx="10">
                  <c:v>0.35</c:v>
                </c:pt>
                <c:pt idx="11">
                  <c:v>0.3468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07-4730-9F1C-1E73B1F094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 + Cancel %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2023
Q1</c:v>
                </c:pt>
                <c:pt idx="1">
                  <c:v>2023
Q2</c:v>
                </c:pt>
                <c:pt idx="2">
                  <c:v>2023
Q3</c:v>
                </c:pt>
                <c:pt idx="3">
                  <c:v>2023
Q4</c:v>
                </c:pt>
                <c:pt idx="4">
                  <c:v>2024
Q1</c:v>
                </c:pt>
                <c:pt idx="5">
                  <c:v>2024
Q2</c:v>
                </c:pt>
                <c:pt idx="6">
                  <c:v>2024
Q3</c:v>
                </c:pt>
                <c:pt idx="7">
                  <c:v>2024
Q4</c:v>
                </c:pt>
                <c:pt idx="8">
                  <c:v>2025
Q1</c:v>
                </c:pt>
                <c:pt idx="9">
                  <c:v>2025
Q2</c:v>
                </c:pt>
                <c:pt idx="10">
                  <c:v>2025
Q3</c:v>
                </c:pt>
                <c:pt idx="11">
                  <c:v>2025
Q4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0.3639</c:v>
                </c:pt>
                <c:pt idx="1">
                  <c:v>0.32979999999999998</c:v>
                </c:pt>
                <c:pt idx="2">
                  <c:v>0.36699999999999999</c:v>
                </c:pt>
                <c:pt idx="3">
                  <c:v>0.3367</c:v>
                </c:pt>
                <c:pt idx="4">
                  <c:v>0.3427</c:v>
                </c:pt>
                <c:pt idx="5">
                  <c:v>0.31469999999999998</c:v>
                </c:pt>
                <c:pt idx="6">
                  <c:v>0.35370000000000001</c:v>
                </c:pt>
                <c:pt idx="7">
                  <c:v>0.35749999999999998</c:v>
                </c:pt>
                <c:pt idx="8">
                  <c:v>0.36059999999999998</c:v>
                </c:pt>
                <c:pt idx="9">
                  <c:v>0.33660000000000001</c:v>
                </c:pt>
                <c:pt idx="10">
                  <c:v>0.3306</c:v>
                </c:pt>
                <c:pt idx="11">
                  <c:v>0.30890000000000001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01-4C34-B872-61520B56FB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In-Transit/Pending %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2023
Q1</c:v>
                </c:pt>
                <c:pt idx="1">
                  <c:v>2023
Q2</c:v>
                </c:pt>
                <c:pt idx="2">
                  <c:v>2023
Q3</c:v>
                </c:pt>
                <c:pt idx="3">
                  <c:v>2023
Q4</c:v>
                </c:pt>
                <c:pt idx="4">
                  <c:v>2024
Q1</c:v>
                </c:pt>
                <c:pt idx="5">
                  <c:v>2024
Q2</c:v>
                </c:pt>
                <c:pt idx="6">
                  <c:v>2024
Q3</c:v>
                </c:pt>
                <c:pt idx="7">
                  <c:v>2024
Q4</c:v>
                </c:pt>
                <c:pt idx="8">
                  <c:v>2025
Q1</c:v>
                </c:pt>
                <c:pt idx="9">
                  <c:v>2025
Q2</c:v>
                </c:pt>
                <c:pt idx="10">
                  <c:v>2025
Q3</c:v>
                </c:pt>
                <c:pt idx="11">
                  <c:v>2025
Q4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0.31269999999999998</c:v>
                </c:pt>
                <c:pt idx="1">
                  <c:v>0.34039999999999998</c:v>
                </c:pt>
                <c:pt idx="2">
                  <c:v>0.28989999999999999</c:v>
                </c:pt>
                <c:pt idx="3">
                  <c:v>0.35909999999999997</c:v>
                </c:pt>
                <c:pt idx="4">
                  <c:v>0.32300000000000001</c:v>
                </c:pt>
                <c:pt idx="5">
                  <c:v>0.3553</c:v>
                </c:pt>
                <c:pt idx="6">
                  <c:v>0.3639</c:v>
                </c:pt>
                <c:pt idx="7">
                  <c:v>0.32500000000000001</c:v>
                </c:pt>
                <c:pt idx="8">
                  <c:v>0.312</c:v>
                </c:pt>
                <c:pt idx="9">
                  <c:v>0.29730000000000001</c:v>
                </c:pt>
                <c:pt idx="10">
                  <c:v>0.31940000000000002</c:v>
                </c:pt>
                <c:pt idx="11">
                  <c:v>0.34429999999999999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AB-4FCE-8511-4B401C56B5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007C89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Smart Watch</c:v>
                </c:pt>
                <c:pt idx="1">
                  <c:v>Headphones</c:v>
                </c:pt>
                <c:pt idx="2">
                  <c:v>Monitor</c:v>
                </c:pt>
                <c:pt idx="3">
                  <c:v>Mouse</c:v>
                </c:pt>
                <c:pt idx="4">
                  <c:v>Laptop</c:v>
                </c:pt>
                <c:pt idx="5">
                  <c:v>Keyboard</c:v>
                </c:pt>
                <c:pt idx="6">
                  <c:v>Charger</c:v>
                </c:pt>
                <c:pt idx="7">
                  <c:v>Webcam</c:v>
                </c:pt>
                <c:pt idx="8">
                  <c:v>Tablet</c:v>
                </c:pt>
                <c:pt idx="9">
                  <c:v>USB Cable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59</c:v>
                </c:pt>
                <c:pt idx="1">
                  <c:v>58.2</c:v>
                </c:pt>
                <c:pt idx="2">
                  <c:v>57.3</c:v>
                </c:pt>
                <c:pt idx="3">
                  <c:v>56.9</c:v>
                </c:pt>
                <c:pt idx="4">
                  <c:v>55.6</c:v>
                </c:pt>
                <c:pt idx="5">
                  <c:v>55.1</c:v>
                </c:pt>
                <c:pt idx="6">
                  <c:v>54.2</c:v>
                </c:pt>
                <c:pt idx="7">
                  <c:v>53.8</c:v>
                </c:pt>
                <c:pt idx="8">
                  <c:v>53.1</c:v>
                </c:pt>
                <c:pt idx="9">
                  <c:v>51.5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804-43B3-B407-36282558640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Units sold (hundreds)</c:v>
                </c:pt>
              </c:strCache>
            </c:strRef>
          </c:tx>
          <c:spPr>
            <a:solidFill>
              <a:srgbClr val="5BC0BE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Smart Watch</c:v>
                </c:pt>
                <c:pt idx="1">
                  <c:v>Headphones</c:v>
                </c:pt>
                <c:pt idx="2">
                  <c:v>Monitor</c:v>
                </c:pt>
                <c:pt idx="3">
                  <c:v>Mouse</c:v>
                </c:pt>
                <c:pt idx="4">
                  <c:v>Laptop</c:v>
                </c:pt>
                <c:pt idx="5">
                  <c:v>Keyboard</c:v>
                </c:pt>
                <c:pt idx="6">
                  <c:v>Charger</c:v>
                </c:pt>
                <c:pt idx="7">
                  <c:v>Webcam</c:v>
                </c:pt>
                <c:pt idx="8">
                  <c:v>Tablet</c:v>
                </c:pt>
                <c:pt idx="9">
                  <c:v>USB Cable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14</c:v>
                </c:pt>
                <c:pt idx="1">
                  <c:v>14.3</c:v>
                </c:pt>
                <c:pt idx="2">
                  <c:v>14.4</c:v>
                </c:pt>
                <c:pt idx="3">
                  <c:v>14.2</c:v>
                </c:pt>
                <c:pt idx="4">
                  <c:v>13.9</c:v>
                </c:pt>
                <c:pt idx="5">
                  <c:v>14</c:v>
                </c:pt>
                <c:pt idx="6">
                  <c:v>13.6</c:v>
                </c:pt>
                <c:pt idx="7">
                  <c:v>14.5</c:v>
                </c:pt>
                <c:pt idx="8">
                  <c:v>13.2</c:v>
                </c:pt>
                <c:pt idx="9">
                  <c:v>13.4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804-43B3-B407-3628255864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2700000"/>
          <a:lstStyle/>
          <a:p>
            <a:pPr>
              <a:defRPr sz="750" b="0" i="0" u="none" strike="noStrike">
                <a:solidFill>
                  <a:srgbClr val="102A4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w="5715" cap="flat">
              <a:solidFill>
                <a:srgbClr val="D9E2EC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27D98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850">
              <a:solidFill>
                <a:srgbClr val="102A4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3A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4B4-4DFF-B4A4-DE634ED4D406}"/>
              </c:ext>
            </c:extLst>
          </c:dPt>
          <c:dPt>
            <c:idx val="1"/>
            <c:bubble3D val="0"/>
            <c:spPr>
              <a:solidFill>
                <a:srgbClr val="00A6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4B4-4DFF-B4A4-DE634ED4D406}"/>
              </c:ext>
            </c:extLst>
          </c:dPt>
          <c:dPt>
            <c:idx val="2"/>
            <c:bubble3D val="0"/>
            <c:spPr>
              <a:solidFill>
                <a:srgbClr val="5BC0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4B4-4DFF-B4A4-DE634ED4D406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02A43"/>
                      </a:solidFill>
                      <a:latin typeface="Apto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4B4-4DFF-B4A4-DE634ED4D406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02A43"/>
                      </a:solidFill>
                      <a:latin typeface="Apto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4B4-4DFF-B4A4-DE634ED4D406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02A43"/>
                      </a:solidFill>
                      <a:latin typeface="Apto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4B4-4DFF-B4A4-DE634ED4D406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Electronics</c:v>
                </c:pt>
                <c:pt idx="1">
                  <c:v>Tech</c:v>
                </c:pt>
                <c:pt idx="2">
                  <c:v>Gadgets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333.72899999999998</c:v>
                </c:pt>
                <c:pt idx="1">
                  <c:v>114.35</c:v>
                </c:pt>
                <c:pt idx="2">
                  <c:v>106.425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4B4-4DFF-B4A4-DE634ED4D4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r"/>
      <c:overlay val="0"/>
      <c:txPr>
        <a:bodyPr/>
        <a:lstStyle/>
        <a:p>
          <a:pPr>
            <a:defRPr sz="950">
              <a:solidFill>
                <a:srgbClr val="102A4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7C89"/>
            </a:solidFill>
            <a:effectLst/>
          </c:spPr>
          <c:invertIfNegative val="0"/>
          <c:dLbls>
            <c:numFmt formatCode="\₹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90" b="0" i="0" u="none" strike="noStrike">
                    <a:solidFill>
                      <a:srgbClr val="102A43"/>
                    </a:solidFill>
                    <a:latin typeface="Apto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Delhi</c:v>
                </c:pt>
                <c:pt idx="1">
                  <c:v>Mumbai</c:v>
                </c:pt>
                <c:pt idx="2">
                  <c:v>Pune</c:v>
                </c:pt>
                <c:pt idx="3">
                  <c:v>Hyderabad</c:v>
                </c:pt>
                <c:pt idx="4">
                  <c:v>Chennai</c:v>
                </c:pt>
                <c:pt idx="5">
                  <c:v>Ahmedabad</c:v>
                </c:pt>
                <c:pt idx="6">
                  <c:v>Kolkata</c:v>
                </c:pt>
                <c:pt idx="7">
                  <c:v>Bangalore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120</c:v>
                </c:pt>
                <c:pt idx="1">
                  <c:v>64.099999999999994</c:v>
                </c:pt>
                <c:pt idx="2">
                  <c:v>64</c:v>
                </c:pt>
                <c:pt idx="3">
                  <c:v>63</c:v>
                </c:pt>
                <c:pt idx="4">
                  <c:v>62.2</c:v>
                </c:pt>
                <c:pt idx="5">
                  <c:v>60.8</c:v>
                </c:pt>
                <c:pt idx="6">
                  <c:v>60.3</c:v>
                </c:pt>
                <c:pt idx="7">
                  <c:v>60.1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9E-4CE5-B57D-7D1167CADB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2100000"/>
          <a:lstStyle/>
          <a:p>
            <a:pPr>
              <a:defRPr sz="880" b="0" i="0" u="none" strike="noStrike">
                <a:solidFill>
                  <a:srgbClr val="102A4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30"/>
          <c:min val="0"/>
        </c:scaling>
        <c:delete val="0"/>
        <c:axPos val="l"/>
        <c:majorGridlines>
          <c:spPr>
            <a:ln w="5715" cap="flat">
              <a:solidFill>
                <a:srgbClr val="D9E2EC"/>
              </a:solidFill>
              <a:prstDash val="solid"/>
              <a:round/>
            </a:ln>
          </c:spPr>
        </c:majorGridlines>
        <c:numFmt formatCode="\₹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27D98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8100" cap="flat">
              <a:solidFill>
                <a:srgbClr val="007C8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C89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2023 Q1</c:v>
                </c:pt>
                <c:pt idx="1">
                  <c:v>2023 Q2</c:v>
                </c:pt>
                <c:pt idx="2">
                  <c:v>2023 Q3</c:v>
                </c:pt>
                <c:pt idx="3">
                  <c:v>2023 Q4</c:v>
                </c:pt>
                <c:pt idx="4">
                  <c:v>2024 Q1</c:v>
                </c:pt>
                <c:pt idx="5">
                  <c:v>2024 Q2</c:v>
                </c:pt>
                <c:pt idx="6">
                  <c:v>2024 Q3</c:v>
                </c:pt>
                <c:pt idx="7">
                  <c:v>2024 Q4</c:v>
                </c:pt>
                <c:pt idx="8">
                  <c:v>2025 Q1</c:v>
                </c:pt>
                <c:pt idx="9">
                  <c:v>2025 Q2</c:v>
                </c:pt>
                <c:pt idx="10">
                  <c:v>2025 Q3</c:v>
                </c:pt>
                <c:pt idx="11">
                  <c:v>2025 Q4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45.1</c:v>
                </c:pt>
                <c:pt idx="1">
                  <c:v>45.4</c:v>
                </c:pt>
                <c:pt idx="2">
                  <c:v>43</c:v>
                </c:pt>
                <c:pt idx="3">
                  <c:v>47.7</c:v>
                </c:pt>
                <c:pt idx="4">
                  <c:v>40.5</c:v>
                </c:pt>
                <c:pt idx="5">
                  <c:v>48.7</c:v>
                </c:pt>
                <c:pt idx="6">
                  <c:v>54.1</c:v>
                </c:pt>
                <c:pt idx="7">
                  <c:v>47.5</c:v>
                </c:pt>
                <c:pt idx="8">
                  <c:v>45.8</c:v>
                </c:pt>
                <c:pt idx="9">
                  <c:v>47.4</c:v>
                </c:pt>
                <c:pt idx="10">
                  <c:v>43</c:v>
                </c:pt>
                <c:pt idx="11">
                  <c:v>46.6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0DC-4194-A69E-88B741CA67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102A4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35"/>
        </c:scaling>
        <c:delete val="0"/>
        <c:axPos val="l"/>
        <c:majorGridlines>
          <c:spPr>
            <a:ln w="5715" cap="flat">
              <a:solidFill>
                <a:srgbClr val="D9E2EC"/>
              </a:solidFill>
              <a:prstDash val="solid"/>
              <a:round/>
            </a:ln>
          </c:spPr>
        </c:majorGridlines>
        <c:numFmt formatCode="\₹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27D98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 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C8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C2A-46F6-9464-62CC89286508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2A-46F6-9464-62CC89286508}"/>
              </c:ext>
            </c:extLst>
          </c:dPt>
          <c:dPt>
            <c:idx val="2"/>
            <c:bubble3D val="0"/>
            <c:spPr>
              <a:solidFill>
                <a:srgbClr val="5BC0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C2A-46F6-9464-62CC89286508}"/>
              </c:ext>
            </c:extLst>
          </c:dPt>
          <c:dPt>
            <c:idx val="3"/>
            <c:bubble3D val="0"/>
            <c:spPr>
              <a:solidFill>
                <a:srgbClr val="D64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C2A-46F6-9464-62CC89286508}"/>
              </c:ext>
            </c:extLst>
          </c:dPt>
          <c:dPt>
            <c:idx val="4"/>
            <c:bubble3D val="0"/>
            <c:spPr>
              <a:solidFill>
                <a:srgbClr val="9FB3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C2A-46F6-9464-62CC89286508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102A43"/>
                      </a:solidFill>
                      <a:latin typeface="Apto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C2A-46F6-9464-62CC89286508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102A43"/>
                      </a:solidFill>
                      <a:latin typeface="Apto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2A-46F6-9464-62CC89286508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102A43"/>
                      </a:solidFill>
                      <a:latin typeface="Apto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C2A-46F6-9464-62CC89286508}"/>
                </c:ext>
              </c:extLst>
            </c:dLbl>
            <c:dLbl>
              <c:idx val="3"/>
              <c:numFmt formatCode="0.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102A43"/>
                      </a:solidFill>
                      <a:latin typeface="Apto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C2A-46F6-9464-62CC89286508}"/>
                </c:ext>
              </c:extLst>
            </c:dLbl>
            <c:dLbl>
              <c:idx val="4"/>
              <c:numFmt formatCode="0.0%" sourceLinked="0"/>
              <c:spPr/>
              <c:txPr>
                <a:bodyPr/>
                <a:lstStyle/>
                <a:p>
                  <a:pPr>
                    <a:defRPr sz="1050" b="0" i="0" u="none" strike="noStrike">
                      <a:solidFill>
                        <a:srgbClr val="102A43"/>
                      </a:solidFill>
                      <a:latin typeface="Apto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C2A-46F6-9464-62CC89286508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Delivered</c:v>
                </c:pt>
                <c:pt idx="1">
                  <c:v>Returned</c:v>
                </c:pt>
                <c:pt idx="2">
                  <c:v>Shipped</c:v>
                </c:pt>
                <c:pt idx="3">
                  <c:v>Cancelled</c:v>
                </c:pt>
                <c:pt idx="4">
                  <c:v>Pending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1522</c:v>
                </c:pt>
                <c:pt idx="1">
                  <c:v>795</c:v>
                </c:pt>
                <c:pt idx="2">
                  <c:v>779</c:v>
                </c:pt>
                <c:pt idx="3">
                  <c:v>784</c:v>
                </c:pt>
                <c:pt idx="4">
                  <c:v>740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2A-46F6-9464-62CC892865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legend>
      <c:legendPos val="r"/>
      <c:overlay val="0"/>
      <c:txPr>
        <a:bodyPr/>
        <a:lstStyle/>
        <a:p>
          <a:pPr>
            <a:defRPr sz="930">
              <a:solidFill>
                <a:srgbClr val="102A4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 share</c:v>
                </c:pt>
              </c:strCache>
            </c:strRef>
          </c:tx>
          <c:spPr>
            <a:solidFill>
              <a:srgbClr val="007C89"/>
            </a:solidFill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02A43"/>
                    </a:solidFill>
                    <a:latin typeface="Apto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Debit Card</c:v>
                </c:pt>
                <c:pt idx="1">
                  <c:v>Net Banking</c:v>
                </c:pt>
                <c:pt idx="2">
                  <c:v>COD</c:v>
                </c:pt>
                <c:pt idx="3">
                  <c:v>UPI</c:v>
                </c:pt>
                <c:pt idx="4">
                  <c:v>Credit Card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0.20349999999999999</c:v>
                </c:pt>
                <c:pt idx="1">
                  <c:v>0.2026</c:v>
                </c:pt>
                <c:pt idx="2">
                  <c:v>0.2009</c:v>
                </c:pt>
                <c:pt idx="3">
                  <c:v>0.1976</c:v>
                </c:pt>
                <c:pt idx="4">
                  <c:v>0.19520000000000001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21-4E90-85D6-1605D11787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1500000"/>
          <a:lstStyle/>
          <a:p>
            <a:pPr>
              <a:defRPr sz="900" b="0" i="0" u="none" strike="noStrike">
                <a:solidFill>
                  <a:srgbClr val="102A43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3"/>
          <c:min val="0"/>
        </c:scaling>
        <c:delete val="0"/>
        <c:axPos val="l"/>
        <c:majorGridlines>
          <c:spPr>
            <a:ln w="5715" cap="flat">
              <a:solidFill>
                <a:srgbClr val="D9E2E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27D98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  <c:showDLblsOverMax val="1"/>
  </c:chart>
  <c:spPr>
    <a:solidFill>
      <a:srgbClr val="FFFFFF">
        <a:alpha val="0"/>
      </a:srgbClr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7218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the review period: 4,620 order-level records from January 2023 through December 2025.</a:t>
            </a:r>
          </a:p>
          <a:p>
            <a:r>
              <a:rPr lang="en-US" dirty="0"/>
              <a:t>Revenue is calculated consistently as Price × Quantity and shown in rupees.</a:t>
            </a:r>
          </a:p>
          <a:p>
            <a:r>
              <a:rPr lang="en-US" dirty="0"/>
              <a:t>The deck focuses on leadership-level decisions: growth concentration, fulfillment leakage, and execution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revenue is ₹554.8M across 4,620 orders and 13,964 units.</a:t>
            </a:r>
          </a:p>
          <a:p>
            <a:r>
              <a:rPr lang="en-US" dirty="0"/>
              <a:t>Average order value is ₹120.1K; Delivered share is 32.9% while Return + Cancel is 34.2%.</a:t>
            </a:r>
          </a:p>
          <a:p>
            <a:r>
              <a:rPr lang="en-US" dirty="0"/>
              <a:t>Use the trend bars to highlight that operational rates fluctuate materially quarter to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Pause here to transition from the executive snapshot into the performance deep-dive.</a:t>
            </a:r>
          </a:p>
          <a:p>
            <a:r>
              <a:t>The next section explains the drivers behind the headline KPIs across product, category, geography, trend, fulfillment, and payment behavior.</a:t>
            </a:r>
          </a:p>
          <a:p>
            <a:r>
              <a:t>Set expectation that each following slide has one chart and one decision-oriented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Smart Watch leads product revenue at 59.0M rupees.</a:t>
            </a:r>
          </a:p>
          <a:p>
            <a:r>
              <a:rPr lang="en-US" dirty="0"/>
              <a:t>Product revenue is relatively distributed across the top items, so the discussion should focus on margin, returns, and attach-rate opportunities rather than a single SKU dependency.</a:t>
            </a:r>
          </a:p>
          <a:p>
            <a:r>
              <a:rPr lang="en-US" dirty="0"/>
              <a:t>The teal callout identifies the highest revenue product directly on the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Electronics is the revenue engine at 60.2% of revenue.</a:t>
            </a:r>
          </a:p>
          <a:p>
            <a:r>
              <a:rPr lang="en-US" dirty="0"/>
              <a:t>Tech and Gadgets together make up roughly 39.8% of revenue.</a:t>
            </a:r>
          </a:p>
          <a:p>
            <a:r>
              <a:rPr lang="en-US" dirty="0"/>
              <a:t>The leadership question is how to protect Electronics while selectively improving Tech and Gadgets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Delhi is the top city, contributing 21.6% of revenue.</a:t>
            </a:r>
          </a:p>
          <a:p>
            <a:r>
              <a:rPr lang="en-US" dirty="0"/>
              <a:t>The top three cities contribute 44.7% of total revenue, indicating meaningful geographic concentration.</a:t>
            </a:r>
          </a:p>
          <a:p>
            <a:r>
              <a:rPr lang="en-US" dirty="0"/>
              <a:t>Use this slide to support a targeted city diversification program rather than broad, unfocused expansion.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quarterly average reference line is ₹46.2M.</a:t>
            </a:r>
          </a:p>
          <a:p>
            <a:r>
              <a:rPr lang="en-US" dirty="0"/>
              <a:t>The peak quarter is 2024 Q3 at ₹54.1M.</a:t>
            </a:r>
          </a:p>
          <a:p>
            <a:r>
              <a:rPr lang="en-US" dirty="0"/>
              <a:t>Discuss what campaign, assortment, or fulfillment conditions from the peak quarter can be repeated.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Delivered orders are 1,522; Returned plus Cancelled orders are 1,579.</a:t>
            </a:r>
          </a:p>
          <a:p>
            <a:r>
              <a:rPr lang="en-US" dirty="0"/>
              <a:t>Return + Cancel equals 34.2% of total orders, which is a major revenue-quality risk.</a:t>
            </a:r>
          </a:p>
          <a:p>
            <a:r>
              <a:rPr lang="en-US" dirty="0"/>
              <a:t>Recommended discussion: separate preventable cancellations from true product returns, then assign owners.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 method distribution is balanced; the top method is Debit Card at 20.3% of orders.</a:t>
            </a:r>
          </a:p>
          <a:p>
            <a:r>
              <a:rPr lang="en-US" dirty="0"/>
              <a:t>No single payment method dominates, which reduces payment-channel dependency risk.</a:t>
            </a:r>
          </a:p>
          <a:p>
            <a:r>
              <a:rPr lang="en-US" dirty="0"/>
              <a:t>Potential action: compare payment method mix against fulfillment status and returns before changing incentives.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heat map ranks categories using only dataset-derived values.</a:t>
            </a:r>
          </a:p>
          <a:p>
            <a:r>
              <a:rPr lang="en-US" dirty="0"/>
              <a:t>Biggest observed risk: Tech has the highest return rate in the heat map; biggest observed opportunity: Electronics shows the strongest growth signal in the matrix.</a:t>
            </a:r>
          </a:p>
          <a:p>
            <a:r>
              <a:rPr lang="en-US" dirty="0"/>
              <a:t>Use this slide to move from descriptive analytics into prioritization.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quadrant to align leadership on sequence and ownership.</a:t>
            </a:r>
          </a:p>
          <a:p>
            <a:r>
              <a:rPr lang="en-US" dirty="0"/>
              <a:t>P2 is high impact and low effort because Delhi accounts for 21.6% of revenue; city diversification can start with under-penetrated cities already in the data.</a:t>
            </a:r>
          </a:p>
          <a:p>
            <a:r>
              <a:rPr lang="en-US" dirty="0"/>
              <a:t>P1 is high impact and medium effort because Return + Cancel represents 34.2% of orders; it requires cross-functional root-cause work.</a:t>
            </a:r>
          </a:p>
          <a:p>
            <a:r>
              <a:rPr lang="en-US" dirty="0"/>
              <a:t>P3 and P4 are low-effort accelerators: Electronics contributes 60.2% of revenue and 2024 Q3 reached ₹54.1M.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6729984"/>
            <a:ext cx="12027103" cy="128016"/>
          </a:xfrm>
          <a:prstGeom prst="rect">
            <a:avLst/>
          </a:prstGeom>
          <a:solidFill>
            <a:srgbClr val="0A2842"/>
          </a:solidFill>
          <a:ln w="12700">
            <a:solidFill>
              <a:srgbClr val="0A284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13232" y="1024128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Ecommerce Sales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Review</a:t>
            </a:r>
            <a:endParaRPr lang="en-US" sz="4300" dirty="0"/>
          </a:p>
        </p:txBody>
      </p:sp>
      <p:sp>
        <p:nvSpPr>
          <p:cNvPr id="5" name="Shape 3"/>
          <p:cNvSpPr/>
          <p:nvPr/>
        </p:nvSpPr>
        <p:spPr>
          <a:xfrm>
            <a:off x="713232" y="2688336"/>
            <a:ext cx="2194560" cy="5486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2980944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DEC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Order-level sales review • Jan 2023–Dec 2025 • India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338328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8C7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Leadership-ready insights and recommended actions from the attached workbook.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13232" y="5230368"/>
            <a:ext cx="2331720" cy="594360"/>
          </a:xfrm>
          <a:prstGeom prst="roundRect">
            <a:avLst/>
          </a:prstGeom>
          <a:solidFill>
            <a:srgbClr val="0A2842">
              <a:alpha val="95000"/>
            </a:srgbClr>
          </a:solidFill>
          <a:ln w="10160">
            <a:solidFill>
              <a:srgbClr val="00A6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77824" y="53218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5BC0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REVENUE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877824" y="55229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₹554.8M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5230368"/>
            <a:ext cx="2331720" cy="594360"/>
          </a:xfrm>
          <a:prstGeom prst="roundRect">
            <a:avLst/>
          </a:prstGeom>
          <a:solidFill>
            <a:srgbClr val="0A2842">
              <a:alpha val="95000"/>
            </a:srgbClr>
          </a:solidFill>
          <a:ln w="10160">
            <a:solidFill>
              <a:srgbClr val="00A6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410712" y="53218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5BC0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3410712" y="55229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4,620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79008" y="5230368"/>
            <a:ext cx="2331720" cy="594360"/>
          </a:xfrm>
          <a:prstGeom prst="roundRect">
            <a:avLst/>
          </a:prstGeom>
          <a:solidFill>
            <a:srgbClr val="0A2842">
              <a:alpha val="95000"/>
            </a:srgbClr>
          </a:solidFill>
          <a:ln w="10160">
            <a:solidFill>
              <a:srgbClr val="00A6A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43600" y="53218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5BC0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UNITS SOLD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5943600" y="55229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13,964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13232" y="640080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B5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Ecommerce_Sales_Data(1).xlsx</a:t>
            </a:r>
            <a:endParaRPr lang="en-US" sz="85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140"/>
                      </p:stCondLst>
                      <p:childTnLst>
                        <p:animEffect transition="in" filter="fade">
                          <p:cBhvr>
                            <p:cTn id="6" dur="45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ECOMMERCE SALES PERFORMANCE REVIEW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snapshot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commercial KPIs plus quarterly operational health trends from order status mix.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Ecommerce_Sales_Data(1).xlsx • Revenue = Price × Quantity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28832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>
                <a:solidFill>
                  <a:srgbClr val="94ADBE"/>
                </a:solidFill>
                <a:latin typeface="Cambria"/>
              </a:rPr>
              <a:t>02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161288"/>
            <a:ext cx="2743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66928" y="1161288"/>
            <a:ext cx="2743200" cy="7315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31520" y="1344168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REVENUE</a:t>
            </a:r>
            <a:endParaRPr lang="en-US" sz="730" dirty="0"/>
          </a:p>
        </p:txBody>
      </p:sp>
      <p:sp>
        <p:nvSpPr>
          <p:cNvPr id="11" name="Text 9"/>
          <p:cNvSpPr/>
          <p:nvPr/>
        </p:nvSpPr>
        <p:spPr>
          <a:xfrm>
            <a:off x="731520" y="160020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₹554.8M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204825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× Quantity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3474720" y="1161288"/>
            <a:ext cx="2743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474720" y="1161288"/>
            <a:ext cx="2743200" cy="73152"/>
          </a:xfrm>
          <a:prstGeom prst="rect">
            <a:avLst/>
          </a:prstGeom>
          <a:solidFill>
            <a:srgbClr val="007C89"/>
          </a:solidFill>
          <a:ln w="12700">
            <a:solidFill>
              <a:srgbClr val="007C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639312" y="1344168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ORDERS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3639312" y="160020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4,620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39312" y="204825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 in dataset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6382512" y="1161288"/>
            <a:ext cx="2743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382512" y="1161288"/>
            <a:ext cx="2743200" cy="73152"/>
          </a:xfrm>
          <a:prstGeom prst="rect">
            <a:avLst/>
          </a:prstGeom>
          <a:solidFill>
            <a:srgbClr val="5BC0BE"/>
          </a:solidFill>
          <a:ln w="12700">
            <a:solidFill>
              <a:srgbClr val="5BC0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547104" y="1344168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UNITS SOLD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6547104" y="160020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13,964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547104" y="204825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 of Quantity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9290304" y="1161288"/>
            <a:ext cx="27432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9290304" y="1161288"/>
            <a:ext cx="2743200" cy="73152"/>
          </a:xfrm>
          <a:prstGeom prst="rect">
            <a:avLst/>
          </a:prstGeom>
          <a:solidFill>
            <a:srgbClr val="0F3A5B"/>
          </a:solidFill>
          <a:ln w="12700">
            <a:solidFill>
              <a:srgbClr val="0F3A5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454896" y="1344168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30" b="1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AVG. ORDER VALUE</a:t>
            </a:r>
            <a:endParaRPr lang="en-US" sz="730" dirty="0"/>
          </a:p>
        </p:txBody>
      </p:sp>
      <p:sp>
        <p:nvSpPr>
          <p:cNvPr id="26" name="Text 24"/>
          <p:cNvSpPr/>
          <p:nvPr/>
        </p:nvSpPr>
        <p:spPr>
          <a:xfrm>
            <a:off x="9454896" y="160020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₹120.1K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454896" y="2048256"/>
            <a:ext cx="24140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÷ orders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566928" y="2496312"/>
            <a:ext cx="6172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health — quarterly share of orders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8080" y="24963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Sparkline bars use OrderDate quarters from 2023 Q1 to 2025 Q4.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66928" y="2816352"/>
            <a:ext cx="35844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566928" y="2816352"/>
            <a:ext cx="3584448" cy="73152"/>
          </a:xfrm>
          <a:prstGeom prst="rect">
            <a:avLst/>
          </a:prstGeom>
          <a:solidFill>
            <a:srgbClr val="007C89"/>
          </a:solidFill>
          <a:ln w="12700">
            <a:solidFill>
              <a:srgbClr val="007C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68096" y="3017520"/>
            <a:ext cx="3182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 %</a:t>
            </a:r>
            <a:endParaRPr lang="en-US" sz="740" dirty="0"/>
          </a:p>
        </p:txBody>
      </p:sp>
      <p:sp>
        <p:nvSpPr>
          <p:cNvPr id="33" name="Text 31"/>
          <p:cNvSpPr/>
          <p:nvPr/>
        </p:nvSpPr>
        <p:spPr>
          <a:xfrm>
            <a:off x="768096" y="331927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32.9%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768096" y="380390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1,522 orders</a:t>
            </a:r>
            <a:endParaRPr lang="en-US" sz="870" dirty="0"/>
          </a:p>
        </p:txBody>
      </p:sp>
      <p:sp>
        <p:nvSpPr>
          <p:cNvPr id="35" name="Text 33"/>
          <p:cNvSpPr/>
          <p:nvPr/>
        </p:nvSpPr>
        <p:spPr>
          <a:xfrm>
            <a:off x="768096" y="4114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 quarter 34.7% (+2.3pp vs 2023 Q1).</a:t>
            </a:r>
            <a:endParaRPr lang="en-US" sz="840" dirty="0"/>
          </a:p>
        </p:txBody>
      </p:sp>
      <p:sp>
        <p:nvSpPr>
          <p:cNvPr id="36" name="Text 34"/>
          <p:cNvSpPr/>
          <p:nvPr/>
        </p:nvSpPr>
        <p:spPr>
          <a:xfrm>
            <a:off x="2176272" y="322783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00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trend</a:t>
            </a:r>
            <a:endParaRPr lang="en-US" sz="750" dirty="0"/>
          </a:p>
        </p:txBody>
      </p:sp>
      <p:graphicFrame>
        <p:nvGraphicFramePr>
          <p:cNvPr id="37" name="Chart 0"/>
          <p:cNvGraphicFramePr/>
          <p:nvPr/>
        </p:nvGraphicFramePr>
        <p:xfrm>
          <a:off x="2148840" y="3438144"/>
          <a:ext cx="1773936" cy="621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Text 35"/>
          <p:cNvSpPr/>
          <p:nvPr/>
        </p:nvSpPr>
        <p:spPr>
          <a:xfrm>
            <a:off x="2157984" y="416966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 Q1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>
            <a:off x="3236976" y="416966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 Q4</a:t>
            </a:r>
            <a:endParaRPr lang="en-US" sz="680" dirty="0"/>
          </a:p>
        </p:txBody>
      </p:sp>
      <p:sp>
        <p:nvSpPr>
          <p:cNvPr id="40" name="Text 37"/>
          <p:cNvSpPr/>
          <p:nvPr/>
        </p:nvSpPr>
        <p:spPr>
          <a:xfrm>
            <a:off x="2157984" y="4398264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 28.2–36.6%</a:t>
            </a:r>
            <a:endParaRPr lang="en-US" sz="720" dirty="0"/>
          </a:p>
        </p:txBody>
      </p:sp>
      <p:sp>
        <p:nvSpPr>
          <p:cNvPr id="41" name="Shape 38"/>
          <p:cNvSpPr/>
          <p:nvPr/>
        </p:nvSpPr>
        <p:spPr>
          <a:xfrm>
            <a:off x="4361688" y="2816352"/>
            <a:ext cx="35844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39"/>
          <p:cNvSpPr/>
          <p:nvPr/>
        </p:nvSpPr>
        <p:spPr>
          <a:xfrm>
            <a:off x="4361688" y="2816352"/>
            <a:ext cx="3584448" cy="73152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0"/>
          <p:cNvSpPr/>
          <p:nvPr/>
        </p:nvSpPr>
        <p:spPr>
          <a:xfrm>
            <a:off x="4562856" y="3017520"/>
            <a:ext cx="3182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+ CANCEL %</a:t>
            </a:r>
            <a:endParaRPr lang="en-US" sz="740" dirty="0"/>
          </a:p>
        </p:txBody>
      </p:sp>
      <p:sp>
        <p:nvSpPr>
          <p:cNvPr id="44" name="Text 41"/>
          <p:cNvSpPr/>
          <p:nvPr/>
        </p:nvSpPr>
        <p:spPr>
          <a:xfrm>
            <a:off x="4562856" y="331927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34.2%</a:t>
            </a:r>
            <a:endParaRPr lang="en-US" sz="2400" dirty="0"/>
          </a:p>
        </p:txBody>
      </p:sp>
      <p:sp>
        <p:nvSpPr>
          <p:cNvPr id="45" name="Text 42"/>
          <p:cNvSpPr/>
          <p:nvPr/>
        </p:nvSpPr>
        <p:spPr>
          <a:xfrm>
            <a:off x="4562856" y="380390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1,579 orders</a:t>
            </a:r>
            <a:endParaRPr lang="en-US" sz="870" dirty="0"/>
          </a:p>
        </p:txBody>
      </p:sp>
      <p:sp>
        <p:nvSpPr>
          <p:cNvPr id="46" name="Text 43"/>
          <p:cNvSpPr/>
          <p:nvPr/>
        </p:nvSpPr>
        <p:spPr>
          <a:xfrm>
            <a:off x="4562856" y="4114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 quarter 30.9% (−5.5pp vs 2023 Q1).</a:t>
            </a:r>
            <a:endParaRPr lang="en-US" sz="840" dirty="0"/>
          </a:p>
        </p:txBody>
      </p:sp>
      <p:sp>
        <p:nvSpPr>
          <p:cNvPr id="47" name="Text 44"/>
          <p:cNvSpPr/>
          <p:nvPr/>
        </p:nvSpPr>
        <p:spPr>
          <a:xfrm>
            <a:off x="5971032" y="322783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64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trend</a:t>
            </a:r>
            <a:endParaRPr lang="en-US" sz="750" dirty="0"/>
          </a:p>
        </p:txBody>
      </p:sp>
      <p:graphicFrame>
        <p:nvGraphicFramePr>
          <p:cNvPr id="48" name="Chart 1"/>
          <p:cNvGraphicFramePr/>
          <p:nvPr/>
        </p:nvGraphicFramePr>
        <p:xfrm>
          <a:off x="5943600" y="3438144"/>
          <a:ext cx="1773936" cy="621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49" name="Text 45"/>
          <p:cNvSpPr/>
          <p:nvPr/>
        </p:nvSpPr>
        <p:spPr>
          <a:xfrm>
            <a:off x="5952744" y="416966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 Q1</a:t>
            </a:r>
            <a:endParaRPr lang="en-US" sz="680" dirty="0"/>
          </a:p>
        </p:txBody>
      </p:sp>
      <p:sp>
        <p:nvSpPr>
          <p:cNvPr id="50" name="Text 46"/>
          <p:cNvSpPr/>
          <p:nvPr/>
        </p:nvSpPr>
        <p:spPr>
          <a:xfrm>
            <a:off x="7031736" y="416966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 Q4</a:t>
            </a:r>
            <a:endParaRPr lang="en-US" sz="680" dirty="0"/>
          </a:p>
        </p:txBody>
      </p:sp>
      <p:sp>
        <p:nvSpPr>
          <p:cNvPr id="51" name="Text 47"/>
          <p:cNvSpPr/>
          <p:nvPr/>
        </p:nvSpPr>
        <p:spPr>
          <a:xfrm>
            <a:off x="5952744" y="4398264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 30.9–36.7%</a:t>
            </a:r>
            <a:endParaRPr lang="en-US" sz="720" dirty="0"/>
          </a:p>
        </p:txBody>
      </p:sp>
      <p:sp>
        <p:nvSpPr>
          <p:cNvPr id="52" name="Shape 48"/>
          <p:cNvSpPr/>
          <p:nvPr/>
        </p:nvSpPr>
        <p:spPr>
          <a:xfrm>
            <a:off x="8156448" y="2816352"/>
            <a:ext cx="358444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49"/>
          <p:cNvSpPr/>
          <p:nvPr/>
        </p:nvSpPr>
        <p:spPr>
          <a:xfrm>
            <a:off x="8156448" y="2816352"/>
            <a:ext cx="3584448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0"/>
          <p:cNvSpPr/>
          <p:nvPr/>
        </p:nvSpPr>
        <p:spPr>
          <a:xfrm>
            <a:off x="8357616" y="3017520"/>
            <a:ext cx="3182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40" b="1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IN-TRANSIT/PENDING %</a:t>
            </a:r>
            <a:endParaRPr lang="en-US" sz="740" dirty="0"/>
          </a:p>
        </p:txBody>
      </p:sp>
      <p:sp>
        <p:nvSpPr>
          <p:cNvPr id="55" name="Text 51"/>
          <p:cNvSpPr/>
          <p:nvPr/>
        </p:nvSpPr>
        <p:spPr>
          <a:xfrm>
            <a:off x="8357616" y="3319272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32.9%</a:t>
            </a:r>
            <a:endParaRPr lang="en-US" sz="2400" dirty="0"/>
          </a:p>
        </p:txBody>
      </p:sp>
      <p:sp>
        <p:nvSpPr>
          <p:cNvPr id="56" name="Text 52"/>
          <p:cNvSpPr/>
          <p:nvPr/>
        </p:nvSpPr>
        <p:spPr>
          <a:xfrm>
            <a:off x="8357616" y="380390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1,519 orders</a:t>
            </a:r>
            <a:endParaRPr lang="en-US" sz="870" dirty="0"/>
          </a:p>
        </p:txBody>
      </p:sp>
      <p:sp>
        <p:nvSpPr>
          <p:cNvPr id="57" name="Text 53"/>
          <p:cNvSpPr/>
          <p:nvPr/>
        </p:nvSpPr>
        <p:spPr>
          <a:xfrm>
            <a:off x="8357616" y="411480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Shipped + Pending; latest quarter 34.4%.</a:t>
            </a:r>
            <a:endParaRPr lang="en-US" sz="840" dirty="0"/>
          </a:p>
        </p:txBody>
      </p:sp>
      <p:sp>
        <p:nvSpPr>
          <p:cNvPr id="58" name="Text 54"/>
          <p:cNvSpPr/>
          <p:nvPr/>
        </p:nvSpPr>
        <p:spPr>
          <a:xfrm>
            <a:off x="9765792" y="3227832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trend</a:t>
            </a:r>
            <a:endParaRPr lang="en-US" sz="750" dirty="0"/>
          </a:p>
        </p:txBody>
      </p:sp>
      <p:graphicFrame>
        <p:nvGraphicFramePr>
          <p:cNvPr id="59" name="Chart 2"/>
          <p:cNvGraphicFramePr/>
          <p:nvPr/>
        </p:nvGraphicFramePr>
        <p:xfrm>
          <a:off x="9738360" y="3438144"/>
          <a:ext cx="1773936" cy="621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0" name="Text 55"/>
          <p:cNvSpPr/>
          <p:nvPr/>
        </p:nvSpPr>
        <p:spPr>
          <a:xfrm>
            <a:off x="9747504" y="416966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2023 Q1</a:t>
            </a:r>
            <a:endParaRPr lang="en-US" sz="680" dirty="0"/>
          </a:p>
        </p:txBody>
      </p:sp>
      <p:sp>
        <p:nvSpPr>
          <p:cNvPr id="61" name="Text 56"/>
          <p:cNvSpPr/>
          <p:nvPr/>
        </p:nvSpPr>
        <p:spPr>
          <a:xfrm>
            <a:off x="10826496" y="4169664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 Q4</a:t>
            </a:r>
            <a:endParaRPr lang="en-US" sz="680" dirty="0"/>
          </a:p>
        </p:txBody>
      </p:sp>
      <p:sp>
        <p:nvSpPr>
          <p:cNvPr id="62" name="Text 57"/>
          <p:cNvSpPr/>
          <p:nvPr/>
        </p:nvSpPr>
        <p:spPr>
          <a:xfrm>
            <a:off x="9747504" y="4398264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 29.0–36.4%</a:t>
            </a:r>
            <a:endParaRPr lang="en-US" sz="720" dirty="0"/>
          </a:p>
        </p:txBody>
      </p:sp>
      <p:sp>
        <p:nvSpPr>
          <p:cNvPr id="63" name="Shape 58"/>
          <p:cNvSpPr/>
          <p:nvPr/>
        </p:nvSpPr>
        <p:spPr>
          <a:xfrm>
            <a:off x="566928" y="4974336"/>
            <a:ext cx="7242048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59"/>
          <p:cNvSpPr/>
          <p:nvPr/>
        </p:nvSpPr>
        <p:spPr>
          <a:xfrm>
            <a:off x="566928" y="4974336"/>
            <a:ext cx="73152" cy="113385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0"/>
          <p:cNvSpPr/>
          <p:nvPr/>
        </p:nvSpPr>
        <p:spPr>
          <a:xfrm>
            <a:off x="822960" y="518464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 insight</a:t>
            </a:r>
            <a:endParaRPr lang="en-US" sz="800" dirty="0"/>
          </a:p>
        </p:txBody>
      </p:sp>
      <p:sp>
        <p:nvSpPr>
          <p:cNvPr id="66" name="Text 61"/>
          <p:cNvSpPr/>
          <p:nvPr/>
        </p:nvSpPr>
        <p:spPr>
          <a:xfrm>
            <a:off x="822960" y="5431536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−5.5pp improvement</a:t>
            </a:r>
            <a:endParaRPr lang="en-US" sz="1800" dirty="0"/>
          </a:p>
        </p:txBody>
      </p:sp>
      <p:sp>
        <p:nvSpPr>
          <p:cNvPr id="67" name="Text 62"/>
          <p:cNvSpPr/>
          <p:nvPr/>
        </p:nvSpPr>
        <p:spPr>
          <a:xfrm>
            <a:off x="3154680" y="5385816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+ Cancel moved from 36.4% in 2023 Q1 to 30.9% in 2025 Q4; delivered ended at 34.7%.</a:t>
            </a:r>
            <a:endParaRPr lang="en-US" sz="1030" dirty="0"/>
          </a:p>
        </p:txBody>
      </p:sp>
      <p:sp>
        <p:nvSpPr>
          <p:cNvPr id="68" name="Shape 63"/>
          <p:cNvSpPr/>
          <p:nvPr/>
        </p:nvSpPr>
        <p:spPr>
          <a:xfrm>
            <a:off x="7982712" y="4974336"/>
            <a:ext cx="3630168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4"/>
          <p:cNvSpPr/>
          <p:nvPr/>
        </p:nvSpPr>
        <p:spPr>
          <a:xfrm>
            <a:off x="8211312" y="51846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 note</a:t>
            </a:r>
            <a:endParaRPr lang="en-US" sz="800" dirty="0"/>
          </a:p>
        </p:txBody>
      </p:sp>
      <p:sp>
        <p:nvSpPr>
          <p:cNvPr id="70" name="Text 65"/>
          <p:cNvSpPr/>
          <p:nvPr/>
        </p:nvSpPr>
        <p:spPr>
          <a:xfrm>
            <a:off x="8211312" y="544068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Delivered, Return + Cancel, and In-Transit/Pending buckets reconcile to 100% of orders. In-Transit/Pending = Shipped + Pending.</a:t>
            </a:r>
            <a:endParaRPr lang="en-US" sz="96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140"/>
                      </p:stCondLst>
                      <p:childTnLst>
                        <p:animEffect transition="in" filter="fade">
                          <p:cBhvr>
                            <p:cTn id="6" dur="45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280"/>
                      </p:stCondLst>
                      <p:childTnLst>
                        <p:animEffect transition="in" filter="fade">
                          <p:cBhvr>
                            <p:cTn id="8" dur="45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3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720840"/>
            <a:ext cx="12024360" cy="137160"/>
          </a:xfrm>
          <a:prstGeom prst="rect">
            <a:avLst/>
          </a:prstGeom>
          <a:solidFill>
            <a:srgbClr val="06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2542032"/>
            <a:ext cx="7863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mbria"/>
              </a:rPr>
              <a:t>Performance Deep-Dive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621024"/>
            <a:ext cx="2240280" cy="73152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35640" y="0"/>
            <a:ext cx="1353312" cy="6720840"/>
          </a:xfrm>
          <a:prstGeom prst="rect">
            <a:avLst/>
          </a:prstGeom>
          <a:solidFill>
            <a:srgbClr val="05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835640" y="0"/>
            <a:ext cx="1353312" cy="146304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 rot="2700000">
            <a:off x="8549640" y="1170432"/>
            <a:ext cx="2148840" cy="2148840"/>
          </a:xfrm>
          <a:prstGeom prst="rect">
            <a:avLst/>
          </a:prstGeom>
          <a:noFill/>
          <a:ln w="21590">
            <a:solidFill>
              <a:srgbClr val="00B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 rot="2700000">
            <a:off x="9857232" y="1993392"/>
            <a:ext cx="1325880" cy="1325880"/>
          </a:xfrm>
          <a:prstGeom prst="rect">
            <a:avLst/>
          </a:prstGeom>
          <a:noFill/>
          <a:ln w="14604">
            <a:solidFill>
              <a:srgbClr val="1F67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arallelogram 9"/>
          <p:cNvSpPr/>
          <p:nvPr/>
        </p:nvSpPr>
        <p:spPr>
          <a:xfrm>
            <a:off x="10104120" y="4297680"/>
            <a:ext cx="1463040" cy="310896"/>
          </a:xfrm>
          <a:prstGeom prst="parallelogram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arallelogram 10"/>
          <p:cNvSpPr/>
          <p:nvPr/>
        </p:nvSpPr>
        <p:spPr>
          <a:xfrm>
            <a:off x="9473184" y="4727448"/>
            <a:ext cx="1874519" cy="310896"/>
          </a:xfrm>
          <a:prstGeom prst="parallelogram">
            <a:avLst/>
          </a:prstGeom>
          <a:solidFill>
            <a:srgbClr val="15C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arallelogram 11"/>
          <p:cNvSpPr/>
          <p:nvPr/>
        </p:nvSpPr>
        <p:spPr>
          <a:xfrm>
            <a:off x="8961120" y="5157216"/>
            <a:ext cx="2423160" cy="310896"/>
          </a:xfrm>
          <a:prstGeom prst="parallelogram">
            <a:avLst/>
          </a:prstGeom>
          <a:solidFill>
            <a:srgbClr val="09304B"/>
          </a:solidFill>
          <a:ln w="10160">
            <a:solidFill>
              <a:srgbClr val="00B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0" y="34747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DBE"/>
                </a:solidFill>
                <a:latin typeface="Cambria"/>
              </a:rPr>
              <a:t>03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ECOMMERCE SALES PERFORMANCE REVIEW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by product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Product-level revenue and units sold calculated from the order rows.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Ecommerce_Sales_Data(1).xlsx • Revenue = Price × Quantity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28832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>
                <a:solidFill>
                  <a:srgbClr val="94ADBE"/>
                </a:solidFill>
                <a:latin typeface="Cambria"/>
              </a:rPr>
              <a:t>04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115568"/>
            <a:ext cx="77724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95528" y="12801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and units by Product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15453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in ₹M; units sold shown in hundreds</a:t>
            </a:r>
            <a:endParaRPr lang="en-US" sz="92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804672" y="1847088"/>
          <a:ext cx="7278624" cy="41513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1097280" y="1874520"/>
            <a:ext cx="2084832" cy="274320"/>
          </a:xfrm>
          <a:prstGeom prst="roundRect">
            <a:avLst>
              <a:gd name="adj" fmla="val 20000"/>
            </a:avLst>
          </a:prstGeom>
          <a:solidFill>
            <a:srgbClr val="007C89"/>
          </a:solidFill>
          <a:ln w="7620">
            <a:solidFill>
              <a:srgbClr val="007C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1179576" y="192938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Highest: Smart Watch • ₹59.0M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1426464" y="2148840"/>
            <a:ext cx="0" cy="374904"/>
          </a:xfrm>
          <a:prstGeom prst="line">
            <a:avLst/>
          </a:prstGeom>
          <a:noFill/>
          <a:ln w="12700">
            <a:solidFill>
              <a:srgbClr val="007C8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8549640" y="1115568"/>
            <a:ext cx="3072384" cy="52578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549640" y="1115568"/>
            <a:ext cx="73152" cy="5257800"/>
          </a:xfrm>
          <a:prstGeom prst="rect">
            <a:avLst/>
          </a:prstGeom>
          <a:solidFill>
            <a:srgbClr val="007C89"/>
          </a:solidFill>
          <a:ln w="12700">
            <a:solidFill>
              <a:srgbClr val="007C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8823960" y="1426464"/>
            <a:ext cx="2569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INSIGHT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823960" y="1801368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₹59.0M</a:t>
            </a:r>
            <a:endParaRPr lang="en-US" sz="2900" dirty="0"/>
          </a:p>
        </p:txBody>
      </p:sp>
      <p:sp>
        <p:nvSpPr>
          <p:cNvPr id="19" name="Text 16"/>
          <p:cNvSpPr/>
          <p:nvPr/>
        </p:nvSpPr>
        <p:spPr>
          <a:xfrm>
            <a:off x="8823960" y="2468880"/>
            <a:ext cx="2569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Watch leads revenue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8823960" y="3108960"/>
            <a:ext cx="2569464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Webcam leads units with 1,451 units. Top 5 products generate 51.8% of total revenue, so performance is distributed rather than dependent on one SKU.</a:t>
            </a:r>
            <a:endParaRPr lang="en-US" sz="126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140"/>
                      </p:stCondLst>
                      <p:childTnLst>
                        <p:animEffect transition="in" filter="fade">
                          <p:cBhvr>
                            <p:cTn id="6" dur="45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280"/>
                      </p:stCondLst>
                      <p:childTnLst>
                        <p:animEffect transition="in" filter="fade">
                          <p:cBhvr>
                            <p:cTn id="8" dur="45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ECOMMERCE SALES PERFORMANCE REVIEW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Category mix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share by Category, with names shown exactly as they appear in the workbook.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Ecommerce_Sales_Data(1).xlsx • Revenue = Price × Quantity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28832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>
                <a:solidFill>
                  <a:srgbClr val="94ADBE"/>
                </a:solidFill>
                <a:latin typeface="Cambria"/>
              </a:rPr>
              <a:t>05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115568"/>
            <a:ext cx="704088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95528" y="128016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share by Category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154533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categories; one blank Category row is excluded from the chart</a:t>
            </a:r>
            <a:endParaRPr lang="en-US" sz="92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841248" y="1828800"/>
          <a:ext cx="626364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3840" y="1115568"/>
            <a:ext cx="3749040" cy="52578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7863840" y="1115568"/>
            <a:ext cx="73152" cy="52578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138160" y="14264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 INSIGHT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138160" y="18013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60.2%</a:t>
            </a:r>
            <a:endParaRPr lang="en-US" sz="2900" dirty="0"/>
          </a:p>
        </p:txBody>
      </p:sp>
      <p:sp>
        <p:nvSpPr>
          <p:cNvPr id="16" name="Text 13"/>
          <p:cNvSpPr/>
          <p:nvPr/>
        </p:nvSpPr>
        <p:spPr>
          <a:xfrm>
            <a:off x="8138160" y="246888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Electronics is the revenue engine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138160" y="3108960"/>
            <a:ext cx="3246120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Electronics contributes ₹333.7M across 2,758 orders. Tech and Gadgets are similar in scale at 20.6% and 19.2% of revenue.</a:t>
            </a:r>
            <a:endParaRPr lang="en-US" sz="126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140"/>
                      </p:stCondLst>
                      <p:childTnLst>
                        <p:animEffect transition="in" filter="fade">
                          <p:cBhvr>
                            <p:cTn id="6" dur="45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280"/>
                      </p:stCondLst>
                      <p:childTnLst>
                        <p:animEffect transition="in" filter="fade">
                          <p:cBhvr>
                            <p:cTn id="8" dur="45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ECOMMERCE SALES PERFORMANCE REVIEW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Geography / revenue by city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City and geographic concentration calculated from order-level records.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Ecommerce_Sales_Data(1).xlsx • Revenue = Price × Quantity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28832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>
                <a:solidFill>
                  <a:srgbClr val="94ADBE"/>
                </a:solidFill>
                <a:latin typeface="Cambria"/>
              </a:rPr>
              <a:t>06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115568"/>
            <a:ext cx="77724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95528" y="12801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City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15453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in ₹M; cities sorted by revenue</a:t>
            </a:r>
            <a:endParaRPr lang="en-US" sz="92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804672" y="1847088"/>
          <a:ext cx="7278624" cy="4078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2331720" y="2048256"/>
            <a:ext cx="1874520" cy="402336"/>
          </a:xfrm>
          <a:prstGeom prst="roundRect">
            <a:avLst>
              <a:gd name="adj" fmla="val 13636"/>
            </a:avLst>
          </a:prstGeom>
          <a:solidFill>
            <a:srgbClr val="007C89"/>
          </a:solidFill>
          <a:ln w="7620">
            <a:solidFill>
              <a:srgbClr val="007C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2414016" y="2103120"/>
            <a:ext cx="1709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city: Delhi</a:t>
            </a:r>
            <a:endParaRPr lang="en-US" sz="820" dirty="0"/>
          </a:p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₹120.0M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1353312" y="2039112"/>
            <a:ext cx="822960" cy="3291840"/>
          </a:xfrm>
          <a:prstGeom prst="ellipse">
            <a:avLst/>
          </a:prstGeom>
          <a:solidFill>
            <a:srgbClr val="FFFFFF">
              <a:alpha val="0"/>
            </a:srgbClr>
          </a:solidFill>
          <a:ln w="2921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2331720" y="2304288"/>
            <a:ext cx="0" cy="164592"/>
          </a:xfrm>
          <a:prstGeom prst="line">
            <a:avLst/>
          </a:prstGeom>
          <a:noFill/>
          <a:ln w="12700">
            <a:solidFill>
              <a:srgbClr val="007C8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549640" y="1115568"/>
            <a:ext cx="3072384" cy="52578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8549640" y="1115568"/>
            <a:ext cx="73152" cy="5257800"/>
          </a:xfrm>
          <a:prstGeom prst="rect">
            <a:avLst/>
          </a:prstGeom>
          <a:solidFill>
            <a:srgbClr val="007C89"/>
          </a:solidFill>
          <a:ln w="12700">
            <a:solidFill>
              <a:srgbClr val="007C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8823960" y="1426464"/>
            <a:ext cx="2569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GEOGRAPHY INSIGHT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8823960" y="1801368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₹120.0M</a:t>
            </a:r>
            <a:endParaRPr lang="en-US" sz="2900" dirty="0"/>
          </a:p>
        </p:txBody>
      </p:sp>
      <p:sp>
        <p:nvSpPr>
          <p:cNvPr id="20" name="Text 17"/>
          <p:cNvSpPr/>
          <p:nvPr/>
        </p:nvSpPr>
        <p:spPr>
          <a:xfrm>
            <a:off x="8823960" y="2468880"/>
            <a:ext cx="2569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Delhi is the largest market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8823960" y="3108960"/>
            <a:ext cx="2569464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Delhi accounts for 21.6% of revenue. The top 3 cities together contribute 44.7%, making geographic concentration material for service levels and local promotions.</a:t>
            </a:r>
            <a:endParaRPr lang="en-US" sz="126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140"/>
                      </p:stCondLst>
                      <p:childTnLst>
                        <p:animEffect transition="in" filter="fade">
                          <p:cBhvr>
                            <p:cTn id="6" dur="45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280"/>
                      </p:stCondLst>
                      <p:childTnLst>
                        <p:animEffect transition="in" filter="fade">
                          <p:cBhvr>
                            <p:cTn id="8" dur="45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ECOMMERCE SALES PERFORMANCE REVIEW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Quarterly and yearly revenue trend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OrderDate serial values are converted into real dates before aggregating revenue.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Ecommerce_Sales_Data(1).xlsx • Revenue = Price × Quantity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28832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>
                <a:solidFill>
                  <a:srgbClr val="94ADBE"/>
                </a:solidFill>
                <a:latin typeface="Cambria"/>
              </a:rPr>
              <a:t>07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115568"/>
            <a:ext cx="77724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95528" y="12801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revenue trend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15453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quarter (₹M)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804672" y="181051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totals: 2023 ₹181.2M  •  2024 ₹190.8M  •  2025 ₹182.7M</a:t>
            </a:r>
            <a:endParaRPr lang="en-US" sz="103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804672" y="2148840"/>
          <a:ext cx="7278624" cy="3767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10"/>
          <p:cNvSpPr/>
          <p:nvPr/>
        </p:nvSpPr>
        <p:spPr>
          <a:xfrm>
            <a:off x="1234440" y="3990359"/>
            <a:ext cx="6473952" cy="0"/>
          </a:xfrm>
          <a:prstGeom prst="line">
            <a:avLst/>
          </a:prstGeom>
          <a:noFill/>
          <a:ln w="15240">
            <a:solidFill>
              <a:srgbClr val="9FB3C8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1353312" y="3688607"/>
            <a:ext cx="1078992" cy="274320"/>
          </a:xfrm>
          <a:prstGeom prst="roundRect">
            <a:avLst>
              <a:gd name="adj" fmla="val 16667"/>
            </a:avLst>
          </a:prstGeom>
          <a:solidFill>
            <a:srgbClr val="FFFFFF">
              <a:alpha val="98000"/>
            </a:srgbClr>
          </a:solidFill>
          <a:ln w="11430">
            <a:solidFill>
              <a:srgbClr val="9FB3C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1444752" y="3738899"/>
            <a:ext cx="896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₹46.2M</a:t>
            </a:r>
            <a:endParaRPr lang="en-US" sz="780" dirty="0"/>
          </a:p>
        </p:txBody>
      </p:sp>
      <p:sp>
        <p:nvSpPr>
          <p:cNvPr id="16" name="Shape 13"/>
          <p:cNvSpPr/>
          <p:nvPr/>
        </p:nvSpPr>
        <p:spPr>
          <a:xfrm>
            <a:off x="4965192" y="2523744"/>
            <a:ext cx="1700784" cy="420624"/>
          </a:xfrm>
          <a:prstGeom prst="roundRect">
            <a:avLst>
              <a:gd name="adj" fmla="val 13043"/>
            </a:avLst>
          </a:prstGeom>
          <a:solidFill>
            <a:srgbClr val="007C89"/>
          </a:solidFill>
          <a:ln w="7620">
            <a:solidFill>
              <a:srgbClr val="007C8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5047488" y="257860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Peak: 2024 Q3</a:t>
            </a:r>
            <a:endParaRPr lang="en-US" sz="820" dirty="0"/>
          </a:p>
          <a:p>
            <a:pPr marL="0" indent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₹54.1M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4727448" y="2935224"/>
            <a:ext cx="182880" cy="18288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4965192" y="2843784"/>
            <a:ext cx="0" cy="173736"/>
          </a:xfrm>
          <a:prstGeom prst="line">
            <a:avLst/>
          </a:prstGeom>
          <a:noFill/>
          <a:ln w="12700">
            <a:solidFill>
              <a:srgbClr val="007C89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8549640" y="1115568"/>
            <a:ext cx="3072384" cy="52578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8549640" y="1115568"/>
            <a:ext cx="73152" cy="52578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8823960" y="1426464"/>
            <a:ext cx="2569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INSIGHT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823960" y="1801368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₹54.1M</a:t>
            </a:r>
            <a:endParaRPr lang="en-US" sz="2900" dirty="0"/>
          </a:p>
        </p:txBody>
      </p:sp>
      <p:sp>
        <p:nvSpPr>
          <p:cNvPr id="24" name="Text 21"/>
          <p:cNvSpPr/>
          <p:nvPr/>
        </p:nvSpPr>
        <p:spPr>
          <a:xfrm>
            <a:off x="8823960" y="2468880"/>
            <a:ext cx="2569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2024 Q3 was the peak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8823960" y="3108960"/>
            <a:ext cx="2569464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ranged from ₹40.5M in 2024 Q1 to ₹54.1M in 2024 Q3, a ₹13.6M swing.</a:t>
            </a:r>
            <a:endParaRPr lang="en-US" sz="126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140"/>
                      </p:stCondLst>
                      <p:childTnLst>
                        <p:animEffect transition="in" filter="fade">
                          <p:cBhvr>
                            <p:cTn id="6" dur="45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280"/>
                      </p:stCondLst>
                      <p:childTnLst>
                        <p:animEffect transition="in" filter="fade">
                          <p:cBhvr>
                            <p:cTn id="8" dur="45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ECOMMERCE SALES PERFORMANCE REVIEW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Order fulfillment / status breakdown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status mix based on order count; return + cancellation rate calculated across all orders.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Ecommerce_Sales_Data(1).xlsx • Revenue = Price × Quantity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28832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>
                <a:solidFill>
                  <a:srgbClr val="94ADBE"/>
                </a:solidFill>
                <a:latin typeface="Cambria"/>
              </a:rPr>
              <a:t>08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115568"/>
            <a:ext cx="704088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95528" y="128016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status mix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154533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total order count</a:t>
            </a:r>
            <a:endParaRPr lang="en-US" sz="92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841248" y="1819656"/>
          <a:ext cx="62636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7863840" y="1115568"/>
            <a:ext cx="3749040" cy="525780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7863840" y="1115568"/>
            <a:ext cx="73152" cy="5257800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138160" y="142646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64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FULFILLMENT INSIGHT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138160" y="180136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34.2%</a:t>
            </a:r>
            <a:endParaRPr lang="en-US" sz="2900" dirty="0"/>
          </a:p>
        </p:txBody>
      </p:sp>
      <p:sp>
        <p:nvSpPr>
          <p:cNvPr id="16" name="Text 13"/>
          <p:cNvSpPr/>
          <p:nvPr/>
        </p:nvSpPr>
        <p:spPr>
          <a:xfrm>
            <a:off x="8138160" y="246888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Post-order leakage is high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138160" y="3108960"/>
            <a:ext cx="3246120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Returned and Cancelled orders total 1,579 out of 4,620. Delivered + Shipped orders are 2,301 (49.8%), leaving significant recovery opportunity.</a:t>
            </a:r>
            <a:endParaRPr lang="en-US" sz="126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140"/>
                      </p:stCondLst>
                      <p:childTnLst>
                        <p:animEffect transition="in" filter="fade">
                          <p:cBhvr>
                            <p:cTn id="6" dur="45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280"/>
                      </p:stCondLst>
                      <p:childTnLst>
                        <p:animEffect transition="in" filter="fade">
                          <p:cBhvr>
                            <p:cTn id="8" dur="45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ECOMMERCE SALES PERFORMANCE REVIEW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Payment methods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 by PaymentMethod using order count share; names preserved exactly as shown.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Ecommerce_Sales_Data(1).xlsx • Revenue = Price × Quantity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28832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>
                <a:solidFill>
                  <a:srgbClr val="94ADBE"/>
                </a:solidFill>
                <a:latin typeface="Cambria"/>
              </a:rPr>
              <a:t>09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115568"/>
            <a:ext cx="777240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95528" y="12801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method distribution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154533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total order count</a:t>
            </a:r>
            <a:endParaRPr lang="en-US" sz="92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804672" y="1847088"/>
          <a:ext cx="7278624" cy="40782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9"/>
          <p:cNvSpPr/>
          <p:nvPr/>
        </p:nvSpPr>
        <p:spPr>
          <a:xfrm>
            <a:off x="8549640" y="1115568"/>
            <a:ext cx="3072384" cy="52578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8549640" y="1115568"/>
            <a:ext cx="73152" cy="52578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8823960" y="1426464"/>
            <a:ext cx="2569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A6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INSIGHT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823960" y="1801368"/>
            <a:ext cx="25694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20.3%</a:t>
            </a:r>
            <a:endParaRPr lang="en-US" sz="2900" dirty="0"/>
          </a:p>
        </p:txBody>
      </p:sp>
      <p:sp>
        <p:nvSpPr>
          <p:cNvPr id="16" name="Text 13"/>
          <p:cNvSpPr/>
          <p:nvPr/>
        </p:nvSpPr>
        <p:spPr>
          <a:xfrm>
            <a:off x="8823960" y="2468880"/>
            <a:ext cx="25694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Debit Card is #1 by count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8823960" y="3108960"/>
            <a:ext cx="2569464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mix is balanced: the spread from highest to lowest named method is only 38 orders. Keep all five methods available while monitoring conversion and post-order outcomes.</a:t>
            </a:r>
            <a:endParaRPr lang="en-US" sz="126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140"/>
                      </p:stCondLst>
                      <p:childTnLst>
                        <p:animEffect transition="in" filter="fade">
                          <p:cBhvr>
                            <p:cTn id="6" dur="45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7" fill="hold">
                      <p:stCondLst>
                        <p:cond delay="280"/>
                      </p:stCondLst>
                      <p:childTnLst>
                        <p:animEffect transition="in" filter="fade">
                          <p:cBhvr>
                            <p:cTn id="8" dur="45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66928" y="2286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ECOMMERCE SALES PERFORMANCE REVIEW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45720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Risk–Opportunity Heat Map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Category-level risk and opportunity diagnostics calculated from order-level records.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66928" y="6537960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Ecommerce_Sales_Data(1).xlsx • Revenue = Price × Quantity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11228832" y="649224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>
                <a:solidFill>
                  <a:srgbClr val="94ADBE"/>
                </a:solidFill>
                <a:latin typeface="Cambria"/>
              </a:rPr>
              <a:t>10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66928" y="1115568"/>
            <a:ext cx="11045952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04672" y="12984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× 4 category matrix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" y="15544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 values are the calculated metric; color ranks each category within the column.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8595360" y="13075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DDF7EC"/>
          </a:solidFill>
          <a:ln w="11430">
            <a:solidFill>
              <a:srgbClr val="2FB3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833104" y="128930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Favorable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9473184" y="13075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4D6"/>
          </a:solidFill>
          <a:ln w="1143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710928" y="128930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10351008" y="13075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DE2E2"/>
          </a:solidFill>
          <a:ln w="11430">
            <a:solidFill>
              <a:srgbClr val="D645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10588752" y="1289304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822960" y="1938528"/>
            <a:ext cx="1325880" cy="420624"/>
          </a:xfrm>
          <a:prstGeom prst="roundRect">
            <a:avLst>
              <a:gd name="adj" fmla="val 10870"/>
            </a:avLst>
          </a:prstGeom>
          <a:solidFill>
            <a:srgbClr val="0A2842"/>
          </a:solidFill>
          <a:ln w="6350">
            <a:solidFill>
              <a:srgbClr val="0A28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60120" y="206654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40280" y="1938528"/>
            <a:ext cx="2148840" cy="420624"/>
          </a:xfrm>
          <a:prstGeom prst="roundRect">
            <a:avLst>
              <a:gd name="adj" fmla="val 10870"/>
            </a:avLst>
          </a:prstGeom>
          <a:solidFill>
            <a:srgbClr val="0A2842"/>
          </a:solidFill>
          <a:ln w="6350">
            <a:solidFill>
              <a:srgbClr val="0A28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2350008" y="2057400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Rate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4480560" y="1938528"/>
            <a:ext cx="2148840" cy="420624"/>
          </a:xfrm>
          <a:prstGeom prst="roundRect">
            <a:avLst>
              <a:gd name="adj" fmla="val 10870"/>
            </a:avLst>
          </a:prstGeom>
          <a:solidFill>
            <a:srgbClr val="0A2842"/>
          </a:solidFill>
          <a:ln w="6350">
            <a:solidFill>
              <a:srgbClr val="0A28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590288" y="2057400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Growth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6720840" y="1938528"/>
            <a:ext cx="2148840" cy="420624"/>
          </a:xfrm>
          <a:prstGeom prst="roundRect">
            <a:avLst>
              <a:gd name="adj" fmla="val 10870"/>
            </a:avLst>
          </a:prstGeom>
          <a:solidFill>
            <a:srgbClr val="0A2842"/>
          </a:solidFill>
          <a:ln w="6350">
            <a:solidFill>
              <a:srgbClr val="0A28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830568" y="2057400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Geographic Spread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8961120" y="1938528"/>
            <a:ext cx="2148840" cy="420624"/>
          </a:xfrm>
          <a:prstGeom prst="roundRect">
            <a:avLst>
              <a:gd name="adj" fmla="val 10870"/>
            </a:avLst>
          </a:prstGeom>
          <a:solidFill>
            <a:srgbClr val="0A2842"/>
          </a:solidFill>
          <a:ln w="6350">
            <a:solidFill>
              <a:srgbClr val="0A284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9070848" y="2057400"/>
            <a:ext cx="1929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 Mix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822960" y="2450592"/>
            <a:ext cx="1325880" cy="786384"/>
          </a:xfrm>
          <a:prstGeom prst="roundRect">
            <a:avLst>
              <a:gd name="adj" fmla="val 5814"/>
            </a:avLst>
          </a:prstGeom>
          <a:solidFill>
            <a:srgbClr val="EAF2F8"/>
          </a:solidFill>
          <a:ln w="889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960120" y="263347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6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Electronics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960120" y="2907792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2,758 orders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2240280" y="2450592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FFF4D6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2368296" y="258775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17.2%</a:t>
            </a:r>
            <a:endParaRPr lang="en-US" sz="1620" dirty="0"/>
          </a:p>
        </p:txBody>
      </p:sp>
      <p:sp>
        <p:nvSpPr>
          <p:cNvPr id="32" name="Text 30"/>
          <p:cNvSpPr/>
          <p:nvPr/>
        </p:nvSpPr>
        <p:spPr>
          <a:xfrm>
            <a:off x="2368296" y="2935224"/>
            <a:ext cx="1892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475 returns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4480560" y="2450592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DDF7EC"/>
          </a:solidFill>
          <a:ln w="13970">
            <a:solidFill>
              <a:srgbClr val="2FB3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608576" y="258775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+8.3%</a:t>
            </a:r>
            <a:endParaRPr lang="en-US" sz="1620" dirty="0"/>
          </a:p>
        </p:txBody>
      </p:sp>
      <p:sp>
        <p:nvSpPr>
          <p:cNvPr id="35" name="Text 33"/>
          <p:cNvSpPr/>
          <p:nvPr/>
        </p:nvSpPr>
        <p:spPr>
          <a:xfrm>
            <a:off x="4608576" y="2935224"/>
            <a:ext cx="1892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 vs 2023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6720840" y="2450592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FFF4D6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848856" y="258775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78.6%</a:t>
            </a:r>
            <a:endParaRPr lang="en-US" sz="1620" dirty="0"/>
          </a:p>
        </p:txBody>
      </p:sp>
      <p:sp>
        <p:nvSpPr>
          <p:cNvPr id="38" name="Text 36"/>
          <p:cNvSpPr/>
          <p:nvPr/>
        </p:nvSpPr>
        <p:spPr>
          <a:xfrm>
            <a:off x="6848856" y="2935224"/>
            <a:ext cx="1892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outside top city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8961120" y="2450592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FDE2E2"/>
          </a:solidFill>
          <a:ln w="13970">
            <a:solidFill>
              <a:srgbClr val="D645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9089136" y="258775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78.8%</a:t>
            </a:r>
            <a:endParaRPr lang="en-US" sz="1620" dirty="0"/>
          </a:p>
        </p:txBody>
      </p:sp>
      <p:sp>
        <p:nvSpPr>
          <p:cNvPr id="41" name="Text 39"/>
          <p:cNvSpPr/>
          <p:nvPr/>
        </p:nvSpPr>
        <p:spPr>
          <a:xfrm>
            <a:off x="9089136" y="2935224"/>
            <a:ext cx="1892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outside top method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822960" y="3355848"/>
            <a:ext cx="1325880" cy="786384"/>
          </a:xfrm>
          <a:prstGeom prst="roundRect">
            <a:avLst>
              <a:gd name="adj" fmla="val 5814"/>
            </a:avLst>
          </a:prstGeom>
          <a:solidFill>
            <a:srgbClr val="EAF2F8"/>
          </a:solidFill>
          <a:ln w="889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960120" y="35387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6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</a:t>
            </a:r>
            <a:endParaRPr lang="en-US" sz="1040" dirty="0"/>
          </a:p>
        </p:txBody>
      </p:sp>
      <p:sp>
        <p:nvSpPr>
          <p:cNvPr id="44" name="Text 42"/>
          <p:cNvSpPr/>
          <p:nvPr/>
        </p:nvSpPr>
        <p:spPr>
          <a:xfrm>
            <a:off x="960120" y="381304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950 orders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2240280" y="3355848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FDE2E2"/>
          </a:solidFill>
          <a:ln w="13970">
            <a:solidFill>
              <a:srgbClr val="D645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2368296" y="349300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17.6%</a:t>
            </a:r>
            <a:endParaRPr lang="en-US" sz="1620" dirty="0"/>
          </a:p>
        </p:txBody>
      </p:sp>
      <p:sp>
        <p:nvSpPr>
          <p:cNvPr id="47" name="Text 45"/>
          <p:cNvSpPr/>
          <p:nvPr/>
        </p:nvSpPr>
        <p:spPr>
          <a:xfrm>
            <a:off x="2368296" y="3840480"/>
            <a:ext cx="1892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167 returns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4480560" y="3355848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FFF4D6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4608576" y="349300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-6.3%</a:t>
            </a:r>
            <a:endParaRPr lang="en-US" sz="1620" dirty="0"/>
          </a:p>
        </p:txBody>
      </p:sp>
      <p:sp>
        <p:nvSpPr>
          <p:cNvPr id="50" name="Text 48"/>
          <p:cNvSpPr/>
          <p:nvPr/>
        </p:nvSpPr>
        <p:spPr>
          <a:xfrm>
            <a:off x="4608576" y="3840480"/>
            <a:ext cx="1892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 vs 2023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6720840" y="3355848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FDE2E2"/>
          </a:solidFill>
          <a:ln w="13970">
            <a:solidFill>
              <a:srgbClr val="D645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6848856" y="349300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77.1%</a:t>
            </a:r>
            <a:endParaRPr lang="en-US" sz="1620" dirty="0"/>
          </a:p>
        </p:txBody>
      </p:sp>
      <p:sp>
        <p:nvSpPr>
          <p:cNvPr id="53" name="Text 51"/>
          <p:cNvSpPr/>
          <p:nvPr/>
        </p:nvSpPr>
        <p:spPr>
          <a:xfrm>
            <a:off x="6848856" y="3840480"/>
            <a:ext cx="1892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outside top city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8961120" y="3355848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DDF7EC"/>
          </a:solidFill>
          <a:ln w="13970">
            <a:solidFill>
              <a:srgbClr val="2FB3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9089136" y="3493008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79.4%</a:t>
            </a:r>
            <a:endParaRPr lang="en-US" sz="1620" dirty="0"/>
          </a:p>
        </p:txBody>
      </p:sp>
      <p:sp>
        <p:nvSpPr>
          <p:cNvPr id="56" name="Text 54"/>
          <p:cNvSpPr/>
          <p:nvPr/>
        </p:nvSpPr>
        <p:spPr>
          <a:xfrm>
            <a:off x="9089136" y="3840480"/>
            <a:ext cx="1892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outside top method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822960" y="4261104"/>
            <a:ext cx="1325880" cy="786384"/>
          </a:xfrm>
          <a:prstGeom prst="roundRect">
            <a:avLst>
              <a:gd name="adj" fmla="val 5814"/>
            </a:avLst>
          </a:prstGeom>
          <a:solidFill>
            <a:srgbClr val="EAF2F8"/>
          </a:solidFill>
          <a:ln w="889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960120" y="444398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061B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Gadgets</a:t>
            </a:r>
            <a:endParaRPr lang="en-US" sz="1040" dirty="0"/>
          </a:p>
        </p:txBody>
      </p:sp>
      <p:sp>
        <p:nvSpPr>
          <p:cNvPr id="59" name="Text 57"/>
          <p:cNvSpPr/>
          <p:nvPr/>
        </p:nvSpPr>
        <p:spPr>
          <a:xfrm>
            <a:off x="960120" y="471830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911 orders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2240280" y="4261104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DDF7EC"/>
          </a:solidFill>
          <a:ln w="13970">
            <a:solidFill>
              <a:srgbClr val="2FB3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59"/>
          <p:cNvSpPr/>
          <p:nvPr/>
        </p:nvSpPr>
        <p:spPr>
          <a:xfrm>
            <a:off x="2368296" y="4398264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16.8%</a:t>
            </a:r>
            <a:endParaRPr lang="en-US" sz="1620" dirty="0"/>
          </a:p>
        </p:txBody>
      </p:sp>
      <p:sp>
        <p:nvSpPr>
          <p:cNvPr id="62" name="Text 60"/>
          <p:cNvSpPr/>
          <p:nvPr/>
        </p:nvSpPr>
        <p:spPr>
          <a:xfrm>
            <a:off x="2368296" y="4745736"/>
            <a:ext cx="1892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153 returns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4480560" y="4261104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FDE2E2"/>
          </a:solidFill>
          <a:ln w="13970">
            <a:solidFill>
              <a:srgbClr val="D645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62"/>
          <p:cNvSpPr/>
          <p:nvPr/>
        </p:nvSpPr>
        <p:spPr>
          <a:xfrm>
            <a:off x="4608576" y="4398264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-12.3%</a:t>
            </a:r>
            <a:endParaRPr lang="en-US" sz="1620" dirty="0"/>
          </a:p>
        </p:txBody>
      </p:sp>
      <p:sp>
        <p:nvSpPr>
          <p:cNvPr id="65" name="Text 63"/>
          <p:cNvSpPr/>
          <p:nvPr/>
        </p:nvSpPr>
        <p:spPr>
          <a:xfrm>
            <a:off x="4608576" y="4745736"/>
            <a:ext cx="1892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 vs 2023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6720840" y="4261104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DDF7EC"/>
          </a:solidFill>
          <a:ln w="13970">
            <a:solidFill>
              <a:srgbClr val="2FB34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65"/>
          <p:cNvSpPr/>
          <p:nvPr/>
        </p:nvSpPr>
        <p:spPr>
          <a:xfrm>
            <a:off x="6848856" y="4398264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78.9%</a:t>
            </a:r>
            <a:endParaRPr lang="en-US" sz="1620" dirty="0"/>
          </a:p>
        </p:txBody>
      </p:sp>
      <p:sp>
        <p:nvSpPr>
          <p:cNvPr id="68" name="Text 66"/>
          <p:cNvSpPr/>
          <p:nvPr/>
        </p:nvSpPr>
        <p:spPr>
          <a:xfrm>
            <a:off x="6848856" y="4745736"/>
            <a:ext cx="1892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outside top city</a:t>
            </a:r>
            <a:endParaRPr lang="en-US" sz="720" dirty="0"/>
          </a:p>
        </p:txBody>
      </p:sp>
      <p:sp>
        <p:nvSpPr>
          <p:cNvPr id="69" name="Shape 67"/>
          <p:cNvSpPr/>
          <p:nvPr/>
        </p:nvSpPr>
        <p:spPr>
          <a:xfrm>
            <a:off x="8961120" y="4261104"/>
            <a:ext cx="2148840" cy="786384"/>
          </a:xfrm>
          <a:prstGeom prst="roundRect">
            <a:avLst>
              <a:gd name="adj" fmla="val 6977"/>
            </a:avLst>
          </a:prstGeom>
          <a:solidFill>
            <a:srgbClr val="FFF4D6"/>
          </a:solidFill>
          <a:ln w="1397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/>
          <p:nvPr/>
        </p:nvSpPr>
        <p:spPr>
          <a:xfrm>
            <a:off x="9089136" y="4398264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061B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78.9%</a:t>
            </a:r>
            <a:endParaRPr lang="en-US" sz="1620" dirty="0"/>
          </a:p>
        </p:txBody>
      </p:sp>
      <p:sp>
        <p:nvSpPr>
          <p:cNvPr id="71" name="Text 69"/>
          <p:cNvSpPr/>
          <p:nvPr/>
        </p:nvSpPr>
        <p:spPr>
          <a:xfrm>
            <a:off x="9089136" y="4745736"/>
            <a:ext cx="1892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outside top method</a:t>
            </a:r>
            <a:endParaRPr lang="en-US" sz="720" dirty="0"/>
          </a:p>
        </p:txBody>
      </p:sp>
      <p:sp>
        <p:nvSpPr>
          <p:cNvPr id="72" name="Text 70"/>
          <p:cNvSpPr/>
          <p:nvPr/>
        </p:nvSpPr>
        <p:spPr>
          <a:xfrm>
            <a:off x="804672" y="5074920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627D9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Rate = Returned orders ÷ category orders; Revenue Growth = 2025 vs 2023 revenue; Geographic Spread = revenue outside the top city; Payment Mix = orders outside the top payment method. Colors rank the three categories within each column.</a:t>
            </a:r>
            <a:endParaRPr lang="en-US" sz="780" dirty="0"/>
          </a:p>
        </p:txBody>
      </p:sp>
      <p:sp>
        <p:nvSpPr>
          <p:cNvPr id="73" name="Shape 71"/>
          <p:cNvSpPr/>
          <p:nvPr/>
        </p:nvSpPr>
        <p:spPr>
          <a:xfrm>
            <a:off x="804672" y="5559552"/>
            <a:ext cx="10533888" cy="585216"/>
          </a:xfrm>
          <a:prstGeom prst="roundRect">
            <a:avLst>
              <a:gd name="adj" fmla="val 10938"/>
            </a:avLst>
          </a:prstGeom>
          <a:solidFill>
            <a:srgbClr val="F9FBFD"/>
          </a:solidFill>
          <a:ln w="10160">
            <a:solidFill>
              <a:srgbClr val="E6ECF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804672" y="5559552"/>
            <a:ext cx="73152" cy="585216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73"/>
          <p:cNvSpPr/>
          <p:nvPr/>
        </p:nvSpPr>
        <p:spPr>
          <a:xfrm>
            <a:off x="1033272" y="569671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solidFill>
                  <a:srgbClr val="00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</a:t>
            </a:r>
            <a:endParaRPr lang="en-US" sz="820" dirty="0"/>
          </a:p>
        </p:txBody>
      </p:sp>
      <p:sp>
        <p:nvSpPr>
          <p:cNvPr id="76" name="Text 74"/>
          <p:cNvSpPr/>
          <p:nvPr/>
        </p:nvSpPr>
        <p:spPr>
          <a:xfrm>
            <a:off x="1975104" y="5669280"/>
            <a:ext cx="9006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Biggest risk: Tech has the highest Return Rate at 17.6% (167 returned orders). Biggest opportunity: Electronics has the strongest Revenue Growth at +8.3% from 2023 to 2025.</a:t>
            </a:r>
            <a:endParaRPr lang="en-US" sz="98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45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140"/>
                      </p:stCondLst>
                      <p:childTnLst>
                        <p:animEffect transition="in" filter="fade">
                          <p:cBhvr>
                            <p:cTn id="6" dur="45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1792" y="292608"/>
            <a:ext cx="65836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Aptos"/>
              </a:rPr>
              <a:t>Effort vs Impact Prioritization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68096"/>
            <a:ext cx="77724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BE7F0"/>
                </a:solidFill>
                <a:latin typeface="Aptos"/>
              </a:rPr>
              <a:t>Recommendations plotted by leadership impact and execution effort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4ADBE"/>
                </a:solidFill>
                <a:latin typeface="Cambri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78992"/>
            <a:ext cx="1133856" cy="41148"/>
          </a:xfrm>
          <a:prstGeom prst="rect">
            <a:avLst/>
          </a:prstGeom>
          <a:solidFill>
            <a:srgbClr val="00B3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86384" y="1298448"/>
            <a:ext cx="10588752" cy="5074920"/>
          </a:xfrm>
          <a:prstGeom prst="roundRect">
            <a:avLst/>
          </a:prstGeom>
          <a:solidFill>
            <a:srgbClr val="08273E"/>
          </a:solidFill>
          <a:ln w="12700">
            <a:solidFill>
              <a:srgbClr val="12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50976" y="1463039"/>
            <a:ext cx="6060643" cy="2346350"/>
          </a:xfrm>
          <a:prstGeom prst="roundRect">
            <a:avLst/>
          </a:prstGeom>
          <a:solidFill>
            <a:srgbClr val="082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285939" y="1463039"/>
            <a:ext cx="3924604" cy="2346350"/>
          </a:xfrm>
          <a:prstGeom prst="roundRect">
            <a:avLst/>
          </a:prstGeom>
          <a:solidFill>
            <a:srgbClr val="072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50976" y="4083710"/>
            <a:ext cx="6060643" cy="2125065"/>
          </a:xfrm>
          <a:prstGeom prst="roundRect">
            <a:avLst/>
          </a:prstGeom>
          <a:solidFill>
            <a:srgbClr val="072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285939" y="4083710"/>
            <a:ext cx="3924604" cy="2125065"/>
          </a:xfrm>
          <a:prstGeom prst="roundRect">
            <a:avLst/>
          </a:prstGeom>
          <a:solidFill>
            <a:srgbClr val="06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7139635" y="1554480"/>
            <a:ext cx="0" cy="4562856"/>
          </a:xfrm>
          <a:prstGeom prst="line">
            <a:avLst/>
          </a:prstGeom>
          <a:ln w="13970">
            <a:solidFill>
              <a:srgbClr val="356A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42416" y="3937406"/>
            <a:ext cx="10076688" cy="0"/>
          </a:xfrm>
          <a:prstGeom prst="line">
            <a:avLst/>
          </a:prstGeom>
          <a:ln w="13970">
            <a:solidFill>
              <a:srgbClr val="356A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06424" y="1591056"/>
            <a:ext cx="21945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4E8D5"/>
                </a:solidFill>
                <a:latin typeface="Aptos"/>
              </a:rPr>
              <a:t>HIGH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" y="4193438"/>
            <a:ext cx="23774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4ADBE"/>
                </a:solidFill>
                <a:latin typeface="Aptos"/>
              </a:rPr>
              <a:t>MEDIUM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7864" y="5916168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4E8D5"/>
                </a:solidFill>
                <a:latin typeface="Aptos"/>
              </a:rPr>
              <a:t>LOW EFFORT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51115" y="5916168"/>
            <a:ext cx="2103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4ADBE"/>
                </a:solidFill>
                <a:latin typeface="Aptos"/>
              </a:rPr>
              <a:t>MEDIUM EFFORT</a:t>
            </a:r>
          </a:p>
        </p:txBody>
      </p:sp>
      <p:sp>
        <p:nvSpPr>
          <p:cNvPr id="17" name="TextBox 16"/>
          <p:cNvSpPr txBox="1"/>
          <p:nvPr/>
        </p:nvSpPr>
        <p:spPr>
          <a:xfrm rot="16200000">
            <a:off x="164592" y="2907792"/>
            <a:ext cx="868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4ADBE"/>
                </a:solidFill>
                <a:latin typeface="Aptos"/>
              </a:rPr>
              <a:t>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6446520"/>
            <a:ext cx="1051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4ADBE"/>
                </a:solidFill>
                <a:latin typeface="Aptos"/>
              </a:rPr>
              <a:t>EFFORT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36192" y="1956816"/>
            <a:ext cx="2926080" cy="1298448"/>
          </a:xfrm>
          <a:prstGeom prst="roundRect">
            <a:avLst/>
          </a:prstGeom>
          <a:solidFill>
            <a:srgbClr val="05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481328" y="1883664"/>
            <a:ext cx="2926080" cy="1298448"/>
          </a:xfrm>
          <a:prstGeom prst="roundRect">
            <a:avLst/>
          </a:prstGeom>
          <a:solidFill>
            <a:srgbClr val="074757"/>
          </a:solidFill>
          <a:ln w="22860">
            <a:solidFill>
              <a:srgbClr val="15C9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627632" y="2039112"/>
            <a:ext cx="438912" cy="310896"/>
          </a:xfrm>
          <a:prstGeom prst="roundRect">
            <a:avLst/>
          </a:prstGeom>
          <a:solidFill>
            <a:srgbClr val="74E8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61B2D"/>
                </a:solidFill>
                <a:latin typeface="Aptos"/>
              </a:rP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9696" y="1993392"/>
            <a:ext cx="213969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ptos"/>
              </a:rPr>
              <a:t>City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ptos"/>
              </a:rPr>
              <a:t>Diversification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2596896"/>
            <a:ext cx="25968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BE7F0"/>
                </a:solidFill>
                <a:latin typeface="Aptos"/>
              </a:rPr>
              <a:t>Scale beyond Delhi's 21.6% share.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34656" y="1956816"/>
            <a:ext cx="2743200" cy="1298448"/>
          </a:xfrm>
          <a:prstGeom prst="roundRect">
            <a:avLst/>
          </a:prstGeom>
          <a:solidFill>
            <a:srgbClr val="05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479792" y="1883664"/>
            <a:ext cx="2743200" cy="1298448"/>
          </a:xfrm>
          <a:prstGeom prst="roundRect">
            <a:avLst/>
          </a:prstGeom>
          <a:solidFill>
            <a:srgbClr val="083648"/>
          </a:solidFill>
          <a:ln w="22860">
            <a:solidFill>
              <a:srgbClr val="00B3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626096" y="2039112"/>
            <a:ext cx="438912" cy="310896"/>
          </a:xfrm>
          <a:prstGeom prst="roundRect">
            <a:avLst/>
          </a:prstGeom>
          <a:solidFill>
            <a:srgbClr val="15C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61B2D"/>
                </a:solidFill>
                <a:latin typeface="Aptos"/>
              </a:rPr>
              <a:t>P1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1993392"/>
            <a:ext cx="195681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ptos"/>
              </a:rPr>
              <a:t>Reduce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ptos"/>
              </a:rPr>
              <a:t>Returns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44383" y="2596896"/>
            <a:ext cx="241401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BE7F0"/>
                </a:solidFill>
                <a:latin typeface="Aptos"/>
              </a:rPr>
              <a:t>Cut 34.2% return+cancel leakage.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72184" y="4581144"/>
            <a:ext cx="2697480" cy="1298448"/>
          </a:xfrm>
          <a:prstGeom prst="roundRect">
            <a:avLst/>
          </a:prstGeom>
          <a:solidFill>
            <a:srgbClr val="05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1417320" y="4507992"/>
            <a:ext cx="2697480" cy="1298448"/>
          </a:xfrm>
          <a:prstGeom prst="roundRect">
            <a:avLst/>
          </a:prstGeom>
          <a:solidFill>
            <a:srgbClr val="082B3E"/>
          </a:solidFill>
          <a:ln w="22860">
            <a:solidFill>
              <a:srgbClr val="45A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563624" y="4663440"/>
            <a:ext cx="438912" cy="310896"/>
          </a:xfrm>
          <a:prstGeom prst="roundRect">
            <a:avLst/>
          </a:prstGeom>
          <a:solidFill>
            <a:srgbClr val="15C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61B2D"/>
                </a:solidFill>
                <a:latin typeface="Aptos"/>
              </a:rPr>
              <a:t>P3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75688" y="4617720"/>
            <a:ext cx="191109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ptos"/>
              </a:rPr>
              <a:t>Category Mix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ptos"/>
              </a:rPr>
              <a:t>Optimization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81912" y="5221224"/>
            <a:ext cx="236829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BE7F0"/>
                </a:solidFill>
                <a:latin typeface="Aptos"/>
              </a:rPr>
              <a:t>Protect Electronics' 60.2% revenue share.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1" y="4581144"/>
            <a:ext cx="2606040" cy="1298448"/>
          </a:xfrm>
          <a:prstGeom prst="roundRect">
            <a:avLst/>
          </a:prstGeom>
          <a:solidFill>
            <a:srgbClr val="0516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315968" y="4507992"/>
            <a:ext cx="2606040" cy="1298448"/>
          </a:xfrm>
          <a:prstGeom prst="roundRect">
            <a:avLst/>
          </a:prstGeom>
          <a:solidFill>
            <a:srgbClr val="082B3E"/>
          </a:solidFill>
          <a:ln w="22860">
            <a:solidFill>
              <a:srgbClr val="45AD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462272" y="4663440"/>
            <a:ext cx="438912" cy="310896"/>
          </a:xfrm>
          <a:prstGeom prst="roundRect">
            <a:avLst/>
          </a:prstGeom>
          <a:solidFill>
            <a:srgbClr val="15C9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61B2D"/>
                </a:solidFill>
                <a:latin typeface="Aptos"/>
              </a:rPr>
              <a:t>P4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4617720"/>
            <a:ext cx="1819656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ptos"/>
              </a:rPr>
              <a:t>Q3 Campaign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Aptos"/>
              </a:rPr>
              <a:t>Push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59" y="5221224"/>
            <a:ext cx="2276856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BE7F0"/>
                </a:solidFill>
                <a:latin typeface="Aptos"/>
              </a:rPr>
              <a:t>Repeat 2024 Q3 peak: ₹54.1M.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62672" y="4736592"/>
            <a:ext cx="2450592" cy="749808"/>
          </a:xfrm>
          <a:prstGeom prst="roundRect">
            <a:avLst/>
          </a:prstGeom>
          <a:solidFill>
            <a:srgbClr val="072335"/>
          </a:solidFill>
          <a:ln w="12700">
            <a:solidFill>
              <a:srgbClr val="2652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45552" y="4864608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60" b="1" i="0">
                <a:solidFill>
                  <a:srgbClr val="DBE7F0"/>
                </a:solidFill>
                <a:latin typeface="Aptos"/>
              </a:rPr>
              <a:t>No high-effort bets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36408" y="5138928"/>
            <a:ext cx="212140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94ADBE"/>
                </a:solidFill>
                <a:latin typeface="Aptos"/>
              </a:rPr>
              <a:t>Priorities cluster in low-to-medium effort zones.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6384" y="6327648"/>
            <a:ext cx="10588752" cy="329184"/>
          </a:xfrm>
          <a:prstGeom prst="roundRect">
            <a:avLst/>
          </a:prstGeom>
          <a:solidFill>
            <a:srgbClr val="072638"/>
          </a:solidFill>
          <a:ln w="10160">
            <a:solidFill>
              <a:srgbClr val="1C4C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9264" y="6391656"/>
            <a:ext cx="100584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BE7F0"/>
                </a:solidFill>
                <a:latin typeface="Aptos"/>
              </a:rPr>
              <a:t>Priority path: P2 creates near-term upside; P1 protects revenue quality; P3/P4 sharpen mix and seasonal execution.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" dur="45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5" fill="hold">
                      <p:stCondLst>
                        <p:cond delay="140"/>
                      </p:stCondLst>
                      <p:childTnLst>
                        <p:animEffect transition="in" filter="fade">
                          <p:cBhvr>
                            <p:cTn id="6" dur="45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1680</Words>
  <Application>Microsoft Office PowerPoint</Application>
  <PresentationFormat>Widescreen</PresentationFormat>
  <Paragraphs>254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Ecommerce Sales Performance Review</dc:title>
  <dc:subject>Ecommerce sales performance review</dc:subject>
  <dc:creator>OpenAI</dc:creator>
  <cp:lastModifiedBy>Arnab Chakraborty</cp:lastModifiedBy>
  <cp:revision>2</cp:revision>
  <dcterms:created xsi:type="dcterms:W3CDTF">2026-06-16T10:53:18Z</dcterms:created>
  <dcterms:modified xsi:type="dcterms:W3CDTF">2026-06-16T11:53:10Z</dcterms:modified>
</cp:coreProperties>
</file>