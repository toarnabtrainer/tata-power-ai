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0" autoAdjust="0"/>
    <p:restoredTop sz="94660"/>
  </p:normalViewPr>
  <p:slideViewPr>
    <p:cSldViewPr snapToGrid="0">
      <p:cViewPr varScale="1">
        <p:scale>
          <a:sx n="54" d="100"/>
          <a:sy n="54" d="100"/>
        </p:scale>
        <p:origin x="72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&quot;₹&quot;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334155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Smart Watch</c:v>
                </c:pt>
                <c:pt idx="1">
                  <c:v>Headphones</c:v>
                </c:pt>
                <c:pt idx="2">
                  <c:v>Monitor</c:v>
                </c:pt>
                <c:pt idx="3">
                  <c:v>Charger</c:v>
                </c:pt>
                <c:pt idx="4">
                  <c:v>Mouse</c:v>
                </c:pt>
                <c:pt idx="5">
                  <c:v>Webcam</c:v>
                </c:pt>
                <c:pt idx="6">
                  <c:v>Laptop</c:v>
                </c:pt>
                <c:pt idx="7">
                  <c:v>Tablet</c:v>
                </c:pt>
                <c:pt idx="8">
                  <c:v>USB Cable</c:v>
                </c:pt>
                <c:pt idx="9">
                  <c:v>Keyboard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8.32</c:v>
                </c:pt>
                <c:pt idx="1">
                  <c:v>6.77</c:v>
                </c:pt>
                <c:pt idx="2">
                  <c:v>6.17</c:v>
                </c:pt>
                <c:pt idx="3">
                  <c:v>5.91</c:v>
                </c:pt>
                <c:pt idx="4">
                  <c:v>5.28</c:v>
                </c:pt>
                <c:pt idx="5">
                  <c:v>4.97</c:v>
                </c:pt>
                <c:pt idx="6">
                  <c:v>4.87</c:v>
                </c:pt>
                <c:pt idx="7">
                  <c:v>4.47</c:v>
                </c:pt>
                <c:pt idx="8">
                  <c:v>3.89</c:v>
                </c:pt>
                <c:pt idx="9">
                  <c:v>3.57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B0-4392-920B-CED9516DD7D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C60-427C-8F5F-B50B182C9A93}"/>
              </c:ext>
            </c:extLst>
          </c:dPt>
          <c:dPt>
            <c:idx val="1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C60-427C-8F5F-B50B182C9A93}"/>
              </c:ext>
            </c:extLst>
          </c:dPt>
          <c:dPt>
            <c:idx val="2"/>
            <c:bubble3D val="0"/>
            <c:spPr>
              <a:solidFill>
                <a:srgbClr val="AEE9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C60-427C-8F5F-B50B182C9A9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Trebuchet M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C60-427C-8F5F-B50B182C9A9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Trebuchet M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C60-427C-8F5F-B50B182C9A93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Trebuchet M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C60-427C-8F5F-B50B182C9A9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Electronics</c:v>
                </c:pt>
                <c:pt idx="1">
                  <c:v>Tech</c:v>
                </c:pt>
                <c:pt idx="2">
                  <c:v>Gadgets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56.1</c:v>
                </c:pt>
                <c:pt idx="1">
                  <c:v>24.4</c:v>
                </c:pt>
                <c:pt idx="2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C60-427C-8F5F-B50B182C9A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33415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B1E3D"/>
            </a:solidFill>
            <a:effectLst/>
          </c:spPr>
          <c:invertIfNegative val="0"/>
          <c:dLbls>
            <c:numFmt formatCode="&quot;₹&quot;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1" i="0" u="none" strike="noStrike">
                    <a:solidFill>
                      <a:srgbClr val="334155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Delhi</c:v>
                </c:pt>
                <c:pt idx="1">
                  <c:v>Mumbai</c:v>
                </c:pt>
                <c:pt idx="2">
                  <c:v>Kolkata</c:v>
                </c:pt>
                <c:pt idx="3">
                  <c:v>Hyderabad</c:v>
                </c:pt>
                <c:pt idx="4">
                  <c:v>Pune</c:v>
                </c:pt>
                <c:pt idx="5">
                  <c:v>Ahmedabad</c:v>
                </c:pt>
                <c:pt idx="6">
                  <c:v>Chennai</c:v>
                </c:pt>
                <c:pt idx="7">
                  <c:v>Bangalore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12.71</c:v>
                </c:pt>
                <c:pt idx="1">
                  <c:v>7.66</c:v>
                </c:pt>
                <c:pt idx="2">
                  <c:v>6.12</c:v>
                </c:pt>
                <c:pt idx="3">
                  <c:v>6.02</c:v>
                </c:pt>
                <c:pt idx="4">
                  <c:v>5.68</c:v>
                </c:pt>
                <c:pt idx="5">
                  <c:v>5.52</c:v>
                </c:pt>
                <c:pt idx="6">
                  <c:v>5.47</c:v>
                </c:pt>
                <c:pt idx="7">
                  <c:v>4.93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1A-4180-9983-1040D012636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4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Q1'23</c:v>
                </c:pt>
                <c:pt idx="1">
                  <c:v>Q2'23</c:v>
                </c:pt>
                <c:pt idx="2">
                  <c:v>Q3'23</c:v>
                </c:pt>
                <c:pt idx="3">
                  <c:v>Q4'23</c:v>
                </c:pt>
                <c:pt idx="4">
                  <c:v>Q1'24</c:v>
                </c:pt>
                <c:pt idx="5">
                  <c:v>Q2'24</c:v>
                </c:pt>
                <c:pt idx="6">
                  <c:v>Q3'24</c:v>
                </c:pt>
                <c:pt idx="7">
                  <c:v>Q4'24</c:v>
                </c:pt>
                <c:pt idx="8">
                  <c:v>Q1'25</c:v>
                </c:pt>
                <c:pt idx="9">
                  <c:v>Q2'25</c:v>
                </c:pt>
                <c:pt idx="10">
                  <c:v>Q3'25</c:v>
                </c:pt>
                <c:pt idx="11">
                  <c:v>Q4'25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4.1900000000000004</c:v>
                </c:pt>
                <c:pt idx="1">
                  <c:v>4.2300000000000004</c:v>
                </c:pt>
                <c:pt idx="2">
                  <c:v>5.29</c:v>
                </c:pt>
                <c:pt idx="3">
                  <c:v>5.38</c:v>
                </c:pt>
                <c:pt idx="4">
                  <c:v>4.42</c:v>
                </c:pt>
                <c:pt idx="5">
                  <c:v>4.1100000000000003</c:v>
                </c:pt>
                <c:pt idx="6">
                  <c:v>4.8</c:v>
                </c:pt>
                <c:pt idx="7">
                  <c:v>4.95</c:v>
                </c:pt>
                <c:pt idx="8">
                  <c:v>4.1399999999999997</c:v>
                </c:pt>
                <c:pt idx="9">
                  <c:v>4.6900000000000004</c:v>
                </c:pt>
                <c:pt idx="10">
                  <c:v>4.8499999999999996</c:v>
                </c:pt>
                <c:pt idx="11">
                  <c:v>3.2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7B8-479E-B2C1-223F533DD8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&quot;₹&quot;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A3B-4094-97F8-581D597F5C50}"/>
              </c:ext>
            </c:extLst>
          </c:dPt>
          <c:dPt>
            <c:idx val="1"/>
            <c:invertIfNegative val="0"/>
            <c:bubble3D val="0"/>
            <c:spPr>
              <a:solidFill>
                <a:srgbClr val="E25C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A3B-4094-97F8-581D597F5C50}"/>
              </c:ext>
            </c:extLst>
          </c:dPt>
          <c:dPt>
            <c:idx val="2"/>
            <c:invertIfNegative val="0"/>
            <c:bubble3D val="0"/>
            <c:spPr>
              <a:solidFill>
                <a:srgbClr val="9FB2C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A3B-4094-97F8-581D597F5C50}"/>
              </c:ext>
            </c:extLst>
          </c:dPt>
          <c:dPt>
            <c:idx val="3"/>
            <c:invertIfNegative val="0"/>
            <c:bubble3D val="0"/>
            <c:spPr>
              <a:solidFill>
                <a:srgbClr val="E28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A3B-4094-97F8-581D597F5C50}"/>
              </c:ext>
            </c:extLst>
          </c:dPt>
          <c:dPt>
            <c:idx val="4"/>
            <c:invertIfNegative val="0"/>
            <c:bubble3D val="0"/>
            <c:spPr>
              <a:solidFill>
                <a:srgbClr val="C9B0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A3B-4094-97F8-581D597F5C50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50" b="1" i="0" u="none" strike="noStrike">
                    <a:solidFill>
                      <a:srgbClr val="334155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Delivered</c:v>
                </c:pt>
                <c:pt idx="1">
                  <c:v>Returned</c:v>
                </c:pt>
                <c:pt idx="2">
                  <c:v>Shipped</c:v>
                </c:pt>
                <c:pt idx="3">
                  <c:v>Cancelled</c:v>
                </c:pt>
                <c:pt idx="4">
                  <c:v>Pending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35.4</c:v>
                </c:pt>
                <c:pt idx="1">
                  <c:v>17.3</c:v>
                </c:pt>
                <c:pt idx="2">
                  <c:v>17.100000000000001</c:v>
                </c:pt>
                <c:pt idx="3">
                  <c:v>15.6</c:v>
                </c:pt>
                <c:pt idx="4">
                  <c:v>14.6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A3B-4094-97F8-581D597F5C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Payment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49E-40E7-948F-7D830CB588A2}"/>
              </c:ext>
            </c:extLst>
          </c:dPt>
          <c:dPt>
            <c:idx val="1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49E-40E7-948F-7D830CB588A2}"/>
              </c:ext>
            </c:extLst>
          </c:dPt>
          <c:dPt>
            <c:idx val="2"/>
            <c:bubble3D val="0"/>
            <c:spPr>
              <a:solidFill>
                <a:srgbClr val="5EC6B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49E-40E7-948F-7D830CB588A2}"/>
              </c:ext>
            </c:extLst>
          </c:dPt>
          <c:dPt>
            <c:idx val="3"/>
            <c:bubble3D val="0"/>
            <c:spPr>
              <a:solidFill>
                <a:srgbClr val="9FB2C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49E-40E7-948F-7D830CB588A2}"/>
              </c:ext>
            </c:extLst>
          </c:dPt>
          <c:dPt>
            <c:idx val="4"/>
            <c:bubble3D val="0"/>
            <c:spPr>
              <a:solidFill>
                <a:srgbClr val="C7D3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49E-40E7-948F-7D830CB588A2}"/>
              </c:ext>
            </c:extLst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Trebuchet M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49E-40E7-948F-7D830CB588A2}"/>
                </c:ext>
              </c:extLst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Trebuchet M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49E-40E7-948F-7D830CB588A2}"/>
                </c:ext>
              </c:extLst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Trebuchet M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49E-40E7-948F-7D830CB588A2}"/>
                </c:ext>
              </c:extLst>
            </c:dLbl>
            <c:dLbl>
              <c:idx val="3"/>
              <c:numFmt formatCode="0.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Trebuchet M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49E-40E7-948F-7D830CB588A2}"/>
                </c:ext>
              </c:extLst>
            </c:dLbl>
            <c:dLbl>
              <c:idx val="4"/>
              <c:numFmt formatCode="0.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Trebuchet M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49E-40E7-948F-7D830CB588A2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Debit Card</c:v>
                </c:pt>
                <c:pt idx="1">
                  <c:v>UPI</c:v>
                </c:pt>
                <c:pt idx="2">
                  <c:v>COD</c:v>
                </c:pt>
                <c:pt idx="3">
                  <c:v>Credit Card</c:v>
                </c:pt>
                <c:pt idx="4">
                  <c:v>Net Banking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21.9</c:v>
                </c:pt>
                <c:pt idx="1">
                  <c:v>20</c:v>
                </c:pt>
                <c:pt idx="2">
                  <c:v>20</c:v>
                </c:pt>
                <c:pt idx="3">
                  <c:v>19.8</c:v>
                </c:pt>
                <c:pt idx="4">
                  <c:v>18.399999999999999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49E-40E7-948F-7D830CB588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3415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1275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071055" y="0"/>
            <a:ext cx="5120640" cy="5120640"/>
          </a:xfrm>
          <a:prstGeom prst="ellipse">
            <a:avLst/>
          </a:prstGeom>
          <a:solidFill>
            <a:srgbClr val="1229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351215" y="3017520"/>
            <a:ext cx="3840480" cy="3840480"/>
          </a:xfrm>
          <a:prstGeom prst="ellipse">
            <a:avLst/>
          </a:prstGeom>
          <a:solidFill>
            <a:srgbClr val="1229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SALES PERFORMANCE REVIEW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6384" y="187452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E-Commerce Sales</a:t>
            </a:r>
            <a:endParaRPr lang="en-US" sz="5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Review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6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leadership-ready review of revenue, products, geography, fulfillment and payments — with prioritized, action-oriented recommendations.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2651760" cy="914400"/>
          </a:xfrm>
          <a:prstGeom prst="rect">
            <a:avLst/>
          </a:prstGeom>
          <a:solidFill>
            <a:srgbClr val="12294F"/>
          </a:solidFill>
          <a:ln w="12700">
            <a:solidFill>
              <a:srgbClr val="1C3A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22960" y="4892040"/>
            <a:ext cx="64008" cy="9144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24128" y="49926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₹54.24 Cr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4128" y="5440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703320" y="4892040"/>
            <a:ext cx="2651760" cy="914400"/>
          </a:xfrm>
          <a:prstGeom prst="rect">
            <a:avLst/>
          </a:prstGeom>
          <a:solidFill>
            <a:srgbClr val="12294F"/>
          </a:solidFill>
          <a:ln w="12700">
            <a:solidFill>
              <a:srgbClr val="1C3A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703320" y="4892040"/>
            <a:ext cx="64008" cy="9144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904488" y="49926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4,620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904488" y="5440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83680" y="4892040"/>
            <a:ext cx="2651760" cy="914400"/>
          </a:xfrm>
          <a:prstGeom prst="rect">
            <a:avLst/>
          </a:prstGeom>
          <a:solidFill>
            <a:srgbClr val="12294F"/>
          </a:solidFill>
          <a:ln w="12700">
            <a:solidFill>
              <a:srgbClr val="1C3A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583680" y="4892040"/>
            <a:ext cx="64008" cy="9144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784848" y="49926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₹1,18,122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84848" y="5440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296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16 June 2026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638251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68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extrapolated from 486 of 4,621 available order records (~9.5x); shares &amp; rankings reflect that sample. Records with missing price/category are excluded from affected metrics.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SNAPSHOT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Headline performance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7919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  <a:effectLst>
            <a:outerShdw blurRad="101600" dist="25400" dir="5400000" algn="bl" rotWithShape="0">
              <a:srgbClr val="8AA0BC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679192" cy="914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984248"/>
            <a:ext cx="2350008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0B1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₹54,23,57,086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49808" y="2697480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revenue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49808" y="301752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~₹54.24 Cr · Price × Quantity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92424" y="1600200"/>
            <a:ext cx="267919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  <a:effectLst>
            <a:outerShdw blurRad="101600" dist="25400" dir="5400000" algn="bl" rotWithShape="0">
              <a:srgbClr val="8AA0BC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392424" y="1600200"/>
            <a:ext cx="2679192" cy="914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575304" y="1984248"/>
            <a:ext cx="2350008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₹1,18,122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593592" y="2697480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Average order value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93592" y="301752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revenue-valid orders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6208" y="1600200"/>
            <a:ext cx="267919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  <a:effectLst>
            <a:outerShdw blurRad="101600" dist="25400" dir="5400000" algn="bl" rotWithShape="0">
              <a:srgbClr val="8AA0BC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236208" y="1600200"/>
            <a:ext cx="2679192" cy="914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19088" y="1984248"/>
            <a:ext cx="2350008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13,879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437376" y="2697480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Units sold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37376" y="301752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quantity shipped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9992" y="1600200"/>
            <a:ext cx="267919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  <a:effectLst>
            <a:outerShdw blurRad="101600" dist="25400" dir="5400000" algn="bl" rotWithShape="0">
              <a:srgbClr val="8AA0BC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9079992" y="1600200"/>
            <a:ext cx="2679192" cy="914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262872" y="1984248"/>
            <a:ext cx="2350008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4,620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281160" y="2697480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281160" y="301752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count (full file)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794760"/>
            <a:ext cx="11091672" cy="2331720"/>
          </a:xfrm>
          <a:prstGeom prst="rect">
            <a:avLst/>
          </a:prstGeom>
          <a:solidFill>
            <a:srgbClr val="0B1E3D"/>
          </a:solidFill>
          <a:ln/>
          <a:effectLst>
            <a:outerShdw blurRad="114300" dist="38100" dir="5400000" algn="bl" rotWithShape="0">
              <a:srgbClr val="0B1E3D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48640" y="3794760"/>
            <a:ext cx="91440" cy="23317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14400" y="40416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NUMBERS SAY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14400" y="4407408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turns over </a:t>
            </a: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₹54.24 Cr across 4,620 orders</a:t>
            </a:r>
            <a:r>
              <a:rPr lang="en-US" sz="16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a high </a:t>
            </a: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₹1,18,122 average order value</a:t>
            </a:r>
            <a:r>
              <a:rPr lang="en-US" sz="16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premium, big-ticket basket. Revenue is broad-based across products and metros, but </a:t>
            </a:r>
            <a:r>
              <a:rPr lang="en-US" sz="16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 leakage and a gentle year-over-year decline</a:t>
            </a:r>
            <a:r>
              <a:rPr lang="en-US" sz="16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the two themes that demand action in the slides that follow.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Performance Review  ·  FY2023–2025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" y="61996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AA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extrapolated from 486 of 4,621 available order records (~9.5x); shares &amp; rankings reflect that sample. Records with missing price/category are excluded from affected metrics.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by product (ranked)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69951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  <a:effectLst>
            <a:outerShdw blurRad="101600" dist="25400" dir="5400000" algn="bl" rotWithShape="0">
              <a:srgbClr val="8AA0BC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7556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2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by product  ·  ₹ Crore</a:t>
            </a:r>
            <a:endParaRPr lang="en-US" sz="1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0080" y="2194560"/>
          <a:ext cx="681228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726680" y="1572768"/>
            <a:ext cx="3913632" cy="4572000"/>
          </a:xfrm>
          <a:prstGeom prst="rect">
            <a:avLst/>
          </a:prstGeom>
          <a:solidFill>
            <a:srgbClr val="0B1E3D"/>
          </a:solidFill>
          <a:ln/>
          <a:effectLst>
            <a:outerShdw blurRad="114300" dist="38100" dir="5400000" algn="bl" rotWithShape="0">
              <a:srgbClr val="0B1E3D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7726680" y="1572768"/>
            <a:ext cx="3913632" cy="8229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046720" y="186537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INSIGHT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028432" y="2212848"/>
            <a:ext cx="3310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₹8.32 Cr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8046720" y="3054096"/>
            <a:ext cx="3273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Watch — #1 product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046720" y="3511296"/>
            <a:ext cx="32735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Watch tops the table at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₹8.32 Cr (~15% of revenue)</a:t>
            </a: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top three products — Smart Watch, Headphones and Monitor — together drive </a:t>
            </a: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₹21.3 Cr (~39%)</a:t>
            </a: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 single SKU dominates: revenue runs evenly from ₹3.6–₹8.3 Cr, so the catalogue is diversified rather than hit-driven.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Performance Review  ·  FY2023–2025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CATEGORY MIX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share by category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69951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  <a:effectLst>
            <a:outerShdw blurRad="101600" dist="25400" dir="5400000" algn="bl" rotWithShape="0">
              <a:srgbClr val="8AA0BC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7556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2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 of revenue by category</a:t>
            </a:r>
            <a:endParaRPr lang="en-US" sz="1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77240" y="2148840"/>
          <a:ext cx="649224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2788920" y="3429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₹30.4 Cr</a:t>
            </a:r>
            <a:endParaRPr lang="en-US" sz="2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7726680" y="1572768"/>
            <a:ext cx="3913632" cy="4572000"/>
          </a:xfrm>
          <a:prstGeom prst="rect">
            <a:avLst/>
          </a:prstGeom>
          <a:solidFill>
            <a:srgbClr val="0B1E3D"/>
          </a:solidFill>
          <a:ln/>
          <a:effectLst>
            <a:outerShdw blurRad="114300" dist="38100" dir="5400000" algn="bl" rotWithShape="0">
              <a:srgbClr val="0B1E3D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7726680" y="1572768"/>
            <a:ext cx="3913632" cy="8229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8046720" y="186537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INSIGHT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028432" y="2212848"/>
            <a:ext cx="3310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56%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8046720" y="3054096"/>
            <a:ext cx="3273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from Electronics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046720" y="3511296"/>
            <a:ext cx="32735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alone generates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 of revenue (₹30.4 Cr)</a:t>
            </a: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more than Tech (24%) and Gadgets (19%) combined. That concentration is a strength to ride, but also a </a:t>
            </a: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single-category dependency</a:t>
            </a: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worth de-risking through deliberate growth in the smaller categories.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Performance Review  ·  FY2023–2025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GEOGRAPHY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by city &amp; geographic concentration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69951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  <a:effectLst>
            <a:outerShdw blurRad="101600" dist="25400" dir="5400000" algn="bl" rotWithShape="0">
              <a:srgbClr val="8AA0BC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7556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2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by city  ·  ₹ Crore</a:t>
            </a:r>
            <a:endParaRPr lang="en-US" sz="1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13232" y="2194560"/>
          <a:ext cx="672084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868680" y="2395728"/>
            <a:ext cx="566928" cy="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7726680" y="1572768"/>
            <a:ext cx="3913632" cy="4572000"/>
          </a:xfrm>
          <a:prstGeom prst="rect">
            <a:avLst/>
          </a:prstGeom>
          <a:solidFill>
            <a:srgbClr val="0B1E3D"/>
          </a:solidFill>
          <a:ln/>
          <a:effectLst>
            <a:outerShdw blurRad="114300" dist="38100" dir="5400000" algn="bl" rotWithShape="0">
              <a:srgbClr val="0B1E3D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7726680" y="1572768"/>
            <a:ext cx="3913632" cy="8229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8046720" y="186537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INSIGHT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028432" y="2212848"/>
            <a:ext cx="3310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~49%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8046720" y="3054096"/>
            <a:ext cx="3273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top 3 cities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046720" y="3511296"/>
            <a:ext cx="32735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leads with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₹12.7 Cr (23.4%)</a:t>
            </a: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top three cities — Delhi, Mumbai and Kolkata — account for </a:t>
            </a: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~49% of revenue</a:t>
            </a: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remaining five metros are tightly bunched at 9–11% each, signalling a broad, multi-city base with one clear anchor market.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Performance Review  ·  FY2023–2025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TREND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Quarterly revenue trend (2023–2025)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69951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  <a:effectLst>
            <a:outerShdw blurRad="101600" dist="25400" dir="5400000" algn="bl" rotWithShape="0">
              <a:srgbClr val="8AA0BC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7556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2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by quarter  ·  ₹ Crore</a:t>
            </a:r>
            <a:endParaRPr lang="en-US" sz="1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13232" y="2194560"/>
          <a:ext cx="676656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726680" y="1572768"/>
            <a:ext cx="3913632" cy="4572000"/>
          </a:xfrm>
          <a:prstGeom prst="rect">
            <a:avLst/>
          </a:prstGeom>
          <a:solidFill>
            <a:srgbClr val="0B1E3D"/>
          </a:solidFill>
          <a:ln/>
          <a:effectLst>
            <a:outerShdw blurRad="114300" dist="38100" dir="5400000" algn="bl" rotWithShape="0">
              <a:srgbClr val="0B1E3D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7726680" y="1572768"/>
            <a:ext cx="3913632" cy="8229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046720" y="186537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INSIGHT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028432" y="2212848"/>
            <a:ext cx="3310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–₹2.2 Cr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8046720" y="3054096"/>
            <a:ext cx="3273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→ 2025 revenue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046720" y="3511296"/>
            <a:ext cx="32735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gently declining year over year: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₹19.1 Cr (2023) → ₹18.3 Cr (2024) → ₹16.9 Cr (2025)</a:t>
            </a: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Q3–Q4 are seasonally strongest each year. The sharp dip in </a:t>
            </a: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Q4'25 reflects a partial period</a:t>
            </a: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available data, not necessarily a collapse — but the underlying downtrend is real.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Performance Review  ·  FY2023–2025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 FULFILLMENT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 status mix &amp; leakage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69951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  <a:effectLst>
            <a:outerShdw blurRad="101600" dist="25400" dir="5400000" algn="bl" rotWithShape="0">
              <a:srgbClr val="8AA0BC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7556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2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 of orders by status  ·  %</a:t>
            </a:r>
            <a:endParaRPr lang="en-US" sz="1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13232" y="2240280"/>
          <a:ext cx="672084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726680" y="1572768"/>
            <a:ext cx="3913632" cy="4572000"/>
          </a:xfrm>
          <a:prstGeom prst="rect">
            <a:avLst/>
          </a:prstGeom>
          <a:solidFill>
            <a:srgbClr val="0B1E3D"/>
          </a:solidFill>
          <a:ln/>
          <a:effectLst>
            <a:outerShdw blurRad="114300" dist="38100" dir="5400000" algn="bl" rotWithShape="0">
              <a:srgbClr val="0B1E3D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7726680" y="1572768"/>
            <a:ext cx="3913632" cy="8229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046720" y="186537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 + CANCEL RATE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028432" y="2212848"/>
            <a:ext cx="3310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32.9%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8046720" y="3054096"/>
            <a:ext cx="3273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+ cancelled orders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046720" y="3511296"/>
            <a:ext cx="32735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of orders reach Delivered</a:t>
            </a: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Returns (17.3%) plus Cancellations (15.6%) mean </a:t>
            </a: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one in three orders is lost after purchase</a:t>
            </a: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direct hit to revenue and margin, and the single biggest fixable problem in this review.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Performance Review  ·  FY2023–2025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 method distribution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69951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  <a:effectLst>
            <a:outerShdw blurRad="101600" dist="25400" dir="5400000" algn="bl" rotWithShape="0">
              <a:srgbClr val="8AA0BC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7556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2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 of orders by payment method  ·  %</a:t>
            </a:r>
            <a:endParaRPr lang="en-US" sz="1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77240" y="2148840"/>
          <a:ext cx="649224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726680" y="1572768"/>
            <a:ext cx="3913632" cy="4572000"/>
          </a:xfrm>
          <a:prstGeom prst="rect">
            <a:avLst/>
          </a:prstGeom>
          <a:solidFill>
            <a:srgbClr val="0B1E3D"/>
          </a:solidFill>
          <a:ln/>
          <a:effectLst>
            <a:outerShdw blurRad="114300" dist="38100" dir="5400000" algn="bl" rotWithShape="0">
              <a:srgbClr val="0B1E3D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7726680" y="1572768"/>
            <a:ext cx="3913632" cy="8229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046720" y="186537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INSIGHT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028432" y="2212848"/>
            <a:ext cx="3310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8046720" y="3054096"/>
            <a:ext cx="3273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paid by Cash on Delivery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046720" y="3511296"/>
            <a:ext cx="32735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is almost evenly split across five methods (18–22% each), so the business isn’t locked to any one rail. Debit Card leads narrowly at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21.9%</a:t>
            </a: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Notably, </a:t>
            </a: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on Delivery is 20%</a:t>
            </a: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sizeable share that ties up cash and correlates with higher cancellations.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Performance Review  ·  FY2023–2025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Prioritized recommendations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5349240" cy="1353312"/>
          </a:xfrm>
          <a:prstGeom prst="rect">
            <a:avLst/>
          </a:prstGeom>
          <a:solidFill>
            <a:srgbClr val="12294F"/>
          </a:solidFill>
          <a:ln w="12700">
            <a:solidFill>
              <a:srgbClr val="1C3A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73152" cy="135331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24128" y="183794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74520" y="1819656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 the fulfillment leak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874520" y="2167128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6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the 32.9% return + cancel rate on top SKUs (Smart Watch, Headphones); tighten product detail accuracy and add pre-ship QC.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74520" y="277063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&lt; 20%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537960" y="1691640"/>
            <a:ext cx="5349240" cy="1353312"/>
          </a:xfrm>
          <a:prstGeom prst="rect">
            <a:avLst/>
          </a:prstGeom>
          <a:solidFill>
            <a:srgbClr val="12294F"/>
          </a:solidFill>
          <a:ln w="12700">
            <a:solidFill>
              <a:srgbClr val="1C3A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537960" y="1691640"/>
            <a:ext cx="73152" cy="135331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739128" y="183794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589520" y="1819656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Reverse the revenue decline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589520" y="2167128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6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fell ~₹2.2 Cr from 2023 to 2025. Launch win-back campaigns and lean into the seasonally strong Q3–Q4 window.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589520" y="277063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RESTORE GROWTH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22960" y="3209544"/>
            <a:ext cx="5349240" cy="1353312"/>
          </a:xfrm>
          <a:prstGeom prst="rect">
            <a:avLst/>
          </a:prstGeom>
          <a:solidFill>
            <a:srgbClr val="12294F"/>
          </a:solidFill>
          <a:ln w="12700">
            <a:solidFill>
              <a:srgbClr val="1C3A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22960" y="3209544"/>
            <a:ext cx="73152" cy="135331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024128" y="335584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874520" y="33375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Diversify beyond Electronics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874520" y="3685032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6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 single-category dependency is a risk. Grow Tech &amp; Gadgets through bundles and cross-sell to balance the mix.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874520" y="4288536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LOWER CONCENTRATION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537960" y="3209544"/>
            <a:ext cx="5349240" cy="1353312"/>
          </a:xfrm>
          <a:prstGeom prst="rect">
            <a:avLst/>
          </a:prstGeom>
          <a:solidFill>
            <a:srgbClr val="12294F"/>
          </a:solidFill>
          <a:ln w="12700">
            <a:solidFill>
              <a:srgbClr val="1C3A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537960" y="3209544"/>
            <a:ext cx="73152" cy="135331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739128" y="335584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589520" y="33375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Defend &amp; develop key metros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589520" y="3685032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6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Delhi–Mumbai–Kolkata (~49%) while running targeted campaigns in the bunched 9–11% cities.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89520" y="4288536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BROADEN THE BASE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22960" y="4727448"/>
            <a:ext cx="5349240" cy="1353312"/>
          </a:xfrm>
          <a:prstGeom prst="rect">
            <a:avLst/>
          </a:prstGeom>
          <a:solidFill>
            <a:srgbClr val="12294F"/>
          </a:solidFill>
          <a:ln w="12700">
            <a:solidFill>
              <a:srgbClr val="1C3A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22960" y="4727448"/>
            <a:ext cx="73152" cy="135331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1024128" y="4873752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1874520" y="4855464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Shift COD to prepaid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1874520" y="5202936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6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on Delivery is 20% of orders and fuels cancellations. Incentivize UPI / card prepayment to protect cash flow.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874520" y="580644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CUT CANCELLATIONS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537960" y="4727448"/>
            <a:ext cx="5349240" cy="135331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812280" y="489204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Bottom line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812280" y="5221224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Strong, premium basket and a broad market — unlock growth by fixing fulfillment and re-igniting demand.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22960" y="647395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E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extrapolated from 486 of 4,621 available order records (~9.5x); shares &amp; rankings reflect that sample. Records with missing price/category are excluded from affected metrics.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934</Words>
  <Application>Microsoft Office PowerPoint</Application>
  <PresentationFormat>Widescreen</PresentationFormat>
  <Paragraphs>129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Arnab Chakraborty</dc:creator>
  <cp:lastModifiedBy>Arnab Chakraborty</cp:lastModifiedBy>
  <cp:revision>1</cp:revision>
  <dcterms:created xsi:type="dcterms:W3CDTF">2026-06-16T04:50:56Z</dcterms:created>
  <dcterms:modified xsi:type="dcterms:W3CDTF">2026-06-16T04:52:54Z</dcterms:modified>
</cp:coreProperties>
</file>