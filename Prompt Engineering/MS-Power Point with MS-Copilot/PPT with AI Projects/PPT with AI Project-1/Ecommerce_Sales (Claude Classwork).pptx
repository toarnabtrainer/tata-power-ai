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3" autoAdjust="0"/>
    <p:restoredTop sz="91041" autoAdjust="0"/>
  </p:normalViewPr>
  <p:slideViewPr>
    <p:cSldViewPr snapToGrid="0" snapToObjects="1">
      <p:cViewPr>
        <p:scale>
          <a:sx n="88" d="100"/>
          <a:sy n="88" d="100"/>
        </p:scale>
        <p:origin x="984" y="8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7E4-460B-BAC8-D047B23789B7}"/>
              </c:ext>
            </c:extLst>
          </c:dPt>
          <c:dPt>
            <c:idx val="1"/>
            <c:invertIfNegative val="0"/>
            <c:bubble3D val="0"/>
            <c:spPr>
              <a:solidFill>
                <a:srgbClr val="AECB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7E4-460B-BAC8-D047B23789B7}"/>
              </c:ext>
            </c:extLst>
          </c:dPt>
          <c:dPt>
            <c:idx val="2"/>
            <c:invertIfNegative val="0"/>
            <c:bubble3D val="0"/>
            <c:spPr>
              <a:solidFill>
                <a:srgbClr val="AECB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7E4-460B-BAC8-D047B23789B7}"/>
              </c:ext>
            </c:extLst>
          </c:dPt>
          <c:dPt>
            <c:idx val="3"/>
            <c:invertIfNegative val="0"/>
            <c:bubble3D val="0"/>
            <c:spPr>
              <a:solidFill>
                <a:srgbClr val="AECB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7E4-460B-BAC8-D047B23789B7}"/>
              </c:ext>
            </c:extLst>
          </c:dPt>
          <c:dPt>
            <c:idx val="4"/>
            <c:invertIfNegative val="0"/>
            <c:bubble3D val="0"/>
            <c:spPr>
              <a:solidFill>
                <a:srgbClr val="AECB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7E4-460B-BAC8-D047B23789B7}"/>
              </c:ext>
            </c:extLst>
          </c:dPt>
          <c:dPt>
            <c:idx val="5"/>
            <c:invertIfNegative val="0"/>
            <c:bubble3D val="0"/>
            <c:spPr>
              <a:solidFill>
                <a:srgbClr val="AECB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7E4-460B-BAC8-D047B23789B7}"/>
              </c:ext>
            </c:extLst>
          </c:dPt>
          <c:dPt>
            <c:idx val="6"/>
            <c:invertIfNegative val="0"/>
            <c:bubble3D val="0"/>
            <c:spPr>
              <a:solidFill>
                <a:srgbClr val="AECB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7E4-460B-BAC8-D047B23789B7}"/>
              </c:ext>
            </c:extLst>
          </c:dPt>
          <c:dPt>
            <c:idx val="7"/>
            <c:invertIfNegative val="0"/>
            <c:bubble3D val="0"/>
            <c:spPr>
              <a:solidFill>
                <a:srgbClr val="AECB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7E4-460B-BAC8-D047B23789B7}"/>
              </c:ext>
            </c:extLst>
          </c:dPt>
          <c:dPt>
            <c:idx val="8"/>
            <c:invertIfNegative val="0"/>
            <c:bubble3D val="0"/>
            <c:spPr>
              <a:solidFill>
                <a:srgbClr val="AECB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97E4-460B-BAC8-D047B23789B7}"/>
              </c:ext>
            </c:extLst>
          </c:dPt>
          <c:dPt>
            <c:idx val="9"/>
            <c:invertIfNegative val="0"/>
            <c:bubble3D val="0"/>
            <c:spPr>
              <a:solidFill>
                <a:srgbClr val="AECB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97E4-460B-BAC8-D047B23789B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Smart Watch</c:v>
                </c:pt>
                <c:pt idx="1">
                  <c:v>Headphones</c:v>
                </c:pt>
                <c:pt idx="2">
                  <c:v>Monitor</c:v>
                </c:pt>
                <c:pt idx="3">
                  <c:v>Mouse</c:v>
                </c:pt>
                <c:pt idx="4">
                  <c:v>Laptop</c:v>
                </c:pt>
                <c:pt idx="5">
                  <c:v>Keyboard</c:v>
                </c:pt>
                <c:pt idx="6">
                  <c:v>Charger</c:v>
                </c:pt>
                <c:pt idx="7">
                  <c:v>Webcam</c:v>
                </c:pt>
                <c:pt idx="8">
                  <c:v>Tablet</c:v>
                </c:pt>
                <c:pt idx="9">
                  <c:v>USB Cable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5.9</c:v>
                </c:pt>
                <c:pt idx="1">
                  <c:v>5.82</c:v>
                </c:pt>
                <c:pt idx="2">
                  <c:v>5.73</c:v>
                </c:pt>
                <c:pt idx="3">
                  <c:v>5.69</c:v>
                </c:pt>
                <c:pt idx="4">
                  <c:v>5.56</c:v>
                </c:pt>
                <c:pt idx="5">
                  <c:v>5.51</c:v>
                </c:pt>
                <c:pt idx="6">
                  <c:v>5.42</c:v>
                </c:pt>
                <c:pt idx="7">
                  <c:v>5.38</c:v>
                </c:pt>
                <c:pt idx="8">
                  <c:v>5.31</c:v>
                </c:pt>
                <c:pt idx="9">
                  <c:v>5.15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97E4-460B-BAC8-D047B23789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D1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4.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696-44AD-966D-6812DB9740D3}"/>
              </c:ext>
            </c:extLst>
          </c:dPt>
          <c:dPt>
            <c:idx val="1"/>
            <c:bubble3D val="0"/>
            <c:spPr>
              <a:solidFill>
                <a:srgbClr val="0369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696-44AD-966D-6812DB9740D3}"/>
              </c:ext>
            </c:extLst>
          </c:dPt>
          <c:dPt>
            <c:idx val="2"/>
            <c:bubble3D val="0"/>
            <c:spPr>
              <a:solidFill>
                <a:srgbClr val="67E8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696-44AD-966D-6812DB9740D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A696-44AD-966D-6812DB9740D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A696-44AD-966D-6812DB9740D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A696-44AD-966D-6812DB9740D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Electronics</c:v>
                </c:pt>
                <c:pt idx="1">
                  <c:v>Tech</c:v>
                </c:pt>
                <c:pt idx="2">
                  <c:v>Gadgets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60.2</c:v>
                </c:pt>
                <c:pt idx="1">
                  <c:v>20.6</c:v>
                </c:pt>
                <c:pt idx="2">
                  <c:v>19.2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696-44AD-966D-6812DB9740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0D1B4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3D6-4666-9E6D-192B49C4E3CB}"/>
              </c:ext>
            </c:extLst>
          </c:dPt>
          <c:dPt>
            <c:idx val="1"/>
            <c:invertIfNegative val="0"/>
            <c:bubble3D val="0"/>
            <c:spPr>
              <a:solidFill>
                <a:srgbClr val="AECB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3D6-4666-9E6D-192B49C4E3CB}"/>
              </c:ext>
            </c:extLst>
          </c:dPt>
          <c:dPt>
            <c:idx val="2"/>
            <c:invertIfNegative val="0"/>
            <c:bubble3D val="0"/>
            <c:spPr>
              <a:solidFill>
                <a:srgbClr val="AECB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3D6-4666-9E6D-192B49C4E3CB}"/>
              </c:ext>
            </c:extLst>
          </c:dPt>
          <c:dPt>
            <c:idx val="3"/>
            <c:invertIfNegative val="0"/>
            <c:bubble3D val="0"/>
            <c:spPr>
              <a:solidFill>
                <a:srgbClr val="AECB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3D6-4666-9E6D-192B49C4E3CB}"/>
              </c:ext>
            </c:extLst>
          </c:dPt>
          <c:dPt>
            <c:idx val="4"/>
            <c:invertIfNegative val="0"/>
            <c:bubble3D val="0"/>
            <c:spPr>
              <a:solidFill>
                <a:srgbClr val="AECB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3D6-4666-9E6D-192B49C4E3CB}"/>
              </c:ext>
            </c:extLst>
          </c:dPt>
          <c:dPt>
            <c:idx val="5"/>
            <c:invertIfNegative val="0"/>
            <c:bubble3D val="0"/>
            <c:spPr>
              <a:solidFill>
                <a:srgbClr val="AECB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3D6-4666-9E6D-192B49C4E3CB}"/>
              </c:ext>
            </c:extLst>
          </c:dPt>
          <c:dPt>
            <c:idx val="6"/>
            <c:invertIfNegative val="0"/>
            <c:bubble3D val="0"/>
            <c:spPr>
              <a:solidFill>
                <a:srgbClr val="AECB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3D6-4666-9E6D-192B49C4E3CB}"/>
              </c:ext>
            </c:extLst>
          </c:dPt>
          <c:dPt>
            <c:idx val="7"/>
            <c:invertIfNegative val="0"/>
            <c:bubble3D val="0"/>
            <c:spPr>
              <a:solidFill>
                <a:srgbClr val="AECB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3D6-4666-9E6D-192B49C4E3C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Delhi</c:v>
                </c:pt>
                <c:pt idx="1">
                  <c:v>Mumbai</c:v>
                </c:pt>
                <c:pt idx="2">
                  <c:v>Pune</c:v>
                </c:pt>
                <c:pt idx="3">
                  <c:v>Hyderabad</c:v>
                </c:pt>
                <c:pt idx="4">
                  <c:v>Chennai</c:v>
                </c:pt>
                <c:pt idx="5">
                  <c:v>Ahmedabad</c:v>
                </c:pt>
                <c:pt idx="6">
                  <c:v>Kolkata</c:v>
                </c:pt>
                <c:pt idx="7">
                  <c:v>Bangalore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</c:v>
                </c:pt>
                <c:pt idx="1">
                  <c:v>6.41</c:v>
                </c:pt>
                <c:pt idx="2">
                  <c:v>6.4</c:v>
                </c:pt>
                <c:pt idx="3">
                  <c:v>6.3</c:v>
                </c:pt>
                <c:pt idx="4">
                  <c:v>6.22</c:v>
                </c:pt>
                <c:pt idx="5">
                  <c:v>6.08</c:v>
                </c:pt>
                <c:pt idx="6">
                  <c:v>6.03</c:v>
                </c:pt>
                <c:pt idx="7">
                  <c:v>6.01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C3D6-4666-9E6D-192B49C4E3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D1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4.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ln w="3810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4B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Q1'23</c:v>
                </c:pt>
                <c:pt idx="1">
                  <c:v>Q2'23</c:v>
                </c:pt>
                <c:pt idx="2">
                  <c:v>Q3'23</c:v>
                </c:pt>
                <c:pt idx="3">
                  <c:v>Q4'23</c:v>
                </c:pt>
                <c:pt idx="4">
                  <c:v>Q1'24</c:v>
                </c:pt>
                <c:pt idx="5">
                  <c:v>Q2'24</c:v>
                </c:pt>
                <c:pt idx="6">
                  <c:v>Q3'24</c:v>
                </c:pt>
                <c:pt idx="7">
                  <c:v>Q4'24</c:v>
                </c:pt>
                <c:pt idx="8">
                  <c:v>Q1'25</c:v>
                </c:pt>
                <c:pt idx="9">
                  <c:v>Q2'25</c:v>
                </c:pt>
                <c:pt idx="10">
                  <c:v>Q3'25</c:v>
                </c:pt>
                <c:pt idx="11">
                  <c:v>Q4'25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4.51</c:v>
                </c:pt>
                <c:pt idx="1">
                  <c:v>4.54</c:v>
                </c:pt>
                <c:pt idx="2">
                  <c:v>4.3</c:v>
                </c:pt>
                <c:pt idx="3">
                  <c:v>4.7699999999999996</c:v>
                </c:pt>
                <c:pt idx="4">
                  <c:v>4.05</c:v>
                </c:pt>
                <c:pt idx="5">
                  <c:v>4.87</c:v>
                </c:pt>
                <c:pt idx="6">
                  <c:v>5.41</c:v>
                </c:pt>
                <c:pt idx="7">
                  <c:v>4.75</c:v>
                </c:pt>
                <c:pt idx="8">
                  <c:v>4.58</c:v>
                </c:pt>
                <c:pt idx="9">
                  <c:v>4.74</c:v>
                </c:pt>
                <c:pt idx="10">
                  <c:v>4.3</c:v>
                </c:pt>
                <c:pt idx="11">
                  <c:v>4.66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A4-4494-9856-7A43D9B9D16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Avg ₹4.62 Cr</c:v>
                </c:pt>
              </c:strCache>
            </c:strRef>
          </c:tx>
          <c:spPr>
            <a:ln w="19050" cap="flat">
              <a:solidFill>
                <a:srgbClr val="F59E0B"/>
              </a:solidFill>
              <a:prstDash val="dash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Q1'23</c:v>
                </c:pt>
                <c:pt idx="1">
                  <c:v>Q2'23</c:v>
                </c:pt>
                <c:pt idx="2">
                  <c:v>Q3'23</c:v>
                </c:pt>
                <c:pt idx="3">
                  <c:v>Q4'23</c:v>
                </c:pt>
                <c:pt idx="4">
                  <c:v>Q1'24</c:v>
                </c:pt>
                <c:pt idx="5">
                  <c:v>Q2'24</c:v>
                </c:pt>
                <c:pt idx="6">
                  <c:v>Q3'24</c:v>
                </c:pt>
                <c:pt idx="7">
                  <c:v>Q4'24</c:v>
                </c:pt>
                <c:pt idx="8">
                  <c:v>Q1'25</c:v>
                </c:pt>
                <c:pt idx="9">
                  <c:v>Q2'25</c:v>
                </c:pt>
                <c:pt idx="10">
                  <c:v>Q3'25</c:v>
                </c:pt>
                <c:pt idx="11">
                  <c:v>Q4'25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4.62</c:v>
                </c:pt>
                <c:pt idx="1">
                  <c:v>4.62</c:v>
                </c:pt>
                <c:pt idx="2">
                  <c:v>4.62</c:v>
                </c:pt>
                <c:pt idx="3">
                  <c:v>4.62</c:v>
                </c:pt>
                <c:pt idx="4">
                  <c:v>4.62</c:v>
                </c:pt>
                <c:pt idx="5">
                  <c:v>4.62</c:v>
                </c:pt>
                <c:pt idx="6">
                  <c:v>4.62</c:v>
                </c:pt>
                <c:pt idx="7">
                  <c:v>4.62</c:v>
                </c:pt>
                <c:pt idx="8">
                  <c:v>4.62</c:v>
                </c:pt>
                <c:pt idx="9">
                  <c:v>4.62</c:v>
                </c:pt>
                <c:pt idx="10">
                  <c:v>4.62</c:v>
                </c:pt>
                <c:pt idx="11">
                  <c:v>4.62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CA4-4494-9856-7A43D9B9D1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D1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3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A27-40F3-8453-DDE3EC9BBCDD}"/>
              </c:ext>
            </c:extLst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27-40F3-8453-DDE3EC9BBCDD}"/>
              </c:ext>
            </c:extLst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A27-40F3-8453-DDE3EC9BBCDD}"/>
              </c:ext>
            </c:extLst>
          </c:dPt>
          <c:dPt>
            <c:idx val="3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A27-40F3-8453-DDE3EC9BBCDD}"/>
              </c:ext>
            </c:extLst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A27-40F3-8453-DDE3EC9BBCD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A27-40F3-8453-DDE3EC9BBCD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A27-40F3-8453-DDE3EC9BBCD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A27-40F3-8453-DDE3EC9BBCD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A27-40F3-8453-DDE3EC9BBCD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A27-40F3-8453-DDE3EC9BBCD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Delivered</c:v>
                </c:pt>
                <c:pt idx="1">
                  <c:v>Returned</c:v>
                </c:pt>
                <c:pt idx="2">
                  <c:v>Cancelled</c:v>
                </c:pt>
                <c:pt idx="3">
                  <c:v>Shipped</c:v>
                </c:pt>
                <c:pt idx="4">
                  <c:v>Pending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32.9</c:v>
                </c:pt>
                <c:pt idx="1">
                  <c:v>17.2</c:v>
                </c:pt>
                <c:pt idx="2">
                  <c:v>17</c:v>
                </c:pt>
                <c:pt idx="3">
                  <c:v>16.899999999999999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A27-40F3-8453-DDE3EC9BBC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D1B4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(%)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F9B-4C2C-9591-BBF74555147C}"/>
              </c:ext>
            </c:extLst>
          </c:dPt>
          <c:dPt>
            <c:idx val="1"/>
            <c:invertIfNegative val="0"/>
            <c:bubble3D val="0"/>
            <c:spPr>
              <a:solidFill>
                <a:srgbClr val="0369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9B-4C2C-9591-BBF74555147C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9B-4C2C-9591-BBF74555147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F9B-4C2C-9591-BBF74555147C}"/>
              </c:ext>
            </c:extLst>
          </c:dPt>
          <c:dPt>
            <c:idx val="4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F9B-4C2C-9591-BBF74555147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D1B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Debit Card</c:v>
                </c:pt>
                <c:pt idx="1">
                  <c:v>Net Banking</c:v>
                </c:pt>
                <c:pt idx="2">
                  <c:v>COD</c:v>
                </c:pt>
                <c:pt idx="3">
                  <c:v>UPI</c:v>
                </c:pt>
                <c:pt idx="4">
                  <c:v>Credit Card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20.399999999999999</c:v>
                </c:pt>
                <c:pt idx="1">
                  <c:v>20.3</c:v>
                </c:pt>
                <c:pt idx="2">
                  <c:v>20.100000000000001</c:v>
                </c:pt>
                <c:pt idx="3">
                  <c:v>19.8</c:v>
                </c:pt>
                <c:pt idx="4">
                  <c:v>19.5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F9B-4C2C-9591-BBF7455514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666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
Welcome delegates. This presentation covers the complete Ecommerce Sales Performance Review for India Operations, spanning January 2023 through December 2025.
Key numbers to have ready:
- Total revenue: ₹55.5 Crore across 3 years
- 4,620 orders across 8 cities and 10 product categories
- 12 quarterly data points drive all trends shown
The deck follows: Executive Snapshot → Product &amp; Category → Geography → Trends → Fulfillment → Payments → Risk Heat Map → Recommendations. Allow 25–30 minutes including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SNAPSHOT
Use this slide to frame the conversation before diving into detail.
Headline figures:
- ₹55.5 Crore total revenue across 3 years (~₹18.5 Cr per year)
- 4,620 orders; 13,964 units across 10 product lines
- Average Order Value ₹1.20 Lakh — relatively high-ticket business
The three operational KPI sparklines are the most important story on this slide:
- Delivered rate 32.9% — only 1 in 3 orders completes as a delivery
- Return + Cancel 34.2% — EXCEEDS the delivered rate — the deck's central risk
- In-Transit + Pending 32.9% — large pipeline of unresolved orders
Q4 2025 trends: Delivered improving to 34.7%, Return+Cancel easing to 30.9%. Positive momentum but urgent action still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Performance Deep-Dive
This slide acts as a visual pause between the Executive Snapshot and the analytical slides that follow.
Use it to:
- Signal to the audience that we are moving from summary to detail
- Give people a moment to absorb the headline KPIs before the charts begin
- Set up the narrative: "We've seen the headline numbers — now let's understand what's driving them"
Suggested transition phrase:
"With that overall picture in mind, let's now step through each dimension in turn — starting with what our products are earning."
Slides covered in this section:
  Slide 3 — Revenue by Product
  Slide 4 — Revenue by Category
  Slide 5 — Revenue by City
  Slide 6 — Quarterly Revenue Trend
  Slide 7 — Order Fulfillment &amp; Status
  Slide 8 — Payment Methods
  Slide 9 — Risk–Opportunity Heat Map
No data or questions expected on this slide — it is purely a structural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BY PRODUCT
10 products contribute to revenue in a remarkably tight band — ₹5.15 Cr to ₹5.90 Cr.
Smart Watch leads at ₹5.90 Cr (10.6% share) — highlighted in solid teal.
The top 5 products (Smart Watch, Headphones, Monitor, Mouse, Laptop) together = ₹28.7 Cr = 51.8%.
Key talking points:
- No single product dominates — healthy portfolio spread reduces SKU concentration risk
- The gap between #1 (₹5.90 Cr) and #10 (₹5.15 Cr) is only ₹0.75 Cr — 12.7% spread
- This suggests either well-managed assortment OR undifferentiated demand — worth exploring with the category team
- Question for leadership: should we actively push the top 3 products or continue balanced investment?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BY CATEGORY
Three categories: Electronics, Tech, Gadgets.
Electronics is dominant at 60.2% (₹33.4 Cr) — Tech and Gadgets share the remaining 39.8% almost equally.
Key talking points:
- Electronics concentration creates a risk-opportunity paradox: it is our strength but also our single point of failure
- Tech recovered in 2025 (+5.8% YoY after a -11.4% dip in 2024) — early sign of resilience
- Gadgets is the concern: two consecutive years of decline (see Heat Map, slide 9)
- The doughnut chart deliberately shows the disproportion — Electronics' 60% wedge is visually dominant
Recommendation link: Category Mix Optimisation (P3 on the quadrant slide) addresses this imbalance.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BY CITY — 8 CITIES ACROSS INDIA
Delhi is the clear outlier at ₹12.0 Crore — circled on the chart for visual emphasis.
The remaining 7 cities cluster tightly between ₹6.0–6.4 Cr.
Key talking points:
- Delhi's 21.6% revenue share is not alarming on its own, but combined with Tech category's 22.9% Delhi concentration (highlighted RED on the Heat Map), geographic diversification is a strategic imperative
- The tight clustering of cities 2–8 is a double-edged signal: low geographic risk from the 7 cities, but also low market penetration — they all look similar because none has been actively developed
- Mumbai (₹6.41 Cr), Pune (₹6.40 Cr), and Hyderabad (₹6.30 Cr) are the closest runners-up and the most logical first targets for investment
Recommendation link: City Diversification (P2 on the quadrant) is the highest-impact, lowest-effort recommendation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TREND — 12 QUARTERS (2023–2025)
The amber dashed line shows the 3-year quarterly average of ₹4.62 Cr per quarter.
The peak — Q3 2024 at ₹5.41 Cr — is circled and labelled.
Key talking points:
- Only 5 of 12 quarters beat the average line — the distribution is right-skewed by Q3 2024
- Q1 2024 was the weakest quarter at ₹4.05 Cr — 12.4% below average
- Q3 consistently underperforms in 2023 and 2025; Q3 2024 was the exception, likely driven by a specific campaign or product launch — worth investigating what worked
- FY2024 total (₹19.1 Cr) was the peak year; FY2025 (₹18.3 Cr) pulled back slightly — not alarming but warrants monitoring
Recommendation link: Q3 Campaign Push (P4) directly targets the recurring Q3 seasonal dip.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FULFILLMENT &amp; STATUS — THE CENTRAL RISK
This is the most operationally critical slide in the deck.
Status breakdown (4,620 orders):
- Delivered:  1,522 orders = 32.9%  ← only 1 in 3 is a successful delivery
- Returned:     795 orders = 17.2%
- Cancelled:    784 orders = 17.0%
- Shipped:      779 orders = 16.9%  ← in-pipeline
- Pending:      740 orders = 16.0%  ← unprocessed
Return + Cancel combined = 34.2% — higher than the Delivered rate. This is highly unusual for a healthy ecommerce operation; industry benchmark is typically &lt;15%.
Possible causes to investigate:
1. Product quality / description mismatch
2. Delivery SLA failures
3. Pricing competitiveness driving cancellations
4. Payment failures causing pending-to-cancel conversions
This slide should prompt the most discussion. Budget time for Q&amp;A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 METHOD DISTRIBUTION
Remarkable finding: all 5 payment methods are within a 0.9-percentage-point band (19.5%–20.4%).
Method breakdown:
- Debit Card:   940 orders = 20.4%
- Net Banking:  936 orders = 20.3%
- COD:          928 orders = 20.1%
- UPI:          913 orders = 19.8%
- Credit Card:  902 orders = 19.5%
The balance is actually a sign of healthy payment infrastructure adoption — no single method dominates.
However, COD at 20.1% is a hidden cost driver:
- COD orders have higher return and non-delivery rates industry-wide
- Reverse logistics for COD is expensive (courier fee + cash reconciliation)
- With 928 COD orders averaging ₹1.20L each, this is a ₹11.1 Cr COD portfolio
Action: shifting just 5% of COD orders to prepaid (UPI/Card) would reduce reverse logistics cost meaningfully. Offer 2–5% cashback incentive for prepaid checkout.RISK–OPPORTUNITY HEAT MAP — CATEGORY DIAGNOSTIC
This 3×4 matrix scores Electronics, Tech, and Gadgets across four strategic dimensions. All values are calculated directly from the dataset.
SCORING LEGEND:
🟢 Green = Low risk / strength  |  🟡 Amber = Monitor  |  🔴 Red = High risk / weakness
READING THE MATRIX:
Electronics row: All amber except Payment Mix (green). Amber is not alarming — it signals areas to watch. The +17% revenue surge in 2024 followed by -7.5% in 2025 is the key tension; this category has proven growth potential but needs to convert that into a sustained trajectory.
Tech row: One RED — Geographic Spread (Delhi at 22.9%, the highest among all 3 categories). Revenue growth is amber (negative in 2024, recovering in 2025). Tech needs geographic expansion most urgently.
Gadgets row: Two REDs — Revenue Growth (declining 2 years consecutively) and Payment Mix (highest COD at 21%). The only green cell is Return Rate (32.9%, marginally better than peers). Gadgets needs a product and logistics intervention.
INSIGHT CALLOUT (bottom of slide):
- Biggest Risk: Gadgets — three compounding weaknesses
- Biggest Opportunity: Electronics — proven growth, best payment mix, leader in revenue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 — EFFORT vs IMPACT QUADRANT
Slide purpose: Close the deck with a clear, actionable prioritisation framework so leadership can assign owners and timelines immediately.
P1 — Reduce Returns (High Impact / Medium Effort) — TOP PRIORITY
- 34.2% return+cancel rate is the single biggest drag on effective revenue
- Medium effort: requires coordination across ops, quality, and CX teams
- Suggested action: SKU-level audit, return-reason tagging, and a &lt;25% target in 2 quarters
- Even a 5-point improvement (~₹2.8 Cr recovered from fewer reversals)
P2 — City Diversification (High Impact / Low Effort) — QUICK WIN
- Delhi at 21.6% creates concentration risk; 7 cities each &lt;13% are under-served
- Low effort: primarily a marketing budget reallocation, not a new product build
- Mumbai, Bangalore, Kolkata have the largest upside headroom
- Suggested action: double digital marketing spend in those 3 cities for Q1
P3 — Category Mix Optimisation (Medium Impact / Low Effort) — FILL-IN
- Electronics at 60.2% is over-weighted; Tech + Gadgets at 39.8% have room to grow
- Low effort: new SKU listings within existing logistics and payment infrastructure
- Suggested action: 3 new Tech/Gadgets SKUs by Q2
P4 — Q3 Campaign Push (Medium Impact / Low Effort) — FILL-IN
- Q3 dips consistently across all 3 years; addressable with targeted promos
- Low effort: seasonal campaign planning, no structural change
- Suggested action: design Jul–Sep promotional calendar by April
Presenter tip: Position P1 as the burning platform and P2 as the immediate quick win. Let leadership debate P3 and P4 ordering.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C3B6E">
              <a:alpha val="80000"/>
            </a:srgbClr>
          </a:solidFill>
          <a:ln w="12700">
            <a:solidFill>
              <a:srgbClr val="0C3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926080" cy="347472"/>
          </a:xfrm>
          <a:prstGeom prst="roundRect">
            <a:avLst>
              <a:gd name="adj" fmla="val 1315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EXECUTIVE PERFORMANCE REVIEW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Ecommerce Sales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Review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Operations  ·  FY 2023 – 2025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Leadership Review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CONFIDENTIAL  | 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SNAPSHOT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0" y="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2023 – 2025  |  4,620 Orders  |  8 Cities  |  India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01752" y="749808"/>
            <a:ext cx="21031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38912" y="886968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29768" y="113385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9768" y="137160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₹55.5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9768" y="198424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2023–2025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23744" y="749808"/>
            <a:ext cx="21031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660904" y="886968"/>
            <a:ext cx="182880" cy="18288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651760" y="113385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51760" y="137160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4,620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51760" y="198424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8 cities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45736" y="749808"/>
            <a:ext cx="21031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82896" y="8869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73752" y="113385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73752" y="137160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13,964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73752" y="198424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 products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67728" y="749808"/>
            <a:ext cx="21031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104888" y="886968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095744" y="113385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95744" y="137160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₹1.20 L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095744" y="198424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01752" y="2423160"/>
            <a:ext cx="2761488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38912" y="256032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9224" y="2505456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20624" y="2807208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32.9%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420624" y="3355848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orders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8912" y="363016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trend  (2023–2025)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38912" y="3886200"/>
            <a:ext cx="1554480" cy="566928"/>
          </a:xfrm>
          <a:prstGeom prst="roundRect">
            <a:avLst>
              <a:gd name="adj" fmla="val 6452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38912" y="4174917"/>
            <a:ext cx="114452" cy="241635"/>
          </a:xfrm>
          <a:prstGeom prst="roundRect">
            <a:avLst>
              <a:gd name="adj" fmla="val 11984"/>
            </a:avLst>
          </a:prstGeom>
          <a:solidFill>
            <a:srgbClr val="059669">
              <a:alpha val="6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69824" y="4138146"/>
            <a:ext cx="114452" cy="278406"/>
          </a:xfrm>
          <a:prstGeom prst="roundRect">
            <a:avLst>
              <a:gd name="adj" fmla="val 11984"/>
            </a:avLst>
          </a:prstGeom>
          <a:solidFill>
            <a:srgbClr val="059669">
              <a:alpha val="6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00735" y="4069858"/>
            <a:ext cx="114452" cy="346694"/>
          </a:xfrm>
          <a:prstGeom prst="roundRect">
            <a:avLst>
              <a:gd name="adj" fmla="val 11984"/>
            </a:avLst>
          </a:prstGeom>
          <a:solidFill>
            <a:srgbClr val="059669">
              <a:alpha val="6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31647" y="4274723"/>
            <a:ext cx="114452" cy="141829"/>
          </a:xfrm>
          <a:prstGeom prst="roundRect">
            <a:avLst>
              <a:gd name="adj" fmla="val 11984"/>
            </a:avLst>
          </a:prstGeom>
          <a:solidFill>
            <a:srgbClr val="059669">
              <a:alpha val="6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962558" y="4117135"/>
            <a:ext cx="114452" cy="299417"/>
          </a:xfrm>
          <a:prstGeom prst="roundRect">
            <a:avLst>
              <a:gd name="adj" fmla="val 11984"/>
            </a:avLst>
          </a:prstGeom>
          <a:solidFill>
            <a:srgbClr val="059669">
              <a:alpha val="6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1093470" y="4138146"/>
            <a:ext cx="114452" cy="278406"/>
          </a:xfrm>
          <a:prstGeom prst="roundRect">
            <a:avLst>
              <a:gd name="adj" fmla="val 11984"/>
            </a:avLst>
          </a:prstGeom>
          <a:solidFill>
            <a:srgbClr val="059669">
              <a:alpha val="6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1224382" y="4370832"/>
            <a:ext cx="114452" cy="45720"/>
          </a:xfrm>
          <a:prstGeom prst="roundRect">
            <a:avLst>
              <a:gd name="adj" fmla="val 30000"/>
            </a:avLst>
          </a:prstGeom>
          <a:solidFill>
            <a:srgbClr val="059669">
              <a:alpha val="6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1355293" y="4201182"/>
            <a:ext cx="114452" cy="215370"/>
          </a:xfrm>
          <a:prstGeom prst="roundRect">
            <a:avLst>
              <a:gd name="adj" fmla="val 11984"/>
            </a:avLst>
          </a:prstGeom>
          <a:solidFill>
            <a:srgbClr val="059669">
              <a:alpha val="6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486205" y="4153905"/>
            <a:ext cx="114452" cy="262647"/>
          </a:xfrm>
          <a:prstGeom prst="roundRect">
            <a:avLst>
              <a:gd name="adj" fmla="val 11984"/>
            </a:avLst>
          </a:prstGeom>
          <a:solidFill>
            <a:srgbClr val="059669">
              <a:alpha val="6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1617116" y="3949041"/>
            <a:ext cx="114452" cy="467511"/>
          </a:xfrm>
          <a:prstGeom prst="roundRect">
            <a:avLst>
              <a:gd name="adj" fmla="val 11984"/>
            </a:avLst>
          </a:prstGeom>
          <a:solidFill>
            <a:srgbClr val="059669">
              <a:alpha val="6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748028" y="4033088"/>
            <a:ext cx="114452" cy="383464"/>
          </a:xfrm>
          <a:prstGeom prst="roundRect">
            <a:avLst>
              <a:gd name="adj" fmla="val 11984"/>
            </a:avLst>
          </a:prstGeom>
          <a:solidFill>
            <a:srgbClr val="059669">
              <a:alpha val="6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1878940" y="4048846"/>
            <a:ext cx="114452" cy="367706"/>
          </a:xfrm>
          <a:prstGeom prst="roundRect">
            <a:avLst>
              <a:gd name="adj" fmla="val 11984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57200" y="428853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Q1'23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033272" y="428853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Q2'24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1627632" y="4288536"/>
            <a:ext cx="3474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Q4'25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393192" y="4498848"/>
            <a:ext cx="2578608" cy="27432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38912" y="449884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Q: 34.7%  ↑ vs Q1'24 low of 28.2%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0" y="2423160"/>
            <a:ext cx="2761488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3337560" y="2560320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547872" y="2505456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+ Cancelled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319272" y="2807208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34.2%</a:t>
            </a:r>
            <a:endParaRPr lang="en-US" sz="3600" dirty="0"/>
          </a:p>
        </p:txBody>
      </p:sp>
      <p:sp>
        <p:nvSpPr>
          <p:cNvPr id="53" name="Text 51"/>
          <p:cNvSpPr/>
          <p:nvPr/>
        </p:nvSpPr>
        <p:spPr>
          <a:xfrm>
            <a:off x="3319272" y="3355848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orders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337560" y="363016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trend  (2023–2025)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337560" y="3886200"/>
            <a:ext cx="1554480" cy="566928"/>
          </a:xfrm>
          <a:prstGeom prst="roundRect">
            <a:avLst>
              <a:gd name="adj" fmla="val 6452"/>
            </a:avLst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3337560" y="3980867"/>
            <a:ext cx="114452" cy="435685"/>
          </a:xfrm>
          <a:prstGeom prst="roundRect">
            <a:avLst>
              <a:gd name="adj" fmla="val 11984"/>
            </a:avLst>
          </a:prstGeom>
          <a:solidFill>
            <a:srgbClr val="DC2626">
              <a:alpha val="60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3468472" y="4227755"/>
            <a:ext cx="114452" cy="188797"/>
          </a:xfrm>
          <a:prstGeom prst="roundRect">
            <a:avLst>
              <a:gd name="adj" fmla="val 11984"/>
            </a:avLst>
          </a:prstGeom>
          <a:solidFill>
            <a:srgbClr val="DC2626">
              <a:alpha val="60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3599383" y="3959083"/>
            <a:ext cx="114452" cy="457469"/>
          </a:xfrm>
          <a:prstGeom prst="roundRect">
            <a:avLst>
              <a:gd name="adj" fmla="val 11984"/>
            </a:avLst>
          </a:prstGeom>
          <a:solidFill>
            <a:srgbClr val="DC2626">
              <a:alpha val="60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3730295" y="4176925"/>
            <a:ext cx="114452" cy="239627"/>
          </a:xfrm>
          <a:prstGeom prst="roundRect">
            <a:avLst>
              <a:gd name="adj" fmla="val 11984"/>
            </a:avLst>
          </a:prstGeom>
          <a:solidFill>
            <a:srgbClr val="DC2626">
              <a:alpha val="60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3861206" y="4133357"/>
            <a:ext cx="114452" cy="283195"/>
          </a:xfrm>
          <a:prstGeom prst="roundRect">
            <a:avLst>
              <a:gd name="adj" fmla="val 11984"/>
            </a:avLst>
          </a:prstGeom>
          <a:solidFill>
            <a:srgbClr val="DC2626">
              <a:alpha val="60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3992118" y="4336676"/>
            <a:ext cx="114452" cy="79876"/>
          </a:xfrm>
          <a:prstGeom prst="roundRect">
            <a:avLst>
              <a:gd name="adj" fmla="val 17172"/>
            </a:avLst>
          </a:prstGeom>
          <a:solidFill>
            <a:srgbClr val="DC2626">
              <a:alpha val="60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4123030" y="4053481"/>
            <a:ext cx="114452" cy="363071"/>
          </a:xfrm>
          <a:prstGeom prst="roundRect">
            <a:avLst>
              <a:gd name="adj" fmla="val 11984"/>
            </a:avLst>
          </a:prstGeom>
          <a:solidFill>
            <a:srgbClr val="DC2626">
              <a:alpha val="60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4253941" y="4024436"/>
            <a:ext cx="114452" cy="392116"/>
          </a:xfrm>
          <a:prstGeom prst="roundRect">
            <a:avLst>
              <a:gd name="adj" fmla="val 11984"/>
            </a:avLst>
          </a:prstGeom>
          <a:solidFill>
            <a:srgbClr val="DC2626">
              <a:alpha val="60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4384853" y="4002652"/>
            <a:ext cx="114452" cy="413900"/>
          </a:xfrm>
          <a:prstGeom prst="roundRect">
            <a:avLst>
              <a:gd name="adj" fmla="val 11984"/>
            </a:avLst>
          </a:prstGeom>
          <a:solidFill>
            <a:srgbClr val="DC2626">
              <a:alpha val="60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515764" y="4176925"/>
            <a:ext cx="114452" cy="239627"/>
          </a:xfrm>
          <a:prstGeom prst="roundRect">
            <a:avLst>
              <a:gd name="adj" fmla="val 11984"/>
            </a:avLst>
          </a:prstGeom>
          <a:solidFill>
            <a:srgbClr val="DC2626">
              <a:alpha val="60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4646676" y="4220494"/>
            <a:ext cx="114452" cy="196058"/>
          </a:xfrm>
          <a:prstGeom prst="roundRect">
            <a:avLst>
              <a:gd name="adj" fmla="val 11984"/>
            </a:avLst>
          </a:prstGeom>
          <a:solidFill>
            <a:srgbClr val="DC2626">
              <a:alpha val="60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4777588" y="4370832"/>
            <a:ext cx="114452" cy="4572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3355848" y="428853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Q1'23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3931920" y="428853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Q2'24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4526280" y="4288536"/>
            <a:ext cx="3474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Q4'25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3291840" y="4498848"/>
            <a:ext cx="2578608" cy="27432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337560" y="449884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Q: 30.9%  ↓ improving trend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099048" y="2423160"/>
            <a:ext cx="2761488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6236208" y="2560320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6446520" y="2505456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In-Transit + Pending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6217920" y="2807208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32.9%</a:t>
            </a:r>
            <a:endParaRPr lang="en-US" sz="3600" dirty="0"/>
          </a:p>
        </p:txBody>
      </p:sp>
      <p:sp>
        <p:nvSpPr>
          <p:cNvPr id="77" name="Text 75"/>
          <p:cNvSpPr/>
          <p:nvPr/>
        </p:nvSpPr>
        <p:spPr>
          <a:xfrm>
            <a:off x="6217920" y="3355848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orders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236208" y="363016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trend  (2023–2025)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236208" y="3886200"/>
            <a:ext cx="1554480" cy="566928"/>
          </a:xfrm>
          <a:prstGeom prst="roundRect">
            <a:avLst>
              <a:gd name="adj" fmla="val 6452"/>
            </a:avLst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6236208" y="4251960"/>
            <a:ext cx="114452" cy="164592"/>
          </a:xfrm>
          <a:prstGeom prst="roundRect">
            <a:avLst>
              <a:gd name="adj" fmla="val 11984"/>
            </a:avLst>
          </a:prstGeom>
          <a:solidFill>
            <a:srgbClr val="D97706">
              <a:alpha val="6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6367120" y="4093246"/>
            <a:ext cx="114452" cy="323306"/>
          </a:xfrm>
          <a:prstGeom prst="roundRect">
            <a:avLst>
              <a:gd name="adj" fmla="val 11984"/>
            </a:avLst>
          </a:prstGeom>
          <a:solidFill>
            <a:srgbClr val="D97706">
              <a:alpha val="6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6498031" y="4370832"/>
            <a:ext cx="114452" cy="45720"/>
          </a:xfrm>
          <a:prstGeom prst="roundRect">
            <a:avLst>
              <a:gd name="adj" fmla="val 30000"/>
            </a:avLst>
          </a:prstGeom>
          <a:solidFill>
            <a:srgbClr val="D97706">
              <a:alpha val="6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6628943" y="3981559"/>
            <a:ext cx="114452" cy="434993"/>
          </a:xfrm>
          <a:prstGeom prst="roundRect">
            <a:avLst>
              <a:gd name="adj" fmla="val 11984"/>
            </a:avLst>
          </a:prstGeom>
          <a:solidFill>
            <a:srgbClr val="D97706">
              <a:alpha val="6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6759854" y="4193177"/>
            <a:ext cx="114452" cy="223375"/>
          </a:xfrm>
          <a:prstGeom prst="roundRect">
            <a:avLst>
              <a:gd name="adj" fmla="val 11984"/>
            </a:avLst>
          </a:prstGeom>
          <a:solidFill>
            <a:srgbClr val="D97706">
              <a:alpha val="6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6890766" y="4005072"/>
            <a:ext cx="114452" cy="411480"/>
          </a:xfrm>
          <a:prstGeom prst="roundRect">
            <a:avLst>
              <a:gd name="adj" fmla="val 11984"/>
            </a:avLst>
          </a:prstGeom>
          <a:solidFill>
            <a:srgbClr val="D97706">
              <a:alpha val="6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7021678" y="3952167"/>
            <a:ext cx="114452" cy="464385"/>
          </a:xfrm>
          <a:prstGeom prst="roundRect">
            <a:avLst>
              <a:gd name="adj" fmla="val 11984"/>
            </a:avLst>
          </a:prstGeom>
          <a:solidFill>
            <a:srgbClr val="D97706">
              <a:alpha val="6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7152589" y="4181421"/>
            <a:ext cx="114452" cy="235131"/>
          </a:xfrm>
          <a:prstGeom prst="roundRect">
            <a:avLst>
              <a:gd name="adj" fmla="val 11984"/>
            </a:avLst>
          </a:prstGeom>
          <a:solidFill>
            <a:srgbClr val="D97706">
              <a:alpha val="6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7283501" y="4257838"/>
            <a:ext cx="114452" cy="158714"/>
          </a:xfrm>
          <a:prstGeom prst="roundRect">
            <a:avLst>
              <a:gd name="adj" fmla="val 11984"/>
            </a:avLst>
          </a:prstGeom>
          <a:solidFill>
            <a:srgbClr val="D97706">
              <a:alpha val="6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7414412" y="4346013"/>
            <a:ext cx="114452" cy="70539"/>
          </a:xfrm>
          <a:prstGeom prst="roundRect">
            <a:avLst>
              <a:gd name="adj" fmla="val 19445"/>
            </a:avLst>
          </a:prstGeom>
          <a:solidFill>
            <a:srgbClr val="D97706">
              <a:alpha val="6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7545324" y="4216690"/>
            <a:ext cx="114452" cy="199862"/>
          </a:xfrm>
          <a:prstGeom prst="roundRect">
            <a:avLst>
              <a:gd name="adj" fmla="val 11984"/>
            </a:avLst>
          </a:prstGeom>
          <a:solidFill>
            <a:srgbClr val="D97706">
              <a:alpha val="6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7676236" y="4069733"/>
            <a:ext cx="114452" cy="346819"/>
          </a:xfrm>
          <a:prstGeom prst="roundRect">
            <a:avLst>
              <a:gd name="adj" fmla="val 1198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6254496" y="428853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Q1'23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6830568" y="428853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Q2'24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7424928" y="4288536"/>
            <a:ext cx="3474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Q4'25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6190488" y="4498848"/>
            <a:ext cx="2578608" cy="274320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6236208" y="449884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Q: 34.4%  Stable ~32–36% range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Ecommerce_Sales_Data.xlsx  |  Quarterly rates computed from 4,620 orders  |  Jan 2023 – Dec 2025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C3B6E">
              <a:alpha val="80000"/>
            </a:srgbClr>
          </a:solidFill>
          <a:ln w="12700">
            <a:solidFill>
              <a:srgbClr val="0C3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2560320"/>
            <a:ext cx="2743200" cy="274320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2395728"/>
            <a:ext cx="4389120" cy="777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2505456"/>
            <a:ext cx="28346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1463040" cy="2743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2377440" cy="329184"/>
          </a:xfrm>
          <a:prstGeom prst="roundRect">
            <a:avLst>
              <a:gd name="adj" fmla="val 1388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786384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20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Deep-Dive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325526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 ·  Geography  ·  Trends  ·  Fulfillment  ·  Payments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0" y="325526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3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 – 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Ecommerce Sales Review  |  FY 2023 – 2025  |  India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PRODUCT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Watch leads at ₹5.90 Cr (10.6% share). The top 5 products together contribute ₹28.7 Cr — 51.8% of total revenue, showing healthy spread with no single dominant SKU.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463040"/>
          <a:ext cx="85953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114032" y="1408176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114032" y="1408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#1  Smart Watch  ₹5.90 Cr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845552" y="1664208"/>
            <a:ext cx="0" cy="164592"/>
          </a:xfrm>
          <a:prstGeom prst="line">
            <a:avLst/>
          </a:prstGeom>
          <a:noFill/>
          <a:ln w="1524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CATEGORY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dominates with 60.2% revenue share (₹33.4 Cr). Tech and Gadgets split the remaining 39.8% evenly, suggesting opportunity to grow the emerging categories.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46304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481328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925312" y="166420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172200" y="15910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25312" y="186537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₹33.4 Cr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498080" y="186537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60.2%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60720" y="2670048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925312" y="2852928"/>
            <a:ext cx="201168" cy="20116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172200" y="27797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25312" y="30540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₹11.4 Cr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498080" y="305409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20.6%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760720" y="3858768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925312" y="4041648"/>
            <a:ext cx="201168" cy="201168"/>
          </a:xfrm>
          <a:prstGeom prst="ellipse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172200" y="39684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Gadgets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25312" y="424281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₹10.6 Cr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498080" y="424281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67E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19.2%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CITY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leads with ₹12.0 Cr — nearly double the next city. The remaining 7 cities cluster tightly between ₹6.0–6.4 Cr, indicating stable but underdeveloped Tier-1 market coverage.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463040"/>
          <a:ext cx="59436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1005840" y="1517904"/>
            <a:ext cx="4645152" cy="411480"/>
          </a:xfrm>
          <a:prstGeom prst="ellipse">
            <a:avLst/>
          </a:prstGeom>
          <a:solidFill>
            <a:srgbClr val="0891B2">
              <a:alpha val="12000"/>
            </a:srgbClr>
          </a:solidFill>
          <a:ln w="228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577840" y="1536192"/>
            <a:ext cx="749808" cy="246888"/>
          </a:xfrm>
          <a:prstGeom prst="roundRect">
            <a:avLst>
              <a:gd name="adj" fmla="val 2222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577840" y="1536192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DELHI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6492240" y="1463040"/>
            <a:ext cx="2377440" cy="33832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92240" y="1554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92240" y="2148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21.6%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49224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66560" y="3291840"/>
            <a:ext cx="18288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49224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other cities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78.4%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3931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 clustered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₹6.0–6.4 Cr each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 REVENUE TREND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was the peak year (₹19.1 Cr). Q3 2024 was the single strongest quarter at ₹5.41 Cr. Q3 consistently dips across all years, suggesting seasonal softness in July–September.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463040"/>
          <a:ext cx="85953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82128" y="2980944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882128" y="298094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₹4.62 Cr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937760" y="1901952"/>
            <a:ext cx="402336" cy="402336"/>
          </a:xfrm>
          <a:prstGeom prst="ellipse">
            <a:avLst/>
          </a:prstGeom>
          <a:solidFill>
            <a:srgbClr val="0891B2">
              <a:alpha val="20000"/>
            </a:srgbClr>
          </a:solidFill>
          <a:ln w="228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303520" y="1901952"/>
            <a:ext cx="50292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065776" y="1280160"/>
            <a:ext cx="1481328" cy="274320"/>
          </a:xfrm>
          <a:prstGeom prst="roundRect">
            <a:avLst>
              <a:gd name="adj" fmla="val 23333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065776" y="12801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PEAK  Q3‧24  ₹5.41 Cr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FULFILLMENT &amp; STATUS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Key Insight: </a:t>
            </a: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32.9% of orders are Delivered. Returned + Cancelled orders stand at 34.2% — a critical flag that demands investigation into product quality, logistics, and customer experience.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463040"/>
          <a:ext cx="49377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146304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623560" y="16459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879592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79592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1,522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06640" y="1554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32.9%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0" y="214884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623560" y="2331720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879592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79592" y="2468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06640" y="2240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17.2%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0" y="283464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623560" y="301752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879592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79592" y="3154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406640" y="29260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17.0%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486400" y="352044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5623560" y="370332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879592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879592" y="3840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779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406640" y="36118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16.9%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486400" y="420624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5623560" y="4389120"/>
            <a:ext cx="201168" cy="20116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5879592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879592" y="45262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406640" y="42976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16.0%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METHOD DISTRIBUTION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 are remarkably balanced — all five options (Debit Card, Net Banking, COD, UPI, Credit Card) fall within a tight 19.5%–20.4% band, reflecting strong multi-channel payment adoption.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463040"/>
          <a:ext cx="59436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492240" y="1463040"/>
            <a:ext cx="2377440" cy="3474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92240" y="1600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Score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92240" y="2240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6492240" y="2926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method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9224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dominates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92240" y="3840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still at 20.1%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logistics cost risk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– OPPORTUNITY HEAT MAP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  ·  FY 2023–2025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" y="74980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DCFCE7"/>
          </a:solidFill>
          <a:ln w="1016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38912" y="795528"/>
            <a:ext cx="128016" cy="12801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03504" y="74980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/ Opportunity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36976" y="74980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 w="1016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328416" y="795528"/>
            <a:ext cx="128016" cy="12801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93008" y="74980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0" y="74980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FEE2E2"/>
          </a:solidFill>
          <a:ln w="1016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217920" y="795528"/>
            <a:ext cx="128016" cy="12801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82512" y="74980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/ Weakness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335024" y="1042416"/>
            <a:ext cx="1901952" cy="365760"/>
          </a:xfrm>
          <a:prstGeom prst="roundRect">
            <a:avLst>
              <a:gd name="adj" fmla="val 17500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335024" y="1042416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35024" y="1417320"/>
            <a:ext cx="19019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Return+Cancel %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73552" y="1042416"/>
            <a:ext cx="1901952" cy="365760"/>
          </a:xfrm>
          <a:prstGeom prst="roundRect">
            <a:avLst>
              <a:gd name="adj" fmla="val 17500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73552" y="1042416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73552" y="1417320"/>
            <a:ext cx="19019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2023→2024→2025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212080" y="1042416"/>
            <a:ext cx="1901952" cy="365760"/>
          </a:xfrm>
          <a:prstGeom prst="roundRect">
            <a:avLst>
              <a:gd name="adj" fmla="val 17500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212080" y="1042416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1417320"/>
            <a:ext cx="19019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dominance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150608" y="1042416"/>
            <a:ext cx="1901952" cy="365760"/>
          </a:xfrm>
          <a:prstGeom prst="roundRect">
            <a:avLst>
              <a:gd name="adj" fmla="val 17500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150608" y="1042416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50608" y="1417320"/>
            <a:ext cx="19019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% share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1572768"/>
            <a:ext cx="1024128" cy="804672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74320" y="1572768"/>
            <a:ext cx="10241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335024" y="1572768"/>
            <a:ext cx="1901952" cy="804672"/>
          </a:xfrm>
          <a:prstGeom prst="roundRect">
            <a:avLst>
              <a:gd name="adj" fmla="val 9091"/>
            </a:avLst>
          </a:prstGeom>
          <a:solidFill>
            <a:srgbClr val="FEF9EC"/>
          </a:solidFill>
          <a:ln w="12700">
            <a:solidFill>
              <a:srgbClr val="B45309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426464" y="1655064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408176" y="177393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835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34.4%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408176" y="2075688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34.2% avg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73552" y="1572768"/>
            <a:ext cx="1901952" cy="804672"/>
          </a:xfrm>
          <a:prstGeom prst="roundRect">
            <a:avLst>
              <a:gd name="adj" fmla="val 9091"/>
            </a:avLst>
          </a:prstGeom>
          <a:solidFill>
            <a:srgbClr val="FEF9EC"/>
          </a:solidFill>
          <a:ln w="12700">
            <a:solidFill>
              <a:srgbClr val="B45309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364992" y="1655064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346704" y="177393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835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+17.0% (2024)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346704" y="2075688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–7.5% (2025)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212080" y="1572768"/>
            <a:ext cx="1901952" cy="804672"/>
          </a:xfrm>
          <a:prstGeom prst="roundRect">
            <a:avLst>
              <a:gd name="adj" fmla="val 9091"/>
            </a:avLst>
          </a:prstGeom>
          <a:solidFill>
            <a:srgbClr val="FEF9EC"/>
          </a:solidFill>
          <a:ln w="12700">
            <a:solidFill>
              <a:srgbClr val="B45309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303520" y="1655064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285232" y="177393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835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Delhi 21.4%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285232" y="2075688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cities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150608" y="1572768"/>
            <a:ext cx="1901952" cy="804672"/>
          </a:xfrm>
          <a:prstGeom prst="roundRect">
            <a:avLst>
              <a:gd name="adj" fmla="val 9091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242048" y="1655064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223760" y="177393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 19.8%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223760" y="2075688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2414016"/>
            <a:ext cx="1024128" cy="804672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74320" y="2414016"/>
            <a:ext cx="10241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335024" y="2414016"/>
            <a:ext cx="1901952" cy="804672"/>
          </a:xfrm>
          <a:prstGeom prst="roundRect">
            <a:avLst>
              <a:gd name="adj" fmla="val 9091"/>
            </a:avLst>
          </a:prstGeom>
          <a:solidFill>
            <a:srgbClr val="FEF9EC"/>
          </a:solidFill>
          <a:ln w="12700">
            <a:solidFill>
              <a:srgbClr val="B45309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1426464" y="2496312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1408176" y="2615184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835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34.7%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1408176" y="291693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above avg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73552" y="2414016"/>
            <a:ext cx="1901952" cy="804672"/>
          </a:xfrm>
          <a:prstGeom prst="roundRect">
            <a:avLst>
              <a:gd name="adj" fmla="val 9091"/>
            </a:avLst>
          </a:prstGeom>
          <a:solidFill>
            <a:srgbClr val="FEF9EC"/>
          </a:solidFill>
          <a:ln w="12700">
            <a:solidFill>
              <a:srgbClr val="B45309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3364992" y="2496312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346704" y="2615184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835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–11.4% (2024)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3346704" y="291693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+5.8% (2025)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212080" y="2414016"/>
            <a:ext cx="1901952" cy="804672"/>
          </a:xfrm>
          <a:prstGeom prst="roundRect">
            <a:avLst>
              <a:gd name="adj" fmla="val 9091"/>
            </a:avLst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5303520" y="2496312"/>
            <a:ext cx="146304" cy="14630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285232" y="2615184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F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Delhi 22.9%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5285232" y="291693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concentration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150608" y="2414016"/>
            <a:ext cx="1901952" cy="804672"/>
          </a:xfrm>
          <a:prstGeom prst="roundRect">
            <a:avLst>
              <a:gd name="adj" fmla="val 9091"/>
            </a:avLst>
          </a:prstGeom>
          <a:solidFill>
            <a:srgbClr val="FEF9EC"/>
          </a:solidFill>
          <a:ln w="12700">
            <a:solidFill>
              <a:srgbClr val="B45309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7242048" y="2496312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223760" y="2615184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835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 20.2%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7223760" y="291693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average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74320" y="3255264"/>
            <a:ext cx="1024128" cy="804672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274320" y="3255264"/>
            <a:ext cx="10241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Gadgets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335024" y="3255264"/>
            <a:ext cx="1901952" cy="804672"/>
          </a:xfrm>
          <a:prstGeom prst="roundRect">
            <a:avLst>
              <a:gd name="adj" fmla="val 9091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1426464" y="3337560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1408176" y="345643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32.9%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1408176" y="3758184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among 3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273552" y="3255264"/>
            <a:ext cx="1901952" cy="804672"/>
          </a:xfrm>
          <a:prstGeom prst="roundRect">
            <a:avLst>
              <a:gd name="adj" fmla="val 9091"/>
            </a:avLst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3364992" y="3337560"/>
            <a:ext cx="146304" cy="14630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3346704" y="345643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F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–8.4% (2024)</a:t>
            </a:r>
            <a:endParaRPr lang="en-US" sz="1250" dirty="0"/>
          </a:p>
        </p:txBody>
      </p:sp>
      <p:sp>
        <p:nvSpPr>
          <p:cNvPr id="71" name="Text 69"/>
          <p:cNvSpPr/>
          <p:nvPr/>
        </p:nvSpPr>
        <p:spPr>
          <a:xfrm>
            <a:off x="3346704" y="3758184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–4.3% (2025)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212080" y="3255264"/>
            <a:ext cx="1901952" cy="804672"/>
          </a:xfrm>
          <a:prstGeom prst="roundRect">
            <a:avLst>
              <a:gd name="adj" fmla="val 9091"/>
            </a:avLst>
          </a:prstGeom>
          <a:solidFill>
            <a:srgbClr val="FEF9EC"/>
          </a:solidFill>
          <a:ln w="12700">
            <a:solidFill>
              <a:srgbClr val="B45309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5303520" y="3337560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5285232" y="345643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835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Delhi 21.1%</a:t>
            </a:r>
            <a:endParaRPr lang="en-US" sz="1250" dirty="0"/>
          </a:p>
        </p:txBody>
      </p:sp>
      <p:sp>
        <p:nvSpPr>
          <p:cNvPr id="75" name="Text 73"/>
          <p:cNvSpPr/>
          <p:nvPr/>
        </p:nvSpPr>
        <p:spPr>
          <a:xfrm>
            <a:off x="5285232" y="3758184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otherwise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150608" y="3255264"/>
            <a:ext cx="1901952" cy="804672"/>
          </a:xfrm>
          <a:prstGeom prst="roundRect">
            <a:avLst>
              <a:gd name="adj" fmla="val 9091"/>
            </a:avLst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7242048" y="3337560"/>
            <a:ext cx="146304" cy="14630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7223760" y="345643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F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 21.0%</a:t>
            </a:r>
            <a:endParaRPr lang="en-US" sz="1250" dirty="0"/>
          </a:p>
        </p:txBody>
      </p:sp>
      <p:sp>
        <p:nvSpPr>
          <p:cNvPr id="79" name="Text 77"/>
          <p:cNvSpPr/>
          <p:nvPr/>
        </p:nvSpPr>
        <p:spPr>
          <a:xfrm>
            <a:off x="7223760" y="3758184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COD risk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74320" y="4187952"/>
            <a:ext cx="8641080" cy="548640"/>
          </a:xfrm>
          <a:prstGeom prst="roundRect">
            <a:avLst>
              <a:gd name="adj" fmla="val 15000"/>
            </a:avLst>
          </a:prstGeom>
          <a:solidFill>
            <a:srgbClr val="F0F9FB"/>
          </a:solidFill>
          <a:ln w="11430">
            <a:solidFill>
              <a:srgbClr val="0891B2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402336" y="4270248"/>
            <a:ext cx="164592" cy="16459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621792" y="4215384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Risk: </a:t>
            </a:r>
            <a:r>
              <a:rPr lang="en-US" sz="9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Gadgets — two consecutive years of revenue decline (–8.4%, –4.3%), highest COD dependency (21.0%), and sustained Delhi concentration. Requires urgent portfolio and logistics review.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818888" y="4261104"/>
            <a:ext cx="0" cy="402336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4956048" y="4270248"/>
            <a:ext cx="164592" cy="16459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5175504" y="4215384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Opportunity: </a:t>
            </a:r>
            <a:r>
              <a:rPr lang="en-US" sz="9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— revenue leader at ₹33.4 Cr, lowest COD exposure (19.8%), and a proven +17% growth surge in FY2024. Reducing the 34.4% return rate could unlock the next growth phase.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274320" y="4773168"/>
            <a:ext cx="864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computed from 4,620 orders  |  Return Rate = Returned + Cancelled  |  Revenue Growth = YoY change  |  Geographic Spread = Delhi revenue %  |  Payment Mix = COD %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4572000" cy="4572000"/>
          </a:xfrm>
          <a:prstGeom prst="ellipse">
            <a:avLst/>
          </a:prstGeom>
          <a:solidFill>
            <a:srgbClr val="0C3B6E">
              <a:alpha val="70000"/>
            </a:srgbClr>
          </a:solidFill>
          <a:ln w="12700">
            <a:solidFill>
              <a:srgbClr val="0C3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83050">
              <a:alpha val="80000"/>
            </a:srgbClr>
          </a:solidFill>
          <a:ln w="12700">
            <a:solidFill>
              <a:srgbClr val="08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8288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640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vs. Impact Prioritisation Matrix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 rot="16200000">
            <a:off x="91440" y="397764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LOW IMPACT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 rot="16200000">
            <a:off x="91440" y="109728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  ▶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25880" y="4773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EFFORT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03720" y="4773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61872" y="960120"/>
            <a:ext cx="3749040" cy="1847088"/>
          </a:xfrm>
          <a:prstGeom prst="roundRect">
            <a:avLst>
              <a:gd name="adj" fmla="val 4950"/>
            </a:avLst>
          </a:prstGeom>
          <a:solidFill>
            <a:srgbClr val="0C2A5A"/>
          </a:solidFill>
          <a:ln w="10160">
            <a:solidFill>
              <a:srgbClr val="0D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371600" y="10515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84064" y="960120"/>
            <a:ext cx="3749040" cy="1847088"/>
          </a:xfrm>
          <a:prstGeom prst="roundRect">
            <a:avLst>
              <a:gd name="adj" fmla="val 4950"/>
            </a:avLst>
          </a:prstGeom>
          <a:solidFill>
            <a:srgbClr val="0A1F3D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93792" y="10515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261872" y="2880360"/>
            <a:ext cx="3749040" cy="1847088"/>
          </a:xfrm>
          <a:prstGeom prst="roundRect">
            <a:avLst>
              <a:gd name="adj" fmla="val 4950"/>
            </a:avLst>
          </a:prstGeom>
          <a:solidFill>
            <a:srgbClr val="091A30"/>
          </a:solidFill>
          <a:ln w="10160">
            <a:solidFill>
              <a:srgbClr val="334E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371600" y="297180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Fill-ins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84064" y="2880360"/>
            <a:ext cx="3749040" cy="1847088"/>
          </a:xfrm>
          <a:prstGeom prst="roundRect">
            <a:avLst>
              <a:gd name="adj" fmla="val 4950"/>
            </a:avLst>
          </a:prstGeom>
          <a:solidFill>
            <a:srgbClr val="070F1E"/>
          </a:solidFill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193792" y="297180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Slogs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261872" y="2843784"/>
            <a:ext cx="7571232" cy="0"/>
          </a:xfrm>
          <a:prstGeom prst="line">
            <a:avLst/>
          </a:prstGeom>
          <a:noFill/>
          <a:ln w="15240">
            <a:solidFill>
              <a:srgbClr val="1E3A6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047488" y="960120"/>
            <a:ext cx="0" cy="3767328"/>
          </a:xfrm>
          <a:prstGeom prst="line">
            <a:avLst/>
          </a:prstGeom>
          <a:noFill/>
          <a:ln w="15240">
            <a:solidFill>
              <a:srgbClr val="1E3A6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334244" y="1280160"/>
            <a:ext cx="1243584" cy="1243584"/>
          </a:xfrm>
          <a:prstGeom prst="ellipse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389108" y="1335024"/>
            <a:ext cx="1133856" cy="1133856"/>
          </a:xfrm>
          <a:prstGeom prst="ellipse">
            <a:avLst/>
          </a:prstGeom>
          <a:solidFill>
            <a:srgbClr val="0891B2"/>
          </a:solidFill>
          <a:ln w="19050">
            <a:solidFill>
              <a:srgbClr val="06B6D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25684" y="137160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25684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425684" y="1664208"/>
            <a:ext cx="10607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Returns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90176" y="2560320"/>
            <a:ext cx="2331720" cy="365760"/>
          </a:xfrm>
          <a:prstGeom prst="roundRect">
            <a:avLst>
              <a:gd name="adj" fmla="val 17500"/>
            </a:avLst>
          </a:prstGeom>
          <a:solidFill>
            <a:srgbClr val="0A1E3D"/>
          </a:solidFill>
          <a:ln w="1016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81616" y="25603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top-returned SKUs; target &lt;25% return rate within 2 quarters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378903" y="1164946"/>
            <a:ext cx="1097280" cy="1097280"/>
          </a:xfrm>
          <a:prstGeom prst="ellipse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433767" y="1219810"/>
            <a:ext cx="987552" cy="98755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470343" y="1256386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470343" y="125638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470343" y="1475842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761683" y="2298802"/>
            <a:ext cx="2331720" cy="365760"/>
          </a:xfrm>
          <a:prstGeom prst="roundRect">
            <a:avLst>
              <a:gd name="adj" fmla="val 17500"/>
            </a:avLst>
          </a:prstGeom>
          <a:solidFill>
            <a:srgbClr val="0A1E3D"/>
          </a:solidFill>
          <a:ln w="1016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853123" y="229880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marketing spend in Mumbai, Bangalore, Kolkata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282342" y="3103474"/>
            <a:ext cx="987552" cy="987552"/>
          </a:xfrm>
          <a:prstGeom prst="ellipse">
            <a:avLst/>
          </a:prstGeom>
          <a:solidFill>
            <a:srgbClr val="0284C7">
              <a:alpha val="18000"/>
            </a:srgbClr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337206" y="3158338"/>
            <a:ext cx="877824" cy="877824"/>
          </a:xfrm>
          <a:prstGeom prst="ellipse">
            <a:avLst/>
          </a:prstGeom>
          <a:solidFill>
            <a:srgbClr val="0369A1"/>
          </a:solidFill>
          <a:ln w="19050">
            <a:solidFill>
              <a:srgbClr val="0284C7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373782" y="3194914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373782" y="319491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373782" y="3359506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Mix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610258" y="2701138"/>
            <a:ext cx="2331720" cy="365760"/>
          </a:xfrm>
          <a:prstGeom prst="roundRect">
            <a:avLst>
              <a:gd name="adj" fmla="val 17500"/>
            </a:avLst>
          </a:prstGeom>
          <a:solidFill>
            <a:srgbClr val="0A1E3D"/>
          </a:solidFill>
          <a:ln w="1016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701698" y="270113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3 new Tech &amp; Gadgets SKUs by Q2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663452" y="3197108"/>
            <a:ext cx="950976" cy="950976"/>
          </a:xfrm>
          <a:prstGeom prst="ellipse">
            <a:avLst/>
          </a:prstGeom>
          <a:solidFill>
            <a:srgbClr val="075985">
              <a:alpha val="18000"/>
            </a:srgbClr>
          </a:solidFill>
          <a:ln w="12700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3718316" y="3251972"/>
            <a:ext cx="841248" cy="841248"/>
          </a:xfrm>
          <a:prstGeom prst="ellipse">
            <a:avLst/>
          </a:prstGeom>
          <a:solidFill>
            <a:srgbClr val="0C4A6E"/>
          </a:solidFill>
          <a:ln w="19050">
            <a:solidFill>
              <a:srgbClr val="075985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3754892" y="328854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754892" y="32885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754892" y="3434852"/>
            <a:ext cx="7680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Campaign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973080" y="2794772"/>
            <a:ext cx="2331720" cy="365760"/>
          </a:xfrm>
          <a:prstGeom prst="roundRect">
            <a:avLst>
              <a:gd name="adj" fmla="val 17500"/>
            </a:avLst>
          </a:prstGeom>
          <a:solidFill>
            <a:srgbClr val="0A1E3D"/>
          </a:solidFill>
          <a:ln w="10160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064520" y="279477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Jul–Sep promotional calendar to offset seasonal dip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Ecommerce Sales Review  |  FY 2023–2025  |  India Operations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2917</Words>
  <Application>Microsoft Office PowerPoint</Application>
  <PresentationFormat>On-screen Show (16:9)</PresentationFormat>
  <Paragraphs>209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Ecommerce Sales Performance Review</dc:title>
  <dc:subject>PptxGenJS Presentation</dc:subject>
  <dc:creator>PptxGenJS</dc:creator>
  <cp:lastModifiedBy>Arnab Chakraborty</cp:lastModifiedBy>
  <cp:revision>2</cp:revision>
  <dcterms:created xsi:type="dcterms:W3CDTF">2026-06-16T12:05:40Z</dcterms:created>
  <dcterms:modified xsi:type="dcterms:W3CDTF">2026-06-16T12:07:44Z</dcterms:modified>
</cp:coreProperties>
</file>