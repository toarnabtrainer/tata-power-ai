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5EEAD4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Smart Watch</c:v>
                  </c:pt>
                  <c:pt idx="1">
                    <c:v>Headphones</c:v>
                  </c:pt>
                  <c:pt idx="2">
                    <c:v>Monitor</c:v>
                  </c:pt>
                  <c:pt idx="3">
                    <c:v>Mouse</c:v>
                  </c:pt>
                  <c:pt idx="4">
                    <c:v>Laptop</c:v>
                  </c:pt>
                  <c:pt idx="5">
                    <c:v>Keyboard</c:v>
                  </c:pt>
                  <c:pt idx="6">
                    <c:v>Charger</c:v>
                  </c:pt>
                  <c:pt idx="7">
                    <c:v>Webcam</c:v>
                  </c:pt>
                  <c:pt idx="8">
                    <c:v>Tablet</c:v>
                  </c:pt>
                  <c:pt idx="9">
                    <c:v>USB Cable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590</c:v>
                </c:pt>
                <c:pt idx="1">
                  <c:v>582</c:v>
                </c:pt>
                <c:pt idx="2">
                  <c:v>573</c:v>
                </c:pt>
                <c:pt idx="3">
                  <c:v>569</c:v>
                </c:pt>
                <c:pt idx="4">
                  <c:v>556</c:v>
                </c:pt>
                <c:pt idx="5">
                  <c:v>551</c:v>
                </c:pt>
                <c:pt idx="6">
                  <c:v>542</c:v>
                </c:pt>
                <c:pt idx="7">
                  <c:v>538</c:v>
                </c:pt>
                <c:pt idx="8">
                  <c:v>531</c:v>
                </c:pt>
                <c:pt idx="9">
                  <c:v>515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1B3E"/>
              </a:solidFill>
              <a:effectLst/>
            </c:spPr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bubble3D val="0"/>
            <c:spPr>
              <a:solidFill>
                <a:srgbClr val="5EEAD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Electronics</c:v>
                </c:pt>
                <c:pt idx="1">
                  <c:v>Tech</c:v>
                </c:pt>
                <c:pt idx="2">
                  <c:v>Gadgets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333728900</c:v>
                </c:pt>
                <c:pt idx="1">
                  <c:v>114350300</c:v>
                </c:pt>
                <c:pt idx="2">
                  <c:v>106424600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L)</c:v>
                </c:pt>
              </c:strCache>
            </c:strRef>
          </c:tx>
          <c:spPr>
            <a:solidFill>
              <a:srgbClr val="0D1B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1B3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Delhi</c:v>
                  </c:pt>
                  <c:pt idx="1">
                    <c:v>Mumbai</c:v>
                  </c:pt>
                  <c:pt idx="2">
                    <c:v>Pune</c:v>
                  </c:pt>
                  <c:pt idx="3">
                    <c:v>Hyderabad</c:v>
                  </c:pt>
                  <c:pt idx="4">
                    <c:v>Chennai</c:v>
                  </c:pt>
                  <c:pt idx="5">
                    <c:v>Ahmedabad</c:v>
                  </c:pt>
                  <c:pt idx="6">
                    <c:v>Kolkata</c:v>
                  </c:pt>
                  <c:pt idx="7">
                    <c:v>Bangalore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1200</c:v>
                </c:pt>
                <c:pt idx="1">
                  <c:v>641</c:v>
                </c:pt>
                <c:pt idx="2">
                  <c:v>640</c:v>
                </c:pt>
                <c:pt idx="3">
                  <c:v>630</c:v>
                </c:pt>
                <c:pt idx="4">
                  <c:v>622</c:v>
                </c:pt>
                <c:pt idx="5">
                  <c:v>608</c:v>
                </c:pt>
                <c:pt idx="6">
                  <c:v>603</c:v>
                </c:pt>
                <c:pt idx="7">
                  <c:v>601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L)</c:v>
                </c:pt>
              </c:strCache>
            </c:strRef>
          </c:tx>
          <c:spPr>
            <a:solidFill>
              <a:srgbClr val="0D9488"/>
            </a:solidFill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2023 Q1</c:v>
                  </c:pt>
                  <c:pt idx="1">
                    <c:v>2023 Q2</c:v>
                  </c:pt>
                  <c:pt idx="2">
                    <c:v>2023 Q3</c:v>
                  </c:pt>
                  <c:pt idx="3">
                    <c:v>2023 Q4</c:v>
                  </c:pt>
                  <c:pt idx="4">
                    <c:v>2024 Q1</c:v>
                  </c:pt>
                  <c:pt idx="5">
                    <c:v>2024 Q2</c:v>
                  </c:pt>
                  <c:pt idx="6">
                    <c:v>2024 Q3</c:v>
                  </c:pt>
                  <c:pt idx="7">
                    <c:v>2024 Q4</c:v>
                  </c:pt>
                  <c:pt idx="8">
                    <c:v>2025 Q1</c:v>
                  </c:pt>
                  <c:pt idx="9">
                    <c:v>2025 Q2</c:v>
                  </c:pt>
                  <c:pt idx="10">
                    <c:v>2025 Q3</c:v>
                  </c:pt>
                  <c:pt idx="11">
                    <c:v>2025 Q4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451</c:v>
                </c:pt>
                <c:pt idx="1">
                  <c:v>454</c:v>
                </c:pt>
                <c:pt idx="2">
                  <c:v>430</c:v>
                </c:pt>
                <c:pt idx="3">
                  <c:v>477</c:v>
                </c:pt>
                <c:pt idx="4">
                  <c:v>405</c:v>
                </c:pt>
                <c:pt idx="5">
                  <c:v>487</c:v>
                </c:pt>
                <c:pt idx="6">
                  <c:v>541</c:v>
                </c:pt>
                <c:pt idx="7">
                  <c:v>475</c:v>
                </c:pt>
                <c:pt idx="8">
                  <c:v>458</c:v>
                </c:pt>
                <c:pt idx="9">
                  <c:v>474</c:v>
                </c:pt>
                <c:pt idx="10">
                  <c:v>430</c:v>
                </c:pt>
                <c:pt idx="11">
                  <c:v>466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Delivered</c:v>
                  </c:pt>
                  <c:pt idx="1">
                    <c:v>Returned</c:v>
                  </c:pt>
                  <c:pt idx="2">
                    <c:v>Cancelled</c:v>
                  </c:pt>
                  <c:pt idx="3">
                    <c:v>Shipped</c:v>
                  </c:pt>
                  <c:pt idx="4">
                    <c:v>Pending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1522</c:v>
                </c:pt>
                <c:pt idx="1">
                  <c:v>795</c:v>
                </c:pt>
                <c:pt idx="2">
                  <c:v>784</c:v>
                </c:pt>
                <c:pt idx="3">
                  <c:v>779</c:v>
                </c:pt>
                <c:pt idx="4">
                  <c:v>740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1B3E"/>
              </a:solidFill>
              <a:effectLst/>
            </c:spPr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bubble3D val="0"/>
            <c:spPr>
              <a:solidFill>
                <a:srgbClr val="0891B2"/>
              </a:solidFill>
              <a:effectLst/>
            </c:spPr>
          </c:dPt>
          <c:dPt>
            <c:idx val="3"/>
            <c:bubble3D val="0"/>
            <c:spPr>
              <a:solidFill>
                <a:srgbClr val="5EEAD4"/>
              </a:solidFill>
              <a:effectLst/>
            </c:spPr>
          </c:dPt>
          <c:dPt>
            <c:idx val="4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Debit Card</c:v>
                </c:pt>
                <c:pt idx="1">
                  <c:v>Net Banking</c:v>
                </c:pt>
                <c:pt idx="2">
                  <c:v>COD</c:v>
                </c:pt>
                <c:pt idx="3">
                  <c:v>UPI</c:v>
                </c:pt>
                <c:pt idx="4">
                  <c:v>Credit Card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940</c:v>
                </c:pt>
                <c:pt idx="1">
                  <c:v>936</c:v>
                </c:pt>
                <c:pt idx="2">
                  <c:v>928</c:v>
                </c:pt>
                <c:pt idx="3">
                  <c:v>913</c:v>
                </c:pt>
                <c:pt idx="4">
                  <c:v>902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2A4A8A">
              <a:alpha val="40000"/>
            </a:srgbClr>
          </a:solidFill>
          <a:ln w="12700">
            <a:solidFill>
              <a:srgbClr val="2A4A8A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2801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Performance Review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2023 – 2025  |  Leadership Briefing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251960"/>
            <a:ext cx="201168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2519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17520" y="431596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4,620 order records  |  Metrics reflect available data (6 records with missing values noted)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Snapshot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2023 – 2025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201168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234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₹55.5 Cr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2860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" y="2377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× Quantity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96012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960120"/>
            <a:ext cx="201168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1234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₹1.20 L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42316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2377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transaction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96012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960120"/>
            <a:ext cx="201168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234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13,964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61772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Units Sold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17720" y="2377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orders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12280" y="96012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12280" y="960120"/>
            <a:ext cx="201168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1234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4,620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81228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12280" y="2377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2023–2025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" y="301752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4360" y="3063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33.0%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94360" y="35478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0" y="301752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291840" y="3063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34.2%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3291840" y="35478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+ Cancel Rate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89320" y="301752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989320" y="3063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32.8%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5989320" y="35478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In-Transit / Pending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28600" y="42062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High return &amp; cancellation rate (34.2%) is the primary risk flag requiring immediate attention.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Product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total revenue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868680"/>
          <a:ext cx="59436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914400"/>
            <a:ext cx="2514600" cy="38404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0" y="914400"/>
            <a:ext cx="251460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46520" y="115214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46520" y="1499616"/>
            <a:ext cx="2423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Watch leads at ₹5.90 Cr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products (Watch, Headphones, Monitor) account for 31% of total revenue.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spread across all 10 products is narrow (₹5.9 Cr to ₹5.1 Cr), indicating a diversified, non-concentrated portfolio.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
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in ₹ Lakhs (L)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Share by Category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45720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303520" y="100584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40680" y="1261872"/>
            <a:ext cx="502920" cy="50292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80760" y="10972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80760" y="1463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₹33.4 Cr  ·  60.2% share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303520" y="219456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40680" y="245059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80760" y="22860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080760" y="2651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₹11.4 Cr  ·  20.6% share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303520" y="338328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40680" y="3639312"/>
            <a:ext cx="502920" cy="50292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80760" y="34747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Gadgets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080760" y="3840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₹10.6 Cr  ·  19.2% share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303520" y="4617720"/>
            <a:ext cx="3566160" cy="411480"/>
          </a:xfrm>
          <a:prstGeom prst="roundRect">
            <a:avLst>
              <a:gd name="adj" fmla="val 11111"/>
            </a:avLst>
          </a:prstGeom>
          <a:solidFill>
            <a:srgbClr val="FEF9C3"/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49240" y="463600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dominates at 60%. A category-level promotion strategy for Tech &amp; Gadgets could balance revenue mix.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City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concentration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868680"/>
          <a:ext cx="59436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914400"/>
            <a:ext cx="2514600" cy="38404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0" y="914400"/>
            <a:ext cx="2514600" cy="2011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46520" y="115214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46520" y="1499616"/>
            <a:ext cx="2423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alone = ₹12.0 Cr (21.6% of total)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7 cities each contribute ₹6.0–6.4 Cr, forming a tight cluster.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Delhi's 2× dominance signals heavy dependency on a single market — a geographic risk if demand softens.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
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in ₹ Lakhs (L)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Quarterly Revenue Trend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– 2025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868680"/>
          <a:ext cx="8595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4069080"/>
            <a:ext cx="2560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20040" y="40873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2023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20040" y="42976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₹18.1 Cr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20040" y="454456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year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154680" y="4069080"/>
            <a:ext cx="2560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154680" y="40873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2024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154680" y="42976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₹19.1 Cr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154680" y="454456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+5.3% YoY ↑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989320" y="4069080"/>
            <a:ext cx="2560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989320" y="40873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2025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989320" y="42976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₹18.3 Cr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989320" y="454456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–4.2% YoY ↓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Q3 2024 peak at ₹541 Cr L. Q3 is consistently the softest quarter — a pre-planned Q3 sale campaign could smooth seasonality.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Fulfillment &amp; Status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0" y="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+ Cancellation Alert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86868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960120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70448" y="1069848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09360" y="1005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309360" y="12618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1,522 orders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955280" y="10515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33.0%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760720" y="1655064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70448" y="1764792"/>
            <a:ext cx="347472" cy="3474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9360" y="17007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309360" y="195681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795 orders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955280" y="174650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17.2%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760720" y="2350008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870448" y="2459736"/>
            <a:ext cx="347472" cy="3474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09360" y="23957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309360" y="26517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784 orders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955280" y="244144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17.0%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760720" y="3044952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870448" y="3154680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09360" y="30906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309360" y="33467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779 orders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955280" y="313639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16.9%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760720" y="3739896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870448" y="3849624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09360" y="37856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309360" y="40416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740 orders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955280" y="383133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16.0%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5760720" y="4480560"/>
            <a:ext cx="3108960" cy="530352"/>
          </a:xfrm>
          <a:prstGeom prst="roundRect">
            <a:avLst>
              <a:gd name="adj" fmla="val 13793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06440" y="448970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34.2% of orders returned or cancelled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— 3× the healthy industry benchmark of ~10%.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Method Distribution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868680"/>
          <a:ext cx="45720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303520" y="960120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303520" y="960120"/>
            <a:ext cx="201168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96128" y="10058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Card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596128" y="12984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940 orders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955280" y="107899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20.4%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303520" y="1719072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303520" y="1719072"/>
            <a:ext cx="20116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96128" y="17647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Banking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596128" y="2057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936 orders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955280" y="183794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20.3%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5303520" y="2478024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303520" y="2478024"/>
            <a:ext cx="201168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96128" y="25237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596128" y="28163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928 orders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955280" y="259689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20.1%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5303520" y="3236976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303520" y="3236976"/>
            <a:ext cx="201168" cy="65836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96128" y="32826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596128" y="35753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913 orders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955280" y="33558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19.8%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5303520" y="3995928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303520" y="3995928"/>
            <a:ext cx="201168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596128" y="40416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596128" y="43342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902 orders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955280" y="41148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19.5%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5303520" y="477316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distribution is near-perfectly uniform across all 5 methods — no single mode dominates. UPI's 19.8% usage signals room to incentivise digital rails.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743200" cy="2743200"/>
          </a:xfrm>
          <a:prstGeom prst="ellipse">
            <a:avLst/>
          </a:prstGeom>
          <a:solidFill>
            <a:srgbClr val="2A4A8A">
              <a:alpha val="35000"/>
            </a:srgbClr>
          </a:solidFill>
          <a:ln w="12700">
            <a:solidFill>
              <a:srgbClr val="2A4A8A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&amp; Recommendations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by business impact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1A2F5E"/>
          </a:solidFill>
          <a:ln w="6350">
            <a:solidFill>
              <a:srgbClr val="2A4A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508760"/>
            <a:ext cx="457200" cy="347472"/>
          </a:xfrm>
          <a:prstGeom prst="roundRect">
            <a:avLst>
              <a:gd name="adj" fmla="val 1315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0876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24128" y="1481328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 Return &amp; Cancellation Rate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947672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34.2%, the return + cancellation rate is ~3× industry norms. Audit top-returned SKUs, improve product descriptions, and tighten cancellation windows.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10896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1A2F5E"/>
          </a:solidFill>
          <a:ln w="6350">
            <a:solidFill>
              <a:srgbClr val="2A4A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" y="3291840"/>
            <a:ext cx="457200" cy="347472"/>
          </a:xfrm>
          <a:prstGeom prst="roundRect">
            <a:avLst>
              <a:gd name="adj" fmla="val 1315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32918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24128" y="3264408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Diversify Geographic Revenue beyond Delhi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730752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contributes 21.6% — double any other city. Targeted campaigns in Bangalore and Kolkata can reduce single-market exposure.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132588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1A2F5E"/>
          </a:solidFill>
          <a:ln w="6350">
            <a:solidFill>
              <a:srgbClr val="2A4A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10328" y="1508760"/>
            <a:ext cx="45720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150876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58968" y="1481328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 in Tech &amp; Gadgets Categories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1947672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commands 60%. Growing Tech (20.6%) and Gadgets (19.2%) through bundling and promotions will de-risk category concentration.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310896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1A2F5E"/>
          </a:solidFill>
          <a:ln w="6350">
            <a:solidFill>
              <a:srgbClr val="2A4A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10328" y="3291840"/>
            <a:ext cx="457200" cy="347472"/>
          </a:xfrm>
          <a:prstGeom prst="roundRect">
            <a:avLst>
              <a:gd name="adj" fmla="val 13158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0328" y="32918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58968" y="3264408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Capitalise on Q3 Seasonality Dip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3730752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has consistently been the weakest quarter (2023: ₹43.0 Cr L; 2025: ₹43.0 Cr L). Pre-planned Q3 sale events can convert seasonal dips to peaks.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Ecommerce_Sales_Data.xlsx  |  4,620 records  |  FY 2023–2025  |  All values in INR (₹)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Sales Performance Review</dc:title>
  <dc:subject>PptxGenJS Presentation</dc:subject>
  <dc:creator>PptxGenJS</dc:creator>
  <cp:lastModifiedBy>PptxGenJS</cp:lastModifiedBy>
  <cp:revision>1</cp:revision>
  <dcterms:created xsi:type="dcterms:W3CDTF">2026-06-16T04:44:41Z</dcterms:created>
  <dcterms:modified xsi:type="dcterms:W3CDTF">2026-06-16T04:44:41Z</dcterms:modified>
</cp:coreProperties>
</file>