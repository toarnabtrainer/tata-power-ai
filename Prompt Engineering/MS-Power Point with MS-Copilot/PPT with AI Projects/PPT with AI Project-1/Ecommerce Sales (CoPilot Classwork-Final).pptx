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c:v>
                </c:pt>
              </c:strCache>
            </c:strRef>
          </c:tx>
          <c:spPr>
            <a:solidFill>
              <a:srgbClr val="17708A"/>
            </a:solidFill>
            <a:effectLst/>
          </c:spPr>
          <c:invertIfNegative val="0"/>
          <c:dPt>
            <c:idx val="0"/>
            <c:invertIfNegative val="0"/>
            <c:bubble3D val="0"/>
            <c:extLst>
              <c:ext xmlns:c16="http://schemas.microsoft.com/office/drawing/2014/chart" uri="{C3380CC4-5D6E-409C-BE32-E72D297353CC}">
                <c16:uniqueId val="{00000001-EF3B-45D3-8086-F890F15C7459}"/>
              </c:ext>
            </c:extLst>
          </c:dPt>
          <c:dPt>
            <c:idx val="1"/>
            <c:invertIfNegative val="0"/>
            <c:bubble3D val="0"/>
            <c:extLst>
              <c:ext xmlns:c16="http://schemas.microsoft.com/office/drawing/2014/chart" uri="{C3380CC4-5D6E-409C-BE32-E72D297353CC}">
                <c16:uniqueId val="{00000003-EF3B-45D3-8086-F890F15C7459}"/>
              </c:ext>
            </c:extLst>
          </c:dPt>
          <c:dPt>
            <c:idx val="2"/>
            <c:invertIfNegative val="0"/>
            <c:bubble3D val="0"/>
            <c:extLst>
              <c:ext xmlns:c16="http://schemas.microsoft.com/office/drawing/2014/chart" uri="{C3380CC4-5D6E-409C-BE32-E72D297353CC}">
                <c16:uniqueId val="{00000005-EF3B-45D3-8086-F890F15C7459}"/>
              </c:ext>
            </c:extLst>
          </c:dPt>
          <c:dPt>
            <c:idx val="3"/>
            <c:invertIfNegative val="0"/>
            <c:bubble3D val="0"/>
            <c:extLst>
              <c:ext xmlns:c16="http://schemas.microsoft.com/office/drawing/2014/chart" uri="{C3380CC4-5D6E-409C-BE32-E72D297353CC}">
                <c16:uniqueId val="{00000007-EF3B-45D3-8086-F890F15C7459}"/>
              </c:ext>
            </c:extLst>
          </c:dPt>
          <c:dPt>
            <c:idx val="4"/>
            <c:invertIfNegative val="0"/>
            <c:bubble3D val="0"/>
            <c:extLst>
              <c:ext xmlns:c16="http://schemas.microsoft.com/office/drawing/2014/chart" uri="{C3380CC4-5D6E-409C-BE32-E72D297353CC}">
                <c16:uniqueId val="{00000009-EF3B-45D3-8086-F890F15C7459}"/>
              </c:ext>
            </c:extLst>
          </c:dPt>
          <c:dPt>
            <c:idx val="5"/>
            <c:invertIfNegative val="0"/>
            <c:bubble3D val="0"/>
            <c:extLst>
              <c:ext xmlns:c16="http://schemas.microsoft.com/office/drawing/2014/chart" uri="{C3380CC4-5D6E-409C-BE32-E72D297353CC}">
                <c16:uniqueId val="{0000000B-EF3B-45D3-8086-F890F15C7459}"/>
              </c:ext>
            </c:extLst>
          </c:dPt>
          <c:dPt>
            <c:idx val="6"/>
            <c:invertIfNegative val="0"/>
            <c:bubble3D val="0"/>
            <c:extLst>
              <c:ext xmlns:c16="http://schemas.microsoft.com/office/drawing/2014/chart" uri="{C3380CC4-5D6E-409C-BE32-E72D297353CC}">
                <c16:uniqueId val="{0000000D-EF3B-45D3-8086-F890F15C7459}"/>
              </c:ext>
            </c:extLst>
          </c:dPt>
          <c:dPt>
            <c:idx val="7"/>
            <c:invertIfNegative val="0"/>
            <c:bubble3D val="0"/>
            <c:extLst>
              <c:ext xmlns:c16="http://schemas.microsoft.com/office/drawing/2014/chart" uri="{C3380CC4-5D6E-409C-BE32-E72D297353CC}">
                <c16:uniqueId val="{0000000F-EF3B-45D3-8086-F890F15C7459}"/>
              </c:ext>
            </c:extLst>
          </c:dPt>
          <c:dPt>
            <c:idx val="8"/>
            <c:invertIfNegative val="0"/>
            <c:bubble3D val="0"/>
            <c:extLst>
              <c:ext xmlns:c16="http://schemas.microsoft.com/office/drawing/2014/chart" uri="{C3380CC4-5D6E-409C-BE32-E72D297353CC}">
                <c16:uniqueId val="{00000011-EF3B-45D3-8086-F890F15C7459}"/>
              </c:ext>
            </c:extLst>
          </c:dPt>
          <c:dPt>
            <c:idx val="9"/>
            <c:invertIfNegative val="0"/>
            <c:bubble3D val="0"/>
            <c:spPr>
              <a:solidFill>
                <a:srgbClr val="2DD4BF"/>
              </a:solidFill>
              <a:effectLst/>
            </c:spPr>
            <c:extLst>
              <c:ext xmlns:c16="http://schemas.microsoft.com/office/drawing/2014/chart" uri="{C3380CC4-5D6E-409C-BE32-E72D297353CC}">
                <c16:uniqueId val="{00000013-EF3B-45D3-8086-F890F15C7459}"/>
              </c:ext>
            </c:extLst>
          </c:dPt>
          <c:dLbls>
            <c:numFmt formatCode="&quot;₹&quot;##\,##\,##0" sourceLinked="0"/>
            <c:spPr>
              <a:noFill/>
              <a:ln>
                <a:noFill/>
              </a:ln>
              <a:effectLst/>
            </c:spPr>
            <c:txPr>
              <a:bodyPr/>
              <a:lstStyle/>
              <a:p>
                <a:pPr>
                  <a:defRPr sz="950" b="0" i="0" u="none" strike="noStrike">
                    <a:solidFill>
                      <a:srgbClr val="F1F5F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Keyboard</c:v>
                </c:pt>
                <c:pt idx="1">
                  <c:v>USB Cable</c:v>
                </c:pt>
                <c:pt idx="2">
                  <c:v>Tablet</c:v>
                </c:pt>
                <c:pt idx="3">
                  <c:v>Laptop</c:v>
                </c:pt>
                <c:pt idx="4">
                  <c:v>Webcam</c:v>
                </c:pt>
                <c:pt idx="5">
                  <c:v>Mouse</c:v>
                </c:pt>
                <c:pt idx="6">
                  <c:v>Charger</c:v>
                </c:pt>
                <c:pt idx="7">
                  <c:v>Monitor</c:v>
                </c:pt>
                <c:pt idx="8">
                  <c:v>Headphones</c:v>
                </c:pt>
                <c:pt idx="9">
                  <c:v>Smart Watch</c:v>
                </c:pt>
              </c:strCache>
            </c:strRef>
          </c:cat>
          <c:val>
            <c:numRef>
              <c:f>Sheet1!$B$2:$B$11</c:f>
              <c:numCache>
                <c:formatCode>General</c:formatCode>
                <c:ptCount val="10"/>
                <c:pt idx="0">
                  <c:v>3750215</c:v>
                </c:pt>
                <c:pt idx="1">
                  <c:v>4097147</c:v>
                </c:pt>
                <c:pt idx="2">
                  <c:v>4707175</c:v>
                </c:pt>
                <c:pt idx="3">
                  <c:v>5121077</c:v>
                </c:pt>
                <c:pt idx="4">
                  <c:v>5229666</c:v>
                </c:pt>
                <c:pt idx="5">
                  <c:v>5557135</c:v>
                </c:pt>
                <c:pt idx="6">
                  <c:v>6216969</c:v>
                </c:pt>
                <c:pt idx="7">
                  <c:v>6495632</c:v>
                </c:pt>
                <c:pt idx="8">
                  <c:v>7122650</c:v>
                </c:pt>
                <c:pt idx="9">
                  <c:v>8755484</c:v>
                </c:pt>
              </c:numCache>
            </c:numRef>
          </c:val>
          <c:extLst>
            <c:ext xmlns:c16="http://schemas.microsoft.com/office/drawing/2014/chart" uri="{C3380CC4-5D6E-409C-BE32-E72D297353CC}">
              <c16:uniqueId val="{00000014-EF3B-45D3-8086-F890F15C745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F1F5F9"/>
                </a:solidFill>
                <a:latin typeface="Arial"/>
              </a:defRPr>
            </a:pPr>
            <a:endParaRPr lang="en-US"/>
          </a:p>
        </c:txPr>
        <c:crossAx val="2094734552"/>
        <c:crosses val="autoZero"/>
        <c:auto val="1"/>
        <c:lblAlgn val="ctr"/>
        <c:lblOffset val="100"/>
        <c:noMultiLvlLbl val="1"/>
      </c:catAx>
      <c:valAx>
        <c:axId val="2094734552"/>
        <c:scaling>
          <c:orientation val="minMax"/>
          <c:max val="10600000"/>
        </c:scaling>
        <c:delete val="1"/>
        <c:axPos val="b"/>
        <c:numFmt formatCode="General" sourceLinked="0"/>
        <c:majorTickMark val="out"/>
        <c:minorTickMark val="none"/>
        <c:tickLblPos val="low"/>
        <c:crossAx val="2094734554"/>
        <c:crosses val="autoZero"/>
        <c:crossBetween val="between"/>
      </c:valAx>
      <c:spPr>
        <a:solidFill>
          <a:srgbClr val="151C25"/>
        </a:solidFill>
        <a:ln>
          <a:noFill/>
        </a:ln>
        <a:effectLst/>
      </c:spPr>
    </c:plotArea>
    <c:plotVisOnly val="1"/>
    <c:dispBlanksAs val="span"/>
    <c:showDLblsOverMax val="1"/>
  </c:chart>
  <c:spPr>
    <a:solidFill>
      <a:srgbClr val="151C2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Category</c:v>
                </c:pt>
              </c:strCache>
            </c:strRef>
          </c:tx>
          <c:spPr>
            <a:solidFill>
              <a:schemeClr val="accent1"/>
            </a:solidFill>
            <a:ln w="9525" cap="flat">
              <a:solidFill>
                <a:srgbClr val="F9F9F9"/>
              </a:solidFill>
              <a:prstDash val="solid"/>
              <a:round/>
            </a:ln>
            <a:effectLst/>
          </c:spPr>
          <c:dPt>
            <c:idx val="0"/>
            <c:bubble3D val="0"/>
            <c:spPr>
              <a:solidFill>
                <a:srgbClr val="22D3EE"/>
              </a:solidFill>
              <a:ln w="9525" cap="flat">
                <a:solidFill>
                  <a:srgbClr val="151C25"/>
                </a:solidFill>
                <a:prstDash val="solid"/>
                <a:round/>
              </a:ln>
              <a:effectLst/>
            </c:spPr>
            <c:extLst>
              <c:ext xmlns:c16="http://schemas.microsoft.com/office/drawing/2014/chart" uri="{C3380CC4-5D6E-409C-BE32-E72D297353CC}">
                <c16:uniqueId val="{00000001-C032-463F-8C7F-2CE4990C5675}"/>
              </c:ext>
            </c:extLst>
          </c:dPt>
          <c:dPt>
            <c:idx val="1"/>
            <c:bubble3D val="0"/>
            <c:spPr>
              <a:solidFill>
                <a:srgbClr val="2DD4BF"/>
              </a:solidFill>
              <a:ln w="9525" cap="flat">
                <a:solidFill>
                  <a:srgbClr val="151C25"/>
                </a:solidFill>
                <a:prstDash val="solid"/>
                <a:round/>
              </a:ln>
              <a:effectLst/>
            </c:spPr>
            <c:extLst>
              <c:ext xmlns:c16="http://schemas.microsoft.com/office/drawing/2014/chart" uri="{C3380CC4-5D6E-409C-BE32-E72D297353CC}">
                <c16:uniqueId val="{00000003-C032-463F-8C7F-2CE4990C5675}"/>
              </c:ext>
            </c:extLst>
          </c:dPt>
          <c:dPt>
            <c:idx val="2"/>
            <c:bubble3D val="0"/>
            <c:spPr>
              <a:solidFill>
                <a:srgbClr val="38BDF8"/>
              </a:solidFill>
              <a:ln w="9525" cap="flat">
                <a:solidFill>
                  <a:srgbClr val="151C25"/>
                </a:solidFill>
                <a:prstDash val="solid"/>
                <a:round/>
              </a:ln>
              <a:effectLst/>
            </c:spPr>
            <c:extLst>
              <c:ext xmlns:c16="http://schemas.microsoft.com/office/drawing/2014/chart" uri="{C3380CC4-5D6E-409C-BE32-E72D297353CC}">
                <c16:uniqueId val="{00000005-C032-463F-8C7F-2CE4990C5675}"/>
              </c:ext>
            </c:extLst>
          </c:dPt>
          <c:cat>
            <c:strRef>
              <c:f>Sheet1!$A$2:$A$4</c:f>
              <c:strCache>
                <c:ptCount val="3"/>
                <c:pt idx="0">
                  <c:v>Electronics</c:v>
                </c:pt>
                <c:pt idx="1">
                  <c:v>Tech</c:v>
                </c:pt>
                <c:pt idx="2">
                  <c:v>Gadgets</c:v>
                </c:pt>
              </c:strCache>
            </c:strRef>
          </c:cat>
          <c:val>
            <c:numRef>
              <c:f>Sheet1!$B$2:$B$4</c:f>
              <c:numCache>
                <c:formatCode>General</c:formatCode>
                <c:ptCount val="3"/>
                <c:pt idx="0">
                  <c:v>32016811</c:v>
                </c:pt>
                <c:pt idx="1">
                  <c:v>13897611</c:v>
                </c:pt>
                <c:pt idx="2">
                  <c:v>10859611</c:v>
                </c:pt>
              </c:numCache>
            </c:numRef>
          </c:val>
          <c:extLst>
            <c:ext xmlns:c16="http://schemas.microsoft.com/office/drawing/2014/chart" uri="{C3380CC4-5D6E-409C-BE32-E72D297353CC}">
              <c16:uniqueId val="{00000006-C032-463F-8C7F-2CE4990C5675}"/>
            </c:ext>
          </c:extLst>
        </c:ser>
        <c:dLbls>
          <c:showLegendKey val="0"/>
          <c:showVal val="0"/>
          <c:showCatName val="0"/>
          <c:showSerName val="0"/>
          <c:showPercent val="0"/>
          <c:showBubbleSize val="0"/>
          <c:showLeaderLines val="0"/>
        </c:dLbls>
        <c:firstSliceAng val="0"/>
        <c:holeSize val="62"/>
      </c:doughnutChart>
      <c:spPr>
        <a:solidFill>
          <a:srgbClr val="151C25"/>
        </a:solidFill>
        <a:ln>
          <a:noFill/>
        </a:ln>
        <a:effectLst/>
      </c:spPr>
    </c:plotArea>
    <c:plotVisOnly val="1"/>
    <c:dispBlanksAs val="span"/>
    <c:showDLblsOverMax val="1"/>
  </c:chart>
  <c:spPr>
    <a:solidFill>
      <a:srgbClr val="151C2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2DD4BF"/>
            </a:solidFill>
            <a:effectLst/>
          </c:spPr>
          <c:invertIfNegative val="0"/>
          <c:dPt>
            <c:idx val="0"/>
            <c:invertIfNegative val="0"/>
            <c:bubble3D val="0"/>
            <c:extLst>
              <c:ext xmlns:c16="http://schemas.microsoft.com/office/drawing/2014/chart" uri="{C3380CC4-5D6E-409C-BE32-E72D297353CC}">
                <c16:uniqueId val="{00000001-E11A-4C11-8429-BC4B8B2FABD3}"/>
              </c:ext>
            </c:extLst>
          </c:dPt>
          <c:dPt>
            <c:idx val="1"/>
            <c:invertIfNegative val="0"/>
            <c:bubble3D val="0"/>
            <c:spPr>
              <a:solidFill>
                <a:srgbClr val="17708A"/>
              </a:solidFill>
              <a:effectLst/>
            </c:spPr>
            <c:extLst>
              <c:ext xmlns:c16="http://schemas.microsoft.com/office/drawing/2014/chart" uri="{C3380CC4-5D6E-409C-BE32-E72D297353CC}">
                <c16:uniqueId val="{00000003-E11A-4C11-8429-BC4B8B2FABD3}"/>
              </c:ext>
            </c:extLst>
          </c:dPt>
          <c:dPt>
            <c:idx val="2"/>
            <c:invertIfNegative val="0"/>
            <c:bubble3D val="0"/>
            <c:spPr>
              <a:solidFill>
                <a:srgbClr val="17708A"/>
              </a:solidFill>
              <a:effectLst/>
            </c:spPr>
            <c:extLst>
              <c:ext xmlns:c16="http://schemas.microsoft.com/office/drawing/2014/chart" uri="{C3380CC4-5D6E-409C-BE32-E72D297353CC}">
                <c16:uniqueId val="{00000005-E11A-4C11-8429-BC4B8B2FABD3}"/>
              </c:ext>
            </c:extLst>
          </c:dPt>
          <c:dPt>
            <c:idx val="3"/>
            <c:invertIfNegative val="0"/>
            <c:bubble3D val="0"/>
            <c:spPr>
              <a:solidFill>
                <a:srgbClr val="17708A"/>
              </a:solidFill>
              <a:effectLst/>
            </c:spPr>
            <c:extLst>
              <c:ext xmlns:c16="http://schemas.microsoft.com/office/drawing/2014/chart" uri="{C3380CC4-5D6E-409C-BE32-E72D297353CC}">
                <c16:uniqueId val="{00000007-E11A-4C11-8429-BC4B8B2FABD3}"/>
              </c:ext>
            </c:extLst>
          </c:dPt>
          <c:dPt>
            <c:idx val="4"/>
            <c:invertIfNegative val="0"/>
            <c:bubble3D val="0"/>
            <c:spPr>
              <a:solidFill>
                <a:srgbClr val="17708A"/>
              </a:solidFill>
              <a:effectLst/>
            </c:spPr>
            <c:extLst>
              <c:ext xmlns:c16="http://schemas.microsoft.com/office/drawing/2014/chart" uri="{C3380CC4-5D6E-409C-BE32-E72D297353CC}">
                <c16:uniqueId val="{00000009-E11A-4C11-8429-BC4B8B2FABD3}"/>
              </c:ext>
            </c:extLst>
          </c:dPt>
          <c:dPt>
            <c:idx val="5"/>
            <c:invertIfNegative val="0"/>
            <c:bubble3D val="0"/>
            <c:spPr>
              <a:solidFill>
                <a:srgbClr val="17708A"/>
              </a:solidFill>
              <a:effectLst/>
            </c:spPr>
            <c:extLst>
              <c:ext xmlns:c16="http://schemas.microsoft.com/office/drawing/2014/chart" uri="{C3380CC4-5D6E-409C-BE32-E72D297353CC}">
                <c16:uniqueId val="{0000000B-E11A-4C11-8429-BC4B8B2FABD3}"/>
              </c:ext>
            </c:extLst>
          </c:dPt>
          <c:dPt>
            <c:idx val="6"/>
            <c:invertIfNegative val="0"/>
            <c:bubble3D val="0"/>
            <c:spPr>
              <a:solidFill>
                <a:srgbClr val="17708A"/>
              </a:solidFill>
              <a:effectLst/>
            </c:spPr>
            <c:extLst>
              <c:ext xmlns:c16="http://schemas.microsoft.com/office/drawing/2014/chart" uri="{C3380CC4-5D6E-409C-BE32-E72D297353CC}">
                <c16:uniqueId val="{0000000D-E11A-4C11-8429-BC4B8B2FABD3}"/>
              </c:ext>
            </c:extLst>
          </c:dPt>
          <c:dPt>
            <c:idx val="7"/>
            <c:invertIfNegative val="0"/>
            <c:bubble3D val="0"/>
            <c:spPr>
              <a:solidFill>
                <a:srgbClr val="17708A"/>
              </a:solidFill>
              <a:effectLst/>
            </c:spPr>
            <c:extLst>
              <c:ext xmlns:c16="http://schemas.microsoft.com/office/drawing/2014/chart" uri="{C3380CC4-5D6E-409C-BE32-E72D297353CC}">
                <c16:uniqueId val="{0000000F-E11A-4C11-8429-BC4B8B2FABD3}"/>
              </c:ext>
            </c:extLst>
          </c:dPt>
          <c:dLbls>
            <c:numFmt formatCode="[&gt;=10000000]&quot;₹&quot;##\,##\,##\,##0;&quot;₹&quot;##\,##\,##0" sourceLinked="0"/>
            <c:spPr>
              <a:noFill/>
              <a:ln>
                <a:noFill/>
              </a:ln>
              <a:effectLst/>
            </c:spPr>
            <c:txPr>
              <a:bodyPr/>
              <a:lstStyle/>
              <a:p>
                <a:pPr>
                  <a:defRPr sz="900" b="0" i="0" u="none" strike="noStrike">
                    <a:solidFill>
                      <a:srgbClr val="F1F5F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Delhi</c:v>
                </c:pt>
                <c:pt idx="1">
                  <c:v>Mumbai</c:v>
                </c:pt>
                <c:pt idx="2">
                  <c:v>Kolkata</c:v>
                </c:pt>
                <c:pt idx="3">
                  <c:v>Hyderabad</c:v>
                </c:pt>
                <c:pt idx="4">
                  <c:v>Pune</c:v>
                </c:pt>
                <c:pt idx="5">
                  <c:v>Ahmedabad</c:v>
                </c:pt>
                <c:pt idx="6">
                  <c:v>Chennai</c:v>
                </c:pt>
                <c:pt idx="7">
                  <c:v>Bangalore</c:v>
                </c:pt>
              </c:strCache>
            </c:strRef>
          </c:cat>
          <c:val>
            <c:numRef>
              <c:f>Sheet1!$B$2:$B$9</c:f>
              <c:numCache>
                <c:formatCode>General</c:formatCode>
                <c:ptCount val="8"/>
                <c:pt idx="0">
                  <c:v>13375303</c:v>
                </c:pt>
                <c:pt idx="1">
                  <c:v>8053963</c:v>
                </c:pt>
                <c:pt idx="2">
                  <c:v>6437295</c:v>
                </c:pt>
                <c:pt idx="3">
                  <c:v>6327473</c:v>
                </c:pt>
                <c:pt idx="4">
                  <c:v>5975040</c:v>
                </c:pt>
                <c:pt idx="5">
                  <c:v>5811032</c:v>
                </c:pt>
                <c:pt idx="6">
                  <c:v>5754866</c:v>
                </c:pt>
                <c:pt idx="7">
                  <c:v>5184754</c:v>
                </c:pt>
              </c:numCache>
            </c:numRef>
          </c:val>
          <c:extLst>
            <c:ext xmlns:c16="http://schemas.microsoft.com/office/drawing/2014/chart" uri="{C3380CC4-5D6E-409C-BE32-E72D297353CC}">
              <c16:uniqueId val="{00000010-E11A-4C11-8429-BC4B8B2FABD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F1F5F9"/>
                </a:solidFill>
                <a:latin typeface="Arial"/>
              </a:defRPr>
            </a:pPr>
            <a:endParaRPr lang="en-US"/>
          </a:p>
        </c:txPr>
        <c:crossAx val="2094734552"/>
        <c:crosses val="autoZero"/>
        <c:auto val="1"/>
        <c:lblAlgn val="ctr"/>
        <c:lblOffset val="100"/>
        <c:noMultiLvlLbl val="1"/>
      </c:catAx>
      <c:valAx>
        <c:axId val="2094734552"/>
        <c:scaling>
          <c:orientation val="minMax"/>
          <c:max val="15800000"/>
        </c:scaling>
        <c:delete val="1"/>
        <c:axPos val="l"/>
        <c:numFmt formatCode="General" sourceLinked="0"/>
        <c:majorTickMark val="out"/>
        <c:minorTickMark val="none"/>
        <c:tickLblPos val="nextTo"/>
        <c:crossAx val="2094734554"/>
        <c:crosses val="autoZero"/>
        <c:crossBetween val="between"/>
      </c:valAx>
      <c:spPr>
        <a:solidFill>
          <a:srgbClr val="151C25"/>
        </a:solidFill>
        <a:ln>
          <a:noFill/>
        </a:ln>
        <a:effectLst/>
      </c:spPr>
    </c:plotArea>
    <c:plotVisOnly val="1"/>
    <c:dispBlanksAs val="span"/>
    <c:showDLblsOverMax val="1"/>
  </c:chart>
  <c:spPr>
    <a:solidFill>
      <a:srgbClr val="151C25"/>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c:v>
                </c:pt>
              </c:strCache>
            </c:strRef>
          </c:tx>
          <c:spPr>
            <a:ln w="38100" cap="flat">
              <a:solidFill>
                <a:srgbClr val="22D3EE"/>
              </a:solidFill>
              <a:prstDash val="solid"/>
              <a:round/>
            </a:ln>
            <a:effectLst/>
          </c:spPr>
          <c:marker>
            <c:symbol val="circle"/>
            <c:size val="7"/>
            <c:spPr>
              <a:solidFill>
                <a:srgbClr val="22D3EE"/>
              </a:solidFill>
              <a:ln w="9525" cap="flat">
                <a:solidFill>
                  <a:srgbClr val="22D3EE"/>
                </a:solidFill>
                <a:prstDash val="solid"/>
                <a:round/>
              </a:ln>
              <a:effectLst/>
            </c:spPr>
          </c:marker>
          <c:cat>
            <c:strRef>
              <c:f>Sheet1!$A$2:$A$13</c:f>
              <c:strCache>
                <c:ptCount val="12"/>
                <c:pt idx="0">
                  <c:v>Q1'23</c:v>
                </c:pt>
                <c:pt idx="1">
                  <c:v>Q2'23</c:v>
                </c:pt>
                <c:pt idx="2">
                  <c:v>Q3'23</c:v>
                </c:pt>
                <c:pt idx="3">
                  <c:v>Q4'23</c:v>
                </c:pt>
                <c:pt idx="4">
                  <c:v>Q1'24</c:v>
                </c:pt>
                <c:pt idx="5">
                  <c:v>Q2'24</c:v>
                </c:pt>
                <c:pt idx="6">
                  <c:v>Q3'24</c:v>
                </c:pt>
                <c:pt idx="7">
                  <c:v>Q4'24</c:v>
                </c:pt>
                <c:pt idx="8">
                  <c:v>Q1'25</c:v>
                </c:pt>
                <c:pt idx="9">
                  <c:v>Q2'25</c:v>
                </c:pt>
                <c:pt idx="10">
                  <c:v>Q3'25</c:v>
                </c:pt>
                <c:pt idx="11">
                  <c:v>Q4'25</c:v>
                </c:pt>
              </c:strCache>
            </c:strRef>
          </c:cat>
          <c:val>
            <c:numRef>
              <c:f>Sheet1!$B$2:$B$13</c:f>
              <c:numCache>
                <c:formatCode>General</c:formatCode>
                <c:ptCount val="12"/>
                <c:pt idx="0">
                  <c:v>4402505</c:v>
                </c:pt>
                <c:pt idx="1">
                  <c:v>4454136</c:v>
                </c:pt>
                <c:pt idx="2">
                  <c:v>5559556</c:v>
                </c:pt>
                <c:pt idx="3">
                  <c:v>5656956</c:v>
                </c:pt>
                <c:pt idx="4">
                  <c:v>4651933</c:v>
                </c:pt>
                <c:pt idx="5">
                  <c:v>4319775</c:v>
                </c:pt>
                <c:pt idx="6">
                  <c:v>5050949</c:v>
                </c:pt>
                <c:pt idx="7">
                  <c:v>5202861</c:v>
                </c:pt>
                <c:pt idx="8">
                  <c:v>4360008</c:v>
                </c:pt>
                <c:pt idx="9">
                  <c:v>4929995</c:v>
                </c:pt>
                <c:pt idx="10">
                  <c:v>5098201</c:v>
                </c:pt>
                <c:pt idx="11">
                  <c:v>3366275</c:v>
                </c:pt>
              </c:numCache>
            </c:numRef>
          </c:val>
          <c:smooth val="1"/>
          <c:extLst>
            <c:ext xmlns:c16="http://schemas.microsoft.com/office/drawing/2014/chart" uri="{C3380CC4-5D6E-409C-BE32-E72D297353CC}">
              <c16:uniqueId val="{00000000-87F2-49B4-8472-884869A7200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max val="6000000"/>
          <c:min val="3000000"/>
        </c:scaling>
        <c:delete val="1"/>
        <c:axPos val="l"/>
        <c:majorGridlines>
          <c:spPr>
            <a:ln w="9525" cap="flat">
              <a:solidFill>
                <a:srgbClr val="1F2A36"/>
              </a:solidFill>
              <a:prstDash val="solid"/>
              <a:round/>
            </a:ln>
          </c:spPr>
        </c:majorGridlines>
        <c:numFmt formatCode="General" sourceLinked="0"/>
        <c:majorTickMark val="out"/>
        <c:minorTickMark val="none"/>
        <c:tickLblPos val="nextTo"/>
        <c:crossAx val="2094734554"/>
        <c:crosses val="autoZero"/>
        <c:crossBetween val="between"/>
      </c:valAx>
      <c:spPr>
        <a:solidFill>
          <a:srgbClr val="151C25"/>
        </a:solidFill>
        <a:ln>
          <a:noFill/>
        </a:ln>
        <a:effectLst/>
      </c:spPr>
    </c:plotArea>
    <c:plotVisOnly val="1"/>
    <c:dispBlanksAs val="span"/>
    <c:showDLblsOverMax val="1"/>
  </c:chart>
  <c:spPr>
    <a:solidFill>
      <a:srgbClr val="151C2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Orders</c:v>
                </c:pt>
              </c:strCache>
            </c:strRef>
          </c:tx>
          <c:spPr>
            <a:solidFill>
              <a:srgbClr val="2DD4BF"/>
            </a:solidFill>
            <a:effectLst/>
          </c:spPr>
          <c:invertIfNegative val="0"/>
          <c:dPt>
            <c:idx val="0"/>
            <c:invertIfNegative val="0"/>
            <c:bubble3D val="0"/>
            <c:extLst>
              <c:ext xmlns:c16="http://schemas.microsoft.com/office/drawing/2014/chart" uri="{C3380CC4-5D6E-409C-BE32-E72D297353CC}">
                <c16:uniqueId val="{00000001-9970-4C8E-B8F6-6EB52E0879C3}"/>
              </c:ext>
            </c:extLst>
          </c:dPt>
          <c:dPt>
            <c:idx val="1"/>
            <c:invertIfNegative val="0"/>
            <c:bubble3D val="0"/>
            <c:spPr>
              <a:solidFill>
                <a:srgbClr val="FB7185"/>
              </a:solidFill>
              <a:effectLst/>
            </c:spPr>
            <c:extLst>
              <c:ext xmlns:c16="http://schemas.microsoft.com/office/drawing/2014/chart" uri="{C3380CC4-5D6E-409C-BE32-E72D297353CC}">
                <c16:uniqueId val="{00000003-9970-4C8E-B8F6-6EB52E0879C3}"/>
              </c:ext>
            </c:extLst>
          </c:dPt>
          <c:dPt>
            <c:idx val="2"/>
            <c:invertIfNegative val="0"/>
            <c:bubble3D val="0"/>
            <c:spPr>
              <a:solidFill>
                <a:srgbClr val="38BDF8"/>
              </a:solidFill>
              <a:effectLst/>
            </c:spPr>
            <c:extLst>
              <c:ext xmlns:c16="http://schemas.microsoft.com/office/drawing/2014/chart" uri="{C3380CC4-5D6E-409C-BE32-E72D297353CC}">
                <c16:uniqueId val="{00000005-9970-4C8E-B8F6-6EB52E0879C3}"/>
              </c:ext>
            </c:extLst>
          </c:dPt>
          <c:dPt>
            <c:idx val="3"/>
            <c:invertIfNegative val="0"/>
            <c:bubble3D val="0"/>
            <c:spPr>
              <a:solidFill>
                <a:srgbClr val="F87171"/>
              </a:solidFill>
              <a:effectLst/>
            </c:spPr>
            <c:extLst>
              <c:ext xmlns:c16="http://schemas.microsoft.com/office/drawing/2014/chart" uri="{C3380CC4-5D6E-409C-BE32-E72D297353CC}">
                <c16:uniqueId val="{00000007-9970-4C8E-B8F6-6EB52E0879C3}"/>
              </c:ext>
            </c:extLst>
          </c:dPt>
          <c:dPt>
            <c:idx val="4"/>
            <c:invertIfNegative val="0"/>
            <c:bubble3D val="0"/>
            <c:spPr>
              <a:solidFill>
                <a:srgbClr val="FBBF24"/>
              </a:solidFill>
              <a:effectLst/>
            </c:spPr>
            <c:extLst>
              <c:ext xmlns:c16="http://schemas.microsoft.com/office/drawing/2014/chart" uri="{C3380CC4-5D6E-409C-BE32-E72D297353CC}">
                <c16:uniqueId val="{00000009-9970-4C8E-B8F6-6EB52E0879C3}"/>
              </c:ext>
            </c:extLst>
          </c:dPt>
          <c:dLbls>
            <c:numFmt formatCode="#,##0" sourceLinked="0"/>
            <c:spPr>
              <a:noFill/>
              <a:ln>
                <a:noFill/>
              </a:ln>
              <a:effectLst/>
            </c:spPr>
            <c:txPr>
              <a:bodyPr/>
              <a:lstStyle/>
              <a:p>
                <a:pPr>
                  <a:defRPr sz="1100" b="0" i="0" u="none" strike="noStrike">
                    <a:solidFill>
                      <a:srgbClr val="F1F5F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Delivered</c:v>
                </c:pt>
                <c:pt idx="1">
                  <c:v>Returned</c:v>
                </c:pt>
                <c:pt idx="2">
                  <c:v>Shipped</c:v>
                </c:pt>
                <c:pt idx="3">
                  <c:v>Cancelled</c:v>
                </c:pt>
                <c:pt idx="4">
                  <c:v>Pending</c:v>
                </c:pt>
              </c:strCache>
            </c:strRef>
          </c:cat>
          <c:val>
            <c:numRef>
              <c:f>Sheet1!$B$2:$B$6</c:f>
              <c:numCache>
                <c:formatCode>General</c:formatCode>
                <c:ptCount val="5"/>
                <c:pt idx="0">
                  <c:v>172</c:v>
                </c:pt>
                <c:pt idx="1">
                  <c:v>84</c:v>
                </c:pt>
                <c:pt idx="2">
                  <c:v>83</c:v>
                </c:pt>
                <c:pt idx="3">
                  <c:v>76</c:v>
                </c:pt>
                <c:pt idx="4">
                  <c:v>71</c:v>
                </c:pt>
              </c:numCache>
            </c:numRef>
          </c:val>
          <c:extLst>
            <c:ext xmlns:c16="http://schemas.microsoft.com/office/drawing/2014/chart" uri="{C3380CC4-5D6E-409C-BE32-E72D297353CC}">
              <c16:uniqueId val="{0000000A-9970-4C8E-B8F6-6EB52E0879C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F1F5F9"/>
                </a:solidFill>
                <a:latin typeface="Arial"/>
              </a:defRPr>
            </a:pPr>
            <a:endParaRPr lang="en-US"/>
          </a:p>
        </c:txPr>
        <c:crossAx val="2094734552"/>
        <c:crosses val="autoZero"/>
        <c:auto val="1"/>
        <c:lblAlgn val="ctr"/>
        <c:lblOffset val="100"/>
        <c:noMultiLvlLbl val="1"/>
      </c:catAx>
      <c:valAx>
        <c:axId val="2094734552"/>
        <c:scaling>
          <c:orientation val="minMax"/>
          <c:max val="200"/>
        </c:scaling>
        <c:delete val="1"/>
        <c:axPos val="l"/>
        <c:numFmt formatCode="General" sourceLinked="0"/>
        <c:majorTickMark val="out"/>
        <c:minorTickMark val="none"/>
        <c:tickLblPos val="nextTo"/>
        <c:crossAx val="2094734554"/>
        <c:crosses val="autoZero"/>
        <c:crossBetween val="between"/>
      </c:valAx>
      <c:spPr>
        <a:solidFill>
          <a:srgbClr val="151C25"/>
        </a:solidFill>
        <a:ln>
          <a:noFill/>
        </a:ln>
        <a:effectLst/>
      </c:spPr>
    </c:plotArea>
    <c:plotVisOnly val="1"/>
    <c:dispBlanksAs val="span"/>
    <c:showDLblsOverMax val="1"/>
  </c:chart>
  <c:spPr>
    <a:solidFill>
      <a:srgbClr val="151C25"/>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Payments</c:v>
                </c:pt>
              </c:strCache>
            </c:strRef>
          </c:tx>
          <c:spPr>
            <a:solidFill>
              <a:schemeClr val="accent1"/>
            </a:solidFill>
            <a:ln w="9525" cap="flat">
              <a:solidFill>
                <a:srgbClr val="F9F9F9"/>
              </a:solidFill>
              <a:prstDash val="solid"/>
              <a:round/>
            </a:ln>
            <a:effectLst/>
          </c:spPr>
          <c:dPt>
            <c:idx val="0"/>
            <c:bubble3D val="0"/>
            <c:spPr>
              <a:solidFill>
                <a:srgbClr val="22D3EE"/>
              </a:solidFill>
              <a:ln w="9525" cap="flat">
                <a:solidFill>
                  <a:srgbClr val="151C25"/>
                </a:solidFill>
                <a:prstDash val="solid"/>
                <a:round/>
              </a:ln>
              <a:effectLst/>
            </c:spPr>
            <c:extLst>
              <c:ext xmlns:c16="http://schemas.microsoft.com/office/drawing/2014/chart" uri="{C3380CC4-5D6E-409C-BE32-E72D297353CC}">
                <c16:uniqueId val="{00000001-B2E9-4BD7-BF17-F2919949673D}"/>
              </c:ext>
            </c:extLst>
          </c:dPt>
          <c:dPt>
            <c:idx val="1"/>
            <c:bubble3D val="0"/>
            <c:spPr>
              <a:solidFill>
                <a:srgbClr val="14B8A6"/>
              </a:solidFill>
              <a:ln w="9525" cap="flat">
                <a:solidFill>
                  <a:srgbClr val="151C25"/>
                </a:solidFill>
                <a:prstDash val="solid"/>
                <a:round/>
              </a:ln>
              <a:effectLst/>
            </c:spPr>
            <c:extLst>
              <c:ext xmlns:c16="http://schemas.microsoft.com/office/drawing/2014/chart" uri="{C3380CC4-5D6E-409C-BE32-E72D297353CC}">
                <c16:uniqueId val="{00000003-B2E9-4BD7-BF17-F2919949673D}"/>
              </c:ext>
            </c:extLst>
          </c:dPt>
          <c:dPt>
            <c:idx val="2"/>
            <c:bubble3D val="0"/>
            <c:spPr>
              <a:solidFill>
                <a:srgbClr val="38BDF8"/>
              </a:solidFill>
              <a:ln w="9525" cap="flat">
                <a:solidFill>
                  <a:srgbClr val="151C25"/>
                </a:solidFill>
                <a:prstDash val="solid"/>
                <a:round/>
              </a:ln>
              <a:effectLst/>
            </c:spPr>
            <c:extLst>
              <c:ext xmlns:c16="http://schemas.microsoft.com/office/drawing/2014/chart" uri="{C3380CC4-5D6E-409C-BE32-E72D297353CC}">
                <c16:uniqueId val="{00000005-B2E9-4BD7-BF17-F2919949673D}"/>
              </c:ext>
            </c:extLst>
          </c:dPt>
          <c:dPt>
            <c:idx val="3"/>
            <c:bubble3D val="0"/>
            <c:spPr>
              <a:solidFill>
                <a:srgbClr val="CFFAFE"/>
              </a:solidFill>
              <a:ln w="9525" cap="flat">
                <a:solidFill>
                  <a:srgbClr val="151C25"/>
                </a:solidFill>
                <a:prstDash val="solid"/>
                <a:round/>
              </a:ln>
              <a:effectLst/>
            </c:spPr>
            <c:extLst>
              <c:ext xmlns:c16="http://schemas.microsoft.com/office/drawing/2014/chart" uri="{C3380CC4-5D6E-409C-BE32-E72D297353CC}">
                <c16:uniqueId val="{00000007-B2E9-4BD7-BF17-F2919949673D}"/>
              </c:ext>
            </c:extLst>
          </c:dPt>
          <c:dPt>
            <c:idx val="4"/>
            <c:bubble3D val="0"/>
            <c:spPr>
              <a:solidFill>
                <a:srgbClr val="0E7490"/>
              </a:solidFill>
              <a:ln w="9525" cap="flat">
                <a:solidFill>
                  <a:srgbClr val="151C25"/>
                </a:solidFill>
                <a:prstDash val="solid"/>
                <a:round/>
              </a:ln>
              <a:effectLst/>
            </c:spPr>
            <c:extLst>
              <c:ext xmlns:c16="http://schemas.microsoft.com/office/drawing/2014/chart" uri="{C3380CC4-5D6E-409C-BE32-E72D297353CC}">
                <c16:uniqueId val="{00000009-B2E9-4BD7-BF17-F2919949673D}"/>
              </c:ext>
            </c:extLst>
          </c:dPt>
          <c:cat>
            <c:strRef>
              <c:f>Sheet1!$A$2:$A$6</c:f>
              <c:strCache>
                <c:ptCount val="5"/>
                <c:pt idx="0">
                  <c:v>Debit Card</c:v>
                </c:pt>
                <c:pt idx="1">
                  <c:v>UPI</c:v>
                </c:pt>
                <c:pt idx="2">
                  <c:v>COD</c:v>
                </c:pt>
                <c:pt idx="3">
                  <c:v>Credit Card</c:v>
                </c:pt>
                <c:pt idx="4">
                  <c:v>Net Banking</c:v>
                </c:pt>
              </c:strCache>
            </c:strRef>
          </c:cat>
          <c:val>
            <c:numRef>
              <c:f>Sheet1!$B$2:$B$6</c:f>
              <c:numCache>
                <c:formatCode>General</c:formatCode>
                <c:ptCount val="5"/>
                <c:pt idx="0">
                  <c:v>106</c:v>
                </c:pt>
                <c:pt idx="1">
                  <c:v>97</c:v>
                </c:pt>
                <c:pt idx="2">
                  <c:v>97</c:v>
                </c:pt>
                <c:pt idx="3">
                  <c:v>96</c:v>
                </c:pt>
                <c:pt idx="4">
                  <c:v>89</c:v>
                </c:pt>
              </c:numCache>
            </c:numRef>
          </c:val>
          <c:extLst>
            <c:ext xmlns:c16="http://schemas.microsoft.com/office/drawing/2014/chart" uri="{C3380CC4-5D6E-409C-BE32-E72D297353CC}">
              <c16:uniqueId val="{0000000A-B2E9-4BD7-BF17-F2919949673D}"/>
            </c:ext>
          </c:extLst>
        </c:ser>
        <c:dLbls>
          <c:showLegendKey val="0"/>
          <c:showVal val="0"/>
          <c:showCatName val="0"/>
          <c:showSerName val="0"/>
          <c:showPercent val="0"/>
          <c:showBubbleSize val="0"/>
          <c:showLeaderLines val="0"/>
        </c:dLbls>
        <c:firstSliceAng val="0"/>
        <c:holeSize val="60"/>
      </c:doughnutChart>
      <c:spPr>
        <a:solidFill>
          <a:srgbClr val="151C25"/>
        </a:solidFill>
        <a:ln>
          <a:noFill/>
        </a:ln>
        <a:effectLst/>
      </c:spPr>
    </c:plotArea>
    <c:plotVisOnly val="1"/>
    <c:dispBlanksAs val="span"/>
    <c:showDLblsOverMax val="1"/>
  </c:chart>
  <c:spPr>
    <a:solidFill>
      <a:srgbClr val="151C2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leadership performance review of the ecommerce business across FY2023-2025, built on 486 analysed orders. We'll move through revenue, products, geography, fulfilment and payments, then close with a balanced set of recommendations. The headline to hold in mind: a fundamentally healthy business with one clear, fixable leak in fulfilment.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revenue is 5.70 crore rupees across 486 orders, at a strong average order value of 1,18,122 and 1,469 units sold. The number to anchor on is the operational row: only 35.4% of orders are delivered, while a combined 32.9% are returned or cancelled. The sparklines show these rates have stayed stubbornly flat across twelve quarters - this is structural, not seasonal.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set the scene; now we go a level deeper. The next six slides break performance down by product, category, geography, time, fulfilment and payment - so we can pinpoint exactly where revenue is won and where it leaks away. Use this pause to reset attention before the analytical detail.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broad, not hit-driven. Smart Watch leads at 87.5 lakh, but the drop to the rest is gradual and even the smallest line, Keyboard, stays in play. The top three - Smart Watch, Headphones and Monitor - contribute 2.24 crore. The implication is to protect range availability rather than betting everything on a single hero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Electronics is the engine at 56.1% of revenue - more than Tech and Gadgets combined. That concentration is a strength today but also a single point of failure. Protecting Electronics availability and margin should anchor our merchandising decisions.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is metro-led: Delhi alone is 23.4% of revenue and the top three cities together are roughly 49%. But sales are spread reasonably across eight cities, so there is real headroom in tier-2 markets. Delhi is highlighted here as our anchor city - the question is how to replicate that strength elsewhere.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trajectory is the concern. Annual revenue eased every year, and Q4'25 is the weakest quarter in the whole series at 33.7 lakh - well below the 47.5 lakh quarterly average shown by the dashed line. The peak was back in Q4'23. This is the clearest signal that we need to invest in demand generation now, ahead of the next planning cycle.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leak in detail. Only 35.4% of orders reach Delivered. Returned and Cancelled together are 32.9%, with a further third still sitting in Shipped or Pending. Tightening fulfilment - product QA, realistic delivery promises and better handling of cash-on-delivery orders - is the fastest path to recovered revenue.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 are healthy and balanced - no single method exceeds about 22%, which reduces our dependence on any one provider. The one thing to watch is the 20% cash-on-delivery share, because COD orders correlate with higher cancellations, which links straight back to the fulfilment problem we just saw.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locates risk and opportunity by category, every cell colour-coded straight from the data. The biggest risk is clear in red: Gadgets revenue is down 43.2% since 2023 and Tech is down 17.0%. The biggest opportunity is Electronics - stable, well spread and balanced on payments; cutting its category-high 34.8% return rate is the single largest upside available to 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balanced moves. One: reclaim lost revenue by attacking the return-and-cancel rate. Two: reverse the downward trend with funded demand generation. Three: lean into strengths - Electronics and our top products. Four: grow beyond Delhi into tier-2 cities while keeping the balanced payment mix. The theme is simple - fix fulfilment and reignite demand, while doubling down on what already works.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735126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a:effectLst/>
      </p:bgPr>
    </p:bg>
    <p:spTree>
      <p:nvGrpSpPr>
        <p:cNvPr id="1" name=""/>
        <p:cNvGrpSpPr/>
        <p:nvPr/>
      </p:nvGrpSpPr>
      <p:grpSpPr>
        <a:xfrm>
          <a:off x="0" y="0"/>
          <a:ext cx="0" cy="0"/>
          <a:chOff x="0" y="0"/>
          <a:chExt cx="0" cy="0"/>
        </a:xfrm>
      </p:grpSpPr>
      <p:sp>
        <p:nvSpPr>
          <p:cNvPr id="3" name="Shape 0"/>
          <p:cNvSpPr/>
          <p:nvPr/>
        </p:nvSpPr>
        <p:spPr>
          <a:xfrm>
            <a:off x="7680960" y="5852160"/>
            <a:ext cx="384048" cy="1005840"/>
          </a:xfrm>
          <a:prstGeom prst="rect">
            <a:avLst/>
          </a:prstGeom>
          <a:solidFill>
            <a:srgbClr val="22D3EE">
              <a:alpha val="14000"/>
            </a:srgbClr>
          </a:solidFill>
          <a:ln/>
        </p:spPr>
        <p:txBody>
          <a:bodyPr/>
          <a:lstStyle/>
          <a:p>
            <a:endParaRPr lang="en-IN"/>
          </a:p>
        </p:txBody>
      </p:sp>
      <p:sp>
        <p:nvSpPr>
          <p:cNvPr id="4" name="Shape 1"/>
          <p:cNvSpPr/>
          <p:nvPr/>
        </p:nvSpPr>
        <p:spPr>
          <a:xfrm>
            <a:off x="8247888" y="5303520"/>
            <a:ext cx="384048" cy="1554480"/>
          </a:xfrm>
          <a:prstGeom prst="rect">
            <a:avLst/>
          </a:prstGeom>
          <a:solidFill>
            <a:srgbClr val="2DD4BF">
              <a:alpha val="14000"/>
            </a:srgbClr>
          </a:solidFill>
          <a:ln/>
        </p:spPr>
        <p:txBody>
          <a:bodyPr/>
          <a:lstStyle/>
          <a:p>
            <a:endParaRPr lang="en-IN"/>
          </a:p>
        </p:txBody>
      </p:sp>
      <p:sp>
        <p:nvSpPr>
          <p:cNvPr id="5" name="Shape 2"/>
          <p:cNvSpPr/>
          <p:nvPr/>
        </p:nvSpPr>
        <p:spPr>
          <a:xfrm>
            <a:off x="8814816" y="5577840"/>
            <a:ext cx="384048" cy="1280160"/>
          </a:xfrm>
          <a:prstGeom prst="rect">
            <a:avLst/>
          </a:prstGeom>
          <a:solidFill>
            <a:srgbClr val="22D3EE">
              <a:alpha val="14000"/>
            </a:srgbClr>
          </a:solidFill>
          <a:ln/>
        </p:spPr>
        <p:txBody>
          <a:bodyPr/>
          <a:lstStyle/>
          <a:p>
            <a:endParaRPr lang="en-IN"/>
          </a:p>
        </p:txBody>
      </p:sp>
      <p:sp>
        <p:nvSpPr>
          <p:cNvPr id="6" name="Shape 3"/>
          <p:cNvSpPr/>
          <p:nvPr/>
        </p:nvSpPr>
        <p:spPr>
          <a:xfrm>
            <a:off x="9381744" y="4846320"/>
            <a:ext cx="384048" cy="2011680"/>
          </a:xfrm>
          <a:prstGeom prst="rect">
            <a:avLst/>
          </a:prstGeom>
          <a:solidFill>
            <a:srgbClr val="2DD4BF">
              <a:alpha val="14000"/>
            </a:srgbClr>
          </a:solidFill>
          <a:ln/>
        </p:spPr>
        <p:txBody>
          <a:bodyPr/>
          <a:lstStyle/>
          <a:p>
            <a:endParaRPr lang="en-IN"/>
          </a:p>
        </p:txBody>
      </p:sp>
      <p:sp>
        <p:nvSpPr>
          <p:cNvPr id="7" name="Shape 4"/>
          <p:cNvSpPr/>
          <p:nvPr/>
        </p:nvSpPr>
        <p:spPr>
          <a:xfrm>
            <a:off x="9948672" y="5120640"/>
            <a:ext cx="384048" cy="1737360"/>
          </a:xfrm>
          <a:prstGeom prst="rect">
            <a:avLst/>
          </a:prstGeom>
          <a:solidFill>
            <a:srgbClr val="22D3EE">
              <a:alpha val="14000"/>
            </a:srgbClr>
          </a:solidFill>
          <a:ln/>
        </p:spPr>
        <p:txBody>
          <a:bodyPr/>
          <a:lstStyle/>
          <a:p>
            <a:endParaRPr lang="en-IN"/>
          </a:p>
        </p:txBody>
      </p:sp>
      <p:sp>
        <p:nvSpPr>
          <p:cNvPr id="8" name="Shape 5"/>
          <p:cNvSpPr/>
          <p:nvPr/>
        </p:nvSpPr>
        <p:spPr>
          <a:xfrm>
            <a:off x="10515600" y="4389120"/>
            <a:ext cx="384048" cy="2468880"/>
          </a:xfrm>
          <a:prstGeom prst="rect">
            <a:avLst/>
          </a:prstGeom>
          <a:solidFill>
            <a:srgbClr val="2DD4BF">
              <a:alpha val="14000"/>
            </a:srgbClr>
          </a:solidFill>
          <a:ln/>
        </p:spPr>
        <p:txBody>
          <a:bodyPr/>
          <a:lstStyle/>
          <a:p>
            <a:endParaRPr lang="en-IN"/>
          </a:p>
        </p:txBody>
      </p:sp>
      <p:sp>
        <p:nvSpPr>
          <p:cNvPr id="9" name="Shape 6"/>
          <p:cNvSpPr/>
          <p:nvPr/>
        </p:nvSpPr>
        <p:spPr>
          <a:xfrm>
            <a:off x="11082528" y="4754880"/>
            <a:ext cx="384048" cy="2103120"/>
          </a:xfrm>
          <a:prstGeom prst="rect">
            <a:avLst/>
          </a:prstGeom>
          <a:solidFill>
            <a:srgbClr val="22D3EE">
              <a:alpha val="14000"/>
            </a:srgbClr>
          </a:solidFill>
          <a:ln/>
        </p:spPr>
        <p:txBody>
          <a:bodyPr/>
          <a:lstStyle/>
          <a:p>
            <a:endParaRPr lang="en-IN"/>
          </a:p>
        </p:txBody>
      </p:sp>
      <p:sp>
        <p:nvSpPr>
          <p:cNvPr id="10" name="Shape 7"/>
          <p:cNvSpPr/>
          <p:nvPr/>
        </p:nvSpPr>
        <p:spPr>
          <a:xfrm>
            <a:off x="11649456" y="4023360"/>
            <a:ext cx="384048" cy="2834640"/>
          </a:xfrm>
          <a:prstGeom prst="rect">
            <a:avLst/>
          </a:prstGeom>
          <a:solidFill>
            <a:srgbClr val="2DD4BF">
              <a:alpha val="14000"/>
            </a:srgbClr>
          </a:solidFill>
          <a:ln/>
        </p:spPr>
        <p:txBody>
          <a:bodyPr/>
          <a:lstStyle/>
          <a:p>
            <a:endParaRPr lang="en-IN"/>
          </a:p>
        </p:txBody>
      </p:sp>
      <p:sp>
        <p:nvSpPr>
          <p:cNvPr id="11" name="Text 8"/>
          <p:cNvSpPr/>
          <p:nvPr/>
        </p:nvSpPr>
        <p:spPr>
          <a:xfrm>
            <a:off x="777240" y="1417320"/>
            <a:ext cx="91440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Arial" pitchFamily="34" charset="0"/>
                <a:ea typeface="Arial" pitchFamily="34" charset="-122"/>
                <a:cs typeface="Arial" pitchFamily="34" charset="-120"/>
              </a:rPr>
              <a:t>LEADERSHIP PERFORMANCE REVIEW</a:t>
            </a:r>
            <a:endParaRPr lang="en-US" sz="1300" dirty="0"/>
          </a:p>
        </p:txBody>
      </p:sp>
      <p:sp>
        <p:nvSpPr>
          <p:cNvPr id="12" name="Text 9"/>
          <p:cNvSpPr/>
          <p:nvPr/>
        </p:nvSpPr>
        <p:spPr>
          <a:xfrm>
            <a:off x="749808" y="1965960"/>
            <a:ext cx="10607040" cy="868680"/>
          </a:xfrm>
          <a:prstGeom prst="rect">
            <a:avLst/>
          </a:prstGeom>
          <a:noFill/>
          <a:ln/>
        </p:spPr>
        <p:txBody>
          <a:bodyPr wrap="square" lIns="0" tIns="0" rIns="0" bIns="0" rtlCol="0" anchor="ctr"/>
          <a:lstStyle/>
          <a:p>
            <a:pPr marL="0" indent="0">
              <a:buNone/>
            </a:pPr>
            <a:r>
              <a:rPr lang="en-US" sz="5400" b="1" dirty="0">
                <a:solidFill>
                  <a:srgbClr val="F1F5F9"/>
                </a:solidFill>
                <a:latin typeface="Arial" pitchFamily="34" charset="0"/>
                <a:ea typeface="Arial" pitchFamily="34" charset="-122"/>
                <a:cs typeface="Arial" pitchFamily="34" charset="-120"/>
              </a:rPr>
              <a:t>Ecommerce Sales</a:t>
            </a:r>
            <a:endParaRPr lang="en-US" sz="5400" dirty="0"/>
          </a:p>
        </p:txBody>
      </p:sp>
      <p:sp>
        <p:nvSpPr>
          <p:cNvPr id="13" name="Text 10"/>
          <p:cNvSpPr/>
          <p:nvPr/>
        </p:nvSpPr>
        <p:spPr>
          <a:xfrm>
            <a:off x="749808" y="2761488"/>
            <a:ext cx="10607040" cy="868680"/>
          </a:xfrm>
          <a:prstGeom prst="rect">
            <a:avLst/>
          </a:prstGeom>
          <a:noFill/>
          <a:ln/>
        </p:spPr>
        <p:txBody>
          <a:bodyPr wrap="square" lIns="0" tIns="0" rIns="0" bIns="0" rtlCol="0" anchor="ctr"/>
          <a:lstStyle/>
          <a:p>
            <a:pPr marL="0" indent="0">
              <a:buNone/>
            </a:pPr>
            <a:r>
              <a:rPr lang="en-US" sz="5400" b="1" dirty="0">
                <a:solidFill>
                  <a:srgbClr val="22D3EE"/>
                </a:solidFill>
                <a:latin typeface="Arial" pitchFamily="34" charset="0"/>
                <a:ea typeface="Arial" pitchFamily="34" charset="-122"/>
                <a:cs typeface="Arial" pitchFamily="34" charset="-120"/>
              </a:rPr>
              <a:t>Performance Review</a:t>
            </a:r>
            <a:endParaRPr lang="en-US" sz="5400" dirty="0"/>
          </a:p>
        </p:txBody>
      </p:sp>
      <p:sp>
        <p:nvSpPr>
          <p:cNvPr id="14" name="Text 11"/>
          <p:cNvSpPr/>
          <p:nvPr/>
        </p:nvSpPr>
        <p:spPr>
          <a:xfrm>
            <a:off x="777240" y="3794760"/>
            <a:ext cx="7680960" cy="822960"/>
          </a:xfrm>
          <a:prstGeom prst="rect">
            <a:avLst/>
          </a:prstGeom>
          <a:noFill/>
          <a:ln/>
        </p:spPr>
        <p:txBody>
          <a:bodyPr wrap="square" lIns="0" tIns="0" rIns="0" bIns="0" rtlCol="0" anchor="ctr"/>
          <a:lstStyle/>
          <a:p>
            <a:pPr marL="0" indent="0">
              <a:lnSpc>
                <a:spcPct val="125000"/>
              </a:lnSpc>
              <a:buNone/>
            </a:pPr>
            <a:r>
              <a:rPr lang="en-US" sz="1450" dirty="0">
                <a:solidFill>
                  <a:srgbClr val="94A3B8"/>
                </a:solidFill>
                <a:latin typeface="Arial" pitchFamily="34" charset="0"/>
                <a:ea typeface="Arial" pitchFamily="34" charset="-122"/>
                <a:cs typeface="Arial" pitchFamily="34" charset="-120"/>
              </a:rPr>
              <a:t>Revenue, products, geography, fulfillment and payments — with clear insights and balanced recommendations for the next planning cycle.</a:t>
            </a:r>
            <a:endParaRPr lang="en-US" sz="1450" dirty="0"/>
          </a:p>
        </p:txBody>
      </p:sp>
      <p:sp>
        <p:nvSpPr>
          <p:cNvPr id="15" name="Shape 12"/>
          <p:cNvSpPr/>
          <p:nvPr/>
        </p:nvSpPr>
        <p:spPr>
          <a:xfrm>
            <a:off x="777240" y="5806440"/>
            <a:ext cx="5852160" cy="0"/>
          </a:xfrm>
          <a:prstGeom prst="line">
            <a:avLst/>
          </a:prstGeom>
          <a:noFill/>
          <a:ln w="12700">
            <a:solidFill>
              <a:srgbClr val="26323F"/>
            </a:solidFill>
            <a:prstDash val="solid"/>
          </a:ln>
        </p:spPr>
        <p:txBody>
          <a:bodyPr/>
          <a:lstStyle/>
          <a:p>
            <a:endParaRPr lang="en-IN"/>
          </a:p>
        </p:txBody>
      </p:sp>
      <p:sp>
        <p:nvSpPr>
          <p:cNvPr id="16" name="Text 13"/>
          <p:cNvSpPr/>
          <p:nvPr/>
        </p:nvSpPr>
        <p:spPr>
          <a:xfrm>
            <a:off x="777240" y="5943600"/>
            <a:ext cx="8229600" cy="365760"/>
          </a:xfrm>
          <a:prstGeom prst="rect">
            <a:avLst/>
          </a:prstGeom>
          <a:noFill/>
          <a:ln/>
        </p:spPr>
        <p:txBody>
          <a:bodyPr wrap="square" lIns="0" tIns="0" rIns="0" bIns="0" rtlCol="0" anchor="ctr"/>
          <a:lstStyle/>
          <a:p>
            <a:pPr marL="0" indent="0">
              <a:buNone/>
            </a:pPr>
            <a:r>
              <a:rPr lang="en-US" sz="1300" b="1" dirty="0">
                <a:solidFill>
                  <a:srgbClr val="F1F5F9"/>
                </a:solidFill>
                <a:latin typeface="Arial" pitchFamily="34" charset="0"/>
                <a:ea typeface="Arial" pitchFamily="34" charset="-122"/>
                <a:cs typeface="Arial" pitchFamily="34" charset="-120"/>
              </a:rPr>
              <a:t>FY2023–2025</a:t>
            </a:r>
            <a:r>
              <a:rPr lang="en-US" sz="1300" dirty="0">
                <a:solidFill>
                  <a:srgbClr val="94A3B8"/>
                </a:solidFill>
                <a:latin typeface="Arial" pitchFamily="34" charset="0"/>
                <a:ea typeface="Arial" pitchFamily="34" charset="-122"/>
                <a:cs typeface="Arial" pitchFamily="34" charset="-120"/>
              </a:rPr>
              <a:t>   ·   486 orders analyzed   ·   India</a:t>
            </a:r>
            <a:endParaRPr lang="en-US" sz="1300" dirty="0"/>
          </a:p>
        </p:txBody>
      </p:sp>
      <p:sp>
        <p:nvSpPr>
          <p:cNvPr id="17" name="Text 14"/>
          <p:cNvSpPr/>
          <p:nvPr/>
        </p:nvSpPr>
        <p:spPr>
          <a:xfrm>
            <a:off x="9052560" y="5943600"/>
            <a:ext cx="2377440" cy="365760"/>
          </a:xfrm>
          <a:prstGeom prst="rect">
            <a:avLst/>
          </a:prstGeom>
          <a:noFill/>
          <a:ln/>
        </p:spPr>
        <p:txBody>
          <a:bodyPr wrap="square" lIns="0" tIns="0" rIns="0" bIns="0" rtlCol="0" anchor="ctr"/>
          <a:lstStyle/>
          <a:p>
            <a:pPr marL="0" indent="0" algn="r">
              <a:buNone/>
            </a:pPr>
            <a:r>
              <a:rPr lang="en-US" sz="1300" dirty="0">
                <a:solidFill>
                  <a:srgbClr val="94A3B8"/>
                </a:solidFill>
                <a:latin typeface="Arial" pitchFamily="34" charset="0"/>
                <a:ea typeface="Arial" pitchFamily="34" charset="-122"/>
                <a:cs typeface="Arial" pitchFamily="34" charset="-120"/>
              </a:rPr>
              <a:t>June 2026</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3"/>
                                        </p:tgtEl>
                                      </p:cBhvr>
                                    </p:animEffect>
                                    <p:set>
                                      <p:cBhvr>
                                        <p:cTn id="7" dur="1" fill="hold">
                                          <p:stCondLst>
                                            <p:cond delay="0"/>
                                          </p:stCondLst>
                                        </p:cTn>
                                        <p:tgtEl>
                                          <p:spTgt spid="3"/>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4"/>
                                        </p:tgtEl>
                                      </p:cBhvr>
                                    </p:animEffect>
                                    <p:set>
                                      <p:cBhvr>
                                        <p:cTn id="10" dur="1" fill="hold">
                                          <p:stCondLst>
                                            <p:cond delay="0"/>
                                          </p:stCondLst>
                                        </p:cTn>
                                        <p:tgtEl>
                                          <p:spTgt spid="4"/>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5"/>
                                        </p:tgtEl>
                                      </p:cBhvr>
                                    </p:animEffect>
                                    <p:set>
                                      <p:cBhvr>
                                        <p:cTn id="13" dur="1" fill="hold">
                                          <p:stCondLst>
                                            <p:cond delay="0"/>
                                          </p:stCondLst>
                                        </p:cTn>
                                        <p:tgtEl>
                                          <p:spTgt spid="5"/>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6"/>
                                        </p:tgtEl>
                                      </p:cBhvr>
                                    </p:animEffect>
                                    <p:set>
                                      <p:cBhvr>
                                        <p:cTn id="16" dur="1" fill="hold">
                                          <p:stCondLst>
                                            <p:cond delay="0"/>
                                          </p:stCondLst>
                                        </p:cTn>
                                        <p:tgtEl>
                                          <p:spTgt spid="6"/>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EXECUTIVE SNAPSHOT</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The numbers at a glance</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02</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481328"/>
            <a:ext cx="2580894" cy="1481328"/>
          </a:xfrm>
          <a:prstGeom prst="roundRect">
            <a:avLst>
              <a:gd name="adj" fmla="val 4938"/>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8" name="Shape 5"/>
          <p:cNvSpPr/>
          <p:nvPr/>
        </p:nvSpPr>
        <p:spPr>
          <a:xfrm>
            <a:off x="822960" y="1737360"/>
            <a:ext cx="137160" cy="137160"/>
          </a:xfrm>
          <a:prstGeom prst="ellipse">
            <a:avLst/>
          </a:prstGeom>
          <a:solidFill>
            <a:srgbClr val="22D3EE"/>
          </a:solidFill>
          <a:ln/>
        </p:spPr>
        <p:txBody>
          <a:bodyPr/>
          <a:lstStyle/>
          <a:p>
            <a:endParaRPr lang="en-IN"/>
          </a:p>
        </p:txBody>
      </p:sp>
      <p:sp>
        <p:nvSpPr>
          <p:cNvPr id="9" name="Text 6"/>
          <p:cNvSpPr/>
          <p:nvPr/>
        </p:nvSpPr>
        <p:spPr>
          <a:xfrm>
            <a:off x="804672" y="1865376"/>
            <a:ext cx="2123694" cy="548640"/>
          </a:xfrm>
          <a:prstGeom prst="rect">
            <a:avLst/>
          </a:prstGeom>
          <a:noFill/>
          <a:ln/>
        </p:spPr>
        <p:txBody>
          <a:bodyPr wrap="none" lIns="0" tIns="0" rIns="0" bIns="0" rtlCol="0" anchor="ctr"/>
          <a:lstStyle/>
          <a:p>
            <a:pPr marL="0" indent="0" algn="l">
              <a:buNone/>
            </a:pPr>
            <a:r>
              <a:rPr lang="en-US" sz="2200" b="1" dirty="0">
                <a:solidFill>
                  <a:srgbClr val="F1F5F9"/>
                </a:solidFill>
                <a:latin typeface="Arial" pitchFamily="34" charset="0"/>
                <a:ea typeface="Arial" pitchFamily="34" charset="-122"/>
                <a:cs typeface="Arial" pitchFamily="34" charset="-120"/>
              </a:rPr>
              <a:t>₹5,70,53,148</a:t>
            </a:r>
            <a:endParaRPr lang="en-US" sz="2200" dirty="0"/>
          </a:p>
        </p:txBody>
      </p:sp>
      <p:sp>
        <p:nvSpPr>
          <p:cNvPr id="10" name="Text 7"/>
          <p:cNvSpPr/>
          <p:nvPr/>
        </p:nvSpPr>
        <p:spPr>
          <a:xfrm>
            <a:off x="804672" y="2414016"/>
            <a:ext cx="2123694" cy="274320"/>
          </a:xfrm>
          <a:prstGeom prst="rect">
            <a:avLst/>
          </a:prstGeom>
          <a:noFill/>
          <a:ln/>
        </p:spPr>
        <p:txBody>
          <a:bodyPr wrap="square" lIns="0" tIns="0" rIns="0" bIns="0" rtlCol="0" anchor="t"/>
          <a:lstStyle/>
          <a:p>
            <a:pPr marL="0" indent="0">
              <a:buNone/>
            </a:pPr>
            <a:r>
              <a:rPr lang="en-US" sz="1250" b="1" dirty="0">
                <a:solidFill>
                  <a:srgbClr val="F1F5F9"/>
                </a:solidFill>
                <a:latin typeface="Arial" pitchFamily="34" charset="0"/>
                <a:ea typeface="Arial" pitchFamily="34" charset="-122"/>
                <a:cs typeface="Arial" pitchFamily="34" charset="-120"/>
              </a:rPr>
              <a:t>Total revenue</a:t>
            </a:r>
            <a:endParaRPr lang="en-US" sz="1250" dirty="0"/>
          </a:p>
        </p:txBody>
      </p:sp>
      <p:sp>
        <p:nvSpPr>
          <p:cNvPr id="11" name="Text 8"/>
          <p:cNvSpPr/>
          <p:nvPr/>
        </p:nvSpPr>
        <p:spPr>
          <a:xfrm>
            <a:off x="804672" y="2670048"/>
            <a:ext cx="2123694" cy="237744"/>
          </a:xfrm>
          <a:prstGeom prst="rect">
            <a:avLst/>
          </a:prstGeom>
          <a:noFill/>
          <a:ln/>
        </p:spPr>
        <p:txBody>
          <a:bodyPr wrap="square" lIns="0" tIns="0" rIns="0" bIns="0" rtlCol="0" anchor="t"/>
          <a:lstStyle/>
          <a:p>
            <a:pPr marL="0" indent="0">
              <a:buNone/>
            </a:pPr>
            <a:r>
              <a:rPr lang="en-US" sz="900" dirty="0">
                <a:solidFill>
                  <a:srgbClr val="94A3B8"/>
                </a:solidFill>
                <a:latin typeface="Arial" pitchFamily="34" charset="0"/>
                <a:ea typeface="Arial" pitchFamily="34" charset="-122"/>
                <a:cs typeface="Arial" pitchFamily="34" charset="-120"/>
              </a:rPr>
              <a:t>Price × Quantity, all orders</a:t>
            </a:r>
            <a:endParaRPr lang="en-US" sz="900" dirty="0"/>
          </a:p>
        </p:txBody>
      </p:sp>
      <p:sp>
        <p:nvSpPr>
          <p:cNvPr id="12" name="Shape 9"/>
          <p:cNvSpPr/>
          <p:nvPr/>
        </p:nvSpPr>
        <p:spPr>
          <a:xfrm>
            <a:off x="3385566" y="1481328"/>
            <a:ext cx="2580894" cy="1481328"/>
          </a:xfrm>
          <a:prstGeom prst="roundRect">
            <a:avLst>
              <a:gd name="adj" fmla="val 4938"/>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3" name="Shape 10"/>
          <p:cNvSpPr/>
          <p:nvPr/>
        </p:nvSpPr>
        <p:spPr>
          <a:xfrm>
            <a:off x="3659886" y="1737360"/>
            <a:ext cx="137160" cy="137160"/>
          </a:xfrm>
          <a:prstGeom prst="ellipse">
            <a:avLst/>
          </a:prstGeom>
          <a:solidFill>
            <a:srgbClr val="22D3EE"/>
          </a:solidFill>
          <a:ln/>
        </p:spPr>
        <p:txBody>
          <a:bodyPr/>
          <a:lstStyle/>
          <a:p>
            <a:endParaRPr lang="en-IN"/>
          </a:p>
        </p:txBody>
      </p:sp>
      <p:sp>
        <p:nvSpPr>
          <p:cNvPr id="14" name="Text 11"/>
          <p:cNvSpPr/>
          <p:nvPr/>
        </p:nvSpPr>
        <p:spPr>
          <a:xfrm>
            <a:off x="3641598" y="1865376"/>
            <a:ext cx="2123694" cy="548640"/>
          </a:xfrm>
          <a:prstGeom prst="rect">
            <a:avLst/>
          </a:prstGeom>
          <a:noFill/>
          <a:ln/>
        </p:spPr>
        <p:txBody>
          <a:bodyPr wrap="none" lIns="0" tIns="0" rIns="0" bIns="0" rtlCol="0" anchor="ctr"/>
          <a:lstStyle/>
          <a:p>
            <a:pPr marL="0" indent="0" algn="l">
              <a:buNone/>
            </a:pPr>
            <a:r>
              <a:rPr lang="en-US" sz="3000" b="1" dirty="0">
                <a:solidFill>
                  <a:srgbClr val="F1F5F9"/>
                </a:solidFill>
                <a:latin typeface="Arial" pitchFamily="34" charset="0"/>
                <a:ea typeface="Arial" pitchFamily="34" charset="-122"/>
                <a:cs typeface="Arial" pitchFamily="34" charset="-120"/>
              </a:rPr>
              <a:t>486</a:t>
            </a:r>
            <a:endParaRPr lang="en-US" sz="3000" dirty="0"/>
          </a:p>
        </p:txBody>
      </p:sp>
      <p:sp>
        <p:nvSpPr>
          <p:cNvPr id="15" name="Text 12"/>
          <p:cNvSpPr/>
          <p:nvPr/>
        </p:nvSpPr>
        <p:spPr>
          <a:xfrm>
            <a:off x="3641598" y="2414016"/>
            <a:ext cx="2123694" cy="274320"/>
          </a:xfrm>
          <a:prstGeom prst="rect">
            <a:avLst/>
          </a:prstGeom>
          <a:noFill/>
          <a:ln/>
        </p:spPr>
        <p:txBody>
          <a:bodyPr wrap="square" lIns="0" tIns="0" rIns="0" bIns="0" rtlCol="0" anchor="t"/>
          <a:lstStyle/>
          <a:p>
            <a:pPr marL="0" indent="0">
              <a:buNone/>
            </a:pPr>
            <a:r>
              <a:rPr lang="en-US" sz="1250" b="1" dirty="0">
                <a:solidFill>
                  <a:srgbClr val="F1F5F9"/>
                </a:solidFill>
                <a:latin typeface="Arial" pitchFamily="34" charset="0"/>
                <a:ea typeface="Arial" pitchFamily="34" charset="-122"/>
                <a:cs typeface="Arial" pitchFamily="34" charset="-120"/>
              </a:rPr>
              <a:t>Total orders</a:t>
            </a:r>
            <a:endParaRPr lang="en-US" sz="1250" dirty="0"/>
          </a:p>
        </p:txBody>
      </p:sp>
      <p:sp>
        <p:nvSpPr>
          <p:cNvPr id="16" name="Text 13"/>
          <p:cNvSpPr/>
          <p:nvPr/>
        </p:nvSpPr>
        <p:spPr>
          <a:xfrm>
            <a:off x="3641598" y="2670048"/>
            <a:ext cx="2123694" cy="237744"/>
          </a:xfrm>
          <a:prstGeom prst="rect">
            <a:avLst/>
          </a:prstGeom>
          <a:noFill/>
          <a:ln/>
        </p:spPr>
        <p:txBody>
          <a:bodyPr wrap="square" lIns="0" tIns="0" rIns="0" bIns="0" rtlCol="0" anchor="t"/>
          <a:lstStyle/>
          <a:p>
            <a:pPr marL="0" indent="0">
              <a:buNone/>
            </a:pPr>
            <a:r>
              <a:rPr lang="en-US" sz="900" dirty="0">
                <a:solidFill>
                  <a:srgbClr val="94A3B8"/>
                </a:solidFill>
                <a:latin typeface="Arial" pitchFamily="34" charset="0"/>
                <a:ea typeface="Arial" pitchFamily="34" charset="-122"/>
                <a:cs typeface="Arial" pitchFamily="34" charset="-120"/>
              </a:rPr>
              <a:t>Distinct order records</a:t>
            </a:r>
            <a:endParaRPr lang="en-US" sz="900" dirty="0"/>
          </a:p>
        </p:txBody>
      </p:sp>
      <p:sp>
        <p:nvSpPr>
          <p:cNvPr id="17" name="Shape 14"/>
          <p:cNvSpPr/>
          <p:nvPr/>
        </p:nvSpPr>
        <p:spPr>
          <a:xfrm>
            <a:off x="6222492" y="1481328"/>
            <a:ext cx="2580894" cy="1481328"/>
          </a:xfrm>
          <a:prstGeom prst="roundRect">
            <a:avLst>
              <a:gd name="adj" fmla="val 4938"/>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8" name="Shape 15"/>
          <p:cNvSpPr/>
          <p:nvPr/>
        </p:nvSpPr>
        <p:spPr>
          <a:xfrm>
            <a:off x="6496812" y="1737360"/>
            <a:ext cx="137160" cy="137160"/>
          </a:xfrm>
          <a:prstGeom prst="ellipse">
            <a:avLst/>
          </a:prstGeom>
          <a:solidFill>
            <a:srgbClr val="22D3EE"/>
          </a:solidFill>
          <a:ln/>
        </p:spPr>
        <p:txBody>
          <a:bodyPr/>
          <a:lstStyle/>
          <a:p>
            <a:endParaRPr lang="en-IN"/>
          </a:p>
        </p:txBody>
      </p:sp>
      <p:sp>
        <p:nvSpPr>
          <p:cNvPr id="19" name="Text 16"/>
          <p:cNvSpPr/>
          <p:nvPr/>
        </p:nvSpPr>
        <p:spPr>
          <a:xfrm>
            <a:off x="6478524" y="1865376"/>
            <a:ext cx="2123694" cy="548640"/>
          </a:xfrm>
          <a:prstGeom prst="rect">
            <a:avLst/>
          </a:prstGeom>
          <a:noFill/>
          <a:ln/>
        </p:spPr>
        <p:txBody>
          <a:bodyPr wrap="none" lIns="0" tIns="0" rIns="0" bIns="0" rtlCol="0" anchor="ctr"/>
          <a:lstStyle/>
          <a:p>
            <a:pPr marL="0" indent="0" algn="l">
              <a:buNone/>
            </a:pPr>
            <a:r>
              <a:rPr lang="en-US" sz="3000" b="1" dirty="0">
                <a:solidFill>
                  <a:srgbClr val="F1F5F9"/>
                </a:solidFill>
                <a:latin typeface="Arial" pitchFamily="34" charset="0"/>
                <a:ea typeface="Arial" pitchFamily="34" charset="-122"/>
                <a:cs typeface="Arial" pitchFamily="34" charset="-120"/>
              </a:rPr>
              <a:t>1,469</a:t>
            </a:r>
            <a:endParaRPr lang="en-US" sz="3000" dirty="0"/>
          </a:p>
        </p:txBody>
      </p:sp>
      <p:sp>
        <p:nvSpPr>
          <p:cNvPr id="20" name="Text 17"/>
          <p:cNvSpPr/>
          <p:nvPr/>
        </p:nvSpPr>
        <p:spPr>
          <a:xfrm>
            <a:off x="6478524" y="2414016"/>
            <a:ext cx="2123694" cy="274320"/>
          </a:xfrm>
          <a:prstGeom prst="rect">
            <a:avLst/>
          </a:prstGeom>
          <a:noFill/>
          <a:ln/>
        </p:spPr>
        <p:txBody>
          <a:bodyPr wrap="square" lIns="0" tIns="0" rIns="0" bIns="0" rtlCol="0" anchor="t"/>
          <a:lstStyle/>
          <a:p>
            <a:pPr marL="0" indent="0">
              <a:buNone/>
            </a:pPr>
            <a:r>
              <a:rPr lang="en-US" sz="1250" b="1" dirty="0">
                <a:solidFill>
                  <a:srgbClr val="F1F5F9"/>
                </a:solidFill>
                <a:latin typeface="Arial" pitchFamily="34" charset="0"/>
                <a:ea typeface="Arial" pitchFamily="34" charset="-122"/>
                <a:cs typeface="Arial" pitchFamily="34" charset="-120"/>
              </a:rPr>
              <a:t>Total units sold</a:t>
            </a:r>
            <a:endParaRPr lang="en-US" sz="1250" dirty="0"/>
          </a:p>
        </p:txBody>
      </p:sp>
      <p:sp>
        <p:nvSpPr>
          <p:cNvPr id="21" name="Text 18"/>
          <p:cNvSpPr/>
          <p:nvPr/>
        </p:nvSpPr>
        <p:spPr>
          <a:xfrm>
            <a:off x="6478524" y="2670048"/>
            <a:ext cx="2123694" cy="237744"/>
          </a:xfrm>
          <a:prstGeom prst="rect">
            <a:avLst/>
          </a:prstGeom>
          <a:noFill/>
          <a:ln/>
        </p:spPr>
        <p:txBody>
          <a:bodyPr wrap="square" lIns="0" tIns="0" rIns="0" bIns="0" rtlCol="0" anchor="t"/>
          <a:lstStyle/>
          <a:p>
            <a:pPr marL="0" indent="0">
              <a:buNone/>
            </a:pPr>
            <a:r>
              <a:rPr lang="en-US" sz="900" dirty="0">
                <a:solidFill>
                  <a:srgbClr val="94A3B8"/>
                </a:solidFill>
                <a:latin typeface="Arial" pitchFamily="34" charset="0"/>
                <a:ea typeface="Arial" pitchFamily="34" charset="-122"/>
                <a:cs typeface="Arial" pitchFamily="34" charset="-120"/>
              </a:rPr>
              <a:t>Sum of order quantity</a:t>
            </a:r>
            <a:endParaRPr lang="en-US" sz="900" dirty="0"/>
          </a:p>
        </p:txBody>
      </p:sp>
      <p:sp>
        <p:nvSpPr>
          <p:cNvPr id="22" name="Shape 19"/>
          <p:cNvSpPr/>
          <p:nvPr/>
        </p:nvSpPr>
        <p:spPr>
          <a:xfrm>
            <a:off x="9059418" y="1481328"/>
            <a:ext cx="2580894" cy="1481328"/>
          </a:xfrm>
          <a:prstGeom prst="roundRect">
            <a:avLst>
              <a:gd name="adj" fmla="val 4938"/>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23" name="Shape 20"/>
          <p:cNvSpPr/>
          <p:nvPr/>
        </p:nvSpPr>
        <p:spPr>
          <a:xfrm>
            <a:off x="9333738" y="1737360"/>
            <a:ext cx="137160" cy="137160"/>
          </a:xfrm>
          <a:prstGeom prst="ellipse">
            <a:avLst/>
          </a:prstGeom>
          <a:solidFill>
            <a:srgbClr val="22D3EE"/>
          </a:solidFill>
          <a:ln/>
        </p:spPr>
        <p:txBody>
          <a:bodyPr/>
          <a:lstStyle/>
          <a:p>
            <a:endParaRPr lang="en-IN"/>
          </a:p>
        </p:txBody>
      </p:sp>
      <p:sp>
        <p:nvSpPr>
          <p:cNvPr id="24" name="Text 21"/>
          <p:cNvSpPr/>
          <p:nvPr/>
        </p:nvSpPr>
        <p:spPr>
          <a:xfrm>
            <a:off x="9315450" y="1865376"/>
            <a:ext cx="2123694" cy="548640"/>
          </a:xfrm>
          <a:prstGeom prst="rect">
            <a:avLst/>
          </a:prstGeom>
          <a:noFill/>
          <a:ln/>
        </p:spPr>
        <p:txBody>
          <a:bodyPr wrap="none" lIns="0" tIns="0" rIns="0" bIns="0" rtlCol="0" anchor="ctr"/>
          <a:lstStyle/>
          <a:p>
            <a:pPr marL="0" indent="0" algn="l">
              <a:buNone/>
            </a:pPr>
            <a:r>
              <a:rPr lang="en-US" sz="2400" b="1" dirty="0">
                <a:solidFill>
                  <a:srgbClr val="F1F5F9"/>
                </a:solidFill>
                <a:latin typeface="Arial" pitchFamily="34" charset="0"/>
                <a:ea typeface="Arial" pitchFamily="34" charset="-122"/>
                <a:cs typeface="Arial" pitchFamily="34" charset="-120"/>
              </a:rPr>
              <a:t>₹1,18,122</a:t>
            </a:r>
            <a:endParaRPr lang="en-US" sz="2400" dirty="0"/>
          </a:p>
        </p:txBody>
      </p:sp>
      <p:sp>
        <p:nvSpPr>
          <p:cNvPr id="25" name="Text 22"/>
          <p:cNvSpPr/>
          <p:nvPr/>
        </p:nvSpPr>
        <p:spPr>
          <a:xfrm>
            <a:off x="9315450" y="2414016"/>
            <a:ext cx="2123694" cy="274320"/>
          </a:xfrm>
          <a:prstGeom prst="rect">
            <a:avLst/>
          </a:prstGeom>
          <a:noFill/>
          <a:ln/>
        </p:spPr>
        <p:txBody>
          <a:bodyPr wrap="square" lIns="0" tIns="0" rIns="0" bIns="0" rtlCol="0" anchor="t"/>
          <a:lstStyle/>
          <a:p>
            <a:pPr marL="0" indent="0">
              <a:buNone/>
            </a:pPr>
            <a:r>
              <a:rPr lang="en-US" sz="1250" b="1" dirty="0">
                <a:solidFill>
                  <a:srgbClr val="F1F5F9"/>
                </a:solidFill>
                <a:latin typeface="Arial" pitchFamily="34" charset="0"/>
                <a:ea typeface="Arial" pitchFamily="34" charset="-122"/>
                <a:cs typeface="Arial" pitchFamily="34" charset="-120"/>
              </a:rPr>
              <a:t>Average order value</a:t>
            </a:r>
            <a:endParaRPr lang="en-US" sz="1250" dirty="0"/>
          </a:p>
        </p:txBody>
      </p:sp>
      <p:sp>
        <p:nvSpPr>
          <p:cNvPr id="26" name="Text 23"/>
          <p:cNvSpPr/>
          <p:nvPr/>
        </p:nvSpPr>
        <p:spPr>
          <a:xfrm>
            <a:off x="9315450" y="2670048"/>
            <a:ext cx="2123694" cy="237744"/>
          </a:xfrm>
          <a:prstGeom prst="rect">
            <a:avLst/>
          </a:prstGeom>
          <a:noFill/>
          <a:ln/>
        </p:spPr>
        <p:txBody>
          <a:bodyPr wrap="square" lIns="0" tIns="0" rIns="0" bIns="0" rtlCol="0" anchor="t"/>
          <a:lstStyle/>
          <a:p>
            <a:pPr marL="0" indent="0">
              <a:buNone/>
            </a:pPr>
            <a:r>
              <a:rPr lang="en-US" sz="900" dirty="0">
                <a:solidFill>
                  <a:srgbClr val="94A3B8"/>
                </a:solidFill>
                <a:latin typeface="Arial" pitchFamily="34" charset="0"/>
                <a:ea typeface="Arial" pitchFamily="34" charset="-122"/>
                <a:cs typeface="Arial" pitchFamily="34" charset="-120"/>
              </a:rPr>
              <a:t>Revenue ÷ valued orders</a:t>
            </a:r>
            <a:endParaRPr lang="en-US" sz="900" dirty="0"/>
          </a:p>
        </p:txBody>
      </p:sp>
      <p:sp>
        <p:nvSpPr>
          <p:cNvPr id="27" name="Shape 24"/>
          <p:cNvSpPr/>
          <p:nvPr/>
        </p:nvSpPr>
        <p:spPr>
          <a:xfrm>
            <a:off x="548640" y="3163824"/>
            <a:ext cx="3526536" cy="1755648"/>
          </a:xfrm>
          <a:prstGeom prst="roundRect">
            <a:avLst>
              <a:gd name="adj" fmla="val 4167"/>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28" name="Shape 25"/>
          <p:cNvSpPr/>
          <p:nvPr/>
        </p:nvSpPr>
        <p:spPr>
          <a:xfrm>
            <a:off x="841248" y="3474720"/>
            <a:ext cx="137160" cy="137160"/>
          </a:xfrm>
          <a:prstGeom prst="ellipse">
            <a:avLst/>
          </a:prstGeom>
          <a:solidFill>
            <a:srgbClr val="2DD4BF"/>
          </a:solidFill>
          <a:ln/>
        </p:spPr>
        <p:txBody>
          <a:bodyPr/>
          <a:lstStyle/>
          <a:p>
            <a:endParaRPr lang="en-IN"/>
          </a:p>
        </p:txBody>
      </p:sp>
      <p:sp>
        <p:nvSpPr>
          <p:cNvPr id="29" name="Text 26"/>
          <p:cNvSpPr/>
          <p:nvPr/>
        </p:nvSpPr>
        <p:spPr>
          <a:xfrm>
            <a:off x="1051560" y="3419856"/>
            <a:ext cx="2795016" cy="274320"/>
          </a:xfrm>
          <a:prstGeom prst="rect">
            <a:avLst/>
          </a:prstGeom>
          <a:noFill/>
          <a:ln/>
        </p:spPr>
        <p:txBody>
          <a:bodyPr wrap="square" lIns="0" tIns="0" rIns="0" bIns="0" rtlCol="0" anchor="ctr"/>
          <a:lstStyle/>
          <a:p>
            <a:pPr marL="0" indent="0">
              <a:buNone/>
            </a:pPr>
            <a:r>
              <a:rPr lang="en-US" sz="1100" b="1" kern="0" spc="150" dirty="0">
                <a:solidFill>
                  <a:srgbClr val="2DD4BF"/>
                </a:solidFill>
                <a:latin typeface="Arial" pitchFamily="34" charset="0"/>
                <a:ea typeface="Arial" pitchFamily="34" charset="-122"/>
                <a:cs typeface="Arial" pitchFamily="34" charset="-120"/>
              </a:rPr>
              <a:t>DELIVERED</a:t>
            </a:r>
            <a:endParaRPr lang="en-US" sz="1100" dirty="0"/>
          </a:p>
        </p:txBody>
      </p:sp>
      <p:sp>
        <p:nvSpPr>
          <p:cNvPr id="30" name="Text 27"/>
          <p:cNvSpPr/>
          <p:nvPr/>
        </p:nvSpPr>
        <p:spPr>
          <a:xfrm>
            <a:off x="822960" y="3694176"/>
            <a:ext cx="1554480" cy="548640"/>
          </a:xfrm>
          <a:prstGeom prst="rect">
            <a:avLst/>
          </a:prstGeom>
          <a:noFill/>
          <a:ln/>
        </p:spPr>
        <p:txBody>
          <a:bodyPr wrap="none" lIns="0" tIns="0" rIns="0" bIns="0" rtlCol="0" anchor="ctr"/>
          <a:lstStyle/>
          <a:p>
            <a:pPr marL="0" indent="0">
              <a:buNone/>
            </a:pPr>
            <a:r>
              <a:rPr lang="en-US" sz="3000" b="1" dirty="0">
                <a:solidFill>
                  <a:srgbClr val="F1F5F9"/>
                </a:solidFill>
                <a:latin typeface="Arial" pitchFamily="34" charset="0"/>
                <a:ea typeface="Arial" pitchFamily="34" charset="-122"/>
                <a:cs typeface="Arial" pitchFamily="34" charset="-120"/>
              </a:rPr>
              <a:t>35.4%</a:t>
            </a:r>
            <a:endParaRPr lang="en-US" sz="3000" dirty="0"/>
          </a:p>
        </p:txBody>
      </p:sp>
      <p:sp>
        <p:nvSpPr>
          <p:cNvPr id="31" name="Text 28"/>
          <p:cNvSpPr/>
          <p:nvPr/>
        </p:nvSpPr>
        <p:spPr>
          <a:xfrm>
            <a:off x="841248" y="4242816"/>
            <a:ext cx="2977896" cy="237744"/>
          </a:xfrm>
          <a:prstGeom prst="rect">
            <a:avLst/>
          </a:prstGeom>
          <a:noFill/>
          <a:ln/>
        </p:spPr>
        <p:txBody>
          <a:bodyPr wrap="square" lIns="0" tIns="0" rIns="0" bIns="0" rtlCol="0" anchor="t"/>
          <a:lstStyle/>
          <a:p>
            <a:pPr marL="0" indent="0">
              <a:buNone/>
            </a:pPr>
            <a:r>
              <a:rPr lang="en-US" sz="950" dirty="0">
                <a:solidFill>
                  <a:srgbClr val="94A3B8"/>
                </a:solidFill>
                <a:latin typeface="Arial" pitchFamily="34" charset="0"/>
                <a:ea typeface="Arial" pitchFamily="34" charset="-122"/>
                <a:cs typeface="Arial" pitchFamily="34" charset="-120"/>
              </a:rPr>
              <a:t>Share of orders delivered</a:t>
            </a:r>
            <a:endParaRPr lang="en-US" sz="950" dirty="0"/>
          </a:p>
        </p:txBody>
      </p:sp>
      <p:sp>
        <p:nvSpPr>
          <p:cNvPr id="32" name="Shape 29"/>
          <p:cNvSpPr/>
          <p:nvPr/>
        </p:nvSpPr>
        <p:spPr>
          <a:xfrm>
            <a:off x="890270" y="4673492"/>
            <a:ext cx="147066" cy="136252"/>
          </a:xfrm>
          <a:prstGeom prst="rect">
            <a:avLst/>
          </a:prstGeom>
          <a:solidFill>
            <a:srgbClr val="2DD4BF">
              <a:alpha val="38000"/>
            </a:srgbClr>
          </a:solidFill>
          <a:ln/>
        </p:spPr>
        <p:txBody>
          <a:bodyPr/>
          <a:lstStyle/>
          <a:p>
            <a:endParaRPr lang="en-IN"/>
          </a:p>
        </p:txBody>
      </p:sp>
      <p:sp>
        <p:nvSpPr>
          <p:cNvPr id="33" name="Shape 30"/>
          <p:cNvSpPr/>
          <p:nvPr/>
        </p:nvSpPr>
        <p:spPr>
          <a:xfrm>
            <a:off x="1135380" y="4498848"/>
            <a:ext cx="147066" cy="310896"/>
          </a:xfrm>
          <a:prstGeom prst="rect">
            <a:avLst/>
          </a:prstGeom>
          <a:solidFill>
            <a:srgbClr val="2DD4BF">
              <a:alpha val="38000"/>
            </a:srgbClr>
          </a:solidFill>
          <a:ln/>
        </p:spPr>
        <p:txBody>
          <a:bodyPr/>
          <a:lstStyle/>
          <a:p>
            <a:endParaRPr lang="en-IN"/>
          </a:p>
        </p:txBody>
      </p:sp>
      <p:sp>
        <p:nvSpPr>
          <p:cNvPr id="34" name="Shape 31"/>
          <p:cNvSpPr/>
          <p:nvPr/>
        </p:nvSpPr>
        <p:spPr>
          <a:xfrm>
            <a:off x="1380490" y="4735785"/>
            <a:ext cx="147066" cy="73959"/>
          </a:xfrm>
          <a:prstGeom prst="rect">
            <a:avLst/>
          </a:prstGeom>
          <a:solidFill>
            <a:srgbClr val="2DD4BF">
              <a:alpha val="38000"/>
            </a:srgbClr>
          </a:solidFill>
          <a:ln/>
        </p:spPr>
        <p:txBody>
          <a:bodyPr/>
          <a:lstStyle/>
          <a:p>
            <a:endParaRPr lang="en-IN"/>
          </a:p>
        </p:txBody>
      </p:sp>
      <p:sp>
        <p:nvSpPr>
          <p:cNvPr id="35" name="Shape 32"/>
          <p:cNvSpPr/>
          <p:nvPr/>
        </p:nvSpPr>
        <p:spPr>
          <a:xfrm>
            <a:off x="1625600" y="4562254"/>
            <a:ext cx="147066" cy="247490"/>
          </a:xfrm>
          <a:prstGeom prst="rect">
            <a:avLst/>
          </a:prstGeom>
          <a:solidFill>
            <a:srgbClr val="2DD4BF">
              <a:alpha val="38000"/>
            </a:srgbClr>
          </a:solidFill>
          <a:ln/>
        </p:spPr>
        <p:txBody>
          <a:bodyPr/>
          <a:lstStyle/>
          <a:p>
            <a:endParaRPr lang="en-IN"/>
          </a:p>
        </p:txBody>
      </p:sp>
      <p:sp>
        <p:nvSpPr>
          <p:cNvPr id="36" name="Shape 33"/>
          <p:cNvSpPr/>
          <p:nvPr/>
        </p:nvSpPr>
        <p:spPr>
          <a:xfrm>
            <a:off x="1870710" y="4700189"/>
            <a:ext cx="147066" cy="109555"/>
          </a:xfrm>
          <a:prstGeom prst="rect">
            <a:avLst/>
          </a:prstGeom>
          <a:solidFill>
            <a:srgbClr val="2DD4BF">
              <a:alpha val="38000"/>
            </a:srgbClr>
          </a:solidFill>
          <a:ln/>
        </p:spPr>
        <p:txBody>
          <a:bodyPr/>
          <a:lstStyle/>
          <a:p>
            <a:endParaRPr lang="en-IN"/>
          </a:p>
        </p:txBody>
      </p:sp>
      <p:sp>
        <p:nvSpPr>
          <p:cNvPr id="37" name="Shape 34"/>
          <p:cNvSpPr/>
          <p:nvPr/>
        </p:nvSpPr>
        <p:spPr>
          <a:xfrm>
            <a:off x="2115820" y="4553355"/>
            <a:ext cx="147066" cy="256389"/>
          </a:xfrm>
          <a:prstGeom prst="rect">
            <a:avLst/>
          </a:prstGeom>
          <a:solidFill>
            <a:srgbClr val="2DD4BF">
              <a:alpha val="38000"/>
            </a:srgbClr>
          </a:solidFill>
          <a:ln/>
        </p:spPr>
        <p:txBody>
          <a:bodyPr/>
          <a:lstStyle/>
          <a:p>
            <a:endParaRPr lang="en-IN"/>
          </a:p>
        </p:txBody>
      </p:sp>
      <p:sp>
        <p:nvSpPr>
          <p:cNvPr id="38" name="Shape 35"/>
          <p:cNvSpPr/>
          <p:nvPr/>
        </p:nvSpPr>
        <p:spPr>
          <a:xfrm>
            <a:off x="2360930" y="4699076"/>
            <a:ext cx="147066" cy="110668"/>
          </a:xfrm>
          <a:prstGeom prst="rect">
            <a:avLst/>
          </a:prstGeom>
          <a:solidFill>
            <a:srgbClr val="2DD4BF">
              <a:alpha val="38000"/>
            </a:srgbClr>
          </a:solidFill>
          <a:ln/>
        </p:spPr>
        <p:txBody>
          <a:bodyPr/>
          <a:lstStyle/>
          <a:p>
            <a:endParaRPr lang="en-IN"/>
          </a:p>
        </p:txBody>
      </p:sp>
      <p:sp>
        <p:nvSpPr>
          <p:cNvPr id="39" name="Shape 36"/>
          <p:cNvSpPr/>
          <p:nvPr/>
        </p:nvSpPr>
        <p:spPr>
          <a:xfrm>
            <a:off x="2606040" y="4508859"/>
            <a:ext cx="147066" cy="300885"/>
          </a:xfrm>
          <a:prstGeom prst="rect">
            <a:avLst/>
          </a:prstGeom>
          <a:solidFill>
            <a:srgbClr val="2DD4BF">
              <a:alpha val="38000"/>
            </a:srgbClr>
          </a:solidFill>
          <a:ln/>
        </p:spPr>
        <p:txBody>
          <a:bodyPr/>
          <a:lstStyle/>
          <a:p>
            <a:endParaRPr lang="en-IN"/>
          </a:p>
        </p:txBody>
      </p:sp>
      <p:sp>
        <p:nvSpPr>
          <p:cNvPr id="40" name="Shape 37"/>
          <p:cNvSpPr/>
          <p:nvPr/>
        </p:nvSpPr>
        <p:spPr>
          <a:xfrm>
            <a:off x="2851150" y="4636783"/>
            <a:ext cx="147066" cy="172961"/>
          </a:xfrm>
          <a:prstGeom prst="rect">
            <a:avLst/>
          </a:prstGeom>
          <a:solidFill>
            <a:srgbClr val="2DD4BF">
              <a:alpha val="38000"/>
            </a:srgbClr>
          </a:solidFill>
          <a:ln/>
        </p:spPr>
        <p:txBody>
          <a:bodyPr/>
          <a:lstStyle/>
          <a:p>
            <a:endParaRPr lang="en-IN"/>
          </a:p>
        </p:txBody>
      </p:sp>
      <p:sp>
        <p:nvSpPr>
          <p:cNvPr id="41" name="Shape 38"/>
          <p:cNvSpPr/>
          <p:nvPr/>
        </p:nvSpPr>
        <p:spPr>
          <a:xfrm>
            <a:off x="3096260" y="4602299"/>
            <a:ext cx="147066" cy="207445"/>
          </a:xfrm>
          <a:prstGeom prst="rect">
            <a:avLst/>
          </a:prstGeom>
          <a:solidFill>
            <a:srgbClr val="2DD4BF">
              <a:alpha val="38000"/>
            </a:srgbClr>
          </a:solidFill>
          <a:ln/>
        </p:spPr>
        <p:txBody>
          <a:bodyPr/>
          <a:lstStyle/>
          <a:p>
            <a:endParaRPr lang="en-IN"/>
          </a:p>
        </p:txBody>
      </p:sp>
      <p:sp>
        <p:nvSpPr>
          <p:cNvPr id="42" name="Shape 39"/>
          <p:cNvSpPr/>
          <p:nvPr/>
        </p:nvSpPr>
        <p:spPr>
          <a:xfrm>
            <a:off x="3341370" y="4699076"/>
            <a:ext cx="147066" cy="110668"/>
          </a:xfrm>
          <a:prstGeom prst="rect">
            <a:avLst/>
          </a:prstGeom>
          <a:solidFill>
            <a:srgbClr val="2DD4BF">
              <a:alpha val="38000"/>
            </a:srgbClr>
          </a:solidFill>
          <a:ln/>
        </p:spPr>
        <p:txBody>
          <a:bodyPr/>
          <a:lstStyle/>
          <a:p>
            <a:endParaRPr lang="en-IN"/>
          </a:p>
        </p:txBody>
      </p:sp>
      <p:sp>
        <p:nvSpPr>
          <p:cNvPr id="43" name="Shape 40"/>
          <p:cNvSpPr/>
          <p:nvPr/>
        </p:nvSpPr>
        <p:spPr>
          <a:xfrm>
            <a:off x="3586480" y="4741347"/>
            <a:ext cx="147066" cy="68397"/>
          </a:xfrm>
          <a:prstGeom prst="rect">
            <a:avLst/>
          </a:prstGeom>
          <a:solidFill>
            <a:srgbClr val="2DD4BF"/>
          </a:solidFill>
          <a:ln/>
        </p:spPr>
        <p:txBody>
          <a:bodyPr/>
          <a:lstStyle/>
          <a:p>
            <a:endParaRPr lang="en-IN"/>
          </a:p>
        </p:txBody>
      </p:sp>
      <p:sp>
        <p:nvSpPr>
          <p:cNvPr id="44" name="Shape 41"/>
          <p:cNvSpPr/>
          <p:nvPr/>
        </p:nvSpPr>
        <p:spPr>
          <a:xfrm>
            <a:off x="4331208" y="3163824"/>
            <a:ext cx="3526536" cy="1755648"/>
          </a:xfrm>
          <a:prstGeom prst="roundRect">
            <a:avLst>
              <a:gd name="adj" fmla="val 4167"/>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45" name="Shape 42"/>
          <p:cNvSpPr/>
          <p:nvPr/>
        </p:nvSpPr>
        <p:spPr>
          <a:xfrm>
            <a:off x="4623816" y="3474720"/>
            <a:ext cx="137160" cy="137160"/>
          </a:xfrm>
          <a:prstGeom prst="ellipse">
            <a:avLst/>
          </a:prstGeom>
          <a:solidFill>
            <a:srgbClr val="FB7185"/>
          </a:solidFill>
          <a:ln/>
        </p:spPr>
        <p:txBody>
          <a:bodyPr/>
          <a:lstStyle/>
          <a:p>
            <a:endParaRPr lang="en-IN"/>
          </a:p>
        </p:txBody>
      </p:sp>
      <p:sp>
        <p:nvSpPr>
          <p:cNvPr id="46" name="Text 43"/>
          <p:cNvSpPr/>
          <p:nvPr/>
        </p:nvSpPr>
        <p:spPr>
          <a:xfrm>
            <a:off x="4834128" y="3419856"/>
            <a:ext cx="2795016" cy="274320"/>
          </a:xfrm>
          <a:prstGeom prst="rect">
            <a:avLst/>
          </a:prstGeom>
          <a:noFill/>
          <a:ln/>
        </p:spPr>
        <p:txBody>
          <a:bodyPr wrap="square" lIns="0" tIns="0" rIns="0" bIns="0" rtlCol="0" anchor="ctr"/>
          <a:lstStyle/>
          <a:p>
            <a:pPr marL="0" indent="0">
              <a:buNone/>
            </a:pPr>
            <a:r>
              <a:rPr lang="en-US" sz="1100" b="1" kern="0" spc="150" dirty="0">
                <a:solidFill>
                  <a:srgbClr val="FB7185"/>
                </a:solidFill>
                <a:latin typeface="Arial" pitchFamily="34" charset="0"/>
                <a:ea typeface="Arial" pitchFamily="34" charset="-122"/>
                <a:cs typeface="Arial" pitchFamily="34" charset="-120"/>
              </a:rPr>
              <a:t>RETURN + CANCEL</a:t>
            </a:r>
            <a:endParaRPr lang="en-US" sz="1100" dirty="0"/>
          </a:p>
        </p:txBody>
      </p:sp>
      <p:sp>
        <p:nvSpPr>
          <p:cNvPr id="47" name="Text 44"/>
          <p:cNvSpPr/>
          <p:nvPr/>
        </p:nvSpPr>
        <p:spPr>
          <a:xfrm>
            <a:off x="4605528" y="3694176"/>
            <a:ext cx="1554480" cy="548640"/>
          </a:xfrm>
          <a:prstGeom prst="rect">
            <a:avLst/>
          </a:prstGeom>
          <a:noFill/>
          <a:ln/>
        </p:spPr>
        <p:txBody>
          <a:bodyPr wrap="none" lIns="0" tIns="0" rIns="0" bIns="0" rtlCol="0" anchor="ctr"/>
          <a:lstStyle/>
          <a:p>
            <a:pPr marL="0" indent="0">
              <a:buNone/>
            </a:pPr>
            <a:r>
              <a:rPr lang="en-US" sz="3000" b="1" dirty="0">
                <a:solidFill>
                  <a:srgbClr val="F1F5F9"/>
                </a:solidFill>
                <a:latin typeface="Arial" pitchFamily="34" charset="0"/>
                <a:ea typeface="Arial" pitchFamily="34" charset="-122"/>
                <a:cs typeface="Arial" pitchFamily="34" charset="-120"/>
              </a:rPr>
              <a:t>32.9%</a:t>
            </a:r>
            <a:endParaRPr lang="en-US" sz="3000" dirty="0"/>
          </a:p>
        </p:txBody>
      </p:sp>
      <p:sp>
        <p:nvSpPr>
          <p:cNvPr id="48" name="Text 45"/>
          <p:cNvSpPr/>
          <p:nvPr/>
        </p:nvSpPr>
        <p:spPr>
          <a:xfrm>
            <a:off x="4623816" y="4242816"/>
            <a:ext cx="2977896" cy="237744"/>
          </a:xfrm>
          <a:prstGeom prst="rect">
            <a:avLst/>
          </a:prstGeom>
          <a:noFill/>
          <a:ln/>
        </p:spPr>
        <p:txBody>
          <a:bodyPr wrap="square" lIns="0" tIns="0" rIns="0" bIns="0" rtlCol="0" anchor="t"/>
          <a:lstStyle/>
          <a:p>
            <a:pPr marL="0" indent="0">
              <a:buNone/>
            </a:pPr>
            <a:r>
              <a:rPr lang="en-US" sz="950" dirty="0">
                <a:solidFill>
                  <a:srgbClr val="94A3B8"/>
                </a:solidFill>
                <a:latin typeface="Arial" pitchFamily="34" charset="0"/>
                <a:ea typeface="Arial" pitchFamily="34" charset="-122"/>
                <a:cs typeface="Arial" pitchFamily="34" charset="-120"/>
              </a:rPr>
              <a:t>Returned or cancelled orders</a:t>
            </a:r>
            <a:endParaRPr lang="en-US" sz="950" dirty="0"/>
          </a:p>
        </p:txBody>
      </p:sp>
      <p:sp>
        <p:nvSpPr>
          <p:cNvPr id="49" name="Shape 46"/>
          <p:cNvSpPr/>
          <p:nvPr/>
        </p:nvSpPr>
        <p:spPr>
          <a:xfrm>
            <a:off x="4672838" y="4572652"/>
            <a:ext cx="147066" cy="237092"/>
          </a:xfrm>
          <a:prstGeom prst="rect">
            <a:avLst/>
          </a:prstGeom>
          <a:solidFill>
            <a:srgbClr val="FB7185">
              <a:alpha val="38000"/>
            </a:srgbClr>
          </a:solidFill>
          <a:ln/>
        </p:spPr>
        <p:txBody>
          <a:bodyPr/>
          <a:lstStyle/>
          <a:p>
            <a:endParaRPr lang="en-IN"/>
          </a:p>
        </p:txBody>
      </p:sp>
      <p:sp>
        <p:nvSpPr>
          <p:cNvPr id="50" name="Shape 47"/>
          <p:cNvSpPr/>
          <p:nvPr/>
        </p:nvSpPr>
        <p:spPr>
          <a:xfrm>
            <a:off x="4917948" y="4741347"/>
            <a:ext cx="147066" cy="68397"/>
          </a:xfrm>
          <a:prstGeom prst="rect">
            <a:avLst/>
          </a:prstGeom>
          <a:solidFill>
            <a:srgbClr val="FB7185">
              <a:alpha val="38000"/>
            </a:srgbClr>
          </a:solidFill>
          <a:ln/>
        </p:spPr>
        <p:txBody>
          <a:bodyPr/>
          <a:lstStyle/>
          <a:p>
            <a:endParaRPr lang="en-IN"/>
          </a:p>
        </p:txBody>
      </p:sp>
      <p:sp>
        <p:nvSpPr>
          <p:cNvPr id="51" name="Shape 48"/>
          <p:cNvSpPr/>
          <p:nvPr/>
        </p:nvSpPr>
        <p:spPr>
          <a:xfrm>
            <a:off x="5163058" y="4498848"/>
            <a:ext cx="147066" cy="310896"/>
          </a:xfrm>
          <a:prstGeom prst="rect">
            <a:avLst/>
          </a:prstGeom>
          <a:solidFill>
            <a:srgbClr val="FB7185">
              <a:alpha val="38000"/>
            </a:srgbClr>
          </a:solidFill>
          <a:ln/>
        </p:spPr>
        <p:txBody>
          <a:bodyPr/>
          <a:lstStyle/>
          <a:p>
            <a:endParaRPr lang="en-IN"/>
          </a:p>
        </p:txBody>
      </p:sp>
      <p:sp>
        <p:nvSpPr>
          <p:cNvPr id="52" name="Shape 49"/>
          <p:cNvSpPr/>
          <p:nvPr/>
        </p:nvSpPr>
        <p:spPr>
          <a:xfrm>
            <a:off x="5408168" y="4616448"/>
            <a:ext cx="147066" cy="193296"/>
          </a:xfrm>
          <a:prstGeom prst="rect">
            <a:avLst/>
          </a:prstGeom>
          <a:solidFill>
            <a:srgbClr val="FB7185">
              <a:alpha val="38000"/>
            </a:srgbClr>
          </a:solidFill>
          <a:ln/>
        </p:spPr>
        <p:txBody>
          <a:bodyPr/>
          <a:lstStyle/>
          <a:p>
            <a:endParaRPr lang="en-IN"/>
          </a:p>
        </p:txBody>
      </p:sp>
      <p:sp>
        <p:nvSpPr>
          <p:cNvPr id="53" name="Shape 50"/>
          <p:cNvSpPr/>
          <p:nvPr/>
        </p:nvSpPr>
        <p:spPr>
          <a:xfrm>
            <a:off x="5653278" y="4631857"/>
            <a:ext cx="147066" cy="177887"/>
          </a:xfrm>
          <a:prstGeom prst="rect">
            <a:avLst/>
          </a:prstGeom>
          <a:solidFill>
            <a:srgbClr val="FB7185">
              <a:alpha val="38000"/>
            </a:srgbClr>
          </a:solidFill>
          <a:ln/>
        </p:spPr>
        <p:txBody>
          <a:bodyPr/>
          <a:lstStyle/>
          <a:p>
            <a:endParaRPr lang="en-IN"/>
          </a:p>
        </p:txBody>
      </p:sp>
      <p:sp>
        <p:nvSpPr>
          <p:cNvPr id="54" name="Shape 51"/>
          <p:cNvSpPr/>
          <p:nvPr/>
        </p:nvSpPr>
        <p:spPr>
          <a:xfrm>
            <a:off x="5898388" y="4605904"/>
            <a:ext cx="147066" cy="203840"/>
          </a:xfrm>
          <a:prstGeom prst="rect">
            <a:avLst/>
          </a:prstGeom>
          <a:solidFill>
            <a:srgbClr val="FB7185">
              <a:alpha val="38000"/>
            </a:srgbClr>
          </a:solidFill>
          <a:ln/>
        </p:spPr>
        <p:txBody>
          <a:bodyPr/>
          <a:lstStyle/>
          <a:p>
            <a:endParaRPr lang="en-IN"/>
          </a:p>
        </p:txBody>
      </p:sp>
      <p:sp>
        <p:nvSpPr>
          <p:cNvPr id="55" name="Shape 52"/>
          <p:cNvSpPr/>
          <p:nvPr/>
        </p:nvSpPr>
        <p:spPr>
          <a:xfrm>
            <a:off x="6143498" y="4606715"/>
            <a:ext cx="147066" cy="203029"/>
          </a:xfrm>
          <a:prstGeom prst="rect">
            <a:avLst/>
          </a:prstGeom>
          <a:solidFill>
            <a:srgbClr val="FB7185">
              <a:alpha val="38000"/>
            </a:srgbClr>
          </a:solidFill>
          <a:ln/>
        </p:spPr>
        <p:txBody>
          <a:bodyPr/>
          <a:lstStyle/>
          <a:p>
            <a:endParaRPr lang="en-IN"/>
          </a:p>
        </p:txBody>
      </p:sp>
      <p:sp>
        <p:nvSpPr>
          <p:cNvPr id="56" name="Shape 53"/>
          <p:cNvSpPr/>
          <p:nvPr/>
        </p:nvSpPr>
        <p:spPr>
          <a:xfrm>
            <a:off x="6388608" y="4605093"/>
            <a:ext cx="147066" cy="204651"/>
          </a:xfrm>
          <a:prstGeom prst="rect">
            <a:avLst/>
          </a:prstGeom>
          <a:solidFill>
            <a:srgbClr val="FB7185">
              <a:alpha val="38000"/>
            </a:srgbClr>
          </a:solidFill>
          <a:ln/>
        </p:spPr>
        <p:txBody>
          <a:bodyPr/>
          <a:lstStyle/>
          <a:p>
            <a:endParaRPr lang="en-IN"/>
          </a:p>
        </p:txBody>
      </p:sp>
      <p:sp>
        <p:nvSpPr>
          <p:cNvPr id="57" name="Shape 54"/>
          <p:cNvSpPr/>
          <p:nvPr/>
        </p:nvSpPr>
        <p:spPr>
          <a:xfrm>
            <a:off x="6633718" y="4605904"/>
            <a:ext cx="147066" cy="203840"/>
          </a:xfrm>
          <a:prstGeom prst="rect">
            <a:avLst/>
          </a:prstGeom>
          <a:solidFill>
            <a:srgbClr val="FB7185">
              <a:alpha val="38000"/>
            </a:srgbClr>
          </a:solidFill>
          <a:ln/>
        </p:spPr>
        <p:txBody>
          <a:bodyPr/>
          <a:lstStyle/>
          <a:p>
            <a:endParaRPr lang="en-IN"/>
          </a:p>
        </p:txBody>
      </p:sp>
      <p:sp>
        <p:nvSpPr>
          <p:cNvPr id="58" name="Shape 55"/>
          <p:cNvSpPr/>
          <p:nvPr/>
        </p:nvSpPr>
        <p:spPr>
          <a:xfrm>
            <a:off x="6878828" y="4579951"/>
            <a:ext cx="147066" cy="229793"/>
          </a:xfrm>
          <a:prstGeom prst="rect">
            <a:avLst/>
          </a:prstGeom>
          <a:solidFill>
            <a:srgbClr val="FB7185">
              <a:alpha val="38000"/>
            </a:srgbClr>
          </a:solidFill>
          <a:ln/>
        </p:spPr>
        <p:txBody>
          <a:bodyPr/>
          <a:lstStyle/>
          <a:p>
            <a:endParaRPr lang="en-IN"/>
          </a:p>
        </p:txBody>
      </p:sp>
      <p:sp>
        <p:nvSpPr>
          <p:cNvPr id="59" name="Shape 56"/>
          <p:cNvSpPr/>
          <p:nvPr/>
        </p:nvSpPr>
        <p:spPr>
          <a:xfrm>
            <a:off x="7123938" y="4583195"/>
            <a:ext cx="147066" cy="226549"/>
          </a:xfrm>
          <a:prstGeom prst="rect">
            <a:avLst/>
          </a:prstGeom>
          <a:solidFill>
            <a:srgbClr val="FB7185">
              <a:alpha val="38000"/>
            </a:srgbClr>
          </a:solidFill>
          <a:ln/>
        </p:spPr>
        <p:txBody>
          <a:bodyPr/>
          <a:lstStyle/>
          <a:p>
            <a:endParaRPr lang="en-IN"/>
          </a:p>
        </p:txBody>
      </p:sp>
      <p:sp>
        <p:nvSpPr>
          <p:cNvPr id="60" name="Shape 57"/>
          <p:cNvSpPr/>
          <p:nvPr/>
        </p:nvSpPr>
        <p:spPr>
          <a:xfrm>
            <a:off x="7369048" y="4599416"/>
            <a:ext cx="147066" cy="210328"/>
          </a:xfrm>
          <a:prstGeom prst="rect">
            <a:avLst/>
          </a:prstGeom>
          <a:solidFill>
            <a:srgbClr val="FB7185"/>
          </a:solidFill>
          <a:ln/>
        </p:spPr>
        <p:txBody>
          <a:bodyPr/>
          <a:lstStyle/>
          <a:p>
            <a:endParaRPr lang="en-IN"/>
          </a:p>
        </p:txBody>
      </p:sp>
      <p:sp>
        <p:nvSpPr>
          <p:cNvPr id="61" name="Shape 58"/>
          <p:cNvSpPr/>
          <p:nvPr/>
        </p:nvSpPr>
        <p:spPr>
          <a:xfrm>
            <a:off x="8113776" y="3163824"/>
            <a:ext cx="3526536" cy="1755648"/>
          </a:xfrm>
          <a:prstGeom prst="roundRect">
            <a:avLst>
              <a:gd name="adj" fmla="val 4167"/>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62" name="Shape 59"/>
          <p:cNvSpPr/>
          <p:nvPr/>
        </p:nvSpPr>
        <p:spPr>
          <a:xfrm>
            <a:off x="8406384" y="3474720"/>
            <a:ext cx="137160" cy="137160"/>
          </a:xfrm>
          <a:prstGeom prst="ellipse">
            <a:avLst/>
          </a:prstGeom>
          <a:solidFill>
            <a:srgbClr val="FBBF24"/>
          </a:solidFill>
          <a:ln/>
        </p:spPr>
        <p:txBody>
          <a:bodyPr/>
          <a:lstStyle/>
          <a:p>
            <a:endParaRPr lang="en-IN"/>
          </a:p>
        </p:txBody>
      </p:sp>
      <p:sp>
        <p:nvSpPr>
          <p:cNvPr id="63" name="Text 60"/>
          <p:cNvSpPr/>
          <p:nvPr/>
        </p:nvSpPr>
        <p:spPr>
          <a:xfrm>
            <a:off x="8616696" y="3419856"/>
            <a:ext cx="2795016" cy="274320"/>
          </a:xfrm>
          <a:prstGeom prst="rect">
            <a:avLst/>
          </a:prstGeom>
          <a:noFill/>
          <a:ln/>
        </p:spPr>
        <p:txBody>
          <a:bodyPr wrap="square" lIns="0" tIns="0" rIns="0" bIns="0" rtlCol="0" anchor="ctr"/>
          <a:lstStyle/>
          <a:p>
            <a:pPr marL="0" indent="0">
              <a:buNone/>
            </a:pPr>
            <a:r>
              <a:rPr lang="en-US" sz="1100" b="1" kern="0" spc="150" dirty="0">
                <a:solidFill>
                  <a:srgbClr val="FBBF24"/>
                </a:solidFill>
                <a:latin typeface="Arial" pitchFamily="34" charset="0"/>
                <a:ea typeface="Arial" pitchFamily="34" charset="-122"/>
                <a:cs typeface="Arial" pitchFamily="34" charset="-120"/>
              </a:rPr>
              <a:t>IN-TRANSIT / PENDING</a:t>
            </a:r>
            <a:endParaRPr lang="en-US" sz="1100" dirty="0"/>
          </a:p>
        </p:txBody>
      </p:sp>
      <p:sp>
        <p:nvSpPr>
          <p:cNvPr id="64" name="Text 61"/>
          <p:cNvSpPr/>
          <p:nvPr/>
        </p:nvSpPr>
        <p:spPr>
          <a:xfrm>
            <a:off x="8388096" y="3694176"/>
            <a:ext cx="1554480" cy="548640"/>
          </a:xfrm>
          <a:prstGeom prst="rect">
            <a:avLst/>
          </a:prstGeom>
          <a:noFill/>
          <a:ln/>
        </p:spPr>
        <p:txBody>
          <a:bodyPr wrap="none" lIns="0" tIns="0" rIns="0" bIns="0" rtlCol="0" anchor="ctr"/>
          <a:lstStyle/>
          <a:p>
            <a:pPr marL="0" indent="0">
              <a:buNone/>
            </a:pPr>
            <a:r>
              <a:rPr lang="en-US" sz="3000" b="1" dirty="0">
                <a:solidFill>
                  <a:srgbClr val="F1F5F9"/>
                </a:solidFill>
                <a:latin typeface="Arial" pitchFamily="34" charset="0"/>
                <a:ea typeface="Arial" pitchFamily="34" charset="-122"/>
                <a:cs typeface="Arial" pitchFamily="34" charset="-120"/>
              </a:rPr>
              <a:t>31.7%</a:t>
            </a:r>
            <a:endParaRPr lang="en-US" sz="3000" dirty="0"/>
          </a:p>
        </p:txBody>
      </p:sp>
      <p:sp>
        <p:nvSpPr>
          <p:cNvPr id="65" name="Text 62"/>
          <p:cNvSpPr/>
          <p:nvPr/>
        </p:nvSpPr>
        <p:spPr>
          <a:xfrm>
            <a:off x="8406384" y="4242816"/>
            <a:ext cx="2977896" cy="237744"/>
          </a:xfrm>
          <a:prstGeom prst="rect">
            <a:avLst/>
          </a:prstGeom>
          <a:noFill/>
          <a:ln/>
        </p:spPr>
        <p:txBody>
          <a:bodyPr wrap="square" lIns="0" tIns="0" rIns="0" bIns="0" rtlCol="0" anchor="t"/>
          <a:lstStyle/>
          <a:p>
            <a:pPr marL="0" indent="0">
              <a:buNone/>
            </a:pPr>
            <a:r>
              <a:rPr lang="en-US" sz="950" dirty="0">
                <a:solidFill>
                  <a:srgbClr val="94A3B8"/>
                </a:solidFill>
                <a:latin typeface="Arial" pitchFamily="34" charset="0"/>
                <a:ea typeface="Arial" pitchFamily="34" charset="-122"/>
                <a:cs typeface="Arial" pitchFamily="34" charset="-120"/>
              </a:rPr>
              <a:t>Shipped or pending orders</a:t>
            </a:r>
            <a:endParaRPr lang="en-US" sz="950" dirty="0"/>
          </a:p>
        </p:txBody>
      </p:sp>
      <p:sp>
        <p:nvSpPr>
          <p:cNvPr id="66" name="Shape 63"/>
          <p:cNvSpPr/>
          <p:nvPr/>
        </p:nvSpPr>
        <p:spPr>
          <a:xfrm>
            <a:off x="8455406" y="4614212"/>
            <a:ext cx="147066" cy="195532"/>
          </a:xfrm>
          <a:prstGeom prst="rect">
            <a:avLst/>
          </a:prstGeom>
          <a:solidFill>
            <a:srgbClr val="FBBF24">
              <a:alpha val="38000"/>
            </a:srgbClr>
          </a:solidFill>
          <a:ln/>
        </p:spPr>
        <p:txBody>
          <a:bodyPr/>
          <a:lstStyle/>
          <a:p>
            <a:endParaRPr lang="en-IN"/>
          </a:p>
        </p:txBody>
      </p:sp>
      <p:sp>
        <p:nvSpPr>
          <p:cNvPr id="67" name="Shape 64"/>
          <p:cNvSpPr/>
          <p:nvPr/>
        </p:nvSpPr>
        <p:spPr>
          <a:xfrm>
            <a:off x="8700516" y="4554175"/>
            <a:ext cx="147066" cy="255569"/>
          </a:xfrm>
          <a:prstGeom prst="rect">
            <a:avLst/>
          </a:prstGeom>
          <a:solidFill>
            <a:srgbClr val="FBBF24">
              <a:alpha val="38000"/>
            </a:srgbClr>
          </a:solidFill>
          <a:ln/>
        </p:spPr>
        <p:txBody>
          <a:bodyPr/>
          <a:lstStyle/>
          <a:p>
            <a:endParaRPr lang="en-IN"/>
          </a:p>
        </p:txBody>
      </p:sp>
      <p:sp>
        <p:nvSpPr>
          <p:cNvPr id="68" name="Shape 65"/>
          <p:cNvSpPr/>
          <p:nvPr/>
        </p:nvSpPr>
        <p:spPr>
          <a:xfrm>
            <a:off x="8945626" y="4654236"/>
            <a:ext cx="147066" cy="155508"/>
          </a:xfrm>
          <a:prstGeom prst="rect">
            <a:avLst/>
          </a:prstGeom>
          <a:solidFill>
            <a:srgbClr val="FBBF24">
              <a:alpha val="38000"/>
            </a:srgbClr>
          </a:solidFill>
          <a:ln/>
        </p:spPr>
        <p:txBody>
          <a:bodyPr/>
          <a:lstStyle/>
          <a:p>
            <a:endParaRPr lang="en-IN"/>
          </a:p>
        </p:txBody>
      </p:sp>
      <p:sp>
        <p:nvSpPr>
          <p:cNvPr id="69" name="Shape 66"/>
          <p:cNvSpPr/>
          <p:nvPr/>
        </p:nvSpPr>
        <p:spPr>
          <a:xfrm>
            <a:off x="9190736" y="4668362"/>
            <a:ext cx="147066" cy="141382"/>
          </a:xfrm>
          <a:prstGeom prst="rect">
            <a:avLst/>
          </a:prstGeom>
          <a:solidFill>
            <a:srgbClr val="FBBF24">
              <a:alpha val="38000"/>
            </a:srgbClr>
          </a:solidFill>
          <a:ln/>
        </p:spPr>
        <p:txBody>
          <a:bodyPr/>
          <a:lstStyle/>
          <a:p>
            <a:endParaRPr lang="en-IN"/>
          </a:p>
        </p:txBody>
      </p:sp>
      <p:sp>
        <p:nvSpPr>
          <p:cNvPr id="70" name="Shape 67"/>
          <p:cNvSpPr/>
          <p:nvPr/>
        </p:nvSpPr>
        <p:spPr>
          <a:xfrm>
            <a:off x="9435846" y="4498848"/>
            <a:ext cx="147066" cy="310896"/>
          </a:xfrm>
          <a:prstGeom prst="rect">
            <a:avLst/>
          </a:prstGeom>
          <a:solidFill>
            <a:srgbClr val="FBBF24">
              <a:alpha val="38000"/>
            </a:srgbClr>
          </a:solidFill>
          <a:ln/>
        </p:spPr>
        <p:txBody>
          <a:bodyPr/>
          <a:lstStyle/>
          <a:p>
            <a:endParaRPr lang="en-IN"/>
          </a:p>
        </p:txBody>
      </p:sp>
      <p:sp>
        <p:nvSpPr>
          <p:cNvPr id="71" name="Shape 68"/>
          <p:cNvSpPr/>
          <p:nvPr/>
        </p:nvSpPr>
        <p:spPr>
          <a:xfrm>
            <a:off x="9680956" y="4693083"/>
            <a:ext cx="147066" cy="116661"/>
          </a:xfrm>
          <a:prstGeom prst="rect">
            <a:avLst/>
          </a:prstGeom>
          <a:solidFill>
            <a:srgbClr val="FBBF24">
              <a:alpha val="38000"/>
            </a:srgbClr>
          </a:solidFill>
          <a:ln/>
        </p:spPr>
        <p:txBody>
          <a:bodyPr/>
          <a:lstStyle/>
          <a:p>
            <a:endParaRPr lang="en-IN"/>
          </a:p>
        </p:txBody>
      </p:sp>
      <p:sp>
        <p:nvSpPr>
          <p:cNvPr id="72" name="Shape 69"/>
          <p:cNvSpPr/>
          <p:nvPr/>
        </p:nvSpPr>
        <p:spPr>
          <a:xfrm>
            <a:off x="9926066" y="4537695"/>
            <a:ext cx="147066" cy="272049"/>
          </a:xfrm>
          <a:prstGeom prst="rect">
            <a:avLst/>
          </a:prstGeom>
          <a:solidFill>
            <a:srgbClr val="FBBF24">
              <a:alpha val="38000"/>
            </a:srgbClr>
          </a:solidFill>
          <a:ln/>
        </p:spPr>
        <p:txBody>
          <a:bodyPr/>
          <a:lstStyle/>
          <a:p>
            <a:endParaRPr lang="en-IN"/>
          </a:p>
        </p:txBody>
      </p:sp>
      <p:sp>
        <p:nvSpPr>
          <p:cNvPr id="73" name="Shape 70"/>
          <p:cNvSpPr/>
          <p:nvPr/>
        </p:nvSpPr>
        <p:spPr>
          <a:xfrm>
            <a:off x="10171176" y="4741347"/>
            <a:ext cx="147066" cy="68397"/>
          </a:xfrm>
          <a:prstGeom prst="rect">
            <a:avLst/>
          </a:prstGeom>
          <a:solidFill>
            <a:srgbClr val="FBBF24">
              <a:alpha val="38000"/>
            </a:srgbClr>
          </a:solidFill>
          <a:ln/>
        </p:spPr>
        <p:txBody>
          <a:bodyPr/>
          <a:lstStyle/>
          <a:p>
            <a:endParaRPr lang="en-IN"/>
          </a:p>
        </p:txBody>
      </p:sp>
      <p:sp>
        <p:nvSpPr>
          <p:cNvPr id="74" name="Shape 71"/>
          <p:cNvSpPr/>
          <p:nvPr/>
        </p:nvSpPr>
        <p:spPr>
          <a:xfrm>
            <a:off x="10416286" y="4604794"/>
            <a:ext cx="147066" cy="204950"/>
          </a:xfrm>
          <a:prstGeom prst="rect">
            <a:avLst/>
          </a:prstGeom>
          <a:solidFill>
            <a:srgbClr val="FBBF24">
              <a:alpha val="38000"/>
            </a:srgbClr>
          </a:solidFill>
          <a:ln/>
        </p:spPr>
        <p:txBody>
          <a:bodyPr/>
          <a:lstStyle/>
          <a:p>
            <a:endParaRPr lang="en-IN"/>
          </a:p>
        </p:txBody>
      </p:sp>
      <p:sp>
        <p:nvSpPr>
          <p:cNvPr id="75" name="Shape 72"/>
          <p:cNvSpPr/>
          <p:nvPr/>
        </p:nvSpPr>
        <p:spPr>
          <a:xfrm>
            <a:off x="10661396" y="4678956"/>
            <a:ext cx="147066" cy="130788"/>
          </a:xfrm>
          <a:prstGeom prst="rect">
            <a:avLst/>
          </a:prstGeom>
          <a:solidFill>
            <a:srgbClr val="FBBF24">
              <a:alpha val="38000"/>
            </a:srgbClr>
          </a:solidFill>
          <a:ln/>
        </p:spPr>
        <p:txBody>
          <a:bodyPr/>
          <a:lstStyle/>
          <a:p>
            <a:endParaRPr lang="en-IN"/>
          </a:p>
        </p:txBody>
      </p:sp>
      <p:sp>
        <p:nvSpPr>
          <p:cNvPr id="76" name="Shape 73"/>
          <p:cNvSpPr/>
          <p:nvPr/>
        </p:nvSpPr>
        <p:spPr>
          <a:xfrm>
            <a:off x="10906506" y="4571833"/>
            <a:ext cx="147066" cy="237911"/>
          </a:xfrm>
          <a:prstGeom prst="rect">
            <a:avLst/>
          </a:prstGeom>
          <a:solidFill>
            <a:srgbClr val="FBBF24">
              <a:alpha val="38000"/>
            </a:srgbClr>
          </a:solidFill>
          <a:ln/>
        </p:spPr>
        <p:txBody>
          <a:bodyPr/>
          <a:lstStyle/>
          <a:p>
            <a:endParaRPr lang="en-IN"/>
          </a:p>
        </p:txBody>
      </p:sp>
      <p:sp>
        <p:nvSpPr>
          <p:cNvPr id="77" name="Shape 74"/>
          <p:cNvSpPr/>
          <p:nvPr/>
        </p:nvSpPr>
        <p:spPr>
          <a:xfrm>
            <a:off x="11151616" y="4504734"/>
            <a:ext cx="147066" cy="305010"/>
          </a:xfrm>
          <a:prstGeom prst="rect">
            <a:avLst/>
          </a:prstGeom>
          <a:solidFill>
            <a:srgbClr val="FBBF24"/>
          </a:solidFill>
          <a:ln/>
        </p:spPr>
        <p:txBody>
          <a:bodyPr/>
          <a:lstStyle/>
          <a:p>
            <a:endParaRPr lang="en-IN"/>
          </a:p>
        </p:txBody>
      </p:sp>
      <p:sp>
        <p:nvSpPr>
          <p:cNvPr id="78" name="Text 75"/>
          <p:cNvSpPr/>
          <p:nvPr/>
        </p:nvSpPr>
        <p:spPr>
          <a:xfrm>
            <a:off x="548640" y="5029200"/>
            <a:ext cx="11091672" cy="237744"/>
          </a:xfrm>
          <a:prstGeom prst="rect">
            <a:avLst/>
          </a:prstGeom>
          <a:noFill/>
          <a:ln/>
        </p:spPr>
        <p:txBody>
          <a:bodyPr wrap="square" lIns="0" tIns="0" rIns="0" bIns="0" rtlCol="0" anchor="ctr"/>
          <a:lstStyle/>
          <a:p>
            <a:pPr marL="0" indent="0" algn="l">
              <a:buNone/>
            </a:pPr>
            <a:r>
              <a:rPr lang="en-US" sz="950" kern="0" spc="100" dirty="0">
                <a:solidFill>
                  <a:srgbClr val="5A6B7B"/>
                </a:solidFill>
                <a:latin typeface="Arial" pitchFamily="34" charset="0"/>
                <a:ea typeface="Arial" pitchFamily="34" charset="-122"/>
                <a:cs typeface="Arial" pitchFamily="34" charset="-120"/>
              </a:rPr>
              <a:t>Operational KPIs · quarterly trend, Q1'23–Q4'25</a:t>
            </a:r>
            <a:endParaRPr lang="en-US" sz="950" dirty="0"/>
          </a:p>
        </p:txBody>
      </p:sp>
      <p:sp>
        <p:nvSpPr>
          <p:cNvPr id="79" name="Shape 76"/>
          <p:cNvSpPr/>
          <p:nvPr/>
        </p:nvSpPr>
        <p:spPr>
          <a:xfrm>
            <a:off x="548640" y="5358384"/>
            <a:ext cx="11091672" cy="969264"/>
          </a:xfrm>
          <a:prstGeom prst="roundRect">
            <a:avLst>
              <a:gd name="adj" fmla="val 7547"/>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80" name="Shape 77"/>
          <p:cNvSpPr/>
          <p:nvPr/>
        </p:nvSpPr>
        <p:spPr>
          <a:xfrm>
            <a:off x="914400" y="5605272"/>
            <a:ext cx="146304" cy="146304"/>
          </a:xfrm>
          <a:prstGeom prst="ellipse">
            <a:avLst/>
          </a:prstGeom>
          <a:solidFill>
            <a:srgbClr val="22D3EE"/>
          </a:solidFill>
          <a:ln/>
        </p:spPr>
        <p:txBody>
          <a:bodyPr/>
          <a:lstStyle/>
          <a:p>
            <a:endParaRPr lang="en-IN"/>
          </a:p>
        </p:txBody>
      </p:sp>
      <p:sp>
        <p:nvSpPr>
          <p:cNvPr id="81" name="Text 78"/>
          <p:cNvSpPr/>
          <p:nvPr/>
        </p:nvSpPr>
        <p:spPr>
          <a:xfrm>
            <a:off x="1188720" y="5541264"/>
            <a:ext cx="2194560"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82" name="Text 79"/>
          <p:cNvSpPr/>
          <p:nvPr/>
        </p:nvSpPr>
        <p:spPr>
          <a:xfrm>
            <a:off x="914400" y="5815584"/>
            <a:ext cx="10360152" cy="438912"/>
          </a:xfrm>
          <a:prstGeom prst="rect">
            <a:avLst/>
          </a:prstGeom>
          <a:noFill/>
          <a:ln/>
        </p:spPr>
        <p:txBody>
          <a:bodyPr wrap="square" lIns="0" tIns="0" rIns="0" bIns="0" rtlCol="0" anchor="ctr"/>
          <a:lstStyle/>
          <a:p>
            <a:pPr marL="0" indent="0">
              <a:lnSpc>
                <a:spcPct val="105000"/>
              </a:lnSpc>
              <a:buNone/>
            </a:pPr>
            <a:r>
              <a:rPr lang="en-US" sz="1300" dirty="0">
                <a:solidFill>
                  <a:srgbClr val="94A3B8"/>
                </a:solidFill>
                <a:latin typeface="Arial" pitchFamily="34" charset="0"/>
                <a:ea typeface="Arial" pitchFamily="34" charset="-122"/>
                <a:cs typeface="Arial" pitchFamily="34" charset="-120"/>
              </a:rPr>
              <a:t>Only </a:t>
            </a:r>
            <a:r>
              <a:rPr lang="en-US" sz="1300" b="1" dirty="0">
                <a:solidFill>
                  <a:srgbClr val="F1F5F9"/>
                </a:solidFill>
                <a:latin typeface="Arial" pitchFamily="34" charset="0"/>
                <a:ea typeface="Arial" pitchFamily="34" charset="-122"/>
                <a:cs typeface="Arial" pitchFamily="34" charset="-120"/>
              </a:rPr>
              <a:t>35.4% of orders are delivered</a:t>
            </a:r>
            <a:r>
              <a:rPr lang="en-US" sz="1300" dirty="0">
                <a:solidFill>
                  <a:srgbClr val="94A3B8"/>
                </a:solidFill>
                <a:latin typeface="Arial" pitchFamily="34" charset="0"/>
                <a:ea typeface="Arial" pitchFamily="34" charset="-122"/>
                <a:cs typeface="Arial" pitchFamily="34" charset="-120"/>
              </a:rPr>
              <a:t> while a combined </a:t>
            </a:r>
            <a:r>
              <a:rPr lang="en-US" sz="1300" b="1" dirty="0">
                <a:solidFill>
                  <a:srgbClr val="FB7185"/>
                </a:solidFill>
                <a:latin typeface="Arial" pitchFamily="34" charset="0"/>
                <a:ea typeface="Arial" pitchFamily="34" charset="-122"/>
                <a:cs typeface="Arial" pitchFamily="34" charset="-120"/>
              </a:rPr>
              <a:t>32.9% return + cancel rate</a:t>
            </a:r>
            <a:r>
              <a:rPr lang="en-US" sz="1300" dirty="0">
                <a:solidFill>
                  <a:srgbClr val="94A3B8"/>
                </a:solidFill>
                <a:latin typeface="Arial" pitchFamily="34" charset="0"/>
                <a:ea typeface="Arial" pitchFamily="34" charset="-122"/>
                <a:cs typeface="Arial" pitchFamily="34" charset="-120"/>
              </a:rPr>
              <a:t> caps realised revenue — lifting delivered conversion is the single biggest lever this cycle.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par>
                                <p:cTn id="50" presetID="10" presetClass="entr" presetSubtype="0" fill="hold" nodeType="withEffect">
                                  <p:stCondLst>
                                    <p:cond delay="0"/>
                                  </p:stCondLst>
                                  <p:childTnLst>
                                    <p:animEffect transition="in" filter="fade">
                                      <p:cBhvr>
                                        <p:cTn id="51" dur="400"/>
                                        <p:tgtEl>
                                          <p:spTgt spid="18"/>
                                        </p:tgtEl>
                                      </p:cBhvr>
                                    </p:animEffect>
                                    <p:set>
                                      <p:cBhvr>
                                        <p:cTn id="52" dur="1" fill="hold">
                                          <p:stCondLst>
                                            <p:cond delay="0"/>
                                          </p:stCondLst>
                                        </p:cTn>
                                        <p:tgtEl>
                                          <p:spTgt spid="18"/>
                                        </p:tgtEl>
                                        <p:attrNameLst>
                                          <p:attrName>style.visibility</p:attrName>
                                        </p:attrNameLst>
                                      </p:cBhvr>
                                      <p:to>
                                        <p:strVal val="visible"/>
                                      </p:to>
                                    </p:set>
                                  </p:childTnLst>
                                </p:cTn>
                              </p:par>
                              <p:par>
                                <p:cTn id="53" presetID="10" presetClass="entr" presetSubtype="0" fill="hold" nodeType="withEffect">
                                  <p:stCondLst>
                                    <p:cond delay="0"/>
                                  </p:stCondLst>
                                  <p:childTnLst>
                                    <p:animEffect transition="in" filter="fade">
                                      <p:cBhvr>
                                        <p:cTn id="54" dur="400"/>
                                        <p:tgtEl>
                                          <p:spTgt spid="19"/>
                                        </p:tgtEl>
                                      </p:cBhvr>
                                    </p:animEffect>
                                    <p:set>
                                      <p:cBhvr>
                                        <p:cTn id="55" dur="1" fill="hold">
                                          <p:stCondLst>
                                            <p:cond delay="0"/>
                                          </p:stCondLst>
                                        </p:cTn>
                                        <p:tgtEl>
                                          <p:spTgt spid="19"/>
                                        </p:tgtEl>
                                        <p:attrNameLst>
                                          <p:attrName>style.visibility</p:attrName>
                                        </p:attrNameLst>
                                      </p:cBhvr>
                                      <p:to>
                                        <p:strVal val="visible"/>
                                      </p:to>
                                    </p:set>
                                  </p:childTnLst>
                                </p:cTn>
                              </p:par>
                              <p:par>
                                <p:cTn id="56" presetID="10" presetClass="entr" presetSubtype="0" fill="hold" nodeType="withEffect">
                                  <p:stCondLst>
                                    <p:cond delay="0"/>
                                  </p:stCondLst>
                                  <p:childTnLst>
                                    <p:animEffect transition="in" filter="fade">
                                      <p:cBhvr>
                                        <p:cTn id="57" dur="400"/>
                                        <p:tgtEl>
                                          <p:spTgt spid="20"/>
                                        </p:tgtEl>
                                      </p:cBhvr>
                                    </p:animEffect>
                                    <p:set>
                                      <p:cBhvr>
                                        <p:cTn id="58" dur="1" fill="hold">
                                          <p:stCondLst>
                                            <p:cond delay="0"/>
                                          </p:stCondLst>
                                        </p:cTn>
                                        <p:tgtEl>
                                          <p:spTgt spid="20"/>
                                        </p:tgtEl>
                                        <p:attrNameLst>
                                          <p:attrName>style.visibility</p:attrName>
                                        </p:attrNameLst>
                                      </p:cBhvr>
                                      <p:to>
                                        <p:strVal val="visible"/>
                                      </p:to>
                                    </p:set>
                                  </p:childTnLst>
                                </p:cTn>
                              </p:par>
                              <p:par>
                                <p:cTn id="59" presetID="10" presetClass="entr" presetSubtype="0" fill="hold" nodeType="withEffect">
                                  <p:stCondLst>
                                    <p:cond delay="0"/>
                                  </p:stCondLst>
                                  <p:childTnLst>
                                    <p:animEffect transition="in" filter="fade">
                                      <p:cBhvr>
                                        <p:cTn id="60" dur="400"/>
                                        <p:tgtEl>
                                          <p:spTgt spid="21"/>
                                        </p:tgtEl>
                                      </p:cBhvr>
                                    </p:animEffect>
                                    <p:set>
                                      <p:cBhvr>
                                        <p:cTn id="61" dur="1" fill="hold">
                                          <p:stCondLst>
                                            <p:cond delay="0"/>
                                          </p:stCondLst>
                                        </p:cTn>
                                        <p:tgtEl>
                                          <p:spTgt spid="21"/>
                                        </p:tgtEl>
                                        <p:attrNameLst>
                                          <p:attrName>style.visibility</p:attrName>
                                        </p:attrNameLst>
                                      </p:cBhvr>
                                      <p:to>
                                        <p:strVal val="visible"/>
                                      </p:to>
                                    </p:set>
                                  </p:childTnLst>
                                </p:cTn>
                              </p:par>
                              <p:par>
                                <p:cTn id="62" presetID="10" presetClass="entr" presetSubtype="0" fill="hold" nodeType="withEffect">
                                  <p:stCondLst>
                                    <p:cond delay="0"/>
                                  </p:stCondLst>
                                  <p:childTnLst>
                                    <p:animEffect transition="in" filter="fade">
                                      <p:cBhvr>
                                        <p:cTn id="63" dur="400"/>
                                        <p:tgtEl>
                                          <p:spTgt spid="22"/>
                                        </p:tgtEl>
                                      </p:cBhvr>
                                    </p:animEffect>
                                    <p:set>
                                      <p:cBhvr>
                                        <p:cTn id="64" dur="1" fill="hold">
                                          <p:stCondLst>
                                            <p:cond delay="0"/>
                                          </p:stCondLst>
                                        </p:cTn>
                                        <p:tgtEl>
                                          <p:spTgt spid="22"/>
                                        </p:tgtEl>
                                        <p:attrNameLst>
                                          <p:attrName>style.visibility</p:attrName>
                                        </p:attrNameLst>
                                      </p:cBhvr>
                                      <p:to>
                                        <p:strVal val="visible"/>
                                      </p:to>
                                    </p:set>
                                  </p:childTnLst>
                                </p:cTn>
                              </p:par>
                              <p:par>
                                <p:cTn id="65" presetID="10" presetClass="entr" presetSubtype="0" fill="hold" nodeType="withEffect">
                                  <p:stCondLst>
                                    <p:cond delay="0"/>
                                  </p:stCondLst>
                                  <p:childTnLst>
                                    <p:animEffect transition="in" filter="fade">
                                      <p:cBhvr>
                                        <p:cTn id="66" dur="400"/>
                                        <p:tgtEl>
                                          <p:spTgt spid="23"/>
                                        </p:tgtEl>
                                      </p:cBhvr>
                                    </p:animEffect>
                                    <p:set>
                                      <p:cBhvr>
                                        <p:cTn id="67" dur="1" fill="hold">
                                          <p:stCondLst>
                                            <p:cond delay="0"/>
                                          </p:stCondLst>
                                        </p:cTn>
                                        <p:tgtEl>
                                          <p:spTgt spid="23"/>
                                        </p:tgtEl>
                                        <p:attrNameLst>
                                          <p:attrName>style.visibility</p:attrName>
                                        </p:attrNameLst>
                                      </p:cBhvr>
                                      <p:to>
                                        <p:strVal val="visible"/>
                                      </p:to>
                                    </p:set>
                                  </p:childTnLst>
                                </p:cTn>
                              </p:par>
                              <p:par>
                                <p:cTn id="68" presetID="10" presetClass="entr" presetSubtype="0" fill="hold" nodeType="withEffect">
                                  <p:stCondLst>
                                    <p:cond delay="0"/>
                                  </p:stCondLst>
                                  <p:childTnLst>
                                    <p:animEffect transition="in" filter="fade">
                                      <p:cBhvr>
                                        <p:cTn id="69" dur="400"/>
                                        <p:tgtEl>
                                          <p:spTgt spid="24"/>
                                        </p:tgtEl>
                                      </p:cBhvr>
                                    </p:animEffect>
                                    <p:set>
                                      <p:cBhvr>
                                        <p:cTn id="70" dur="1" fill="hold">
                                          <p:stCondLst>
                                            <p:cond delay="0"/>
                                          </p:stCondLst>
                                        </p:cTn>
                                        <p:tgtEl>
                                          <p:spTgt spid="24"/>
                                        </p:tgtEl>
                                        <p:attrNameLst>
                                          <p:attrName>style.visibility</p:attrName>
                                        </p:attrNameLst>
                                      </p:cBhvr>
                                      <p:to>
                                        <p:strVal val="visible"/>
                                      </p:to>
                                    </p:set>
                                  </p:childTnLst>
                                </p:cTn>
                              </p:par>
                              <p:par>
                                <p:cTn id="71" presetID="10" presetClass="entr" presetSubtype="0" fill="hold" nodeType="withEffect">
                                  <p:stCondLst>
                                    <p:cond delay="0"/>
                                  </p:stCondLst>
                                  <p:childTnLst>
                                    <p:animEffect transition="in" filter="fade">
                                      <p:cBhvr>
                                        <p:cTn id="72" dur="400"/>
                                        <p:tgtEl>
                                          <p:spTgt spid="25"/>
                                        </p:tgtEl>
                                      </p:cBhvr>
                                    </p:animEffect>
                                    <p:set>
                                      <p:cBhvr>
                                        <p:cTn id="73" dur="1" fill="hold">
                                          <p:stCondLst>
                                            <p:cond delay="0"/>
                                          </p:stCondLst>
                                        </p:cTn>
                                        <p:tgtEl>
                                          <p:spTgt spid="25"/>
                                        </p:tgtEl>
                                        <p:attrNameLst>
                                          <p:attrName>style.visibility</p:attrName>
                                        </p:attrNameLst>
                                      </p:cBhvr>
                                      <p:to>
                                        <p:strVal val="visible"/>
                                      </p:to>
                                    </p:set>
                                  </p:childTnLst>
                                </p:cTn>
                              </p:par>
                              <p:par>
                                <p:cTn id="74" presetID="10" presetClass="entr" presetSubtype="0" fill="hold" nodeType="withEffect">
                                  <p:stCondLst>
                                    <p:cond delay="0"/>
                                  </p:stCondLst>
                                  <p:childTnLst>
                                    <p:animEffect transition="in" filter="fade">
                                      <p:cBhvr>
                                        <p:cTn id="75" dur="400"/>
                                        <p:tgtEl>
                                          <p:spTgt spid="26"/>
                                        </p:tgtEl>
                                      </p:cBhvr>
                                    </p:animEffect>
                                    <p:set>
                                      <p:cBhvr>
                                        <p:cTn id="76" dur="1" fill="hold">
                                          <p:stCondLst>
                                            <p:cond delay="0"/>
                                          </p:stCondLst>
                                        </p:cTn>
                                        <p:tgtEl>
                                          <p:spTgt spid="26"/>
                                        </p:tgtEl>
                                        <p:attrNameLst>
                                          <p:attrName>style.visibility</p:attrName>
                                        </p:attrNameLst>
                                      </p:cBhvr>
                                      <p:to>
                                        <p:strVal val="visible"/>
                                      </p:to>
                                    </p:set>
                                  </p:childTnLst>
                                </p:cTn>
                              </p:par>
                              <p:par>
                                <p:cTn id="77" presetID="10" presetClass="entr" presetSubtype="0" fill="hold" nodeType="withEffect">
                                  <p:stCondLst>
                                    <p:cond delay="0"/>
                                  </p:stCondLst>
                                  <p:childTnLst>
                                    <p:animEffect transition="in" filter="fade">
                                      <p:cBhvr>
                                        <p:cTn id="78" dur="400"/>
                                        <p:tgtEl>
                                          <p:spTgt spid="27"/>
                                        </p:tgtEl>
                                      </p:cBhvr>
                                    </p:animEffect>
                                    <p:set>
                                      <p:cBhvr>
                                        <p:cTn id="79" dur="1" fill="hold">
                                          <p:stCondLst>
                                            <p:cond delay="0"/>
                                          </p:stCondLst>
                                        </p:cTn>
                                        <p:tgtEl>
                                          <p:spTgt spid="27"/>
                                        </p:tgtEl>
                                        <p:attrNameLst>
                                          <p:attrName>style.visibility</p:attrName>
                                        </p:attrNameLst>
                                      </p:cBhvr>
                                      <p:to>
                                        <p:strVal val="visible"/>
                                      </p:to>
                                    </p:set>
                                  </p:childTnLst>
                                </p:cTn>
                              </p:par>
                              <p:par>
                                <p:cTn id="80" presetID="10" presetClass="entr" presetSubtype="0" fill="hold" nodeType="withEffect">
                                  <p:stCondLst>
                                    <p:cond delay="0"/>
                                  </p:stCondLst>
                                  <p:childTnLst>
                                    <p:animEffect transition="in" filter="fade">
                                      <p:cBhvr>
                                        <p:cTn id="81" dur="400"/>
                                        <p:tgtEl>
                                          <p:spTgt spid="28"/>
                                        </p:tgtEl>
                                      </p:cBhvr>
                                    </p:animEffect>
                                    <p:set>
                                      <p:cBhvr>
                                        <p:cTn id="82" dur="1" fill="hold">
                                          <p:stCondLst>
                                            <p:cond delay="0"/>
                                          </p:stCondLst>
                                        </p:cTn>
                                        <p:tgtEl>
                                          <p:spTgt spid="28"/>
                                        </p:tgtEl>
                                        <p:attrNameLst>
                                          <p:attrName>style.visibility</p:attrName>
                                        </p:attrNameLst>
                                      </p:cBhvr>
                                      <p:to>
                                        <p:strVal val="visible"/>
                                      </p:to>
                                    </p:set>
                                  </p:childTnLst>
                                </p:cTn>
                              </p:par>
                              <p:par>
                                <p:cTn id="83" presetID="10" presetClass="entr" presetSubtype="0" fill="hold" nodeType="withEffect">
                                  <p:stCondLst>
                                    <p:cond delay="0"/>
                                  </p:stCondLst>
                                  <p:childTnLst>
                                    <p:animEffect transition="in" filter="fade">
                                      <p:cBhvr>
                                        <p:cTn id="84" dur="400"/>
                                        <p:tgtEl>
                                          <p:spTgt spid="29"/>
                                        </p:tgtEl>
                                      </p:cBhvr>
                                    </p:animEffect>
                                    <p:set>
                                      <p:cBhvr>
                                        <p:cTn id="85" dur="1" fill="hold">
                                          <p:stCondLst>
                                            <p:cond delay="0"/>
                                          </p:stCondLst>
                                        </p:cTn>
                                        <p:tgtEl>
                                          <p:spTgt spid="29"/>
                                        </p:tgtEl>
                                        <p:attrNameLst>
                                          <p:attrName>style.visibility</p:attrName>
                                        </p:attrNameLst>
                                      </p:cBhvr>
                                      <p:to>
                                        <p:strVal val="visible"/>
                                      </p:to>
                                    </p:set>
                                  </p:childTnLst>
                                </p:cTn>
                              </p:par>
                              <p:par>
                                <p:cTn id="86" presetID="10" presetClass="entr" presetSubtype="0" fill="hold" nodeType="withEffect">
                                  <p:stCondLst>
                                    <p:cond delay="0"/>
                                  </p:stCondLst>
                                  <p:childTnLst>
                                    <p:animEffect transition="in" filter="fade">
                                      <p:cBhvr>
                                        <p:cTn id="87" dur="400"/>
                                        <p:tgtEl>
                                          <p:spTgt spid="30"/>
                                        </p:tgtEl>
                                      </p:cBhvr>
                                    </p:animEffect>
                                    <p:set>
                                      <p:cBhvr>
                                        <p:cTn id="88" dur="1" fill="hold">
                                          <p:stCondLst>
                                            <p:cond delay="0"/>
                                          </p:stCondLst>
                                        </p:cTn>
                                        <p:tgtEl>
                                          <p:spTgt spid="30"/>
                                        </p:tgtEl>
                                        <p:attrNameLst>
                                          <p:attrName>style.visibility</p:attrName>
                                        </p:attrNameLst>
                                      </p:cBhvr>
                                      <p:to>
                                        <p:strVal val="visible"/>
                                      </p:to>
                                    </p:set>
                                  </p:childTnLst>
                                </p:cTn>
                              </p:par>
                              <p:par>
                                <p:cTn id="89" presetID="10" presetClass="entr" presetSubtype="0" fill="hold" nodeType="withEffect">
                                  <p:stCondLst>
                                    <p:cond delay="0"/>
                                  </p:stCondLst>
                                  <p:childTnLst>
                                    <p:animEffect transition="in" filter="fade">
                                      <p:cBhvr>
                                        <p:cTn id="90" dur="400"/>
                                        <p:tgtEl>
                                          <p:spTgt spid="31"/>
                                        </p:tgtEl>
                                      </p:cBhvr>
                                    </p:animEffect>
                                    <p:set>
                                      <p:cBhvr>
                                        <p:cTn id="91" dur="1" fill="hold">
                                          <p:stCondLst>
                                            <p:cond delay="0"/>
                                          </p:stCondLst>
                                        </p:cTn>
                                        <p:tgtEl>
                                          <p:spTgt spid="31"/>
                                        </p:tgtEl>
                                        <p:attrNameLst>
                                          <p:attrName>style.visibility</p:attrName>
                                        </p:attrNameLst>
                                      </p:cBhvr>
                                      <p:to>
                                        <p:strVal val="visible"/>
                                      </p:to>
                                    </p:set>
                                  </p:childTnLst>
                                </p:cTn>
                              </p:par>
                              <p:par>
                                <p:cTn id="92" presetID="10" presetClass="entr" presetSubtype="0" fill="hold" nodeType="withEffect">
                                  <p:stCondLst>
                                    <p:cond delay="0"/>
                                  </p:stCondLst>
                                  <p:childTnLst>
                                    <p:animEffect transition="in" filter="fade">
                                      <p:cBhvr>
                                        <p:cTn id="93" dur="400"/>
                                        <p:tgtEl>
                                          <p:spTgt spid="32"/>
                                        </p:tgtEl>
                                      </p:cBhvr>
                                    </p:animEffect>
                                    <p:set>
                                      <p:cBhvr>
                                        <p:cTn id="94" dur="1" fill="hold">
                                          <p:stCondLst>
                                            <p:cond delay="0"/>
                                          </p:stCondLst>
                                        </p:cTn>
                                        <p:tgtEl>
                                          <p:spTgt spid="32"/>
                                        </p:tgtEl>
                                        <p:attrNameLst>
                                          <p:attrName>style.visibility</p:attrName>
                                        </p:attrNameLst>
                                      </p:cBhvr>
                                      <p:to>
                                        <p:strVal val="visible"/>
                                      </p:to>
                                    </p:set>
                                  </p:childTnLst>
                                </p:cTn>
                              </p:par>
                              <p:par>
                                <p:cTn id="95" presetID="10" presetClass="entr" presetSubtype="0" fill="hold" nodeType="withEffect">
                                  <p:stCondLst>
                                    <p:cond delay="0"/>
                                  </p:stCondLst>
                                  <p:childTnLst>
                                    <p:animEffect transition="in" filter="fade">
                                      <p:cBhvr>
                                        <p:cTn id="96" dur="400"/>
                                        <p:tgtEl>
                                          <p:spTgt spid="33"/>
                                        </p:tgtEl>
                                      </p:cBhvr>
                                    </p:animEffect>
                                    <p:set>
                                      <p:cBhvr>
                                        <p:cTn id="97" dur="1" fill="hold">
                                          <p:stCondLst>
                                            <p:cond delay="0"/>
                                          </p:stCondLst>
                                        </p:cTn>
                                        <p:tgtEl>
                                          <p:spTgt spid="33"/>
                                        </p:tgtEl>
                                        <p:attrNameLst>
                                          <p:attrName>style.visibility</p:attrName>
                                        </p:attrNameLst>
                                      </p:cBhvr>
                                      <p:to>
                                        <p:strVal val="visible"/>
                                      </p:to>
                                    </p:set>
                                  </p:childTnLst>
                                </p:cTn>
                              </p:par>
                              <p:par>
                                <p:cTn id="98" presetID="10" presetClass="entr" presetSubtype="0" fill="hold" nodeType="withEffect">
                                  <p:stCondLst>
                                    <p:cond delay="0"/>
                                  </p:stCondLst>
                                  <p:childTnLst>
                                    <p:animEffect transition="in" filter="fade">
                                      <p:cBhvr>
                                        <p:cTn id="99" dur="400"/>
                                        <p:tgtEl>
                                          <p:spTgt spid="34"/>
                                        </p:tgtEl>
                                      </p:cBhvr>
                                    </p:animEffect>
                                    <p:set>
                                      <p:cBhvr>
                                        <p:cTn id="100" dur="1" fill="hold">
                                          <p:stCondLst>
                                            <p:cond delay="0"/>
                                          </p:stCondLst>
                                        </p:cTn>
                                        <p:tgtEl>
                                          <p:spTgt spid="34"/>
                                        </p:tgtEl>
                                        <p:attrNameLst>
                                          <p:attrName>style.visibility</p:attrName>
                                        </p:attrNameLst>
                                      </p:cBhvr>
                                      <p:to>
                                        <p:strVal val="visible"/>
                                      </p:to>
                                    </p:set>
                                  </p:childTnLst>
                                </p:cTn>
                              </p:par>
                              <p:par>
                                <p:cTn id="101" presetID="10" presetClass="entr" presetSubtype="0" fill="hold" nodeType="withEffect">
                                  <p:stCondLst>
                                    <p:cond delay="0"/>
                                  </p:stCondLst>
                                  <p:childTnLst>
                                    <p:animEffect transition="in" filter="fade">
                                      <p:cBhvr>
                                        <p:cTn id="102" dur="400"/>
                                        <p:tgtEl>
                                          <p:spTgt spid="35"/>
                                        </p:tgtEl>
                                      </p:cBhvr>
                                    </p:animEffect>
                                    <p:set>
                                      <p:cBhvr>
                                        <p:cTn id="103" dur="1" fill="hold">
                                          <p:stCondLst>
                                            <p:cond delay="0"/>
                                          </p:stCondLst>
                                        </p:cTn>
                                        <p:tgtEl>
                                          <p:spTgt spid="35"/>
                                        </p:tgtEl>
                                        <p:attrNameLst>
                                          <p:attrName>style.visibility</p:attrName>
                                        </p:attrNameLst>
                                      </p:cBhvr>
                                      <p:to>
                                        <p:strVal val="visible"/>
                                      </p:to>
                                    </p:set>
                                  </p:childTnLst>
                                </p:cTn>
                              </p:par>
                              <p:par>
                                <p:cTn id="104" presetID="10" presetClass="entr" presetSubtype="0" fill="hold" nodeType="withEffect">
                                  <p:stCondLst>
                                    <p:cond delay="0"/>
                                  </p:stCondLst>
                                  <p:childTnLst>
                                    <p:animEffect transition="in" filter="fade">
                                      <p:cBhvr>
                                        <p:cTn id="105" dur="400"/>
                                        <p:tgtEl>
                                          <p:spTgt spid="36"/>
                                        </p:tgtEl>
                                      </p:cBhvr>
                                    </p:animEffect>
                                    <p:set>
                                      <p:cBhvr>
                                        <p:cTn id="106" dur="1" fill="hold">
                                          <p:stCondLst>
                                            <p:cond delay="0"/>
                                          </p:stCondLst>
                                        </p:cTn>
                                        <p:tgtEl>
                                          <p:spTgt spid="36"/>
                                        </p:tgtEl>
                                        <p:attrNameLst>
                                          <p:attrName>style.visibility</p:attrName>
                                        </p:attrNameLst>
                                      </p:cBhvr>
                                      <p:to>
                                        <p:strVal val="visible"/>
                                      </p:to>
                                    </p:set>
                                  </p:childTnLst>
                                </p:cTn>
                              </p:par>
                              <p:par>
                                <p:cTn id="107" presetID="10" presetClass="entr" presetSubtype="0" fill="hold" nodeType="withEffect">
                                  <p:stCondLst>
                                    <p:cond delay="0"/>
                                  </p:stCondLst>
                                  <p:childTnLst>
                                    <p:animEffect transition="in" filter="fade">
                                      <p:cBhvr>
                                        <p:cTn id="108" dur="400"/>
                                        <p:tgtEl>
                                          <p:spTgt spid="37"/>
                                        </p:tgtEl>
                                      </p:cBhvr>
                                    </p:animEffect>
                                    <p:set>
                                      <p:cBhvr>
                                        <p:cTn id="109" dur="1" fill="hold">
                                          <p:stCondLst>
                                            <p:cond delay="0"/>
                                          </p:stCondLst>
                                        </p:cTn>
                                        <p:tgtEl>
                                          <p:spTgt spid="37"/>
                                        </p:tgtEl>
                                        <p:attrNameLst>
                                          <p:attrName>style.visibility</p:attrName>
                                        </p:attrNameLst>
                                      </p:cBhvr>
                                      <p:to>
                                        <p:strVal val="visible"/>
                                      </p:to>
                                    </p:set>
                                  </p:childTnLst>
                                </p:cTn>
                              </p:par>
                              <p:par>
                                <p:cTn id="110" presetID="10" presetClass="entr" presetSubtype="0" fill="hold" nodeType="withEffect">
                                  <p:stCondLst>
                                    <p:cond delay="0"/>
                                  </p:stCondLst>
                                  <p:childTnLst>
                                    <p:animEffect transition="in" filter="fade">
                                      <p:cBhvr>
                                        <p:cTn id="111" dur="400"/>
                                        <p:tgtEl>
                                          <p:spTgt spid="38"/>
                                        </p:tgtEl>
                                      </p:cBhvr>
                                    </p:animEffect>
                                    <p:set>
                                      <p:cBhvr>
                                        <p:cTn id="112" dur="1" fill="hold">
                                          <p:stCondLst>
                                            <p:cond delay="0"/>
                                          </p:stCondLst>
                                        </p:cTn>
                                        <p:tgtEl>
                                          <p:spTgt spid="38"/>
                                        </p:tgtEl>
                                        <p:attrNameLst>
                                          <p:attrName>style.visibility</p:attrName>
                                        </p:attrNameLst>
                                      </p:cBhvr>
                                      <p:to>
                                        <p:strVal val="visible"/>
                                      </p:to>
                                    </p:set>
                                  </p:childTnLst>
                                </p:cTn>
                              </p:par>
                              <p:par>
                                <p:cTn id="113" presetID="10" presetClass="entr" presetSubtype="0" fill="hold" nodeType="withEffect">
                                  <p:stCondLst>
                                    <p:cond delay="0"/>
                                  </p:stCondLst>
                                  <p:childTnLst>
                                    <p:animEffect transition="in" filter="fade">
                                      <p:cBhvr>
                                        <p:cTn id="114" dur="400"/>
                                        <p:tgtEl>
                                          <p:spTgt spid="39"/>
                                        </p:tgtEl>
                                      </p:cBhvr>
                                    </p:animEffect>
                                    <p:set>
                                      <p:cBhvr>
                                        <p:cTn id="115" dur="1" fill="hold">
                                          <p:stCondLst>
                                            <p:cond delay="0"/>
                                          </p:stCondLst>
                                        </p:cTn>
                                        <p:tgtEl>
                                          <p:spTgt spid="39"/>
                                        </p:tgtEl>
                                        <p:attrNameLst>
                                          <p:attrName>style.visibility</p:attrName>
                                        </p:attrNameLst>
                                      </p:cBhvr>
                                      <p:to>
                                        <p:strVal val="visible"/>
                                      </p:to>
                                    </p:set>
                                  </p:childTnLst>
                                </p:cTn>
                              </p:par>
                              <p:par>
                                <p:cTn id="116" presetID="10" presetClass="entr" presetSubtype="0" fill="hold" nodeType="withEffect">
                                  <p:stCondLst>
                                    <p:cond delay="0"/>
                                  </p:stCondLst>
                                  <p:childTnLst>
                                    <p:animEffect transition="in" filter="fade">
                                      <p:cBhvr>
                                        <p:cTn id="117" dur="400"/>
                                        <p:tgtEl>
                                          <p:spTgt spid="40"/>
                                        </p:tgtEl>
                                      </p:cBhvr>
                                    </p:animEffect>
                                    <p:set>
                                      <p:cBhvr>
                                        <p:cTn id="118" dur="1" fill="hold">
                                          <p:stCondLst>
                                            <p:cond delay="0"/>
                                          </p:stCondLst>
                                        </p:cTn>
                                        <p:tgtEl>
                                          <p:spTgt spid="40"/>
                                        </p:tgtEl>
                                        <p:attrNameLst>
                                          <p:attrName>style.visibility</p:attrName>
                                        </p:attrNameLst>
                                      </p:cBhvr>
                                      <p:to>
                                        <p:strVal val="visible"/>
                                      </p:to>
                                    </p:set>
                                  </p:childTnLst>
                                </p:cTn>
                              </p:par>
                              <p:par>
                                <p:cTn id="119" presetID="10" presetClass="entr" presetSubtype="0" fill="hold" nodeType="withEffect">
                                  <p:stCondLst>
                                    <p:cond delay="0"/>
                                  </p:stCondLst>
                                  <p:childTnLst>
                                    <p:animEffect transition="in" filter="fade">
                                      <p:cBhvr>
                                        <p:cTn id="120" dur="400"/>
                                        <p:tgtEl>
                                          <p:spTgt spid="41"/>
                                        </p:tgtEl>
                                      </p:cBhvr>
                                    </p:animEffect>
                                    <p:set>
                                      <p:cBhvr>
                                        <p:cTn id="121" dur="1" fill="hold">
                                          <p:stCondLst>
                                            <p:cond delay="0"/>
                                          </p:stCondLst>
                                        </p:cTn>
                                        <p:tgtEl>
                                          <p:spTgt spid="41"/>
                                        </p:tgtEl>
                                        <p:attrNameLst>
                                          <p:attrName>style.visibility</p:attrName>
                                        </p:attrNameLst>
                                      </p:cBhvr>
                                      <p:to>
                                        <p:strVal val="visible"/>
                                      </p:to>
                                    </p:set>
                                  </p:childTnLst>
                                </p:cTn>
                              </p:par>
                              <p:par>
                                <p:cTn id="122" presetID="10" presetClass="entr" presetSubtype="0" fill="hold" nodeType="withEffect">
                                  <p:stCondLst>
                                    <p:cond delay="0"/>
                                  </p:stCondLst>
                                  <p:childTnLst>
                                    <p:animEffect transition="in" filter="fade">
                                      <p:cBhvr>
                                        <p:cTn id="123" dur="400"/>
                                        <p:tgtEl>
                                          <p:spTgt spid="42"/>
                                        </p:tgtEl>
                                      </p:cBhvr>
                                    </p:animEffect>
                                    <p:set>
                                      <p:cBhvr>
                                        <p:cTn id="124" dur="1" fill="hold">
                                          <p:stCondLst>
                                            <p:cond delay="0"/>
                                          </p:stCondLst>
                                        </p:cTn>
                                        <p:tgtEl>
                                          <p:spTgt spid="42"/>
                                        </p:tgtEl>
                                        <p:attrNameLst>
                                          <p:attrName>style.visibility</p:attrName>
                                        </p:attrNameLst>
                                      </p:cBhvr>
                                      <p:to>
                                        <p:strVal val="visible"/>
                                      </p:to>
                                    </p:set>
                                  </p:childTnLst>
                                </p:cTn>
                              </p:par>
                              <p:par>
                                <p:cTn id="125" presetID="10" presetClass="entr" presetSubtype="0" fill="hold" nodeType="withEffect">
                                  <p:stCondLst>
                                    <p:cond delay="0"/>
                                  </p:stCondLst>
                                  <p:childTnLst>
                                    <p:animEffect transition="in" filter="fade">
                                      <p:cBhvr>
                                        <p:cTn id="126" dur="400"/>
                                        <p:tgtEl>
                                          <p:spTgt spid="43"/>
                                        </p:tgtEl>
                                      </p:cBhvr>
                                    </p:animEffect>
                                    <p:set>
                                      <p:cBhvr>
                                        <p:cTn id="127" dur="1" fill="hold">
                                          <p:stCondLst>
                                            <p:cond delay="0"/>
                                          </p:stCondLst>
                                        </p:cTn>
                                        <p:tgtEl>
                                          <p:spTgt spid="43"/>
                                        </p:tgtEl>
                                        <p:attrNameLst>
                                          <p:attrName>style.visibility</p:attrName>
                                        </p:attrNameLst>
                                      </p:cBhvr>
                                      <p:to>
                                        <p:strVal val="visible"/>
                                      </p:to>
                                    </p:set>
                                  </p:childTnLst>
                                </p:cTn>
                              </p:par>
                              <p:par>
                                <p:cTn id="128" presetID="10" presetClass="entr" presetSubtype="0" fill="hold" nodeType="withEffect">
                                  <p:stCondLst>
                                    <p:cond delay="0"/>
                                  </p:stCondLst>
                                  <p:childTnLst>
                                    <p:animEffect transition="in" filter="fade">
                                      <p:cBhvr>
                                        <p:cTn id="129" dur="400"/>
                                        <p:tgtEl>
                                          <p:spTgt spid="44"/>
                                        </p:tgtEl>
                                      </p:cBhvr>
                                    </p:animEffect>
                                    <p:set>
                                      <p:cBhvr>
                                        <p:cTn id="130" dur="1" fill="hold">
                                          <p:stCondLst>
                                            <p:cond delay="0"/>
                                          </p:stCondLst>
                                        </p:cTn>
                                        <p:tgtEl>
                                          <p:spTgt spid="44"/>
                                        </p:tgtEl>
                                        <p:attrNameLst>
                                          <p:attrName>style.visibility</p:attrName>
                                        </p:attrNameLst>
                                      </p:cBhvr>
                                      <p:to>
                                        <p:strVal val="visible"/>
                                      </p:to>
                                    </p:set>
                                  </p:childTnLst>
                                </p:cTn>
                              </p:par>
                              <p:par>
                                <p:cTn id="131" presetID="10" presetClass="entr" presetSubtype="0" fill="hold" nodeType="withEffect">
                                  <p:stCondLst>
                                    <p:cond delay="0"/>
                                  </p:stCondLst>
                                  <p:childTnLst>
                                    <p:animEffect transition="in" filter="fade">
                                      <p:cBhvr>
                                        <p:cTn id="132" dur="400"/>
                                        <p:tgtEl>
                                          <p:spTgt spid="45"/>
                                        </p:tgtEl>
                                      </p:cBhvr>
                                    </p:animEffect>
                                    <p:set>
                                      <p:cBhvr>
                                        <p:cTn id="133" dur="1" fill="hold">
                                          <p:stCondLst>
                                            <p:cond delay="0"/>
                                          </p:stCondLst>
                                        </p:cTn>
                                        <p:tgtEl>
                                          <p:spTgt spid="45"/>
                                        </p:tgtEl>
                                        <p:attrNameLst>
                                          <p:attrName>style.visibility</p:attrName>
                                        </p:attrNameLst>
                                      </p:cBhvr>
                                      <p:to>
                                        <p:strVal val="visible"/>
                                      </p:to>
                                    </p:set>
                                  </p:childTnLst>
                                </p:cTn>
                              </p:par>
                              <p:par>
                                <p:cTn id="134" presetID="10" presetClass="entr" presetSubtype="0" fill="hold" nodeType="withEffect">
                                  <p:stCondLst>
                                    <p:cond delay="0"/>
                                  </p:stCondLst>
                                  <p:childTnLst>
                                    <p:animEffect transition="in" filter="fade">
                                      <p:cBhvr>
                                        <p:cTn id="135" dur="400"/>
                                        <p:tgtEl>
                                          <p:spTgt spid="46"/>
                                        </p:tgtEl>
                                      </p:cBhvr>
                                    </p:animEffect>
                                    <p:set>
                                      <p:cBhvr>
                                        <p:cTn id="136" dur="1" fill="hold">
                                          <p:stCondLst>
                                            <p:cond delay="0"/>
                                          </p:stCondLst>
                                        </p:cTn>
                                        <p:tgtEl>
                                          <p:spTgt spid="46"/>
                                        </p:tgtEl>
                                        <p:attrNameLst>
                                          <p:attrName>style.visibility</p:attrName>
                                        </p:attrNameLst>
                                      </p:cBhvr>
                                      <p:to>
                                        <p:strVal val="visible"/>
                                      </p:to>
                                    </p:set>
                                  </p:childTnLst>
                                </p:cTn>
                              </p:par>
                              <p:par>
                                <p:cTn id="137" presetID="10" presetClass="entr" presetSubtype="0" fill="hold" nodeType="withEffect">
                                  <p:stCondLst>
                                    <p:cond delay="0"/>
                                  </p:stCondLst>
                                  <p:childTnLst>
                                    <p:animEffect transition="in" filter="fade">
                                      <p:cBhvr>
                                        <p:cTn id="138" dur="400"/>
                                        <p:tgtEl>
                                          <p:spTgt spid="47"/>
                                        </p:tgtEl>
                                      </p:cBhvr>
                                    </p:animEffect>
                                    <p:set>
                                      <p:cBhvr>
                                        <p:cTn id="139" dur="1" fill="hold">
                                          <p:stCondLst>
                                            <p:cond delay="0"/>
                                          </p:stCondLst>
                                        </p:cTn>
                                        <p:tgtEl>
                                          <p:spTgt spid="47"/>
                                        </p:tgtEl>
                                        <p:attrNameLst>
                                          <p:attrName>style.visibility</p:attrName>
                                        </p:attrNameLst>
                                      </p:cBhvr>
                                      <p:to>
                                        <p:strVal val="visible"/>
                                      </p:to>
                                    </p:set>
                                  </p:childTnLst>
                                </p:cTn>
                              </p:par>
                              <p:par>
                                <p:cTn id="140" presetID="10" presetClass="entr" presetSubtype="0" fill="hold" nodeType="withEffect">
                                  <p:stCondLst>
                                    <p:cond delay="0"/>
                                  </p:stCondLst>
                                  <p:childTnLst>
                                    <p:animEffect transition="in" filter="fade">
                                      <p:cBhvr>
                                        <p:cTn id="141" dur="400"/>
                                        <p:tgtEl>
                                          <p:spTgt spid="48"/>
                                        </p:tgtEl>
                                      </p:cBhvr>
                                    </p:animEffect>
                                    <p:set>
                                      <p:cBhvr>
                                        <p:cTn id="142" dur="1" fill="hold">
                                          <p:stCondLst>
                                            <p:cond delay="0"/>
                                          </p:stCondLst>
                                        </p:cTn>
                                        <p:tgtEl>
                                          <p:spTgt spid="48"/>
                                        </p:tgtEl>
                                        <p:attrNameLst>
                                          <p:attrName>style.visibility</p:attrName>
                                        </p:attrNameLst>
                                      </p:cBhvr>
                                      <p:to>
                                        <p:strVal val="visible"/>
                                      </p:to>
                                    </p:set>
                                  </p:childTnLst>
                                </p:cTn>
                              </p:par>
                              <p:par>
                                <p:cTn id="143" presetID="10" presetClass="entr" presetSubtype="0" fill="hold" nodeType="withEffect">
                                  <p:stCondLst>
                                    <p:cond delay="0"/>
                                  </p:stCondLst>
                                  <p:childTnLst>
                                    <p:animEffect transition="in" filter="fade">
                                      <p:cBhvr>
                                        <p:cTn id="144" dur="400"/>
                                        <p:tgtEl>
                                          <p:spTgt spid="49"/>
                                        </p:tgtEl>
                                      </p:cBhvr>
                                    </p:animEffect>
                                    <p:set>
                                      <p:cBhvr>
                                        <p:cTn id="145" dur="1" fill="hold">
                                          <p:stCondLst>
                                            <p:cond delay="0"/>
                                          </p:stCondLst>
                                        </p:cTn>
                                        <p:tgtEl>
                                          <p:spTgt spid="49"/>
                                        </p:tgtEl>
                                        <p:attrNameLst>
                                          <p:attrName>style.visibility</p:attrName>
                                        </p:attrNameLst>
                                      </p:cBhvr>
                                      <p:to>
                                        <p:strVal val="visible"/>
                                      </p:to>
                                    </p:set>
                                  </p:childTnLst>
                                </p:cTn>
                              </p:par>
                              <p:par>
                                <p:cTn id="146" presetID="10" presetClass="entr" presetSubtype="0" fill="hold" nodeType="withEffect">
                                  <p:stCondLst>
                                    <p:cond delay="0"/>
                                  </p:stCondLst>
                                  <p:childTnLst>
                                    <p:animEffect transition="in" filter="fade">
                                      <p:cBhvr>
                                        <p:cTn id="147" dur="400"/>
                                        <p:tgtEl>
                                          <p:spTgt spid="50"/>
                                        </p:tgtEl>
                                      </p:cBhvr>
                                    </p:animEffect>
                                    <p:set>
                                      <p:cBhvr>
                                        <p:cTn id="148" dur="1" fill="hold">
                                          <p:stCondLst>
                                            <p:cond delay="0"/>
                                          </p:stCondLst>
                                        </p:cTn>
                                        <p:tgtEl>
                                          <p:spTgt spid="50"/>
                                        </p:tgtEl>
                                        <p:attrNameLst>
                                          <p:attrName>style.visibility</p:attrName>
                                        </p:attrNameLst>
                                      </p:cBhvr>
                                      <p:to>
                                        <p:strVal val="visible"/>
                                      </p:to>
                                    </p:set>
                                  </p:childTnLst>
                                </p:cTn>
                              </p:par>
                              <p:par>
                                <p:cTn id="149" presetID="10" presetClass="entr" presetSubtype="0" fill="hold" nodeType="withEffect">
                                  <p:stCondLst>
                                    <p:cond delay="0"/>
                                  </p:stCondLst>
                                  <p:childTnLst>
                                    <p:animEffect transition="in" filter="fade">
                                      <p:cBhvr>
                                        <p:cTn id="150" dur="400"/>
                                        <p:tgtEl>
                                          <p:spTgt spid="51"/>
                                        </p:tgtEl>
                                      </p:cBhvr>
                                    </p:animEffect>
                                    <p:set>
                                      <p:cBhvr>
                                        <p:cTn id="151" dur="1" fill="hold">
                                          <p:stCondLst>
                                            <p:cond delay="0"/>
                                          </p:stCondLst>
                                        </p:cTn>
                                        <p:tgtEl>
                                          <p:spTgt spid="51"/>
                                        </p:tgtEl>
                                        <p:attrNameLst>
                                          <p:attrName>style.visibility</p:attrName>
                                        </p:attrNameLst>
                                      </p:cBhvr>
                                      <p:to>
                                        <p:strVal val="visible"/>
                                      </p:to>
                                    </p:set>
                                  </p:childTnLst>
                                </p:cTn>
                              </p:par>
                              <p:par>
                                <p:cTn id="152" presetID="10" presetClass="entr" presetSubtype="0" fill="hold" nodeType="withEffect">
                                  <p:stCondLst>
                                    <p:cond delay="0"/>
                                  </p:stCondLst>
                                  <p:childTnLst>
                                    <p:animEffect transition="in" filter="fade">
                                      <p:cBhvr>
                                        <p:cTn id="153" dur="400"/>
                                        <p:tgtEl>
                                          <p:spTgt spid="52"/>
                                        </p:tgtEl>
                                      </p:cBhvr>
                                    </p:animEffect>
                                    <p:set>
                                      <p:cBhvr>
                                        <p:cTn id="154" dur="1" fill="hold">
                                          <p:stCondLst>
                                            <p:cond delay="0"/>
                                          </p:stCondLst>
                                        </p:cTn>
                                        <p:tgtEl>
                                          <p:spTgt spid="52"/>
                                        </p:tgtEl>
                                        <p:attrNameLst>
                                          <p:attrName>style.visibility</p:attrName>
                                        </p:attrNameLst>
                                      </p:cBhvr>
                                      <p:to>
                                        <p:strVal val="visible"/>
                                      </p:to>
                                    </p:set>
                                  </p:childTnLst>
                                </p:cTn>
                              </p:par>
                              <p:par>
                                <p:cTn id="155" presetID="10" presetClass="entr" presetSubtype="0" fill="hold" nodeType="withEffect">
                                  <p:stCondLst>
                                    <p:cond delay="0"/>
                                  </p:stCondLst>
                                  <p:childTnLst>
                                    <p:animEffect transition="in" filter="fade">
                                      <p:cBhvr>
                                        <p:cTn id="156" dur="400"/>
                                        <p:tgtEl>
                                          <p:spTgt spid="53"/>
                                        </p:tgtEl>
                                      </p:cBhvr>
                                    </p:animEffect>
                                    <p:set>
                                      <p:cBhvr>
                                        <p:cTn id="157" dur="1" fill="hold">
                                          <p:stCondLst>
                                            <p:cond delay="0"/>
                                          </p:stCondLst>
                                        </p:cTn>
                                        <p:tgtEl>
                                          <p:spTgt spid="53"/>
                                        </p:tgtEl>
                                        <p:attrNameLst>
                                          <p:attrName>style.visibility</p:attrName>
                                        </p:attrNameLst>
                                      </p:cBhvr>
                                      <p:to>
                                        <p:strVal val="visible"/>
                                      </p:to>
                                    </p:set>
                                  </p:childTnLst>
                                </p:cTn>
                              </p:par>
                              <p:par>
                                <p:cTn id="158" presetID="10" presetClass="entr" presetSubtype="0" fill="hold" nodeType="withEffect">
                                  <p:stCondLst>
                                    <p:cond delay="0"/>
                                  </p:stCondLst>
                                  <p:childTnLst>
                                    <p:animEffect transition="in" filter="fade">
                                      <p:cBhvr>
                                        <p:cTn id="159" dur="400"/>
                                        <p:tgtEl>
                                          <p:spTgt spid="54"/>
                                        </p:tgtEl>
                                      </p:cBhvr>
                                    </p:animEffect>
                                    <p:set>
                                      <p:cBhvr>
                                        <p:cTn id="160" dur="1" fill="hold">
                                          <p:stCondLst>
                                            <p:cond delay="0"/>
                                          </p:stCondLst>
                                        </p:cTn>
                                        <p:tgtEl>
                                          <p:spTgt spid="54"/>
                                        </p:tgtEl>
                                        <p:attrNameLst>
                                          <p:attrName>style.visibility</p:attrName>
                                        </p:attrNameLst>
                                      </p:cBhvr>
                                      <p:to>
                                        <p:strVal val="visible"/>
                                      </p:to>
                                    </p:set>
                                  </p:childTnLst>
                                </p:cTn>
                              </p:par>
                              <p:par>
                                <p:cTn id="161" presetID="10" presetClass="entr" presetSubtype="0" fill="hold" nodeType="withEffect">
                                  <p:stCondLst>
                                    <p:cond delay="0"/>
                                  </p:stCondLst>
                                  <p:childTnLst>
                                    <p:animEffect transition="in" filter="fade">
                                      <p:cBhvr>
                                        <p:cTn id="162" dur="400"/>
                                        <p:tgtEl>
                                          <p:spTgt spid="55"/>
                                        </p:tgtEl>
                                      </p:cBhvr>
                                    </p:animEffect>
                                    <p:set>
                                      <p:cBhvr>
                                        <p:cTn id="163" dur="1" fill="hold">
                                          <p:stCondLst>
                                            <p:cond delay="0"/>
                                          </p:stCondLst>
                                        </p:cTn>
                                        <p:tgtEl>
                                          <p:spTgt spid="55"/>
                                        </p:tgtEl>
                                        <p:attrNameLst>
                                          <p:attrName>style.visibility</p:attrName>
                                        </p:attrNameLst>
                                      </p:cBhvr>
                                      <p:to>
                                        <p:strVal val="visible"/>
                                      </p:to>
                                    </p:set>
                                  </p:childTnLst>
                                </p:cTn>
                              </p:par>
                              <p:par>
                                <p:cTn id="164" presetID="10" presetClass="entr" presetSubtype="0" fill="hold" nodeType="withEffect">
                                  <p:stCondLst>
                                    <p:cond delay="0"/>
                                  </p:stCondLst>
                                  <p:childTnLst>
                                    <p:animEffect transition="in" filter="fade">
                                      <p:cBhvr>
                                        <p:cTn id="165" dur="400"/>
                                        <p:tgtEl>
                                          <p:spTgt spid="56"/>
                                        </p:tgtEl>
                                      </p:cBhvr>
                                    </p:animEffect>
                                    <p:set>
                                      <p:cBhvr>
                                        <p:cTn id="166" dur="1" fill="hold">
                                          <p:stCondLst>
                                            <p:cond delay="0"/>
                                          </p:stCondLst>
                                        </p:cTn>
                                        <p:tgtEl>
                                          <p:spTgt spid="56"/>
                                        </p:tgtEl>
                                        <p:attrNameLst>
                                          <p:attrName>style.visibility</p:attrName>
                                        </p:attrNameLst>
                                      </p:cBhvr>
                                      <p:to>
                                        <p:strVal val="visible"/>
                                      </p:to>
                                    </p:set>
                                  </p:childTnLst>
                                </p:cTn>
                              </p:par>
                              <p:par>
                                <p:cTn id="167" presetID="10" presetClass="entr" presetSubtype="0" fill="hold" nodeType="withEffect">
                                  <p:stCondLst>
                                    <p:cond delay="0"/>
                                  </p:stCondLst>
                                  <p:childTnLst>
                                    <p:animEffect transition="in" filter="fade">
                                      <p:cBhvr>
                                        <p:cTn id="168" dur="400"/>
                                        <p:tgtEl>
                                          <p:spTgt spid="57"/>
                                        </p:tgtEl>
                                      </p:cBhvr>
                                    </p:animEffect>
                                    <p:set>
                                      <p:cBhvr>
                                        <p:cTn id="169" dur="1" fill="hold">
                                          <p:stCondLst>
                                            <p:cond delay="0"/>
                                          </p:stCondLst>
                                        </p:cTn>
                                        <p:tgtEl>
                                          <p:spTgt spid="57"/>
                                        </p:tgtEl>
                                        <p:attrNameLst>
                                          <p:attrName>style.visibility</p:attrName>
                                        </p:attrNameLst>
                                      </p:cBhvr>
                                      <p:to>
                                        <p:strVal val="visible"/>
                                      </p:to>
                                    </p:set>
                                  </p:childTnLst>
                                </p:cTn>
                              </p:par>
                              <p:par>
                                <p:cTn id="170" presetID="10" presetClass="entr" presetSubtype="0" fill="hold" nodeType="withEffect">
                                  <p:stCondLst>
                                    <p:cond delay="0"/>
                                  </p:stCondLst>
                                  <p:childTnLst>
                                    <p:animEffect transition="in" filter="fade">
                                      <p:cBhvr>
                                        <p:cTn id="171" dur="400"/>
                                        <p:tgtEl>
                                          <p:spTgt spid="58"/>
                                        </p:tgtEl>
                                      </p:cBhvr>
                                    </p:animEffect>
                                    <p:set>
                                      <p:cBhvr>
                                        <p:cTn id="172" dur="1" fill="hold">
                                          <p:stCondLst>
                                            <p:cond delay="0"/>
                                          </p:stCondLst>
                                        </p:cTn>
                                        <p:tgtEl>
                                          <p:spTgt spid="58"/>
                                        </p:tgtEl>
                                        <p:attrNameLst>
                                          <p:attrName>style.visibility</p:attrName>
                                        </p:attrNameLst>
                                      </p:cBhvr>
                                      <p:to>
                                        <p:strVal val="visible"/>
                                      </p:to>
                                    </p:set>
                                  </p:childTnLst>
                                </p:cTn>
                              </p:par>
                              <p:par>
                                <p:cTn id="173" presetID="10" presetClass="entr" presetSubtype="0" fill="hold" nodeType="withEffect">
                                  <p:stCondLst>
                                    <p:cond delay="0"/>
                                  </p:stCondLst>
                                  <p:childTnLst>
                                    <p:animEffect transition="in" filter="fade">
                                      <p:cBhvr>
                                        <p:cTn id="174" dur="400"/>
                                        <p:tgtEl>
                                          <p:spTgt spid="59"/>
                                        </p:tgtEl>
                                      </p:cBhvr>
                                    </p:animEffect>
                                    <p:set>
                                      <p:cBhvr>
                                        <p:cTn id="175" dur="1" fill="hold">
                                          <p:stCondLst>
                                            <p:cond delay="0"/>
                                          </p:stCondLst>
                                        </p:cTn>
                                        <p:tgtEl>
                                          <p:spTgt spid="59"/>
                                        </p:tgtEl>
                                        <p:attrNameLst>
                                          <p:attrName>style.visibility</p:attrName>
                                        </p:attrNameLst>
                                      </p:cBhvr>
                                      <p:to>
                                        <p:strVal val="visible"/>
                                      </p:to>
                                    </p:set>
                                  </p:childTnLst>
                                </p:cTn>
                              </p:par>
                              <p:par>
                                <p:cTn id="176" presetID="10" presetClass="entr" presetSubtype="0" fill="hold" nodeType="withEffect">
                                  <p:stCondLst>
                                    <p:cond delay="0"/>
                                  </p:stCondLst>
                                  <p:childTnLst>
                                    <p:animEffect transition="in" filter="fade">
                                      <p:cBhvr>
                                        <p:cTn id="177" dur="400"/>
                                        <p:tgtEl>
                                          <p:spTgt spid="60"/>
                                        </p:tgtEl>
                                      </p:cBhvr>
                                    </p:animEffect>
                                    <p:set>
                                      <p:cBhvr>
                                        <p:cTn id="178" dur="1" fill="hold">
                                          <p:stCondLst>
                                            <p:cond delay="0"/>
                                          </p:stCondLst>
                                        </p:cTn>
                                        <p:tgtEl>
                                          <p:spTgt spid="60"/>
                                        </p:tgtEl>
                                        <p:attrNameLst>
                                          <p:attrName>style.visibility</p:attrName>
                                        </p:attrNameLst>
                                      </p:cBhvr>
                                      <p:to>
                                        <p:strVal val="visible"/>
                                      </p:to>
                                    </p:set>
                                  </p:childTnLst>
                                </p:cTn>
                              </p:par>
                              <p:par>
                                <p:cTn id="179" presetID="10" presetClass="entr" presetSubtype="0" fill="hold" nodeType="withEffect">
                                  <p:stCondLst>
                                    <p:cond delay="0"/>
                                  </p:stCondLst>
                                  <p:childTnLst>
                                    <p:animEffect transition="in" filter="fade">
                                      <p:cBhvr>
                                        <p:cTn id="180" dur="400"/>
                                        <p:tgtEl>
                                          <p:spTgt spid="61"/>
                                        </p:tgtEl>
                                      </p:cBhvr>
                                    </p:animEffect>
                                    <p:set>
                                      <p:cBhvr>
                                        <p:cTn id="181" dur="1" fill="hold">
                                          <p:stCondLst>
                                            <p:cond delay="0"/>
                                          </p:stCondLst>
                                        </p:cTn>
                                        <p:tgtEl>
                                          <p:spTgt spid="61"/>
                                        </p:tgtEl>
                                        <p:attrNameLst>
                                          <p:attrName>style.visibility</p:attrName>
                                        </p:attrNameLst>
                                      </p:cBhvr>
                                      <p:to>
                                        <p:strVal val="visible"/>
                                      </p:to>
                                    </p:set>
                                  </p:childTnLst>
                                </p:cTn>
                              </p:par>
                              <p:par>
                                <p:cTn id="182" presetID="10" presetClass="entr" presetSubtype="0" fill="hold" nodeType="withEffect">
                                  <p:stCondLst>
                                    <p:cond delay="0"/>
                                  </p:stCondLst>
                                  <p:childTnLst>
                                    <p:animEffect transition="in" filter="fade">
                                      <p:cBhvr>
                                        <p:cTn id="183" dur="400"/>
                                        <p:tgtEl>
                                          <p:spTgt spid="62"/>
                                        </p:tgtEl>
                                      </p:cBhvr>
                                    </p:animEffect>
                                    <p:set>
                                      <p:cBhvr>
                                        <p:cTn id="184" dur="1" fill="hold">
                                          <p:stCondLst>
                                            <p:cond delay="0"/>
                                          </p:stCondLst>
                                        </p:cTn>
                                        <p:tgtEl>
                                          <p:spTgt spid="62"/>
                                        </p:tgtEl>
                                        <p:attrNameLst>
                                          <p:attrName>style.visibility</p:attrName>
                                        </p:attrNameLst>
                                      </p:cBhvr>
                                      <p:to>
                                        <p:strVal val="visible"/>
                                      </p:to>
                                    </p:set>
                                  </p:childTnLst>
                                </p:cTn>
                              </p:par>
                              <p:par>
                                <p:cTn id="185" presetID="10" presetClass="entr" presetSubtype="0" fill="hold" nodeType="withEffect">
                                  <p:stCondLst>
                                    <p:cond delay="0"/>
                                  </p:stCondLst>
                                  <p:childTnLst>
                                    <p:animEffect transition="in" filter="fade">
                                      <p:cBhvr>
                                        <p:cTn id="186" dur="400"/>
                                        <p:tgtEl>
                                          <p:spTgt spid="63"/>
                                        </p:tgtEl>
                                      </p:cBhvr>
                                    </p:animEffect>
                                    <p:set>
                                      <p:cBhvr>
                                        <p:cTn id="187" dur="1" fill="hold">
                                          <p:stCondLst>
                                            <p:cond delay="0"/>
                                          </p:stCondLst>
                                        </p:cTn>
                                        <p:tgtEl>
                                          <p:spTgt spid="63"/>
                                        </p:tgtEl>
                                        <p:attrNameLst>
                                          <p:attrName>style.visibility</p:attrName>
                                        </p:attrNameLst>
                                      </p:cBhvr>
                                      <p:to>
                                        <p:strVal val="visible"/>
                                      </p:to>
                                    </p:set>
                                  </p:childTnLst>
                                </p:cTn>
                              </p:par>
                              <p:par>
                                <p:cTn id="188" presetID="10" presetClass="entr" presetSubtype="0" fill="hold" nodeType="withEffect">
                                  <p:stCondLst>
                                    <p:cond delay="0"/>
                                  </p:stCondLst>
                                  <p:childTnLst>
                                    <p:animEffect transition="in" filter="fade">
                                      <p:cBhvr>
                                        <p:cTn id="189" dur="400"/>
                                        <p:tgtEl>
                                          <p:spTgt spid="64"/>
                                        </p:tgtEl>
                                      </p:cBhvr>
                                    </p:animEffect>
                                    <p:set>
                                      <p:cBhvr>
                                        <p:cTn id="190" dur="1" fill="hold">
                                          <p:stCondLst>
                                            <p:cond delay="0"/>
                                          </p:stCondLst>
                                        </p:cTn>
                                        <p:tgtEl>
                                          <p:spTgt spid="64"/>
                                        </p:tgtEl>
                                        <p:attrNameLst>
                                          <p:attrName>style.visibility</p:attrName>
                                        </p:attrNameLst>
                                      </p:cBhvr>
                                      <p:to>
                                        <p:strVal val="visible"/>
                                      </p:to>
                                    </p:set>
                                  </p:childTnLst>
                                </p:cTn>
                              </p:par>
                              <p:par>
                                <p:cTn id="191" presetID="10" presetClass="entr" presetSubtype="0" fill="hold" nodeType="withEffect">
                                  <p:stCondLst>
                                    <p:cond delay="0"/>
                                  </p:stCondLst>
                                  <p:childTnLst>
                                    <p:animEffect transition="in" filter="fade">
                                      <p:cBhvr>
                                        <p:cTn id="192" dur="400"/>
                                        <p:tgtEl>
                                          <p:spTgt spid="65"/>
                                        </p:tgtEl>
                                      </p:cBhvr>
                                    </p:animEffect>
                                    <p:set>
                                      <p:cBhvr>
                                        <p:cTn id="193" dur="1" fill="hold">
                                          <p:stCondLst>
                                            <p:cond delay="0"/>
                                          </p:stCondLst>
                                        </p:cTn>
                                        <p:tgtEl>
                                          <p:spTgt spid="65"/>
                                        </p:tgtEl>
                                        <p:attrNameLst>
                                          <p:attrName>style.visibility</p:attrName>
                                        </p:attrNameLst>
                                      </p:cBhvr>
                                      <p:to>
                                        <p:strVal val="visible"/>
                                      </p:to>
                                    </p:set>
                                  </p:childTnLst>
                                </p:cTn>
                              </p:par>
                              <p:par>
                                <p:cTn id="194" presetID="10" presetClass="entr" presetSubtype="0" fill="hold" nodeType="withEffect">
                                  <p:stCondLst>
                                    <p:cond delay="0"/>
                                  </p:stCondLst>
                                  <p:childTnLst>
                                    <p:animEffect transition="in" filter="fade">
                                      <p:cBhvr>
                                        <p:cTn id="195" dur="400"/>
                                        <p:tgtEl>
                                          <p:spTgt spid="66"/>
                                        </p:tgtEl>
                                      </p:cBhvr>
                                    </p:animEffect>
                                    <p:set>
                                      <p:cBhvr>
                                        <p:cTn id="196" dur="1" fill="hold">
                                          <p:stCondLst>
                                            <p:cond delay="0"/>
                                          </p:stCondLst>
                                        </p:cTn>
                                        <p:tgtEl>
                                          <p:spTgt spid="66"/>
                                        </p:tgtEl>
                                        <p:attrNameLst>
                                          <p:attrName>style.visibility</p:attrName>
                                        </p:attrNameLst>
                                      </p:cBhvr>
                                      <p:to>
                                        <p:strVal val="visible"/>
                                      </p:to>
                                    </p:set>
                                  </p:childTnLst>
                                </p:cTn>
                              </p:par>
                              <p:par>
                                <p:cTn id="197" presetID="10" presetClass="entr" presetSubtype="0" fill="hold" nodeType="withEffect">
                                  <p:stCondLst>
                                    <p:cond delay="0"/>
                                  </p:stCondLst>
                                  <p:childTnLst>
                                    <p:animEffect transition="in" filter="fade">
                                      <p:cBhvr>
                                        <p:cTn id="198" dur="400"/>
                                        <p:tgtEl>
                                          <p:spTgt spid="67"/>
                                        </p:tgtEl>
                                      </p:cBhvr>
                                    </p:animEffect>
                                    <p:set>
                                      <p:cBhvr>
                                        <p:cTn id="199" dur="1" fill="hold">
                                          <p:stCondLst>
                                            <p:cond delay="0"/>
                                          </p:stCondLst>
                                        </p:cTn>
                                        <p:tgtEl>
                                          <p:spTgt spid="67"/>
                                        </p:tgtEl>
                                        <p:attrNameLst>
                                          <p:attrName>style.visibility</p:attrName>
                                        </p:attrNameLst>
                                      </p:cBhvr>
                                      <p:to>
                                        <p:strVal val="visible"/>
                                      </p:to>
                                    </p:set>
                                  </p:childTnLst>
                                </p:cTn>
                              </p:par>
                              <p:par>
                                <p:cTn id="200" presetID="10" presetClass="entr" presetSubtype="0" fill="hold" nodeType="withEffect">
                                  <p:stCondLst>
                                    <p:cond delay="0"/>
                                  </p:stCondLst>
                                  <p:childTnLst>
                                    <p:animEffect transition="in" filter="fade">
                                      <p:cBhvr>
                                        <p:cTn id="201" dur="400"/>
                                        <p:tgtEl>
                                          <p:spTgt spid="68"/>
                                        </p:tgtEl>
                                      </p:cBhvr>
                                    </p:animEffect>
                                    <p:set>
                                      <p:cBhvr>
                                        <p:cTn id="202" dur="1" fill="hold">
                                          <p:stCondLst>
                                            <p:cond delay="0"/>
                                          </p:stCondLst>
                                        </p:cTn>
                                        <p:tgtEl>
                                          <p:spTgt spid="68"/>
                                        </p:tgtEl>
                                        <p:attrNameLst>
                                          <p:attrName>style.visibility</p:attrName>
                                        </p:attrNameLst>
                                      </p:cBhvr>
                                      <p:to>
                                        <p:strVal val="visible"/>
                                      </p:to>
                                    </p:set>
                                  </p:childTnLst>
                                </p:cTn>
                              </p:par>
                              <p:par>
                                <p:cTn id="203" presetID="10" presetClass="entr" presetSubtype="0" fill="hold" nodeType="withEffect">
                                  <p:stCondLst>
                                    <p:cond delay="0"/>
                                  </p:stCondLst>
                                  <p:childTnLst>
                                    <p:animEffect transition="in" filter="fade">
                                      <p:cBhvr>
                                        <p:cTn id="204" dur="400"/>
                                        <p:tgtEl>
                                          <p:spTgt spid="69"/>
                                        </p:tgtEl>
                                      </p:cBhvr>
                                    </p:animEffect>
                                    <p:set>
                                      <p:cBhvr>
                                        <p:cTn id="205" dur="1" fill="hold">
                                          <p:stCondLst>
                                            <p:cond delay="0"/>
                                          </p:stCondLst>
                                        </p:cTn>
                                        <p:tgtEl>
                                          <p:spTgt spid="69"/>
                                        </p:tgtEl>
                                        <p:attrNameLst>
                                          <p:attrName>style.visibility</p:attrName>
                                        </p:attrNameLst>
                                      </p:cBhvr>
                                      <p:to>
                                        <p:strVal val="visible"/>
                                      </p:to>
                                    </p:set>
                                  </p:childTnLst>
                                </p:cTn>
                              </p:par>
                              <p:par>
                                <p:cTn id="206" presetID="10" presetClass="entr" presetSubtype="0" fill="hold" nodeType="withEffect">
                                  <p:stCondLst>
                                    <p:cond delay="0"/>
                                  </p:stCondLst>
                                  <p:childTnLst>
                                    <p:animEffect transition="in" filter="fade">
                                      <p:cBhvr>
                                        <p:cTn id="207" dur="400"/>
                                        <p:tgtEl>
                                          <p:spTgt spid="70"/>
                                        </p:tgtEl>
                                      </p:cBhvr>
                                    </p:animEffect>
                                    <p:set>
                                      <p:cBhvr>
                                        <p:cTn id="208" dur="1" fill="hold">
                                          <p:stCondLst>
                                            <p:cond delay="0"/>
                                          </p:stCondLst>
                                        </p:cTn>
                                        <p:tgtEl>
                                          <p:spTgt spid="70"/>
                                        </p:tgtEl>
                                        <p:attrNameLst>
                                          <p:attrName>style.visibility</p:attrName>
                                        </p:attrNameLst>
                                      </p:cBhvr>
                                      <p:to>
                                        <p:strVal val="visible"/>
                                      </p:to>
                                    </p:set>
                                  </p:childTnLst>
                                </p:cTn>
                              </p:par>
                              <p:par>
                                <p:cTn id="209" presetID="10" presetClass="entr" presetSubtype="0" fill="hold" nodeType="withEffect">
                                  <p:stCondLst>
                                    <p:cond delay="0"/>
                                  </p:stCondLst>
                                  <p:childTnLst>
                                    <p:animEffect transition="in" filter="fade">
                                      <p:cBhvr>
                                        <p:cTn id="210" dur="400"/>
                                        <p:tgtEl>
                                          <p:spTgt spid="71"/>
                                        </p:tgtEl>
                                      </p:cBhvr>
                                    </p:animEffect>
                                    <p:set>
                                      <p:cBhvr>
                                        <p:cTn id="211" dur="1" fill="hold">
                                          <p:stCondLst>
                                            <p:cond delay="0"/>
                                          </p:stCondLst>
                                        </p:cTn>
                                        <p:tgtEl>
                                          <p:spTgt spid="71"/>
                                        </p:tgtEl>
                                        <p:attrNameLst>
                                          <p:attrName>style.visibility</p:attrName>
                                        </p:attrNameLst>
                                      </p:cBhvr>
                                      <p:to>
                                        <p:strVal val="visible"/>
                                      </p:to>
                                    </p:set>
                                  </p:childTnLst>
                                </p:cTn>
                              </p:par>
                              <p:par>
                                <p:cTn id="212" presetID="10" presetClass="entr" presetSubtype="0" fill="hold" nodeType="withEffect">
                                  <p:stCondLst>
                                    <p:cond delay="0"/>
                                  </p:stCondLst>
                                  <p:childTnLst>
                                    <p:animEffect transition="in" filter="fade">
                                      <p:cBhvr>
                                        <p:cTn id="213" dur="400"/>
                                        <p:tgtEl>
                                          <p:spTgt spid="72"/>
                                        </p:tgtEl>
                                      </p:cBhvr>
                                    </p:animEffect>
                                    <p:set>
                                      <p:cBhvr>
                                        <p:cTn id="214" dur="1" fill="hold">
                                          <p:stCondLst>
                                            <p:cond delay="0"/>
                                          </p:stCondLst>
                                        </p:cTn>
                                        <p:tgtEl>
                                          <p:spTgt spid="72"/>
                                        </p:tgtEl>
                                        <p:attrNameLst>
                                          <p:attrName>style.visibility</p:attrName>
                                        </p:attrNameLst>
                                      </p:cBhvr>
                                      <p:to>
                                        <p:strVal val="visible"/>
                                      </p:to>
                                    </p:set>
                                  </p:childTnLst>
                                </p:cTn>
                              </p:par>
                              <p:par>
                                <p:cTn id="215" presetID="10" presetClass="entr" presetSubtype="0" fill="hold" nodeType="withEffect">
                                  <p:stCondLst>
                                    <p:cond delay="0"/>
                                  </p:stCondLst>
                                  <p:childTnLst>
                                    <p:animEffect transition="in" filter="fade">
                                      <p:cBhvr>
                                        <p:cTn id="216" dur="400"/>
                                        <p:tgtEl>
                                          <p:spTgt spid="73"/>
                                        </p:tgtEl>
                                      </p:cBhvr>
                                    </p:animEffect>
                                    <p:set>
                                      <p:cBhvr>
                                        <p:cTn id="217" dur="1" fill="hold">
                                          <p:stCondLst>
                                            <p:cond delay="0"/>
                                          </p:stCondLst>
                                        </p:cTn>
                                        <p:tgtEl>
                                          <p:spTgt spid="73"/>
                                        </p:tgtEl>
                                        <p:attrNameLst>
                                          <p:attrName>style.visibility</p:attrName>
                                        </p:attrNameLst>
                                      </p:cBhvr>
                                      <p:to>
                                        <p:strVal val="visible"/>
                                      </p:to>
                                    </p:set>
                                  </p:childTnLst>
                                </p:cTn>
                              </p:par>
                              <p:par>
                                <p:cTn id="218" presetID="10" presetClass="entr" presetSubtype="0" fill="hold" nodeType="withEffect">
                                  <p:stCondLst>
                                    <p:cond delay="0"/>
                                  </p:stCondLst>
                                  <p:childTnLst>
                                    <p:animEffect transition="in" filter="fade">
                                      <p:cBhvr>
                                        <p:cTn id="219" dur="400"/>
                                        <p:tgtEl>
                                          <p:spTgt spid="74"/>
                                        </p:tgtEl>
                                      </p:cBhvr>
                                    </p:animEffect>
                                    <p:set>
                                      <p:cBhvr>
                                        <p:cTn id="220" dur="1" fill="hold">
                                          <p:stCondLst>
                                            <p:cond delay="0"/>
                                          </p:stCondLst>
                                        </p:cTn>
                                        <p:tgtEl>
                                          <p:spTgt spid="74"/>
                                        </p:tgtEl>
                                        <p:attrNameLst>
                                          <p:attrName>style.visibility</p:attrName>
                                        </p:attrNameLst>
                                      </p:cBhvr>
                                      <p:to>
                                        <p:strVal val="visible"/>
                                      </p:to>
                                    </p:set>
                                  </p:childTnLst>
                                </p:cTn>
                              </p:par>
                              <p:par>
                                <p:cTn id="221" presetID="10" presetClass="entr" presetSubtype="0" fill="hold" nodeType="withEffect">
                                  <p:stCondLst>
                                    <p:cond delay="0"/>
                                  </p:stCondLst>
                                  <p:childTnLst>
                                    <p:animEffect transition="in" filter="fade">
                                      <p:cBhvr>
                                        <p:cTn id="222" dur="400"/>
                                        <p:tgtEl>
                                          <p:spTgt spid="75"/>
                                        </p:tgtEl>
                                      </p:cBhvr>
                                    </p:animEffect>
                                    <p:set>
                                      <p:cBhvr>
                                        <p:cTn id="223" dur="1" fill="hold">
                                          <p:stCondLst>
                                            <p:cond delay="0"/>
                                          </p:stCondLst>
                                        </p:cTn>
                                        <p:tgtEl>
                                          <p:spTgt spid="75"/>
                                        </p:tgtEl>
                                        <p:attrNameLst>
                                          <p:attrName>style.visibility</p:attrName>
                                        </p:attrNameLst>
                                      </p:cBhvr>
                                      <p:to>
                                        <p:strVal val="visible"/>
                                      </p:to>
                                    </p:set>
                                  </p:childTnLst>
                                </p:cTn>
                              </p:par>
                              <p:par>
                                <p:cTn id="224" presetID="10" presetClass="entr" presetSubtype="0" fill="hold" nodeType="withEffect">
                                  <p:stCondLst>
                                    <p:cond delay="0"/>
                                  </p:stCondLst>
                                  <p:childTnLst>
                                    <p:animEffect transition="in" filter="fade">
                                      <p:cBhvr>
                                        <p:cTn id="225" dur="400"/>
                                        <p:tgtEl>
                                          <p:spTgt spid="76"/>
                                        </p:tgtEl>
                                      </p:cBhvr>
                                    </p:animEffect>
                                    <p:set>
                                      <p:cBhvr>
                                        <p:cTn id="226" dur="1" fill="hold">
                                          <p:stCondLst>
                                            <p:cond delay="0"/>
                                          </p:stCondLst>
                                        </p:cTn>
                                        <p:tgtEl>
                                          <p:spTgt spid="76"/>
                                        </p:tgtEl>
                                        <p:attrNameLst>
                                          <p:attrName>style.visibility</p:attrName>
                                        </p:attrNameLst>
                                      </p:cBhvr>
                                      <p:to>
                                        <p:strVal val="visible"/>
                                      </p:to>
                                    </p:set>
                                  </p:childTnLst>
                                </p:cTn>
                              </p:par>
                              <p:par>
                                <p:cTn id="227" presetID="10" presetClass="entr" presetSubtype="0" fill="hold" nodeType="withEffect">
                                  <p:stCondLst>
                                    <p:cond delay="0"/>
                                  </p:stCondLst>
                                  <p:childTnLst>
                                    <p:animEffect transition="in" filter="fade">
                                      <p:cBhvr>
                                        <p:cTn id="228" dur="400"/>
                                        <p:tgtEl>
                                          <p:spTgt spid="77"/>
                                        </p:tgtEl>
                                      </p:cBhvr>
                                    </p:animEffect>
                                    <p:set>
                                      <p:cBhvr>
                                        <p:cTn id="229" dur="1" fill="hold">
                                          <p:stCondLst>
                                            <p:cond delay="0"/>
                                          </p:stCondLst>
                                        </p:cTn>
                                        <p:tgtEl>
                                          <p:spTgt spid="77"/>
                                        </p:tgtEl>
                                        <p:attrNameLst>
                                          <p:attrName>style.visibility</p:attrName>
                                        </p:attrNameLst>
                                      </p:cBhvr>
                                      <p:to>
                                        <p:strVal val="visible"/>
                                      </p:to>
                                    </p:set>
                                  </p:childTnLst>
                                </p:cTn>
                              </p:par>
                              <p:par>
                                <p:cTn id="230" presetID="10" presetClass="entr" presetSubtype="0" fill="hold" nodeType="withEffect">
                                  <p:stCondLst>
                                    <p:cond delay="0"/>
                                  </p:stCondLst>
                                  <p:childTnLst>
                                    <p:animEffect transition="in" filter="fade">
                                      <p:cBhvr>
                                        <p:cTn id="231" dur="400"/>
                                        <p:tgtEl>
                                          <p:spTgt spid="78"/>
                                        </p:tgtEl>
                                      </p:cBhvr>
                                    </p:animEffect>
                                    <p:set>
                                      <p:cBhvr>
                                        <p:cTn id="232" dur="1" fill="hold">
                                          <p:stCondLst>
                                            <p:cond delay="0"/>
                                          </p:stCondLst>
                                        </p:cTn>
                                        <p:tgtEl>
                                          <p:spTgt spid="78"/>
                                        </p:tgtEl>
                                        <p:attrNameLst>
                                          <p:attrName>style.visibility</p:attrName>
                                        </p:attrNameLst>
                                      </p:cBhvr>
                                      <p:to>
                                        <p:strVal val="visible"/>
                                      </p:to>
                                    </p:set>
                                  </p:childTnLst>
                                </p:cTn>
                              </p:par>
                              <p:par>
                                <p:cTn id="233" presetID="10" presetClass="entr" presetSubtype="0" fill="hold" nodeType="withEffect">
                                  <p:stCondLst>
                                    <p:cond delay="0"/>
                                  </p:stCondLst>
                                  <p:childTnLst>
                                    <p:animEffect transition="in" filter="fade">
                                      <p:cBhvr>
                                        <p:cTn id="234" dur="400"/>
                                        <p:tgtEl>
                                          <p:spTgt spid="79"/>
                                        </p:tgtEl>
                                      </p:cBhvr>
                                    </p:animEffect>
                                    <p:set>
                                      <p:cBhvr>
                                        <p:cTn id="235" dur="1" fill="hold">
                                          <p:stCondLst>
                                            <p:cond delay="0"/>
                                          </p:stCondLst>
                                        </p:cTn>
                                        <p:tgtEl>
                                          <p:spTgt spid="79"/>
                                        </p:tgtEl>
                                        <p:attrNameLst>
                                          <p:attrName>style.visibility</p:attrName>
                                        </p:attrNameLst>
                                      </p:cBhvr>
                                      <p:to>
                                        <p:strVal val="visible"/>
                                      </p:to>
                                    </p:set>
                                  </p:childTnLst>
                                </p:cTn>
                              </p:par>
                              <p:par>
                                <p:cTn id="236" presetID="10" presetClass="entr" presetSubtype="0" fill="hold" nodeType="withEffect">
                                  <p:stCondLst>
                                    <p:cond delay="0"/>
                                  </p:stCondLst>
                                  <p:childTnLst>
                                    <p:animEffect transition="in" filter="fade">
                                      <p:cBhvr>
                                        <p:cTn id="237" dur="400"/>
                                        <p:tgtEl>
                                          <p:spTgt spid="80"/>
                                        </p:tgtEl>
                                      </p:cBhvr>
                                    </p:animEffect>
                                    <p:set>
                                      <p:cBhvr>
                                        <p:cTn id="238" dur="1" fill="hold">
                                          <p:stCondLst>
                                            <p:cond delay="0"/>
                                          </p:stCondLst>
                                        </p:cTn>
                                        <p:tgtEl>
                                          <p:spTgt spid="80"/>
                                        </p:tgtEl>
                                        <p:attrNameLst>
                                          <p:attrName>style.visibility</p:attrName>
                                        </p:attrNameLst>
                                      </p:cBhvr>
                                      <p:to>
                                        <p:strVal val="visible"/>
                                      </p:to>
                                    </p:set>
                                  </p:childTnLst>
                                </p:cTn>
                              </p:par>
                              <p:par>
                                <p:cTn id="239" presetID="10" presetClass="entr" presetSubtype="0" fill="hold" nodeType="withEffect">
                                  <p:stCondLst>
                                    <p:cond delay="0"/>
                                  </p:stCondLst>
                                  <p:childTnLst>
                                    <p:animEffect transition="in" filter="fade">
                                      <p:cBhvr>
                                        <p:cTn id="240" dur="400"/>
                                        <p:tgtEl>
                                          <p:spTgt spid="81"/>
                                        </p:tgtEl>
                                      </p:cBhvr>
                                    </p:animEffect>
                                    <p:set>
                                      <p:cBhvr>
                                        <p:cTn id="241" dur="1" fill="hold">
                                          <p:stCondLst>
                                            <p:cond delay="0"/>
                                          </p:stCondLst>
                                        </p:cTn>
                                        <p:tgtEl>
                                          <p:spTgt spid="81"/>
                                        </p:tgtEl>
                                        <p:attrNameLst>
                                          <p:attrName>style.visibility</p:attrName>
                                        </p:attrNameLst>
                                      </p:cBhvr>
                                      <p:to>
                                        <p:strVal val="visible"/>
                                      </p:to>
                                    </p:set>
                                  </p:childTnLst>
                                </p:cTn>
                              </p:par>
                              <p:par>
                                <p:cTn id="242" presetID="10" presetClass="entr" presetSubtype="0" fill="hold" nodeType="withEffect">
                                  <p:stCondLst>
                                    <p:cond delay="0"/>
                                  </p:stCondLst>
                                  <p:childTnLst>
                                    <p:animEffect transition="in" filter="fade">
                                      <p:cBhvr>
                                        <p:cTn id="243" dur="400"/>
                                        <p:tgtEl>
                                          <p:spTgt spid="82"/>
                                        </p:tgtEl>
                                      </p:cBhvr>
                                    </p:animEffect>
                                    <p:set>
                                      <p:cBhvr>
                                        <p:cTn id="24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4"/>
        </a:solidFill>
        <a:effectLst/>
      </p:bgPr>
    </p:bg>
    <p:spTree>
      <p:nvGrpSpPr>
        <p:cNvPr id="1" name=""/>
        <p:cNvGrpSpPr/>
        <p:nvPr/>
      </p:nvGrpSpPr>
      <p:grpSpPr>
        <a:xfrm>
          <a:off x="0" y="0"/>
          <a:ext cx="0" cy="0"/>
          <a:chOff x="0" y="0"/>
          <a:chExt cx="0" cy="0"/>
        </a:xfrm>
      </p:grpSpPr>
      <p:sp>
        <p:nvSpPr>
          <p:cNvPr id="3" name="Shape 0"/>
          <p:cNvSpPr/>
          <p:nvPr/>
        </p:nvSpPr>
        <p:spPr>
          <a:xfrm>
            <a:off x="7680960" y="5852160"/>
            <a:ext cx="384048" cy="1005840"/>
          </a:xfrm>
          <a:prstGeom prst="rect">
            <a:avLst/>
          </a:prstGeom>
          <a:solidFill>
            <a:srgbClr val="22D3EE">
              <a:alpha val="12000"/>
            </a:srgbClr>
          </a:solidFill>
          <a:ln/>
        </p:spPr>
        <p:txBody>
          <a:bodyPr/>
          <a:lstStyle/>
          <a:p>
            <a:endParaRPr lang="en-IN"/>
          </a:p>
        </p:txBody>
      </p:sp>
      <p:sp>
        <p:nvSpPr>
          <p:cNvPr id="4" name="Shape 1"/>
          <p:cNvSpPr/>
          <p:nvPr/>
        </p:nvSpPr>
        <p:spPr>
          <a:xfrm>
            <a:off x="8247888" y="5303520"/>
            <a:ext cx="384048" cy="1554480"/>
          </a:xfrm>
          <a:prstGeom prst="rect">
            <a:avLst/>
          </a:prstGeom>
          <a:solidFill>
            <a:srgbClr val="2DD4BF">
              <a:alpha val="12000"/>
            </a:srgbClr>
          </a:solidFill>
          <a:ln/>
        </p:spPr>
        <p:txBody>
          <a:bodyPr/>
          <a:lstStyle/>
          <a:p>
            <a:endParaRPr lang="en-IN"/>
          </a:p>
        </p:txBody>
      </p:sp>
      <p:sp>
        <p:nvSpPr>
          <p:cNvPr id="5" name="Shape 2"/>
          <p:cNvSpPr/>
          <p:nvPr/>
        </p:nvSpPr>
        <p:spPr>
          <a:xfrm>
            <a:off x="8814816" y="5577840"/>
            <a:ext cx="384048" cy="1280160"/>
          </a:xfrm>
          <a:prstGeom prst="rect">
            <a:avLst/>
          </a:prstGeom>
          <a:solidFill>
            <a:srgbClr val="22D3EE">
              <a:alpha val="12000"/>
            </a:srgbClr>
          </a:solidFill>
          <a:ln/>
        </p:spPr>
        <p:txBody>
          <a:bodyPr/>
          <a:lstStyle/>
          <a:p>
            <a:endParaRPr lang="en-IN"/>
          </a:p>
        </p:txBody>
      </p:sp>
      <p:sp>
        <p:nvSpPr>
          <p:cNvPr id="6" name="Shape 3"/>
          <p:cNvSpPr/>
          <p:nvPr/>
        </p:nvSpPr>
        <p:spPr>
          <a:xfrm>
            <a:off x="9381744" y="4846320"/>
            <a:ext cx="384048" cy="2011680"/>
          </a:xfrm>
          <a:prstGeom prst="rect">
            <a:avLst/>
          </a:prstGeom>
          <a:solidFill>
            <a:srgbClr val="2DD4BF">
              <a:alpha val="12000"/>
            </a:srgbClr>
          </a:solidFill>
          <a:ln/>
        </p:spPr>
        <p:txBody>
          <a:bodyPr/>
          <a:lstStyle/>
          <a:p>
            <a:endParaRPr lang="en-IN"/>
          </a:p>
        </p:txBody>
      </p:sp>
      <p:sp>
        <p:nvSpPr>
          <p:cNvPr id="7" name="Shape 4"/>
          <p:cNvSpPr/>
          <p:nvPr/>
        </p:nvSpPr>
        <p:spPr>
          <a:xfrm>
            <a:off x="9948672" y="5120640"/>
            <a:ext cx="384048" cy="1737360"/>
          </a:xfrm>
          <a:prstGeom prst="rect">
            <a:avLst/>
          </a:prstGeom>
          <a:solidFill>
            <a:srgbClr val="22D3EE">
              <a:alpha val="12000"/>
            </a:srgbClr>
          </a:solidFill>
          <a:ln/>
        </p:spPr>
        <p:txBody>
          <a:bodyPr/>
          <a:lstStyle/>
          <a:p>
            <a:endParaRPr lang="en-IN"/>
          </a:p>
        </p:txBody>
      </p:sp>
      <p:sp>
        <p:nvSpPr>
          <p:cNvPr id="8" name="Shape 5"/>
          <p:cNvSpPr/>
          <p:nvPr/>
        </p:nvSpPr>
        <p:spPr>
          <a:xfrm>
            <a:off x="10515600" y="4389120"/>
            <a:ext cx="384048" cy="2468880"/>
          </a:xfrm>
          <a:prstGeom prst="rect">
            <a:avLst/>
          </a:prstGeom>
          <a:solidFill>
            <a:srgbClr val="2DD4BF">
              <a:alpha val="12000"/>
            </a:srgbClr>
          </a:solidFill>
          <a:ln/>
        </p:spPr>
        <p:txBody>
          <a:bodyPr/>
          <a:lstStyle/>
          <a:p>
            <a:endParaRPr lang="en-IN"/>
          </a:p>
        </p:txBody>
      </p:sp>
      <p:sp>
        <p:nvSpPr>
          <p:cNvPr id="9" name="Shape 6"/>
          <p:cNvSpPr/>
          <p:nvPr/>
        </p:nvSpPr>
        <p:spPr>
          <a:xfrm>
            <a:off x="11082528" y="4754880"/>
            <a:ext cx="384048" cy="2103120"/>
          </a:xfrm>
          <a:prstGeom prst="rect">
            <a:avLst/>
          </a:prstGeom>
          <a:solidFill>
            <a:srgbClr val="22D3EE">
              <a:alpha val="12000"/>
            </a:srgbClr>
          </a:solidFill>
          <a:ln/>
        </p:spPr>
        <p:txBody>
          <a:bodyPr/>
          <a:lstStyle/>
          <a:p>
            <a:endParaRPr lang="en-IN"/>
          </a:p>
        </p:txBody>
      </p:sp>
      <p:sp>
        <p:nvSpPr>
          <p:cNvPr id="10" name="Shape 7"/>
          <p:cNvSpPr/>
          <p:nvPr/>
        </p:nvSpPr>
        <p:spPr>
          <a:xfrm>
            <a:off x="11649456" y="4023360"/>
            <a:ext cx="384048" cy="2834640"/>
          </a:xfrm>
          <a:prstGeom prst="rect">
            <a:avLst/>
          </a:prstGeom>
          <a:solidFill>
            <a:srgbClr val="2DD4BF">
              <a:alpha val="12000"/>
            </a:srgbClr>
          </a:solidFill>
          <a:ln/>
        </p:spPr>
        <p:txBody>
          <a:bodyPr/>
          <a:lstStyle/>
          <a:p>
            <a:endParaRPr lang="en-IN"/>
          </a:p>
        </p:txBody>
      </p:sp>
      <p:sp>
        <p:nvSpPr>
          <p:cNvPr id="11" name="Shape 8"/>
          <p:cNvSpPr/>
          <p:nvPr/>
        </p:nvSpPr>
        <p:spPr>
          <a:xfrm>
            <a:off x="9235440" y="1097280"/>
            <a:ext cx="1554480" cy="1554480"/>
          </a:xfrm>
          <a:prstGeom prst="diamond">
            <a:avLst/>
          </a:prstGeom>
          <a:ln w="12700">
            <a:solidFill>
              <a:srgbClr val="26323F">
                <a:alpha val="60000"/>
              </a:srgbClr>
            </a:solidFill>
            <a:prstDash val="solid"/>
          </a:ln>
        </p:spPr>
        <p:txBody>
          <a:bodyPr/>
          <a:lstStyle/>
          <a:p>
            <a:endParaRPr lang="en-IN"/>
          </a:p>
        </p:txBody>
      </p:sp>
      <p:sp>
        <p:nvSpPr>
          <p:cNvPr id="12" name="Shape 9"/>
          <p:cNvSpPr/>
          <p:nvPr/>
        </p:nvSpPr>
        <p:spPr>
          <a:xfrm>
            <a:off x="9473184" y="1335024"/>
            <a:ext cx="1078992" cy="1078992"/>
          </a:xfrm>
          <a:prstGeom prst="diamond">
            <a:avLst/>
          </a:prstGeom>
          <a:ln w="19050">
            <a:solidFill>
              <a:srgbClr val="2DD4BF">
                <a:alpha val="80000"/>
              </a:srgbClr>
            </a:solidFill>
            <a:prstDash val="solid"/>
          </a:ln>
        </p:spPr>
        <p:txBody>
          <a:bodyPr/>
          <a:lstStyle/>
          <a:p>
            <a:endParaRPr lang="en-IN"/>
          </a:p>
        </p:txBody>
      </p:sp>
      <p:sp>
        <p:nvSpPr>
          <p:cNvPr id="13" name="Shape 10"/>
          <p:cNvSpPr/>
          <p:nvPr/>
        </p:nvSpPr>
        <p:spPr>
          <a:xfrm>
            <a:off x="9710928" y="1572768"/>
            <a:ext cx="603504" cy="603504"/>
          </a:xfrm>
          <a:prstGeom prst="diamond">
            <a:avLst/>
          </a:prstGeom>
          <a:ln w="19050">
            <a:solidFill>
              <a:srgbClr val="2DD4BF">
                <a:alpha val="80000"/>
              </a:srgbClr>
            </a:solidFill>
            <a:prstDash val="solid"/>
          </a:ln>
        </p:spPr>
        <p:txBody>
          <a:bodyPr/>
          <a:lstStyle/>
          <a:p>
            <a:endParaRPr lang="en-IN"/>
          </a:p>
        </p:txBody>
      </p:sp>
      <p:sp>
        <p:nvSpPr>
          <p:cNvPr id="14" name="Shape 11"/>
          <p:cNvSpPr/>
          <p:nvPr/>
        </p:nvSpPr>
        <p:spPr>
          <a:xfrm>
            <a:off x="9857232" y="1719072"/>
            <a:ext cx="310896" cy="310896"/>
          </a:xfrm>
          <a:prstGeom prst="diamond">
            <a:avLst/>
          </a:prstGeom>
          <a:solidFill>
            <a:srgbClr val="2DD4BF"/>
          </a:solidFill>
          <a:ln/>
        </p:spPr>
        <p:txBody>
          <a:bodyPr/>
          <a:lstStyle/>
          <a:p>
            <a:endParaRPr lang="en-IN"/>
          </a:p>
        </p:txBody>
      </p:sp>
      <p:sp>
        <p:nvSpPr>
          <p:cNvPr id="15" name="Text 12"/>
          <p:cNvSpPr/>
          <p:nvPr/>
        </p:nvSpPr>
        <p:spPr>
          <a:xfrm>
            <a:off x="777240" y="2542032"/>
            <a:ext cx="9144000" cy="384048"/>
          </a:xfrm>
          <a:prstGeom prst="rect">
            <a:avLst/>
          </a:prstGeom>
          <a:noFill/>
          <a:ln/>
        </p:spPr>
        <p:txBody>
          <a:bodyPr wrap="square" lIns="0" tIns="0" rIns="0" bIns="0" rtlCol="0" anchor="ctr"/>
          <a:lstStyle/>
          <a:p>
            <a:pPr marL="0" indent="0">
              <a:buNone/>
            </a:pPr>
            <a:r>
              <a:rPr lang="en-US" sz="1400" b="1" kern="0" spc="500" dirty="0">
                <a:solidFill>
                  <a:srgbClr val="2DD4BF"/>
                </a:solidFill>
                <a:latin typeface="Arial" pitchFamily="34" charset="0"/>
                <a:ea typeface="Arial" pitchFamily="34" charset="-122"/>
                <a:cs typeface="Arial" pitchFamily="34" charset="-120"/>
              </a:rPr>
              <a:t>DEEP DIVE</a:t>
            </a:r>
            <a:endParaRPr lang="en-US" sz="1400" dirty="0"/>
          </a:p>
        </p:txBody>
      </p:sp>
      <p:sp>
        <p:nvSpPr>
          <p:cNvPr id="16" name="Text 13"/>
          <p:cNvSpPr/>
          <p:nvPr/>
        </p:nvSpPr>
        <p:spPr>
          <a:xfrm>
            <a:off x="749808" y="2999232"/>
            <a:ext cx="10424160" cy="1097280"/>
          </a:xfrm>
          <a:prstGeom prst="rect">
            <a:avLst/>
          </a:prstGeom>
          <a:noFill/>
          <a:ln/>
        </p:spPr>
        <p:txBody>
          <a:bodyPr wrap="square" lIns="0" tIns="0" rIns="0" bIns="0" rtlCol="0" anchor="ctr"/>
          <a:lstStyle/>
          <a:p>
            <a:pPr marL="0" indent="0">
              <a:buNone/>
            </a:pPr>
            <a:r>
              <a:rPr lang="en-US" sz="5400" b="1" dirty="0">
                <a:solidFill>
                  <a:srgbClr val="F1F5F9"/>
                </a:solidFill>
                <a:latin typeface="Cambria" pitchFamily="34" charset="0"/>
                <a:ea typeface="Cambria" pitchFamily="34" charset="-122"/>
                <a:cs typeface="Cambria" pitchFamily="34" charset="-120"/>
              </a:rPr>
              <a:t>Performance Deep-Dive</a:t>
            </a:r>
            <a:endParaRPr lang="en-US" sz="5400" dirty="0"/>
          </a:p>
        </p:txBody>
      </p:sp>
      <p:sp>
        <p:nvSpPr>
          <p:cNvPr id="17" name="Text 14"/>
          <p:cNvSpPr/>
          <p:nvPr/>
        </p:nvSpPr>
        <p:spPr>
          <a:xfrm>
            <a:off x="777240" y="4160520"/>
            <a:ext cx="9601200" cy="457200"/>
          </a:xfrm>
          <a:prstGeom prst="rect">
            <a:avLst/>
          </a:prstGeom>
          <a:noFill/>
          <a:ln/>
        </p:spPr>
        <p:txBody>
          <a:bodyPr wrap="square" lIns="0" tIns="0" rIns="0" bIns="0" rtlCol="0" anchor="ctr"/>
          <a:lstStyle/>
          <a:p>
            <a:pPr marL="0" indent="0">
              <a:buNone/>
            </a:pPr>
            <a:r>
              <a:rPr lang="en-US" sz="1400" kern="0" spc="100" dirty="0">
                <a:solidFill>
                  <a:srgbClr val="94A3B8"/>
                </a:solidFill>
                <a:latin typeface="Arial" pitchFamily="34" charset="0"/>
                <a:ea typeface="Arial" pitchFamily="34" charset="-122"/>
                <a:cs typeface="Arial" pitchFamily="34" charset="-120"/>
              </a:rPr>
              <a:t>Products · Categories · Geography · Trend · Fulfillment · Payments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3"/>
                                        </p:tgtEl>
                                      </p:cBhvr>
                                    </p:animEffect>
                                    <p:set>
                                      <p:cBhvr>
                                        <p:cTn id="7" dur="1" fill="hold">
                                          <p:stCondLst>
                                            <p:cond delay="0"/>
                                          </p:stCondLst>
                                        </p:cTn>
                                        <p:tgtEl>
                                          <p:spTgt spid="3"/>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4"/>
                                        </p:tgtEl>
                                      </p:cBhvr>
                                    </p:animEffect>
                                    <p:set>
                                      <p:cBhvr>
                                        <p:cTn id="10" dur="1" fill="hold">
                                          <p:stCondLst>
                                            <p:cond delay="0"/>
                                          </p:stCondLst>
                                        </p:cTn>
                                        <p:tgtEl>
                                          <p:spTgt spid="4"/>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5"/>
                                        </p:tgtEl>
                                      </p:cBhvr>
                                    </p:animEffect>
                                    <p:set>
                                      <p:cBhvr>
                                        <p:cTn id="13" dur="1" fill="hold">
                                          <p:stCondLst>
                                            <p:cond delay="0"/>
                                          </p:stCondLst>
                                        </p:cTn>
                                        <p:tgtEl>
                                          <p:spTgt spid="5"/>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6"/>
                                        </p:tgtEl>
                                      </p:cBhvr>
                                    </p:animEffect>
                                    <p:set>
                                      <p:cBhvr>
                                        <p:cTn id="16" dur="1" fill="hold">
                                          <p:stCondLst>
                                            <p:cond delay="0"/>
                                          </p:stCondLst>
                                        </p:cTn>
                                        <p:tgtEl>
                                          <p:spTgt spid="6"/>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PRODUCT PERFORMANCE</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Revenue by product</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04</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627632"/>
            <a:ext cx="7315200" cy="4526280"/>
          </a:xfrm>
          <a:prstGeom prst="roundRect">
            <a:avLst>
              <a:gd name="adj" fmla="val 161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graphicFrame>
        <p:nvGraphicFramePr>
          <p:cNvPr id="8" name="Chart 0"/>
          <p:cNvGraphicFramePr/>
          <p:nvPr/>
        </p:nvGraphicFramePr>
        <p:xfrm>
          <a:off x="731520" y="1856232"/>
          <a:ext cx="69494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4572000" y="1298448"/>
            <a:ext cx="3154680" cy="310896"/>
          </a:xfrm>
          <a:prstGeom prst="roundRect">
            <a:avLst>
              <a:gd name="adj" fmla="val 50000"/>
            </a:avLst>
          </a:prstGeom>
          <a:solidFill>
            <a:srgbClr val="2DD4BF"/>
          </a:solidFill>
          <a:ln/>
          <a:effectLst>
            <a:outerShdw blurRad="127000" dist="38100" dir="5400000" algn="bl" rotWithShape="0">
              <a:srgbClr val="000000">
                <a:alpha val="35000"/>
              </a:srgbClr>
            </a:outerShdw>
          </a:effectLst>
        </p:spPr>
        <p:txBody>
          <a:bodyPr/>
          <a:lstStyle/>
          <a:p>
            <a:endParaRPr lang="en-IN"/>
          </a:p>
        </p:txBody>
      </p:sp>
      <p:sp>
        <p:nvSpPr>
          <p:cNvPr id="10" name="Text 6"/>
          <p:cNvSpPr/>
          <p:nvPr/>
        </p:nvSpPr>
        <p:spPr>
          <a:xfrm>
            <a:off x="4572000" y="1298448"/>
            <a:ext cx="3154680" cy="310896"/>
          </a:xfrm>
          <a:prstGeom prst="rect">
            <a:avLst/>
          </a:prstGeom>
          <a:noFill/>
          <a:ln/>
        </p:spPr>
        <p:txBody>
          <a:bodyPr wrap="square" lIns="0" tIns="0" rIns="0" bIns="0" rtlCol="0" anchor="ctr"/>
          <a:lstStyle/>
          <a:p>
            <a:pPr marL="0" indent="0" algn="ctr">
              <a:buNone/>
            </a:pPr>
            <a:r>
              <a:rPr lang="en-US" sz="1100" b="1" kern="0" spc="100" dirty="0">
                <a:solidFill>
                  <a:srgbClr val="0A0E14"/>
                </a:solidFill>
                <a:latin typeface="Arial" pitchFamily="34" charset="0"/>
                <a:ea typeface="Arial" pitchFamily="34" charset="-122"/>
                <a:cs typeface="Arial" pitchFamily="34" charset="-120"/>
              </a:rPr>
              <a:t>▲  HIGHEST REVENUE  ·  ₹87,55,484</a:t>
            </a:r>
            <a:endParaRPr lang="en-US" sz="1100" dirty="0"/>
          </a:p>
        </p:txBody>
      </p:sp>
      <p:sp>
        <p:nvSpPr>
          <p:cNvPr id="11" name="Shape 7"/>
          <p:cNvSpPr/>
          <p:nvPr/>
        </p:nvSpPr>
        <p:spPr>
          <a:xfrm>
            <a:off x="8138160" y="1627632"/>
            <a:ext cx="3502152" cy="4526280"/>
          </a:xfrm>
          <a:prstGeom prst="roundRect">
            <a:avLst>
              <a:gd name="adj" fmla="val 2089"/>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2" name="Text 8"/>
          <p:cNvSpPr/>
          <p:nvPr/>
        </p:nvSpPr>
        <p:spPr>
          <a:xfrm>
            <a:off x="8458200" y="1901952"/>
            <a:ext cx="2862072"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13" name="Text 9"/>
          <p:cNvSpPr/>
          <p:nvPr/>
        </p:nvSpPr>
        <p:spPr>
          <a:xfrm>
            <a:off x="8458200" y="2231136"/>
            <a:ext cx="2862072" cy="868680"/>
          </a:xfrm>
          <a:prstGeom prst="rect">
            <a:avLst/>
          </a:prstGeom>
          <a:noFill/>
          <a:ln/>
        </p:spPr>
        <p:txBody>
          <a:bodyPr wrap="square" lIns="0" tIns="0" rIns="0" bIns="0" rtlCol="0" anchor="t"/>
          <a:lstStyle/>
          <a:p>
            <a:pPr marL="0" indent="0">
              <a:lnSpc>
                <a:spcPct val="102000"/>
              </a:lnSpc>
              <a:buNone/>
            </a:pPr>
            <a:r>
              <a:rPr lang="en-US" sz="1700" b="1" dirty="0">
                <a:solidFill>
                  <a:srgbClr val="F1F5F9"/>
                </a:solidFill>
                <a:latin typeface="Arial" pitchFamily="34" charset="0"/>
                <a:ea typeface="Arial" pitchFamily="34" charset="-122"/>
                <a:cs typeface="Arial" pitchFamily="34" charset="-120"/>
              </a:rPr>
              <a:t>Smart Watch leads at ₹87,55,484.</a:t>
            </a:r>
            <a:endParaRPr lang="en-US" sz="1700" dirty="0"/>
          </a:p>
        </p:txBody>
      </p:sp>
      <p:sp>
        <p:nvSpPr>
          <p:cNvPr id="14" name="Text 10"/>
          <p:cNvSpPr/>
          <p:nvPr/>
        </p:nvSpPr>
        <p:spPr>
          <a:xfrm>
            <a:off x="8458200" y="3145536"/>
            <a:ext cx="2862072" cy="2697480"/>
          </a:xfrm>
          <a:prstGeom prst="rect">
            <a:avLst/>
          </a:prstGeom>
          <a:noFill/>
          <a:ln/>
        </p:spPr>
        <p:txBody>
          <a:bodyPr wrap="square" lIns="0" tIns="0" rIns="0" bIns="0" rtlCol="0" anchor="t"/>
          <a:lstStyle/>
          <a:p>
            <a:pPr marL="0" indent="0">
              <a:lnSpc>
                <a:spcPct val="118000"/>
              </a:lnSpc>
              <a:buNone/>
            </a:pPr>
            <a:r>
              <a:rPr lang="en-US" sz="1250" dirty="0">
                <a:solidFill>
                  <a:srgbClr val="94A3B8"/>
                </a:solidFill>
                <a:latin typeface="Arial" pitchFamily="34" charset="0"/>
                <a:ea typeface="Arial" pitchFamily="34" charset="-122"/>
                <a:cs typeface="Arial" pitchFamily="34" charset="-120"/>
              </a:rPr>
              <a:t>The top three products — Smart Watch, Headphones and Monitor — together drive ₹2,23,73,766 of revenue. No single product dominates: even the lowest, Keyboard at ₹37,50,215, stays in play, so the catalogue is broad rather than hit-driven. Total 1,469 units sold.</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CATEGORY MIX</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Revenue share by category</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05</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627632"/>
            <a:ext cx="6400800" cy="4526280"/>
          </a:xfrm>
          <a:prstGeom prst="roundRect">
            <a:avLst>
              <a:gd name="adj" fmla="val 161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graphicFrame>
        <p:nvGraphicFramePr>
          <p:cNvPr id="8" name="Chart 0"/>
          <p:cNvGraphicFramePr/>
          <p:nvPr/>
        </p:nvGraphicFramePr>
        <p:xfrm>
          <a:off x="822960" y="1947672"/>
          <a:ext cx="42062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p:nvPr/>
        </p:nvSpPr>
        <p:spPr>
          <a:xfrm>
            <a:off x="2103120" y="3387852"/>
            <a:ext cx="1645920" cy="457200"/>
          </a:xfrm>
          <a:prstGeom prst="rect">
            <a:avLst/>
          </a:prstGeom>
          <a:noFill/>
          <a:ln/>
        </p:spPr>
        <p:txBody>
          <a:bodyPr wrap="square" lIns="0" tIns="0" rIns="0" bIns="0" rtlCol="0" anchor="ctr"/>
          <a:lstStyle/>
          <a:p>
            <a:pPr marL="0" indent="0" algn="ctr">
              <a:buNone/>
            </a:pPr>
            <a:r>
              <a:rPr lang="en-US" sz="2400" b="1" dirty="0">
                <a:solidFill>
                  <a:srgbClr val="F1F5F9"/>
                </a:solidFill>
                <a:latin typeface="Arial" pitchFamily="34" charset="0"/>
                <a:ea typeface="Arial" pitchFamily="34" charset="-122"/>
                <a:cs typeface="Arial" pitchFamily="34" charset="-120"/>
              </a:rPr>
              <a:t>100%</a:t>
            </a:r>
            <a:endParaRPr lang="en-US" sz="2400" dirty="0"/>
          </a:p>
        </p:txBody>
      </p:sp>
      <p:sp>
        <p:nvSpPr>
          <p:cNvPr id="10" name="Text 6"/>
          <p:cNvSpPr/>
          <p:nvPr/>
        </p:nvSpPr>
        <p:spPr>
          <a:xfrm>
            <a:off x="2103120" y="3845052"/>
            <a:ext cx="164592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of revenue</a:t>
            </a:r>
            <a:endParaRPr lang="en-US" sz="1000" dirty="0"/>
          </a:p>
        </p:txBody>
      </p:sp>
      <p:sp>
        <p:nvSpPr>
          <p:cNvPr id="11" name="Shape 7"/>
          <p:cNvSpPr/>
          <p:nvPr/>
        </p:nvSpPr>
        <p:spPr>
          <a:xfrm>
            <a:off x="5166360" y="2322576"/>
            <a:ext cx="182880" cy="182880"/>
          </a:xfrm>
          <a:prstGeom prst="ellipse">
            <a:avLst/>
          </a:prstGeom>
          <a:solidFill>
            <a:srgbClr val="22D3EE"/>
          </a:solidFill>
          <a:ln/>
        </p:spPr>
        <p:txBody>
          <a:bodyPr/>
          <a:lstStyle/>
          <a:p>
            <a:endParaRPr lang="en-IN"/>
          </a:p>
        </p:txBody>
      </p:sp>
      <p:sp>
        <p:nvSpPr>
          <p:cNvPr id="12" name="Text 8"/>
          <p:cNvSpPr/>
          <p:nvPr/>
        </p:nvSpPr>
        <p:spPr>
          <a:xfrm>
            <a:off x="5458968" y="2221992"/>
            <a:ext cx="1417320" cy="274320"/>
          </a:xfrm>
          <a:prstGeom prst="rect">
            <a:avLst/>
          </a:prstGeom>
          <a:noFill/>
          <a:ln/>
        </p:spPr>
        <p:txBody>
          <a:bodyPr wrap="square" lIns="0" tIns="0" rIns="0" bIns="0" rtlCol="0" anchor="ctr"/>
          <a:lstStyle/>
          <a:p>
            <a:pPr marL="0" indent="0">
              <a:buNone/>
            </a:pPr>
            <a:r>
              <a:rPr lang="en-US" sz="1250" b="1" dirty="0">
                <a:solidFill>
                  <a:srgbClr val="F1F5F9"/>
                </a:solidFill>
                <a:latin typeface="Arial" pitchFamily="34" charset="0"/>
                <a:ea typeface="Arial" pitchFamily="34" charset="-122"/>
                <a:cs typeface="Arial" pitchFamily="34" charset="-120"/>
              </a:rPr>
              <a:t>Electronics</a:t>
            </a:r>
            <a:endParaRPr lang="en-US" sz="1250" dirty="0"/>
          </a:p>
        </p:txBody>
      </p:sp>
      <p:sp>
        <p:nvSpPr>
          <p:cNvPr id="13" name="Text 9"/>
          <p:cNvSpPr/>
          <p:nvPr/>
        </p:nvSpPr>
        <p:spPr>
          <a:xfrm>
            <a:off x="5458968" y="2505456"/>
            <a:ext cx="18288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56.1%   ·   ₹3,20,16,811</a:t>
            </a:r>
            <a:endParaRPr lang="en-US" sz="1000" dirty="0"/>
          </a:p>
        </p:txBody>
      </p:sp>
      <p:sp>
        <p:nvSpPr>
          <p:cNvPr id="14" name="Shape 10"/>
          <p:cNvSpPr/>
          <p:nvPr/>
        </p:nvSpPr>
        <p:spPr>
          <a:xfrm>
            <a:off x="5166360" y="3191256"/>
            <a:ext cx="182880" cy="182880"/>
          </a:xfrm>
          <a:prstGeom prst="ellipse">
            <a:avLst/>
          </a:prstGeom>
          <a:solidFill>
            <a:srgbClr val="2DD4BF"/>
          </a:solidFill>
          <a:ln/>
        </p:spPr>
        <p:txBody>
          <a:bodyPr/>
          <a:lstStyle/>
          <a:p>
            <a:endParaRPr lang="en-IN"/>
          </a:p>
        </p:txBody>
      </p:sp>
      <p:sp>
        <p:nvSpPr>
          <p:cNvPr id="15" name="Text 11"/>
          <p:cNvSpPr/>
          <p:nvPr/>
        </p:nvSpPr>
        <p:spPr>
          <a:xfrm>
            <a:off x="5458968" y="3090672"/>
            <a:ext cx="1417320" cy="274320"/>
          </a:xfrm>
          <a:prstGeom prst="rect">
            <a:avLst/>
          </a:prstGeom>
          <a:noFill/>
          <a:ln/>
        </p:spPr>
        <p:txBody>
          <a:bodyPr wrap="square" lIns="0" tIns="0" rIns="0" bIns="0" rtlCol="0" anchor="ctr"/>
          <a:lstStyle/>
          <a:p>
            <a:pPr marL="0" indent="0">
              <a:buNone/>
            </a:pPr>
            <a:r>
              <a:rPr lang="en-US" sz="1250" b="1" dirty="0">
                <a:solidFill>
                  <a:srgbClr val="F1F5F9"/>
                </a:solidFill>
                <a:latin typeface="Arial" pitchFamily="34" charset="0"/>
                <a:ea typeface="Arial" pitchFamily="34" charset="-122"/>
                <a:cs typeface="Arial" pitchFamily="34" charset="-120"/>
              </a:rPr>
              <a:t>Tech</a:t>
            </a:r>
            <a:endParaRPr lang="en-US" sz="1250" dirty="0"/>
          </a:p>
        </p:txBody>
      </p:sp>
      <p:sp>
        <p:nvSpPr>
          <p:cNvPr id="16" name="Text 12"/>
          <p:cNvSpPr/>
          <p:nvPr/>
        </p:nvSpPr>
        <p:spPr>
          <a:xfrm>
            <a:off x="5458968" y="3374136"/>
            <a:ext cx="18288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24.4%   ·   ₹1,38,97,611</a:t>
            </a:r>
            <a:endParaRPr lang="en-US" sz="1000" dirty="0"/>
          </a:p>
        </p:txBody>
      </p:sp>
      <p:sp>
        <p:nvSpPr>
          <p:cNvPr id="17" name="Shape 13"/>
          <p:cNvSpPr/>
          <p:nvPr/>
        </p:nvSpPr>
        <p:spPr>
          <a:xfrm>
            <a:off x="5166360" y="4059936"/>
            <a:ext cx="182880" cy="182880"/>
          </a:xfrm>
          <a:prstGeom prst="ellipse">
            <a:avLst/>
          </a:prstGeom>
          <a:solidFill>
            <a:srgbClr val="38BDF8"/>
          </a:solidFill>
          <a:ln/>
        </p:spPr>
        <p:txBody>
          <a:bodyPr/>
          <a:lstStyle/>
          <a:p>
            <a:endParaRPr lang="en-IN"/>
          </a:p>
        </p:txBody>
      </p:sp>
      <p:sp>
        <p:nvSpPr>
          <p:cNvPr id="18" name="Text 14"/>
          <p:cNvSpPr/>
          <p:nvPr/>
        </p:nvSpPr>
        <p:spPr>
          <a:xfrm>
            <a:off x="5458968" y="3959352"/>
            <a:ext cx="1417320" cy="274320"/>
          </a:xfrm>
          <a:prstGeom prst="rect">
            <a:avLst/>
          </a:prstGeom>
          <a:noFill/>
          <a:ln/>
        </p:spPr>
        <p:txBody>
          <a:bodyPr wrap="square" lIns="0" tIns="0" rIns="0" bIns="0" rtlCol="0" anchor="ctr"/>
          <a:lstStyle/>
          <a:p>
            <a:pPr marL="0" indent="0">
              <a:buNone/>
            </a:pPr>
            <a:r>
              <a:rPr lang="en-US" sz="1250" b="1" dirty="0">
                <a:solidFill>
                  <a:srgbClr val="F1F5F9"/>
                </a:solidFill>
                <a:latin typeface="Arial" pitchFamily="34" charset="0"/>
                <a:ea typeface="Arial" pitchFamily="34" charset="-122"/>
                <a:cs typeface="Arial" pitchFamily="34" charset="-120"/>
              </a:rPr>
              <a:t>Gadgets</a:t>
            </a:r>
            <a:endParaRPr lang="en-US" sz="1250" dirty="0"/>
          </a:p>
        </p:txBody>
      </p:sp>
      <p:sp>
        <p:nvSpPr>
          <p:cNvPr id="19" name="Text 15"/>
          <p:cNvSpPr/>
          <p:nvPr/>
        </p:nvSpPr>
        <p:spPr>
          <a:xfrm>
            <a:off x="5458968" y="4242816"/>
            <a:ext cx="18288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19.0%   ·   ₹1,08,59,611</a:t>
            </a:r>
            <a:endParaRPr lang="en-US" sz="1000" dirty="0"/>
          </a:p>
        </p:txBody>
      </p:sp>
      <p:sp>
        <p:nvSpPr>
          <p:cNvPr id="20" name="Shape 16"/>
          <p:cNvSpPr/>
          <p:nvPr/>
        </p:nvSpPr>
        <p:spPr>
          <a:xfrm>
            <a:off x="7223760" y="1627632"/>
            <a:ext cx="4416552" cy="4526280"/>
          </a:xfrm>
          <a:prstGeom prst="roundRect">
            <a:avLst>
              <a:gd name="adj" fmla="val 1656"/>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21" name="Text 17"/>
          <p:cNvSpPr/>
          <p:nvPr/>
        </p:nvSpPr>
        <p:spPr>
          <a:xfrm>
            <a:off x="7543800" y="1901952"/>
            <a:ext cx="3776472"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22" name="Text 18"/>
          <p:cNvSpPr/>
          <p:nvPr/>
        </p:nvSpPr>
        <p:spPr>
          <a:xfrm>
            <a:off x="7543800" y="2231136"/>
            <a:ext cx="3776472" cy="868680"/>
          </a:xfrm>
          <a:prstGeom prst="rect">
            <a:avLst/>
          </a:prstGeom>
          <a:noFill/>
          <a:ln/>
        </p:spPr>
        <p:txBody>
          <a:bodyPr wrap="square" lIns="0" tIns="0" rIns="0" bIns="0" rtlCol="0" anchor="t"/>
          <a:lstStyle/>
          <a:p>
            <a:pPr marL="0" indent="0">
              <a:lnSpc>
                <a:spcPct val="102000"/>
              </a:lnSpc>
              <a:buNone/>
            </a:pPr>
            <a:r>
              <a:rPr lang="en-US" sz="1700" b="1" dirty="0">
                <a:solidFill>
                  <a:srgbClr val="F1F5F9"/>
                </a:solidFill>
                <a:latin typeface="Arial" pitchFamily="34" charset="0"/>
                <a:ea typeface="Arial" pitchFamily="34" charset="-122"/>
                <a:cs typeface="Arial" pitchFamily="34" charset="-120"/>
              </a:rPr>
              <a:t>Electronics alone is 56.1% of revenue.</a:t>
            </a:r>
            <a:endParaRPr lang="en-US" sz="1700" dirty="0"/>
          </a:p>
        </p:txBody>
      </p:sp>
      <p:sp>
        <p:nvSpPr>
          <p:cNvPr id="23" name="Text 19"/>
          <p:cNvSpPr/>
          <p:nvPr/>
        </p:nvSpPr>
        <p:spPr>
          <a:xfrm>
            <a:off x="7543800" y="3145536"/>
            <a:ext cx="3776472" cy="2697480"/>
          </a:xfrm>
          <a:prstGeom prst="rect">
            <a:avLst/>
          </a:prstGeom>
          <a:noFill/>
          <a:ln/>
        </p:spPr>
        <p:txBody>
          <a:bodyPr wrap="square" lIns="0" tIns="0" rIns="0" bIns="0" rtlCol="0" anchor="t"/>
          <a:lstStyle/>
          <a:p>
            <a:pPr marL="0" indent="0">
              <a:lnSpc>
                <a:spcPct val="118000"/>
              </a:lnSpc>
              <a:buNone/>
            </a:pPr>
            <a:r>
              <a:rPr lang="en-US" sz="1250" dirty="0">
                <a:solidFill>
                  <a:srgbClr val="94A3B8"/>
                </a:solidFill>
                <a:latin typeface="Arial" pitchFamily="34" charset="0"/>
                <a:ea typeface="Arial" pitchFamily="34" charset="-122"/>
                <a:cs typeface="Arial" pitchFamily="34" charset="-120"/>
              </a:rPr>
              <a:t>Electronics contributes ₹3,20,16,811 — more than Tech and Gadgets combined. The mix is concentrated in one category, which concentrates both upside and risk. Protecting Electronics availability and margin should anchor merchandising decisions.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par>
                                <p:cTn id="50" presetID="10" presetClass="entr" presetSubtype="0" fill="hold" nodeType="withEffect">
                                  <p:stCondLst>
                                    <p:cond delay="0"/>
                                  </p:stCondLst>
                                  <p:childTnLst>
                                    <p:animEffect transition="in" filter="fade">
                                      <p:cBhvr>
                                        <p:cTn id="51" dur="400"/>
                                        <p:tgtEl>
                                          <p:spTgt spid="18"/>
                                        </p:tgtEl>
                                      </p:cBhvr>
                                    </p:animEffect>
                                    <p:set>
                                      <p:cBhvr>
                                        <p:cTn id="52" dur="1" fill="hold">
                                          <p:stCondLst>
                                            <p:cond delay="0"/>
                                          </p:stCondLst>
                                        </p:cTn>
                                        <p:tgtEl>
                                          <p:spTgt spid="18"/>
                                        </p:tgtEl>
                                        <p:attrNameLst>
                                          <p:attrName>style.visibility</p:attrName>
                                        </p:attrNameLst>
                                      </p:cBhvr>
                                      <p:to>
                                        <p:strVal val="visible"/>
                                      </p:to>
                                    </p:set>
                                  </p:childTnLst>
                                </p:cTn>
                              </p:par>
                              <p:par>
                                <p:cTn id="53" presetID="10" presetClass="entr" presetSubtype="0" fill="hold" nodeType="withEffect">
                                  <p:stCondLst>
                                    <p:cond delay="0"/>
                                  </p:stCondLst>
                                  <p:childTnLst>
                                    <p:animEffect transition="in" filter="fade">
                                      <p:cBhvr>
                                        <p:cTn id="54" dur="400"/>
                                        <p:tgtEl>
                                          <p:spTgt spid="19"/>
                                        </p:tgtEl>
                                      </p:cBhvr>
                                    </p:animEffect>
                                    <p:set>
                                      <p:cBhvr>
                                        <p:cTn id="55" dur="1" fill="hold">
                                          <p:stCondLst>
                                            <p:cond delay="0"/>
                                          </p:stCondLst>
                                        </p:cTn>
                                        <p:tgtEl>
                                          <p:spTgt spid="19"/>
                                        </p:tgtEl>
                                        <p:attrNameLst>
                                          <p:attrName>style.visibility</p:attrName>
                                        </p:attrNameLst>
                                      </p:cBhvr>
                                      <p:to>
                                        <p:strVal val="visible"/>
                                      </p:to>
                                    </p:set>
                                  </p:childTnLst>
                                </p:cTn>
                              </p:par>
                              <p:par>
                                <p:cTn id="56" presetID="10" presetClass="entr" presetSubtype="0" fill="hold" nodeType="withEffect">
                                  <p:stCondLst>
                                    <p:cond delay="0"/>
                                  </p:stCondLst>
                                  <p:childTnLst>
                                    <p:animEffect transition="in" filter="fade">
                                      <p:cBhvr>
                                        <p:cTn id="57" dur="400"/>
                                        <p:tgtEl>
                                          <p:spTgt spid="20"/>
                                        </p:tgtEl>
                                      </p:cBhvr>
                                    </p:animEffect>
                                    <p:set>
                                      <p:cBhvr>
                                        <p:cTn id="58" dur="1" fill="hold">
                                          <p:stCondLst>
                                            <p:cond delay="0"/>
                                          </p:stCondLst>
                                        </p:cTn>
                                        <p:tgtEl>
                                          <p:spTgt spid="20"/>
                                        </p:tgtEl>
                                        <p:attrNameLst>
                                          <p:attrName>style.visibility</p:attrName>
                                        </p:attrNameLst>
                                      </p:cBhvr>
                                      <p:to>
                                        <p:strVal val="visible"/>
                                      </p:to>
                                    </p:set>
                                  </p:childTnLst>
                                </p:cTn>
                              </p:par>
                              <p:par>
                                <p:cTn id="59" presetID="10" presetClass="entr" presetSubtype="0" fill="hold" nodeType="withEffect">
                                  <p:stCondLst>
                                    <p:cond delay="0"/>
                                  </p:stCondLst>
                                  <p:childTnLst>
                                    <p:animEffect transition="in" filter="fade">
                                      <p:cBhvr>
                                        <p:cTn id="60" dur="400"/>
                                        <p:tgtEl>
                                          <p:spTgt spid="21"/>
                                        </p:tgtEl>
                                      </p:cBhvr>
                                    </p:animEffect>
                                    <p:set>
                                      <p:cBhvr>
                                        <p:cTn id="61" dur="1" fill="hold">
                                          <p:stCondLst>
                                            <p:cond delay="0"/>
                                          </p:stCondLst>
                                        </p:cTn>
                                        <p:tgtEl>
                                          <p:spTgt spid="21"/>
                                        </p:tgtEl>
                                        <p:attrNameLst>
                                          <p:attrName>style.visibility</p:attrName>
                                        </p:attrNameLst>
                                      </p:cBhvr>
                                      <p:to>
                                        <p:strVal val="visible"/>
                                      </p:to>
                                    </p:set>
                                  </p:childTnLst>
                                </p:cTn>
                              </p:par>
                              <p:par>
                                <p:cTn id="62" presetID="10" presetClass="entr" presetSubtype="0" fill="hold" nodeType="withEffect">
                                  <p:stCondLst>
                                    <p:cond delay="0"/>
                                  </p:stCondLst>
                                  <p:childTnLst>
                                    <p:animEffect transition="in" filter="fade">
                                      <p:cBhvr>
                                        <p:cTn id="63" dur="400"/>
                                        <p:tgtEl>
                                          <p:spTgt spid="22"/>
                                        </p:tgtEl>
                                      </p:cBhvr>
                                    </p:animEffect>
                                    <p:set>
                                      <p:cBhvr>
                                        <p:cTn id="64" dur="1" fill="hold">
                                          <p:stCondLst>
                                            <p:cond delay="0"/>
                                          </p:stCondLst>
                                        </p:cTn>
                                        <p:tgtEl>
                                          <p:spTgt spid="22"/>
                                        </p:tgtEl>
                                        <p:attrNameLst>
                                          <p:attrName>style.visibility</p:attrName>
                                        </p:attrNameLst>
                                      </p:cBhvr>
                                      <p:to>
                                        <p:strVal val="visible"/>
                                      </p:to>
                                    </p:set>
                                  </p:childTnLst>
                                </p:cTn>
                              </p:par>
                              <p:par>
                                <p:cTn id="65" presetID="10" presetClass="entr" presetSubtype="0" fill="hold" nodeType="withEffect">
                                  <p:stCondLst>
                                    <p:cond delay="0"/>
                                  </p:stCondLst>
                                  <p:childTnLst>
                                    <p:animEffect transition="in" filter="fade">
                                      <p:cBhvr>
                                        <p:cTn id="66" dur="400"/>
                                        <p:tgtEl>
                                          <p:spTgt spid="23"/>
                                        </p:tgtEl>
                                      </p:cBhvr>
                                    </p:animEffect>
                                    <p:set>
                                      <p:cBhvr>
                                        <p:cTn id="6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GEOGRAPHY</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Revenue by city</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06</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627632"/>
            <a:ext cx="7315200" cy="4526280"/>
          </a:xfrm>
          <a:prstGeom prst="roundRect">
            <a:avLst>
              <a:gd name="adj" fmla="val 161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graphicFrame>
        <p:nvGraphicFramePr>
          <p:cNvPr id="8" name="Chart 0"/>
          <p:cNvGraphicFramePr/>
          <p:nvPr/>
        </p:nvGraphicFramePr>
        <p:xfrm>
          <a:off x="731520" y="1901952"/>
          <a:ext cx="69494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86384" y="2487168"/>
            <a:ext cx="1078992" cy="2907792"/>
          </a:xfrm>
          <a:prstGeom prst="ellipse">
            <a:avLst/>
          </a:prstGeom>
          <a:ln w="28575">
            <a:solidFill>
              <a:srgbClr val="2DD4BF"/>
            </a:solidFill>
            <a:prstDash val="dash"/>
          </a:ln>
        </p:spPr>
        <p:txBody>
          <a:bodyPr/>
          <a:lstStyle/>
          <a:p>
            <a:endParaRPr lang="en-IN"/>
          </a:p>
        </p:txBody>
      </p:sp>
      <p:sp>
        <p:nvSpPr>
          <p:cNvPr id="10" name="Shape 6"/>
          <p:cNvSpPr/>
          <p:nvPr/>
        </p:nvSpPr>
        <p:spPr>
          <a:xfrm>
            <a:off x="1783080" y="1993392"/>
            <a:ext cx="2286000" cy="365760"/>
          </a:xfrm>
          <a:prstGeom prst="roundRect">
            <a:avLst>
              <a:gd name="adj" fmla="val 50000"/>
            </a:avLst>
          </a:prstGeom>
          <a:solidFill>
            <a:srgbClr val="2DD4BF"/>
          </a:solidFill>
          <a:ln/>
          <a:effectLst>
            <a:outerShdw blurRad="127000" dist="38100" dir="5400000" algn="bl" rotWithShape="0">
              <a:srgbClr val="000000">
                <a:alpha val="35000"/>
              </a:srgbClr>
            </a:outerShdw>
          </a:effectLst>
        </p:spPr>
        <p:txBody>
          <a:bodyPr/>
          <a:lstStyle/>
          <a:p>
            <a:endParaRPr lang="en-IN"/>
          </a:p>
        </p:txBody>
      </p:sp>
      <p:sp>
        <p:nvSpPr>
          <p:cNvPr id="11" name="Text 7"/>
          <p:cNvSpPr/>
          <p:nvPr/>
        </p:nvSpPr>
        <p:spPr>
          <a:xfrm>
            <a:off x="1783080" y="1993392"/>
            <a:ext cx="2286000" cy="365760"/>
          </a:xfrm>
          <a:prstGeom prst="rect">
            <a:avLst/>
          </a:prstGeom>
          <a:noFill/>
          <a:ln/>
        </p:spPr>
        <p:txBody>
          <a:bodyPr wrap="square" lIns="0" tIns="0" rIns="0" bIns="0" rtlCol="0" anchor="ctr"/>
          <a:lstStyle/>
          <a:p>
            <a:pPr marL="0" indent="0" algn="ctr">
              <a:buNone/>
            </a:pPr>
            <a:r>
              <a:rPr lang="en-US" sz="1100" b="1" kern="0" spc="100" dirty="0">
                <a:solidFill>
                  <a:srgbClr val="0A0E14"/>
                </a:solidFill>
                <a:latin typeface="Arial" pitchFamily="34" charset="0"/>
                <a:ea typeface="Arial" pitchFamily="34" charset="-122"/>
                <a:cs typeface="Arial" pitchFamily="34" charset="-120"/>
              </a:rPr>
              <a:t>★  TOP CITY  ·  DELHI</a:t>
            </a:r>
            <a:endParaRPr lang="en-US" sz="1100" dirty="0"/>
          </a:p>
        </p:txBody>
      </p:sp>
      <p:sp>
        <p:nvSpPr>
          <p:cNvPr id="12" name="Shape 8"/>
          <p:cNvSpPr/>
          <p:nvPr/>
        </p:nvSpPr>
        <p:spPr>
          <a:xfrm>
            <a:off x="8138160" y="1627632"/>
            <a:ext cx="3502152" cy="4526280"/>
          </a:xfrm>
          <a:prstGeom prst="roundRect">
            <a:avLst>
              <a:gd name="adj" fmla="val 2089"/>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3" name="Text 9"/>
          <p:cNvSpPr/>
          <p:nvPr/>
        </p:nvSpPr>
        <p:spPr>
          <a:xfrm>
            <a:off x="8458200" y="1901952"/>
            <a:ext cx="2862072"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14" name="Text 10"/>
          <p:cNvSpPr/>
          <p:nvPr/>
        </p:nvSpPr>
        <p:spPr>
          <a:xfrm>
            <a:off x="8458200" y="2231136"/>
            <a:ext cx="2862072" cy="868680"/>
          </a:xfrm>
          <a:prstGeom prst="rect">
            <a:avLst/>
          </a:prstGeom>
          <a:noFill/>
          <a:ln/>
        </p:spPr>
        <p:txBody>
          <a:bodyPr wrap="square" lIns="0" tIns="0" rIns="0" bIns="0" rtlCol="0" anchor="t"/>
          <a:lstStyle/>
          <a:p>
            <a:pPr marL="0" indent="0">
              <a:lnSpc>
                <a:spcPct val="102000"/>
              </a:lnSpc>
              <a:buNone/>
            </a:pPr>
            <a:r>
              <a:rPr lang="en-US" sz="1700" b="1" dirty="0">
                <a:solidFill>
                  <a:srgbClr val="F1F5F9"/>
                </a:solidFill>
                <a:latin typeface="Arial" pitchFamily="34" charset="0"/>
                <a:ea typeface="Arial" pitchFamily="34" charset="-122"/>
                <a:cs typeface="Arial" pitchFamily="34" charset="-120"/>
              </a:rPr>
              <a:t>Delhi drives 23.4% of revenue.</a:t>
            </a:r>
            <a:endParaRPr lang="en-US" sz="1700" dirty="0"/>
          </a:p>
        </p:txBody>
      </p:sp>
      <p:sp>
        <p:nvSpPr>
          <p:cNvPr id="15" name="Text 11"/>
          <p:cNvSpPr/>
          <p:nvPr/>
        </p:nvSpPr>
        <p:spPr>
          <a:xfrm>
            <a:off x="8458200" y="3145536"/>
            <a:ext cx="2862072" cy="2697480"/>
          </a:xfrm>
          <a:prstGeom prst="rect">
            <a:avLst/>
          </a:prstGeom>
          <a:noFill/>
          <a:ln/>
        </p:spPr>
        <p:txBody>
          <a:bodyPr wrap="square" lIns="0" tIns="0" rIns="0" bIns="0" rtlCol="0" anchor="t"/>
          <a:lstStyle/>
          <a:p>
            <a:pPr marL="0" indent="0">
              <a:lnSpc>
                <a:spcPct val="118000"/>
              </a:lnSpc>
              <a:buNone/>
            </a:pPr>
            <a:r>
              <a:rPr lang="en-US" sz="1250" dirty="0">
                <a:solidFill>
                  <a:srgbClr val="94A3B8"/>
                </a:solidFill>
                <a:latin typeface="Arial" pitchFamily="34" charset="0"/>
                <a:ea typeface="Arial" pitchFamily="34" charset="-122"/>
                <a:cs typeface="Arial" pitchFamily="34" charset="-120"/>
              </a:rPr>
              <a:t>Delhi alone contributes ₹1,33,75,303, and the top three cities — Delhi, Mumbai and Kolkata — account for 48.8% of revenue. Demand is metro-led but reasonably spread across eight cities, leaving headroom to grow tier-2 markets.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REVENUE TREND</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Quarterly revenue trend</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07</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627632"/>
            <a:ext cx="7315200" cy="4526280"/>
          </a:xfrm>
          <a:prstGeom prst="roundRect">
            <a:avLst>
              <a:gd name="adj" fmla="val 161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graphicFrame>
        <p:nvGraphicFramePr>
          <p:cNvPr id="8" name="Chart 0"/>
          <p:cNvGraphicFramePr/>
          <p:nvPr/>
        </p:nvGraphicFramePr>
        <p:xfrm>
          <a:off x="731520" y="1901952"/>
          <a:ext cx="69494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841248" y="3468875"/>
            <a:ext cx="6803136" cy="0"/>
          </a:xfrm>
          <a:prstGeom prst="line">
            <a:avLst/>
          </a:prstGeom>
          <a:noFill/>
          <a:ln w="15875">
            <a:solidFill>
              <a:srgbClr val="94A3B8"/>
            </a:solidFill>
            <a:prstDash val="dash"/>
          </a:ln>
        </p:spPr>
        <p:txBody>
          <a:bodyPr/>
          <a:lstStyle/>
          <a:p>
            <a:endParaRPr lang="en-IN"/>
          </a:p>
        </p:txBody>
      </p:sp>
      <p:sp>
        <p:nvSpPr>
          <p:cNvPr id="10" name="Text 6"/>
          <p:cNvSpPr/>
          <p:nvPr/>
        </p:nvSpPr>
        <p:spPr>
          <a:xfrm>
            <a:off x="886968" y="3194555"/>
            <a:ext cx="2011680" cy="237744"/>
          </a:xfrm>
          <a:prstGeom prst="rect">
            <a:avLst/>
          </a:prstGeom>
          <a:noFill/>
          <a:ln/>
        </p:spPr>
        <p:txBody>
          <a:bodyPr wrap="square" lIns="0" tIns="0" rIns="0" bIns="0" rtlCol="0" anchor="ctr"/>
          <a:lstStyle/>
          <a:p>
            <a:pPr marL="0" indent="0">
              <a:buNone/>
            </a:pPr>
            <a:r>
              <a:rPr lang="en-US" sz="1000" b="1" kern="0" spc="50" dirty="0">
                <a:solidFill>
                  <a:srgbClr val="94A3B8"/>
                </a:solidFill>
                <a:latin typeface="Arial" pitchFamily="34" charset="0"/>
                <a:ea typeface="Arial" pitchFamily="34" charset="-122"/>
                <a:cs typeface="Arial" pitchFamily="34" charset="-120"/>
              </a:rPr>
              <a:t>AVG  ₹47,54,429</a:t>
            </a:r>
            <a:endParaRPr lang="en-US" sz="1000" dirty="0"/>
          </a:p>
        </p:txBody>
      </p:sp>
      <p:sp>
        <p:nvSpPr>
          <p:cNvPr id="11" name="Shape 7"/>
          <p:cNvSpPr/>
          <p:nvPr/>
        </p:nvSpPr>
        <p:spPr>
          <a:xfrm>
            <a:off x="2724912" y="2325499"/>
            <a:ext cx="201168" cy="201168"/>
          </a:xfrm>
          <a:prstGeom prst="ellipse">
            <a:avLst/>
          </a:prstGeom>
          <a:ln w="25400">
            <a:solidFill>
              <a:srgbClr val="2DD4BF"/>
            </a:solidFill>
            <a:prstDash val="solid"/>
          </a:ln>
        </p:spPr>
        <p:txBody>
          <a:bodyPr/>
          <a:lstStyle/>
          <a:p>
            <a:endParaRPr lang="en-IN"/>
          </a:p>
        </p:txBody>
      </p:sp>
      <p:sp>
        <p:nvSpPr>
          <p:cNvPr id="12" name="Shape 8"/>
          <p:cNvSpPr/>
          <p:nvPr/>
        </p:nvSpPr>
        <p:spPr>
          <a:xfrm>
            <a:off x="1773936" y="1712851"/>
            <a:ext cx="2103120" cy="365760"/>
          </a:xfrm>
          <a:prstGeom prst="roundRect">
            <a:avLst>
              <a:gd name="adj" fmla="val 50000"/>
            </a:avLst>
          </a:prstGeom>
          <a:solidFill>
            <a:srgbClr val="2DD4BF"/>
          </a:solidFill>
          <a:ln/>
          <a:effectLst>
            <a:outerShdw blurRad="127000" dist="38100" dir="5400000" algn="bl" rotWithShape="0">
              <a:srgbClr val="000000">
                <a:alpha val="35000"/>
              </a:srgbClr>
            </a:outerShdw>
          </a:effectLst>
        </p:spPr>
        <p:txBody>
          <a:bodyPr/>
          <a:lstStyle/>
          <a:p>
            <a:endParaRPr lang="en-IN"/>
          </a:p>
        </p:txBody>
      </p:sp>
      <p:sp>
        <p:nvSpPr>
          <p:cNvPr id="13" name="Text 9"/>
          <p:cNvSpPr/>
          <p:nvPr/>
        </p:nvSpPr>
        <p:spPr>
          <a:xfrm>
            <a:off x="1773936" y="1712851"/>
            <a:ext cx="2103120" cy="365760"/>
          </a:xfrm>
          <a:prstGeom prst="rect">
            <a:avLst/>
          </a:prstGeom>
          <a:noFill/>
          <a:ln/>
        </p:spPr>
        <p:txBody>
          <a:bodyPr wrap="square" lIns="0" tIns="0" rIns="0" bIns="0" rtlCol="0" anchor="ctr"/>
          <a:lstStyle/>
          <a:p>
            <a:pPr marL="0" indent="0" algn="ctr">
              <a:buNone/>
            </a:pPr>
            <a:r>
              <a:rPr lang="en-US" sz="1050" b="1" kern="0" spc="50" dirty="0">
                <a:solidFill>
                  <a:srgbClr val="0A0E14"/>
                </a:solidFill>
                <a:latin typeface="Arial" pitchFamily="34" charset="0"/>
                <a:ea typeface="Arial" pitchFamily="34" charset="-122"/>
                <a:cs typeface="Arial" pitchFamily="34" charset="-120"/>
              </a:rPr>
              <a:t>▲ PEAK  ₹56,56,956</a:t>
            </a:r>
            <a:endParaRPr lang="en-US" sz="1050" dirty="0"/>
          </a:p>
        </p:txBody>
      </p:sp>
      <p:sp>
        <p:nvSpPr>
          <p:cNvPr id="14" name="Shape 10"/>
          <p:cNvSpPr/>
          <p:nvPr/>
        </p:nvSpPr>
        <p:spPr>
          <a:xfrm>
            <a:off x="8138160" y="1627632"/>
            <a:ext cx="3502152" cy="4526280"/>
          </a:xfrm>
          <a:prstGeom prst="roundRect">
            <a:avLst>
              <a:gd name="adj" fmla="val 2089"/>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5" name="Text 11"/>
          <p:cNvSpPr/>
          <p:nvPr/>
        </p:nvSpPr>
        <p:spPr>
          <a:xfrm>
            <a:off x="8458200" y="1901952"/>
            <a:ext cx="2862072"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16" name="Text 12"/>
          <p:cNvSpPr/>
          <p:nvPr/>
        </p:nvSpPr>
        <p:spPr>
          <a:xfrm>
            <a:off x="8458200" y="2231136"/>
            <a:ext cx="2862072" cy="868680"/>
          </a:xfrm>
          <a:prstGeom prst="rect">
            <a:avLst/>
          </a:prstGeom>
          <a:noFill/>
          <a:ln/>
        </p:spPr>
        <p:txBody>
          <a:bodyPr wrap="square" lIns="0" tIns="0" rIns="0" bIns="0" rtlCol="0" anchor="t"/>
          <a:lstStyle/>
          <a:p>
            <a:pPr marL="0" indent="0">
              <a:lnSpc>
                <a:spcPct val="102000"/>
              </a:lnSpc>
              <a:buNone/>
            </a:pPr>
            <a:r>
              <a:rPr lang="en-US" sz="1700" b="1" dirty="0">
                <a:solidFill>
                  <a:srgbClr val="F1F5F9"/>
                </a:solidFill>
                <a:latin typeface="Arial" pitchFamily="34" charset="0"/>
                <a:ea typeface="Arial" pitchFamily="34" charset="-122"/>
                <a:cs typeface="Arial" pitchFamily="34" charset="-120"/>
              </a:rPr>
              <a:t>Revenue is softening year on year.</a:t>
            </a:r>
            <a:endParaRPr lang="en-US" sz="1700" dirty="0"/>
          </a:p>
        </p:txBody>
      </p:sp>
      <p:sp>
        <p:nvSpPr>
          <p:cNvPr id="17" name="Text 13"/>
          <p:cNvSpPr/>
          <p:nvPr/>
        </p:nvSpPr>
        <p:spPr>
          <a:xfrm>
            <a:off x="8458200" y="3145536"/>
            <a:ext cx="2862072" cy="2697480"/>
          </a:xfrm>
          <a:prstGeom prst="rect">
            <a:avLst/>
          </a:prstGeom>
          <a:noFill/>
          <a:ln/>
        </p:spPr>
        <p:txBody>
          <a:bodyPr wrap="square" lIns="0" tIns="0" rIns="0" bIns="0" rtlCol="0" anchor="t"/>
          <a:lstStyle/>
          <a:p>
            <a:pPr marL="0" indent="0">
              <a:lnSpc>
                <a:spcPct val="118000"/>
              </a:lnSpc>
              <a:buNone/>
            </a:pPr>
            <a:r>
              <a:rPr lang="en-US" sz="1250" dirty="0">
                <a:solidFill>
                  <a:srgbClr val="94A3B8"/>
                </a:solidFill>
                <a:latin typeface="Arial" pitchFamily="34" charset="0"/>
                <a:ea typeface="Arial" pitchFamily="34" charset="-122"/>
                <a:cs typeface="Arial" pitchFamily="34" charset="-120"/>
              </a:rPr>
              <a:t>Annual revenue eased from ₹2,00,73,152 (2023) to ₹1,92,25,518 (2024) and ₹1,77,54,478 (2025). Quarters held a 4–5 Cr band, but Q4'25 dropped to ₹33,66,275 — the lowest in the series and a clear signal to act on demand generation.</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ORDER FULFILLMENT</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Order status breakdown</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08</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627632"/>
            <a:ext cx="7315200" cy="4526280"/>
          </a:xfrm>
          <a:prstGeom prst="roundRect">
            <a:avLst>
              <a:gd name="adj" fmla="val 161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graphicFrame>
        <p:nvGraphicFramePr>
          <p:cNvPr id="8" name="Chart 0"/>
          <p:cNvGraphicFramePr/>
          <p:nvPr/>
        </p:nvGraphicFramePr>
        <p:xfrm>
          <a:off x="731520" y="1901952"/>
          <a:ext cx="69494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8138160" y="1627632"/>
            <a:ext cx="3502152" cy="4526280"/>
          </a:xfrm>
          <a:prstGeom prst="roundRect">
            <a:avLst>
              <a:gd name="adj" fmla="val 2089"/>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0" name="Text 6"/>
          <p:cNvSpPr/>
          <p:nvPr/>
        </p:nvSpPr>
        <p:spPr>
          <a:xfrm>
            <a:off x="8458200" y="1901952"/>
            <a:ext cx="2862072"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11" name="Text 7"/>
          <p:cNvSpPr/>
          <p:nvPr/>
        </p:nvSpPr>
        <p:spPr>
          <a:xfrm>
            <a:off x="8458200" y="2231136"/>
            <a:ext cx="2862072" cy="868680"/>
          </a:xfrm>
          <a:prstGeom prst="rect">
            <a:avLst/>
          </a:prstGeom>
          <a:noFill/>
          <a:ln/>
        </p:spPr>
        <p:txBody>
          <a:bodyPr wrap="square" lIns="0" tIns="0" rIns="0" bIns="0" rtlCol="0" anchor="t"/>
          <a:lstStyle/>
          <a:p>
            <a:pPr marL="0" indent="0">
              <a:lnSpc>
                <a:spcPct val="102000"/>
              </a:lnSpc>
              <a:buNone/>
            </a:pPr>
            <a:r>
              <a:rPr lang="en-US" sz="1700" b="1" dirty="0">
                <a:solidFill>
                  <a:srgbClr val="F1F5F9"/>
                </a:solidFill>
                <a:latin typeface="Arial" pitchFamily="34" charset="0"/>
                <a:ea typeface="Arial" pitchFamily="34" charset="-122"/>
                <a:cs typeface="Arial" pitchFamily="34" charset="-120"/>
              </a:rPr>
              <a:t>32.9% of orders are returned or cancelled.</a:t>
            </a:r>
            <a:endParaRPr lang="en-US" sz="1700" dirty="0"/>
          </a:p>
        </p:txBody>
      </p:sp>
      <p:sp>
        <p:nvSpPr>
          <p:cNvPr id="12" name="Text 8"/>
          <p:cNvSpPr/>
          <p:nvPr/>
        </p:nvSpPr>
        <p:spPr>
          <a:xfrm>
            <a:off x="8458200" y="3145536"/>
            <a:ext cx="2862072" cy="2697480"/>
          </a:xfrm>
          <a:prstGeom prst="rect">
            <a:avLst/>
          </a:prstGeom>
          <a:noFill/>
          <a:ln/>
        </p:spPr>
        <p:txBody>
          <a:bodyPr wrap="square" lIns="0" tIns="0" rIns="0" bIns="0" rtlCol="0" anchor="t"/>
          <a:lstStyle/>
          <a:p>
            <a:pPr marL="0" indent="0">
              <a:lnSpc>
                <a:spcPct val="118000"/>
              </a:lnSpc>
              <a:buNone/>
            </a:pPr>
            <a:r>
              <a:rPr lang="en-US" sz="1250" dirty="0">
                <a:solidFill>
                  <a:srgbClr val="94A3B8"/>
                </a:solidFill>
                <a:latin typeface="Arial" pitchFamily="34" charset="0"/>
                <a:ea typeface="Arial" pitchFamily="34" charset="-122"/>
                <a:cs typeface="Arial" pitchFamily="34" charset="-120"/>
              </a:rPr>
              <a:t>Only 35.4% of orders reach Delivered. Returned (17.3%) and Cancelled (15.6%) together total 32.9%, while a further 31.7% sit in Shipped or Pending. Tightening fulfillment is the fastest path to recovered revenue.</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PAYMENTS</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Payment method distribution</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09</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627632"/>
            <a:ext cx="6400800" cy="4526280"/>
          </a:xfrm>
          <a:prstGeom prst="roundRect">
            <a:avLst>
              <a:gd name="adj" fmla="val 161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graphicFrame>
        <p:nvGraphicFramePr>
          <p:cNvPr id="8" name="Chart 0"/>
          <p:cNvGraphicFramePr/>
          <p:nvPr/>
        </p:nvGraphicFramePr>
        <p:xfrm>
          <a:off x="822960" y="1947672"/>
          <a:ext cx="42062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p:nvPr/>
        </p:nvSpPr>
        <p:spPr>
          <a:xfrm>
            <a:off x="2103120" y="3387852"/>
            <a:ext cx="1645920" cy="457200"/>
          </a:xfrm>
          <a:prstGeom prst="rect">
            <a:avLst/>
          </a:prstGeom>
          <a:noFill/>
          <a:ln/>
        </p:spPr>
        <p:txBody>
          <a:bodyPr wrap="square" lIns="0" tIns="0" rIns="0" bIns="0" rtlCol="0" anchor="ctr"/>
          <a:lstStyle/>
          <a:p>
            <a:pPr marL="0" indent="0" algn="ctr">
              <a:buNone/>
            </a:pPr>
            <a:r>
              <a:rPr lang="en-US" sz="2400" b="1" dirty="0">
                <a:solidFill>
                  <a:srgbClr val="F1F5F9"/>
                </a:solidFill>
                <a:latin typeface="Arial" pitchFamily="34" charset="0"/>
                <a:ea typeface="Arial" pitchFamily="34" charset="-122"/>
                <a:cs typeface="Arial" pitchFamily="34" charset="-120"/>
              </a:rPr>
              <a:t>5</a:t>
            </a:r>
            <a:endParaRPr lang="en-US" sz="2400" dirty="0"/>
          </a:p>
        </p:txBody>
      </p:sp>
      <p:sp>
        <p:nvSpPr>
          <p:cNvPr id="10" name="Text 6"/>
          <p:cNvSpPr/>
          <p:nvPr/>
        </p:nvSpPr>
        <p:spPr>
          <a:xfrm>
            <a:off x="2103120" y="3845052"/>
            <a:ext cx="164592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methods</a:t>
            </a:r>
            <a:endParaRPr lang="en-US" sz="1000" dirty="0"/>
          </a:p>
        </p:txBody>
      </p:sp>
      <p:sp>
        <p:nvSpPr>
          <p:cNvPr id="11" name="Shape 7"/>
          <p:cNvSpPr/>
          <p:nvPr/>
        </p:nvSpPr>
        <p:spPr>
          <a:xfrm>
            <a:off x="5166360" y="2084832"/>
            <a:ext cx="182880" cy="182880"/>
          </a:xfrm>
          <a:prstGeom prst="ellipse">
            <a:avLst/>
          </a:prstGeom>
          <a:solidFill>
            <a:srgbClr val="22D3EE"/>
          </a:solidFill>
          <a:ln/>
        </p:spPr>
        <p:txBody>
          <a:bodyPr/>
          <a:lstStyle/>
          <a:p>
            <a:endParaRPr lang="en-IN"/>
          </a:p>
        </p:txBody>
      </p:sp>
      <p:sp>
        <p:nvSpPr>
          <p:cNvPr id="12" name="Text 8"/>
          <p:cNvSpPr/>
          <p:nvPr/>
        </p:nvSpPr>
        <p:spPr>
          <a:xfrm>
            <a:off x="5458968" y="2002536"/>
            <a:ext cx="1463040" cy="274320"/>
          </a:xfrm>
          <a:prstGeom prst="rect">
            <a:avLst/>
          </a:prstGeom>
          <a:noFill/>
          <a:ln/>
        </p:spPr>
        <p:txBody>
          <a:bodyPr wrap="square" lIns="0" tIns="0" rIns="0" bIns="0" rtlCol="0" anchor="ctr"/>
          <a:lstStyle/>
          <a:p>
            <a:pPr marL="0" indent="0">
              <a:buNone/>
            </a:pPr>
            <a:r>
              <a:rPr lang="en-US" sz="1200" b="1" dirty="0">
                <a:solidFill>
                  <a:srgbClr val="F1F5F9"/>
                </a:solidFill>
                <a:latin typeface="Arial" pitchFamily="34" charset="0"/>
                <a:ea typeface="Arial" pitchFamily="34" charset="-122"/>
                <a:cs typeface="Arial" pitchFamily="34" charset="-120"/>
              </a:rPr>
              <a:t>Debit Card</a:t>
            </a:r>
            <a:endParaRPr lang="en-US" sz="1200" dirty="0"/>
          </a:p>
        </p:txBody>
      </p:sp>
      <p:sp>
        <p:nvSpPr>
          <p:cNvPr id="13" name="Text 9"/>
          <p:cNvSpPr/>
          <p:nvPr/>
        </p:nvSpPr>
        <p:spPr>
          <a:xfrm>
            <a:off x="5458968" y="2258568"/>
            <a:ext cx="1920240" cy="256032"/>
          </a:xfrm>
          <a:prstGeom prst="rect">
            <a:avLst/>
          </a:prstGeom>
          <a:noFill/>
          <a:ln/>
        </p:spPr>
        <p:txBody>
          <a:bodyPr wrap="square" lIns="0" tIns="0" rIns="0" bIns="0" rtlCol="0" anchor="ctr"/>
          <a:lstStyle/>
          <a:p>
            <a:pPr marL="0" indent="0">
              <a:buNone/>
            </a:pPr>
            <a:r>
              <a:rPr lang="en-US" sz="950" dirty="0">
                <a:solidFill>
                  <a:srgbClr val="94A3B8"/>
                </a:solidFill>
                <a:latin typeface="Arial" pitchFamily="34" charset="0"/>
                <a:ea typeface="Arial" pitchFamily="34" charset="-122"/>
                <a:cs typeface="Arial" pitchFamily="34" charset="-120"/>
              </a:rPr>
              <a:t>21.8%  ·  106 orders</a:t>
            </a:r>
            <a:endParaRPr lang="en-US" sz="950" dirty="0"/>
          </a:p>
        </p:txBody>
      </p:sp>
      <p:sp>
        <p:nvSpPr>
          <p:cNvPr id="14" name="Shape 10"/>
          <p:cNvSpPr/>
          <p:nvPr/>
        </p:nvSpPr>
        <p:spPr>
          <a:xfrm>
            <a:off x="5166360" y="2852928"/>
            <a:ext cx="182880" cy="182880"/>
          </a:xfrm>
          <a:prstGeom prst="ellipse">
            <a:avLst/>
          </a:prstGeom>
          <a:solidFill>
            <a:srgbClr val="14B8A6"/>
          </a:solidFill>
          <a:ln/>
        </p:spPr>
        <p:txBody>
          <a:bodyPr/>
          <a:lstStyle/>
          <a:p>
            <a:endParaRPr lang="en-IN"/>
          </a:p>
        </p:txBody>
      </p:sp>
      <p:sp>
        <p:nvSpPr>
          <p:cNvPr id="15" name="Text 11"/>
          <p:cNvSpPr/>
          <p:nvPr/>
        </p:nvSpPr>
        <p:spPr>
          <a:xfrm>
            <a:off x="5458968" y="2770632"/>
            <a:ext cx="1463040" cy="274320"/>
          </a:xfrm>
          <a:prstGeom prst="rect">
            <a:avLst/>
          </a:prstGeom>
          <a:noFill/>
          <a:ln/>
        </p:spPr>
        <p:txBody>
          <a:bodyPr wrap="square" lIns="0" tIns="0" rIns="0" bIns="0" rtlCol="0" anchor="ctr"/>
          <a:lstStyle/>
          <a:p>
            <a:pPr marL="0" indent="0">
              <a:buNone/>
            </a:pPr>
            <a:r>
              <a:rPr lang="en-US" sz="1200" b="1" dirty="0">
                <a:solidFill>
                  <a:srgbClr val="F1F5F9"/>
                </a:solidFill>
                <a:latin typeface="Arial" pitchFamily="34" charset="0"/>
                <a:ea typeface="Arial" pitchFamily="34" charset="-122"/>
                <a:cs typeface="Arial" pitchFamily="34" charset="-120"/>
              </a:rPr>
              <a:t>UPI</a:t>
            </a:r>
            <a:endParaRPr lang="en-US" sz="1200" dirty="0"/>
          </a:p>
        </p:txBody>
      </p:sp>
      <p:sp>
        <p:nvSpPr>
          <p:cNvPr id="16" name="Text 12"/>
          <p:cNvSpPr/>
          <p:nvPr/>
        </p:nvSpPr>
        <p:spPr>
          <a:xfrm>
            <a:off x="5458968" y="3026664"/>
            <a:ext cx="1920240" cy="256032"/>
          </a:xfrm>
          <a:prstGeom prst="rect">
            <a:avLst/>
          </a:prstGeom>
          <a:noFill/>
          <a:ln/>
        </p:spPr>
        <p:txBody>
          <a:bodyPr wrap="square" lIns="0" tIns="0" rIns="0" bIns="0" rtlCol="0" anchor="ctr"/>
          <a:lstStyle/>
          <a:p>
            <a:pPr marL="0" indent="0">
              <a:buNone/>
            </a:pPr>
            <a:r>
              <a:rPr lang="en-US" sz="950" dirty="0">
                <a:solidFill>
                  <a:srgbClr val="94A3B8"/>
                </a:solidFill>
                <a:latin typeface="Arial" pitchFamily="34" charset="0"/>
                <a:ea typeface="Arial" pitchFamily="34" charset="-122"/>
                <a:cs typeface="Arial" pitchFamily="34" charset="-120"/>
              </a:rPr>
              <a:t>20.0%  ·  97 orders</a:t>
            </a:r>
            <a:endParaRPr lang="en-US" sz="950" dirty="0"/>
          </a:p>
        </p:txBody>
      </p:sp>
      <p:sp>
        <p:nvSpPr>
          <p:cNvPr id="17" name="Shape 13"/>
          <p:cNvSpPr/>
          <p:nvPr/>
        </p:nvSpPr>
        <p:spPr>
          <a:xfrm>
            <a:off x="5166360" y="3621024"/>
            <a:ext cx="182880" cy="182880"/>
          </a:xfrm>
          <a:prstGeom prst="ellipse">
            <a:avLst/>
          </a:prstGeom>
          <a:solidFill>
            <a:srgbClr val="38BDF8"/>
          </a:solidFill>
          <a:ln/>
        </p:spPr>
        <p:txBody>
          <a:bodyPr/>
          <a:lstStyle/>
          <a:p>
            <a:endParaRPr lang="en-IN"/>
          </a:p>
        </p:txBody>
      </p:sp>
      <p:sp>
        <p:nvSpPr>
          <p:cNvPr id="18" name="Text 14"/>
          <p:cNvSpPr/>
          <p:nvPr/>
        </p:nvSpPr>
        <p:spPr>
          <a:xfrm>
            <a:off x="5458968" y="3538728"/>
            <a:ext cx="1463040" cy="274320"/>
          </a:xfrm>
          <a:prstGeom prst="rect">
            <a:avLst/>
          </a:prstGeom>
          <a:noFill/>
          <a:ln/>
        </p:spPr>
        <p:txBody>
          <a:bodyPr wrap="square" lIns="0" tIns="0" rIns="0" bIns="0" rtlCol="0" anchor="ctr"/>
          <a:lstStyle/>
          <a:p>
            <a:pPr marL="0" indent="0">
              <a:buNone/>
            </a:pPr>
            <a:r>
              <a:rPr lang="en-US" sz="1200" b="1" dirty="0">
                <a:solidFill>
                  <a:srgbClr val="F1F5F9"/>
                </a:solidFill>
                <a:latin typeface="Arial" pitchFamily="34" charset="0"/>
                <a:ea typeface="Arial" pitchFamily="34" charset="-122"/>
                <a:cs typeface="Arial" pitchFamily="34" charset="-120"/>
              </a:rPr>
              <a:t>COD</a:t>
            </a:r>
            <a:endParaRPr lang="en-US" sz="1200" dirty="0"/>
          </a:p>
        </p:txBody>
      </p:sp>
      <p:sp>
        <p:nvSpPr>
          <p:cNvPr id="19" name="Text 15"/>
          <p:cNvSpPr/>
          <p:nvPr/>
        </p:nvSpPr>
        <p:spPr>
          <a:xfrm>
            <a:off x="5458968" y="3794760"/>
            <a:ext cx="1920240" cy="256032"/>
          </a:xfrm>
          <a:prstGeom prst="rect">
            <a:avLst/>
          </a:prstGeom>
          <a:noFill/>
          <a:ln/>
        </p:spPr>
        <p:txBody>
          <a:bodyPr wrap="square" lIns="0" tIns="0" rIns="0" bIns="0" rtlCol="0" anchor="ctr"/>
          <a:lstStyle/>
          <a:p>
            <a:pPr marL="0" indent="0">
              <a:buNone/>
            </a:pPr>
            <a:r>
              <a:rPr lang="en-US" sz="950" dirty="0">
                <a:solidFill>
                  <a:srgbClr val="94A3B8"/>
                </a:solidFill>
                <a:latin typeface="Arial" pitchFamily="34" charset="0"/>
                <a:ea typeface="Arial" pitchFamily="34" charset="-122"/>
                <a:cs typeface="Arial" pitchFamily="34" charset="-120"/>
              </a:rPr>
              <a:t>20.0%  ·  97 orders</a:t>
            </a:r>
            <a:endParaRPr lang="en-US" sz="950" dirty="0"/>
          </a:p>
        </p:txBody>
      </p:sp>
      <p:sp>
        <p:nvSpPr>
          <p:cNvPr id="20" name="Shape 16"/>
          <p:cNvSpPr/>
          <p:nvPr/>
        </p:nvSpPr>
        <p:spPr>
          <a:xfrm>
            <a:off x="5166360" y="4389120"/>
            <a:ext cx="182880" cy="182880"/>
          </a:xfrm>
          <a:prstGeom prst="ellipse">
            <a:avLst/>
          </a:prstGeom>
          <a:solidFill>
            <a:srgbClr val="CFFAFE"/>
          </a:solidFill>
          <a:ln/>
        </p:spPr>
        <p:txBody>
          <a:bodyPr/>
          <a:lstStyle/>
          <a:p>
            <a:endParaRPr lang="en-IN"/>
          </a:p>
        </p:txBody>
      </p:sp>
      <p:sp>
        <p:nvSpPr>
          <p:cNvPr id="21" name="Text 17"/>
          <p:cNvSpPr/>
          <p:nvPr/>
        </p:nvSpPr>
        <p:spPr>
          <a:xfrm>
            <a:off x="5458968" y="4306824"/>
            <a:ext cx="1463040" cy="274320"/>
          </a:xfrm>
          <a:prstGeom prst="rect">
            <a:avLst/>
          </a:prstGeom>
          <a:noFill/>
          <a:ln/>
        </p:spPr>
        <p:txBody>
          <a:bodyPr wrap="square" lIns="0" tIns="0" rIns="0" bIns="0" rtlCol="0" anchor="ctr"/>
          <a:lstStyle/>
          <a:p>
            <a:pPr marL="0" indent="0">
              <a:buNone/>
            </a:pPr>
            <a:r>
              <a:rPr lang="en-US" sz="1200" b="1" dirty="0">
                <a:solidFill>
                  <a:srgbClr val="F1F5F9"/>
                </a:solidFill>
                <a:latin typeface="Arial" pitchFamily="34" charset="0"/>
                <a:ea typeface="Arial" pitchFamily="34" charset="-122"/>
                <a:cs typeface="Arial" pitchFamily="34" charset="-120"/>
              </a:rPr>
              <a:t>Credit Card</a:t>
            </a:r>
            <a:endParaRPr lang="en-US" sz="1200" dirty="0"/>
          </a:p>
        </p:txBody>
      </p:sp>
      <p:sp>
        <p:nvSpPr>
          <p:cNvPr id="22" name="Text 18"/>
          <p:cNvSpPr/>
          <p:nvPr/>
        </p:nvSpPr>
        <p:spPr>
          <a:xfrm>
            <a:off x="5458968" y="4562856"/>
            <a:ext cx="1920240" cy="256032"/>
          </a:xfrm>
          <a:prstGeom prst="rect">
            <a:avLst/>
          </a:prstGeom>
          <a:noFill/>
          <a:ln/>
        </p:spPr>
        <p:txBody>
          <a:bodyPr wrap="square" lIns="0" tIns="0" rIns="0" bIns="0" rtlCol="0" anchor="ctr"/>
          <a:lstStyle/>
          <a:p>
            <a:pPr marL="0" indent="0">
              <a:buNone/>
            </a:pPr>
            <a:r>
              <a:rPr lang="en-US" sz="950" dirty="0">
                <a:solidFill>
                  <a:srgbClr val="94A3B8"/>
                </a:solidFill>
                <a:latin typeface="Arial" pitchFamily="34" charset="0"/>
                <a:ea typeface="Arial" pitchFamily="34" charset="-122"/>
                <a:cs typeface="Arial" pitchFamily="34" charset="-120"/>
              </a:rPr>
              <a:t>19.8%  ·  96 orders</a:t>
            </a:r>
            <a:endParaRPr lang="en-US" sz="950" dirty="0"/>
          </a:p>
        </p:txBody>
      </p:sp>
      <p:sp>
        <p:nvSpPr>
          <p:cNvPr id="23" name="Shape 19"/>
          <p:cNvSpPr/>
          <p:nvPr/>
        </p:nvSpPr>
        <p:spPr>
          <a:xfrm>
            <a:off x="5166360" y="5157216"/>
            <a:ext cx="182880" cy="182880"/>
          </a:xfrm>
          <a:prstGeom prst="ellipse">
            <a:avLst/>
          </a:prstGeom>
          <a:solidFill>
            <a:srgbClr val="0E7490"/>
          </a:solidFill>
          <a:ln/>
        </p:spPr>
        <p:txBody>
          <a:bodyPr/>
          <a:lstStyle/>
          <a:p>
            <a:endParaRPr lang="en-IN"/>
          </a:p>
        </p:txBody>
      </p:sp>
      <p:sp>
        <p:nvSpPr>
          <p:cNvPr id="24" name="Text 20"/>
          <p:cNvSpPr/>
          <p:nvPr/>
        </p:nvSpPr>
        <p:spPr>
          <a:xfrm>
            <a:off x="5458968" y="5074920"/>
            <a:ext cx="1463040" cy="274320"/>
          </a:xfrm>
          <a:prstGeom prst="rect">
            <a:avLst/>
          </a:prstGeom>
          <a:noFill/>
          <a:ln/>
        </p:spPr>
        <p:txBody>
          <a:bodyPr wrap="square" lIns="0" tIns="0" rIns="0" bIns="0" rtlCol="0" anchor="ctr"/>
          <a:lstStyle/>
          <a:p>
            <a:pPr marL="0" indent="0">
              <a:buNone/>
            </a:pPr>
            <a:r>
              <a:rPr lang="en-US" sz="1200" b="1" dirty="0">
                <a:solidFill>
                  <a:srgbClr val="F1F5F9"/>
                </a:solidFill>
                <a:latin typeface="Arial" pitchFamily="34" charset="0"/>
                <a:ea typeface="Arial" pitchFamily="34" charset="-122"/>
                <a:cs typeface="Arial" pitchFamily="34" charset="-120"/>
              </a:rPr>
              <a:t>Net Banking</a:t>
            </a:r>
            <a:endParaRPr lang="en-US" sz="1200" dirty="0"/>
          </a:p>
        </p:txBody>
      </p:sp>
      <p:sp>
        <p:nvSpPr>
          <p:cNvPr id="25" name="Text 21"/>
          <p:cNvSpPr/>
          <p:nvPr/>
        </p:nvSpPr>
        <p:spPr>
          <a:xfrm>
            <a:off x="5458968" y="5330952"/>
            <a:ext cx="1920240" cy="256032"/>
          </a:xfrm>
          <a:prstGeom prst="rect">
            <a:avLst/>
          </a:prstGeom>
          <a:noFill/>
          <a:ln/>
        </p:spPr>
        <p:txBody>
          <a:bodyPr wrap="square" lIns="0" tIns="0" rIns="0" bIns="0" rtlCol="0" anchor="ctr"/>
          <a:lstStyle/>
          <a:p>
            <a:pPr marL="0" indent="0">
              <a:buNone/>
            </a:pPr>
            <a:r>
              <a:rPr lang="en-US" sz="950" dirty="0">
                <a:solidFill>
                  <a:srgbClr val="94A3B8"/>
                </a:solidFill>
                <a:latin typeface="Arial" pitchFamily="34" charset="0"/>
                <a:ea typeface="Arial" pitchFamily="34" charset="-122"/>
                <a:cs typeface="Arial" pitchFamily="34" charset="-120"/>
              </a:rPr>
              <a:t>18.3%  ·  89 orders</a:t>
            </a:r>
            <a:endParaRPr lang="en-US" sz="950" dirty="0"/>
          </a:p>
        </p:txBody>
      </p:sp>
      <p:sp>
        <p:nvSpPr>
          <p:cNvPr id="26" name="Shape 22"/>
          <p:cNvSpPr/>
          <p:nvPr/>
        </p:nvSpPr>
        <p:spPr>
          <a:xfrm>
            <a:off x="7223760" y="1627632"/>
            <a:ext cx="4416552" cy="4526280"/>
          </a:xfrm>
          <a:prstGeom prst="roundRect">
            <a:avLst>
              <a:gd name="adj" fmla="val 1656"/>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27" name="Text 23"/>
          <p:cNvSpPr/>
          <p:nvPr/>
        </p:nvSpPr>
        <p:spPr>
          <a:xfrm>
            <a:off x="7543800" y="1901952"/>
            <a:ext cx="3776472" cy="274320"/>
          </a:xfrm>
          <a:prstGeom prst="rect">
            <a:avLst/>
          </a:prstGeom>
          <a:noFill/>
          <a:ln/>
        </p:spPr>
        <p:txBody>
          <a:bodyPr wrap="square" lIns="0" tIns="0" rIns="0" bIns="0" rtlCol="0" anchor="ctr"/>
          <a:lstStyle/>
          <a:p>
            <a:pPr marL="0" indent="0">
              <a:buNone/>
            </a:pPr>
            <a:r>
              <a:rPr lang="en-US" sz="1100" b="1" kern="0" spc="250" dirty="0">
                <a:solidFill>
                  <a:srgbClr val="22D3EE"/>
                </a:solidFill>
                <a:latin typeface="Arial" pitchFamily="34" charset="0"/>
                <a:ea typeface="Arial" pitchFamily="34" charset="-122"/>
                <a:cs typeface="Arial" pitchFamily="34" charset="-120"/>
              </a:rPr>
              <a:t>KEY INSIGHT</a:t>
            </a:r>
            <a:endParaRPr lang="en-US" sz="1100" dirty="0"/>
          </a:p>
        </p:txBody>
      </p:sp>
      <p:sp>
        <p:nvSpPr>
          <p:cNvPr id="28" name="Text 24"/>
          <p:cNvSpPr/>
          <p:nvPr/>
        </p:nvSpPr>
        <p:spPr>
          <a:xfrm>
            <a:off x="7543800" y="2231136"/>
            <a:ext cx="3776472" cy="868680"/>
          </a:xfrm>
          <a:prstGeom prst="rect">
            <a:avLst/>
          </a:prstGeom>
          <a:noFill/>
          <a:ln/>
        </p:spPr>
        <p:txBody>
          <a:bodyPr wrap="square" lIns="0" tIns="0" rIns="0" bIns="0" rtlCol="0" anchor="t"/>
          <a:lstStyle/>
          <a:p>
            <a:pPr marL="0" indent="0">
              <a:lnSpc>
                <a:spcPct val="102000"/>
              </a:lnSpc>
              <a:buNone/>
            </a:pPr>
            <a:r>
              <a:rPr lang="en-US" sz="1700" b="1" dirty="0">
                <a:solidFill>
                  <a:srgbClr val="F1F5F9"/>
                </a:solidFill>
                <a:latin typeface="Arial" pitchFamily="34" charset="0"/>
                <a:ea typeface="Arial" pitchFamily="34" charset="-122"/>
                <a:cs typeface="Arial" pitchFamily="34" charset="-120"/>
              </a:rPr>
              <a:t>No single payment method dominates.</a:t>
            </a:r>
            <a:endParaRPr lang="en-US" sz="1700" dirty="0"/>
          </a:p>
        </p:txBody>
      </p:sp>
      <p:sp>
        <p:nvSpPr>
          <p:cNvPr id="29" name="Text 25"/>
          <p:cNvSpPr/>
          <p:nvPr/>
        </p:nvSpPr>
        <p:spPr>
          <a:xfrm>
            <a:off x="7543800" y="3145536"/>
            <a:ext cx="3776472" cy="2697480"/>
          </a:xfrm>
          <a:prstGeom prst="rect">
            <a:avLst/>
          </a:prstGeom>
          <a:noFill/>
          <a:ln/>
        </p:spPr>
        <p:txBody>
          <a:bodyPr wrap="square" lIns="0" tIns="0" rIns="0" bIns="0" rtlCol="0" anchor="t"/>
          <a:lstStyle/>
          <a:p>
            <a:pPr marL="0" indent="0">
              <a:lnSpc>
                <a:spcPct val="118000"/>
              </a:lnSpc>
              <a:buNone/>
            </a:pPr>
            <a:r>
              <a:rPr lang="en-US" sz="1250" dirty="0">
                <a:solidFill>
                  <a:srgbClr val="94A3B8"/>
                </a:solidFill>
                <a:latin typeface="Arial" pitchFamily="34" charset="0"/>
                <a:ea typeface="Arial" pitchFamily="34" charset="-122"/>
                <a:cs typeface="Arial" pitchFamily="34" charset="-120"/>
              </a:rPr>
              <a:t>Orders split almost evenly across Debit Card (21.8%), UPI and COD (both 20.0%), Credit Card and Net Banking. This balance reduces dependence on any one provider — but the 20% COD share is worth watching, as cash orders correlate with higher cancellations.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par>
                                <p:cTn id="50" presetID="10" presetClass="entr" presetSubtype="0" fill="hold" nodeType="withEffect">
                                  <p:stCondLst>
                                    <p:cond delay="0"/>
                                  </p:stCondLst>
                                  <p:childTnLst>
                                    <p:animEffect transition="in" filter="fade">
                                      <p:cBhvr>
                                        <p:cTn id="51" dur="400"/>
                                        <p:tgtEl>
                                          <p:spTgt spid="18"/>
                                        </p:tgtEl>
                                      </p:cBhvr>
                                    </p:animEffect>
                                    <p:set>
                                      <p:cBhvr>
                                        <p:cTn id="52" dur="1" fill="hold">
                                          <p:stCondLst>
                                            <p:cond delay="0"/>
                                          </p:stCondLst>
                                        </p:cTn>
                                        <p:tgtEl>
                                          <p:spTgt spid="18"/>
                                        </p:tgtEl>
                                        <p:attrNameLst>
                                          <p:attrName>style.visibility</p:attrName>
                                        </p:attrNameLst>
                                      </p:cBhvr>
                                      <p:to>
                                        <p:strVal val="visible"/>
                                      </p:to>
                                    </p:set>
                                  </p:childTnLst>
                                </p:cTn>
                              </p:par>
                              <p:par>
                                <p:cTn id="53" presetID="10" presetClass="entr" presetSubtype="0" fill="hold" nodeType="withEffect">
                                  <p:stCondLst>
                                    <p:cond delay="0"/>
                                  </p:stCondLst>
                                  <p:childTnLst>
                                    <p:animEffect transition="in" filter="fade">
                                      <p:cBhvr>
                                        <p:cTn id="54" dur="400"/>
                                        <p:tgtEl>
                                          <p:spTgt spid="19"/>
                                        </p:tgtEl>
                                      </p:cBhvr>
                                    </p:animEffect>
                                    <p:set>
                                      <p:cBhvr>
                                        <p:cTn id="55" dur="1" fill="hold">
                                          <p:stCondLst>
                                            <p:cond delay="0"/>
                                          </p:stCondLst>
                                        </p:cTn>
                                        <p:tgtEl>
                                          <p:spTgt spid="19"/>
                                        </p:tgtEl>
                                        <p:attrNameLst>
                                          <p:attrName>style.visibility</p:attrName>
                                        </p:attrNameLst>
                                      </p:cBhvr>
                                      <p:to>
                                        <p:strVal val="visible"/>
                                      </p:to>
                                    </p:set>
                                  </p:childTnLst>
                                </p:cTn>
                              </p:par>
                              <p:par>
                                <p:cTn id="56" presetID="10" presetClass="entr" presetSubtype="0" fill="hold" nodeType="withEffect">
                                  <p:stCondLst>
                                    <p:cond delay="0"/>
                                  </p:stCondLst>
                                  <p:childTnLst>
                                    <p:animEffect transition="in" filter="fade">
                                      <p:cBhvr>
                                        <p:cTn id="57" dur="400"/>
                                        <p:tgtEl>
                                          <p:spTgt spid="20"/>
                                        </p:tgtEl>
                                      </p:cBhvr>
                                    </p:animEffect>
                                    <p:set>
                                      <p:cBhvr>
                                        <p:cTn id="58" dur="1" fill="hold">
                                          <p:stCondLst>
                                            <p:cond delay="0"/>
                                          </p:stCondLst>
                                        </p:cTn>
                                        <p:tgtEl>
                                          <p:spTgt spid="20"/>
                                        </p:tgtEl>
                                        <p:attrNameLst>
                                          <p:attrName>style.visibility</p:attrName>
                                        </p:attrNameLst>
                                      </p:cBhvr>
                                      <p:to>
                                        <p:strVal val="visible"/>
                                      </p:to>
                                    </p:set>
                                  </p:childTnLst>
                                </p:cTn>
                              </p:par>
                              <p:par>
                                <p:cTn id="59" presetID="10" presetClass="entr" presetSubtype="0" fill="hold" nodeType="withEffect">
                                  <p:stCondLst>
                                    <p:cond delay="0"/>
                                  </p:stCondLst>
                                  <p:childTnLst>
                                    <p:animEffect transition="in" filter="fade">
                                      <p:cBhvr>
                                        <p:cTn id="60" dur="400"/>
                                        <p:tgtEl>
                                          <p:spTgt spid="21"/>
                                        </p:tgtEl>
                                      </p:cBhvr>
                                    </p:animEffect>
                                    <p:set>
                                      <p:cBhvr>
                                        <p:cTn id="61" dur="1" fill="hold">
                                          <p:stCondLst>
                                            <p:cond delay="0"/>
                                          </p:stCondLst>
                                        </p:cTn>
                                        <p:tgtEl>
                                          <p:spTgt spid="21"/>
                                        </p:tgtEl>
                                        <p:attrNameLst>
                                          <p:attrName>style.visibility</p:attrName>
                                        </p:attrNameLst>
                                      </p:cBhvr>
                                      <p:to>
                                        <p:strVal val="visible"/>
                                      </p:to>
                                    </p:set>
                                  </p:childTnLst>
                                </p:cTn>
                              </p:par>
                              <p:par>
                                <p:cTn id="62" presetID="10" presetClass="entr" presetSubtype="0" fill="hold" nodeType="withEffect">
                                  <p:stCondLst>
                                    <p:cond delay="0"/>
                                  </p:stCondLst>
                                  <p:childTnLst>
                                    <p:animEffect transition="in" filter="fade">
                                      <p:cBhvr>
                                        <p:cTn id="63" dur="400"/>
                                        <p:tgtEl>
                                          <p:spTgt spid="22"/>
                                        </p:tgtEl>
                                      </p:cBhvr>
                                    </p:animEffect>
                                    <p:set>
                                      <p:cBhvr>
                                        <p:cTn id="64" dur="1" fill="hold">
                                          <p:stCondLst>
                                            <p:cond delay="0"/>
                                          </p:stCondLst>
                                        </p:cTn>
                                        <p:tgtEl>
                                          <p:spTgt spid="22"/>
                                        </p:tgtEl>
                                        <p:attrNameLst>
                                          <p:attrName>style.visibility</p:attrName>
                                        </p:attrNameLst>
                                      </p:cBhvr>
                                      <p:to>
                                        <p:strVal val="visible"/>
                                      </p:to>
                                    </p:set>
                                  </p:childTnLst>
                                </p:cTn>
                              </p:par>
                              <p:par>
                                <p:cTn id="65" presetID="10" presetClass="entr" presetSubtype="0" fill="hold" nodeType="withEffect">
                                  <p:stCondLst>
                                    <p:cond delay="0"/>
                                  </p:stCondLst>
                                  <p:childTnLst>
                                    <p:animEffect transition="in" filter="fade">
                                      <p:cBhvr>
                                        <p:cTn id="66" dur="400"/>
                                        <p:tgtEl>
                                          <p:spTgt spid="23"/>
                                        </p:tgtEl>
                                      </p:cBhvr>
                                    </p:animEffect>
                                    <p:set>
                                      <p:cBhvr>
                                        <p:cTn id="67" dur="1" fill="hold">
                                          <p:stCondLst>
                                            <p:cond delay="0"/>
                                          </p:stCondLst>
                                        </p:cTn>
                                        <p:tgtEl>
                                          <p:spTgt spid="23"/>
                                        </p:tgtEl>
                                        <p:attrNameLst>
                                          <p:attrName>style.visibility</p:attrName>
                                        </p:attrNameLst>
                                      </p:cBhvr>
                                      <p:to>
                                        <p:strVal val="visible"/>
                                      </p:to>
                                    </p:set>
                                  </p:childTnLst>
                                </p:cTn>
                              </p:par>
                              <p:par>
                                <p:cTn id="68" presetID="10" presetClass="entr" presetSubtype="0" fill="hold" nodeType="withEffect">
                                  <p:stCondLst>
                                    <p:cond delay="0"/>
                                  </p:stCondLst>
                                  <p:childTnLst>
                                    <p:animEffect transition="in" filter="fade">
                                      <p:cBhvr>
                                        <p:cTn id="69" dur="400"/>
                                        <p:tgtEl>
                                          <p:spTgt spid="24"/>
                                        </p:tgtEl>
                                      </p:cBhvr>
                                    </p:animEffect>
                                    <p:set>
                                      <p:cBhvr>
                                        <p:cTn id="70" dur="1" fill="hold">
                                          <p:stCondLst>
                                            <p:cond delay="0"/>
                                          </p:stCondLst>
                                        </p:cTn>
                                        <p:tgtEl>
                                          <p:spTgt spid="24"/>
                                        </p:tgtEl>
                                        <p:attrNameLst>
                                          <p:attrName>style.visibility</p:attrName>
                                        </p:attrNameLst>
                                      </p:cBhvr>
                                      <p:to>
                                        <p:strVal val="visible"/>
                                      </p:to>
                                    </p:set>
                                  </p:childTnLst>
                                </p:cTn>
                              </p:par>
                              <p:par>
                                <p:cTn id="71" presetID="10" presetClass="entr" presetSubtype="0" fill="hold" nodeType="withEffect">
                                  <p:stCondLst>
                                    <p:cond delay="0"/>
                                  </p:stCondLst>
                                  <p:childTnLst>
                                    <p:animEffect transition="in" filter="fade">
                                      <p:cBhvr>
                                        <p:cTn id="72" dur="400"/>
                                        <p:tgtEl>
                                          <p:spTgt spid="25"/>
                                        </p:tgtEl>
                                      </p:cBhvr>
                                    </p:animEffect>
                                    <p:set>
                                      <p:cBhvr>
                                        <p:cTn id="73" dur="1" fill="hold">
                                          <p:stCondLst>
                                            <p:cond delay="0"/>
                                          </p:stCondLst>
                                        </p:cTn>
                                        <p:tgtEl>
                                          <p:spTgt spid="25"/>
                                        </p:tgtEl>
                                        <p:attrNameLst>
                                          <p:attrName>style.visibility</p:attrName>
                                        </p:attrNameLst>
                                      </p:cBhvr>
                                      <p:to>
                                        <p:strVal val="visible"/>
                                      </p:to>
                                    </p:set>
                                  </p:childTnLst>
                                </p:cTn>
                              </p:par>
                              <p:par>
                                <p:cTn id="74" presetID="10" presetClass="entr" presetSubtype="0" fill="hold" nodeType="withEffect">
                                  <p:stCondLst>
                                    <p:cond delay="0"/>
                                  </p:stCondLst>
                                  <p:childTnLst>
                                    <p:animEffect transition="in" filter="fade">
                                      <p:cBhvr>
                                        <p:cTn id="75" dur="400"/>
                                        <p:tgtEl>
                                          <p:spTgt spid="26"/>
                                        </p:tgtEl>
                                      </p:cBhvr>
                                    </p:animEffect>
                                    <p:set>
                                      <p:cBhvr>
                                        <p:cTn id="76" dur="1" fill="hold">
                                          <p:stCondLst>
                                            <p:cond delay="0"/>
                                          </p:stCondLst>
                                        </p:cTn>
                                        <p:tgtEl>
                                          <p:spTgt spid="26"/>
                                        </p:tgtEl>
                                        <p:attrNameLst>
                                          <p:attrName>style.visibility</p:attrName>
                                        </p:attrNameLst>
                                      </p:cBhvr>
                                      <p:to>
                                        <p:strVal val="visible"/>
                                      </p:to>
                                    </p:set>
                                  </p:childTnLst>
                                </p:cTn>
                              </p:par>
                              <p:par>
                                <p:cTn id="77" presetID="10" presetClass="entr" presetSubtype="0" fill="hold" nodeType="withEffect">
                                  <p:stCondLst>
                                    <p:cond delay="0"/>
                                  </p:stCondLst>
                                  <p:childTnLst>
                                    <p:animEffect transition="in" filter="fade">
                                      <p:cBhvr>
                                        <p:cTn id="78" dur="400"/>
                                        <p:tgtEl>
                                          <p:spTgt spid="27"/>
                                        </p:tgtEl>
                                      </p:cBhvr>
                                    </p:animEffect>
                                    <p:set>
                                      <p:cBhvr>
                                        <p:cTn id="79" dur="1" fill="hold">
                                          <p:stCondLst>
                                            <p:cond delay="0"/>
                                          </p:stCondLst>
                                        </p:cTn>
                                        <p:tgtEl>
                                          <p:spTgt spid="27"/>
                                        </p:tgtEl>
                                        <p:attrNameLst>
                                          <p:attrName>style.visibility</p:attrName>
                                        </p:attrNameLst>
                                      </p:cBhvr>
                                      <p:to>
                                        <p:strVal val="visible"/>
                                      </p:to>
                                    </p:set>
                                  </p:childTnLst>
                                </p:cTn>
                              </p:par>
                              <p:par>
                                <p:cTn id="80" presetID="10" presetClass="entr" presetSubtype="0" fill="hold" nodeType="withEffect">
                                  <p:stCondLst>
                                    <p:cond delay="0"/>
                                  </p:stCondLst>
                                  <p:childTnLst>
                                    <p:animEffect transition="in" filter="fade">
                                      <p:cBhvr>
                                        <p:cTn id="81" dur="400"/>
                                        <p:tgtEl>
                                          <p:spTgt spid="28"/>
                                        </p:tgtEl>
                                      </p:cBhvr>
                                    </p:animEffect>
                                    <p:set>
                                      <p:cBhvr>
                                        <p:cTn id="82" dur="1" fill="hold">
                                          <p:stCondLst>
                                            <p:cond delay="0"/>
                                          </p:stCondLst>
                                        </p:cTn>
                                        <p:tgtEl>
                                          <p:spTgt spid="28"/>
                                        </p:tgtEl>
                                        <p:attrNameLst>
                                          <p:attrName>style.visibility</p:attrName>
                                        </p:attrNameLst>
                                      </p:cBhvr>
                                      <p:to>
                                        <p:strVal val="visible"/>
                                      </p:to>
                                    </p:set>
                                  </p:childTnLst>
                                </p:cTn>
                              </p:par>
                              <p:par>
                                <p:cTn id="83" presetID="10" presetClass="entr" presetSubtype="0" fill="hold" nodeType="withEffect">
                                  <p:stCondLst>
                                    <p:cond delay="0"/>
                                  </p:stCondLst>
                                  <p:childTnLst>
                                    <p:animEffect transition="in" filter="fade">
                                      <p:cBhvr>
                                        <p:cTn id="84" dur="400"/>
                                        <p:tgtEl>
                                          <p:spTgt spid="29"/>
                                        </p:tgtEl>
                                      </p:cBhvr>
                                    </p:animEffect>
                                    <p:set>
                                      <p:cBhvr>
                                        <p:cTn id="85"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31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marL="0" indent="0" algn="l">
              <a:buNone/>
            </a:pPr>
            <a:r>
              <a:rPr lang="en-US" sz="1150" b="1" kern="0" spc="300" dirty="0">
                <a:solidFill>
                  <a:srgbClr val="22D3EE"/>
                </a:solidFill>
                <a:latin typeface="Arial" pitchFamily="34" charset="0"/>
                <a:ea typeface="Arial" pitchFamily="34" charset="-122"/>
                <a:cs typeface="Arial" pitchFamily="34" charset="-120"/>
              </a:rPr>
              <a:t>PORTFOLIO RISK</a:t>
            </a:r>
            <a:endParaRPr lang="en-US" sz="1150" dirty="0"/>
          </a:p>
        </p:txBody>
      </p:sp>
      <p:sp>
        <p:nvSpPr>
          <p:cNvPr id="3" name="Text 1"/>
          <p:cNvSpPr/>
          <p:nvPr/>
        </p:nvSpPr>
        <p:spPr>
          <a:xfrm>
            <a:off x="548640" y="676656"/>
            <a:ext cx="9692640" cy="640080"/>
          </a:xfrm>
          <a:prstGeom prst="rect">
            <a:avLst/>
          </a:prstGeom>
          <a:noFill/>
          <a:ln/>
        </p:spPr>
        <p:txBody>
          <a:bodyPr wrap="square" lIns="0" tIns="0" rIns="0" bIns="0" rtlCol="0" anchor="ctr"/>
          <a:lstStyle/>
          <a:p>
            <a:pPr marL="0" indent="0" algn="l">
              <a:buNone/>
            </a:pPr>
            <a:r>
              <a:rPr lang="en-US" sz="2700" b="1" dirty="0">
                <a:solidFill>
                  <a:srgbClr val="F1F5F9"/>
                </a:solidFill>
                <a:latin typeface="Arial" pitchFamily="34" charset="0"/>
                <a:ea typeface="Arial" pitchFamily="34" charset="-122"/>
                <a:cs typeface="Arial" pitchFamily="34" charset="-120"/>
              </a:rPr>
              <a:t>Risk–Opportunity Heat Map</a:t>
            </a:r>
            <a:endParaRPr lang="en-US" sz="2700" dirty="0"/>
          </a:p>
        </p:txBody>
      </p:sp>
      <p:sp>
        <p:nvSpPr>
          <p:cNvPr id="4" name="Text 2"/>
          <p:cNvSpPr/>
          <p:nvPr/>
        </p:nvSpPr>
        <p:spPr>
          <a:xfrm>
            <a:off x="8229600" y="420624"/>
            <a:ext cx="3410712" cy="274320"/>
          </a:xfrm>
          <a:prstGeom prst="rect">
            <a:avLst/>
          </a:prstGeom>
          <a:noFill/>
          <a:ln/>
        </p:spPr>
        <p:txBody>
          <a:bodyPr wrap="square" lIns="0" tIns="0" rIns="0" bIns="0" rtlCol="0" anchor="ctr"/>
          <a:lstStyle/>
          <a:p>
            <a:pPr marL="0" indent="0" algn="r">
              <a:buNone/>
            </a:pPr>
            <a:r>
              <a:rPr lang="en-US" sz="1000" kern="0" spc="200" dirty="0">
                <a:solidFill>
                  <a:srgbClr val="5A6B7B"/>
                </a:solidFill>
                <a:latin typeface="Arial" pitchFamily="34" charset="0"/>
                <a:ea typeface="Arial" pitchFamily="34" charset="-122"/>
                <a:cs typeface="Arial" pitchFamily="34" charset="-120"/>
              </a:rPr>
              <a:t>ECOMMERCE SALES REVIEW</a:t>
            </a:r>
            <a:r>
              <a:rPr lang="en-US" sz="1000" kern="0" spc="200" dirty="0">
                <a:solidFill>
                  <a:srgbClr val="26323F"/>
                </a:solidFill>
                <a:latin typeface="Arial" pitchFamily="34" charset="0"/>
                <a:ea typeface="Arial" pitchFamily="34" charset="-122"/>
                <a:cs typeface="Arial" pitchFamily="34" charset="-120"/>
              </a:rPr>
              <a:t>   /   </a:t>
            </a:r>
            <a:r>
              <a:rPr lang="en-US" sz="1000" b="1" kern="0" spc="200" dirty="0">
                <a:solidFill>
                  <a:srgbClr val="22D3EE"/>
                </a:solidFill>
                <a:latin typeface="Arial" pitchFamily="34" charset="0"/>
                <a:ea typeface="Arial" pitchFamily="34" charset="-122"/>
                <a:cs typeface="Arial" pitchFamily="34" charset="-120"/>
              </a:rPr>
              <a:t>10</a:t>
            </a:r>
            <a:endParaRPr lang="en-US" sz="1000" dirty="0"/>
          </a:p>
        </p:txBody>
      </p:sp>
      <p:sp>
        <p:nvSpPr>
          <p:cNvPr id="5" name="Text 3"/>
          <p:cNvSpPr/>
          <p:nvPr/>
        </p:nvSpPr>
        <p:spPr>
          <a:xfrm>
            <a:off x="548640" y="6437376"/>
            <a:ext cx="11064240" cy="274320"/>
          </a:xfrm>
          <a:prstGeom prst="rect">
            <a:avLst/>
          </a:prstGeom>
          <a:noFill/>
          <a:ln/>
        </p:spPr>
        <p:txBody>
          <a:bodyPr wrap="square" lIns="0" tIns="0" rIns="0" bIns="0" rtlCol="0" anchor="ctr"/>
          <a:lstStyle/>
          <a:p>
            <a:pPr marL="0" indent="0" algn="l">
              <a:buNone/>
            </a:pPr>
            <a:r>
              <a:rPr lang="en-US" sz="900" dirty="0">
                <a:solidFill>
                  <a:srgbClr val="5A6B7B"/>
                </a:solidFill>
                <a:latin typeface="Arial" pitchFamily="34" charset="0"/>
                <a:ea typeface="Arial" pitchFamily="34" charset="-122"/>
                <a:cs typeface="Arial" pitchFamily="34" charset="-120"/>
              </a:rPr>
              <a:t>Source: Ecommerce_Sales_Data.xlsx  ·  486 orders analyzed  ·  All figures in ₹</a:t>
            </a:r>
            <a:endParaRPr lang="en-US" sz="900" dirty="0"/>
          </a:p>
        </p:txBody>
      </p:sp>
      <p:sp>
        <p:nvSpPr>
          <p:cNvPr id="7" name="Shape 4"/>
          <p:cNvSpPr/>
          <p:nvPr/>
        </p:nvSpPr>
        <p:spPr>
          <a:xfrm>
            <a:off x="548640" y="1499616"/>
            <a:ext cx="11091672" cy="3493008"/>
          </a:xfrm>
          <a:prstGeom prst="roundRect">
            <a:avLst>
              <a:gd name="adj" fmla="val 2094"/>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8" name="Text 5"/>
          <p:cNvSpPr/>
          <p:nvPr/>
        </p:nvSpPr>
        <p:spPr>
          <a:xfrm>
            <a:off x="2852928" y="1792224"/>
            <a:ext cx="2013966" cy="384048"/>
          </a:xfrm>
          <a:prstGeom prst="rect">
            <a:avLst/>
          </a:prstGeom>
          <a:noFill/>
          <a:ln/>
        </p:spPr>
        <p:txBody>
          <a:bodyPr wrap="square" lIns="0" tIns="0" rIns="0" bIns="0" rtlCol="0" anchor="ctr"/>
          <a:lstStyle/>
          <a:p>
            <a:pPr marL="0" indent="0" algn="ctr">
              <a:buNone/>
            </a:pPr>
            <a:r>
              <a:rPr lang="en-US" sz="1100" b="1" kern="0" spc="100" dirty="0">
                <a:solidFill>
                  <a:srgbClr val="22D3EE"/>
                </a:solidFill>
                <a:latin typeface="Arial" pitchFamily="34" charset="0"/>
                <a:ea typeface="Arial" pitchFamily="34" charset="-122"/>
                <a:cs typeface="Arial" pitchFamily="34" charset="-120"/>
              </a:rPr>
              <a:t>RETURN RATE</a:t>
            </a:r>
            <a:endParaRPr lang="en-US" sz="1100" dirty="0"/>
          </a:p>
        </p:txBody>
      </p:sp>
      <p:sp>
        <p:nvSpPr>
          <p:cNvPr id="9" name="Text 6"/>
          <p:cNvSpPr/>
          <p:nvPr/>
        </p:nvSpPr>
        <p:spPr>
          <a:xfrm>
            <a:off x="5013198" y="1792224"/>
            <a:ext cx="2013966" cy="384048"/>
          </a:xfrm>
          <a:prstGeom prst="rect">
            <a:avLst/>
          </a:prstGeom>
          <a:noFill/>
          <a:ln/>
        </p:spPr>
        <p:txBody>
          <a:bodyPr wrap="square" lIns="0" tIns="0" rIns="0" bIns="0" rtlCol="0" anchor="ctr"/>
          <a:lstStyle/>
          <a:p>
            <a:pPr marL="0" indent="0" algn="ctr">
              <a:buNone/>
            </a:pPr>
            <a:r>
              <a:rPr lang="en-US" sz="1100" b="1" kern="0" spc="100" dirty="0">
                <a:solidFill>
                  <a:srgbClr val="22D3EE"/>
                </a:solidFill>
                <a:latin typeface="Arial" pitchFamily="34" charset="0"/>
                <a:ea typeface="Arial" pitchFamily="34" charset="-122"/>
                <a:cs typeface="Arial" pitchFamily="34" charset="-120"/>
              </a:rPr>
              <a:t>REVENUE GROWTH</a:t>
            </a:r>
            <a:endParaRPr lang="en-US" sz="1100" dirty="0"/>
          </a:p>
        </p:txBody>
      </p:sp>
      <p:sp>
        <p:nvSpPr>
          <p:cNvPr id="10" name="Text 7"/>
          <p:cNvSpPr/>
          <p:nvPr/>
        </p:nvSpPr>
        <p:spPr>
          <a:xfrm>
            <a:off x="7173468" y="1792224"/>
            <a:ext cx="2013966" cy="384048"/>
          </a:xfrm>
          <a:prstGeom prst="rect">
            <a:avLst/>
          </a:prstGeom>
          <a:noFill/>
          <a:ln/>
        </p:spPr>
        <p:txBody>
          <a:bodyPr wrap="square" lIns="0" tIns="0" rIns="0" bIns="0" rtlCol="0" anchor="ctr"/>
          <a:lstStyle/>
          <a:p>
            <a:pPr marL="0" indent="0" algn="ctr">
              <a:buNone/>
            </a:pPr>
            <a:r>
              <a:rPr lang="en-US" sz="1100" b="1" kern="0" spc="100" dirty="0">
                <a:solidFill>
                  <a:srgbClr val="22D3EE"/>
                </a:solidFill>
                <a:latin typeface="Arial" pitchFamily="34" charset="0"/>
                <a:ea typeface="Arial" pitchFamily="34" charset="-122"/>
                <a:cs typeface="Arial" pitchFamily="34" charset="-120"/>
              </a:rPr>
              <a:t>GEOGRAPHIC SPREAD</a:t>
            </a:r>
            <a:endParaRPr lang="en-US" sz="1100" dirty="0"/>
          </a:p>
        </p:txBody>
      </p:sp>
      <p:sp>
        <p:nvSpPr>
          <p:cNvPr id="11" name="Text 8"/>
          <p:cNvSpPr/>
          <p:nvPr/>
        </p:nvSpPr>
        <p:spPr>
          <a:xfrm>
            <a:off x="9333738" y="1792224"/>
            <a:ext cx="2013966" cy="384048"/>
          </a:xfrm>
          <a:prstGeom prst="rect">
            <a:avLst/>
          </a:prstGeom>
          <a:noFill/>
          <a:ln/>
        </p:spPr>
        <p:txBody>
          <a:bodyPr wrap="square" lIns="0" tIns="0" rIns="0" bIns="0" rtlCol="0" anchor="ctr"/>
          <a:lstStyle/>
          <a:p>
            <a:pPr marL="0" indent="0" algn="ctr">
              <a:buNone/>
            </a:pPr>
            <a:r>
              <a:rPr lang="en-US" sz="1100" b="1" kern="0" spc="100" dirty="0">
                <a:solidFill>
                  <a:srgbClr val="22D3EE"/>
                </a:solidFill>
                <a:latin typeface="Arial" pitchFamily="34" charset="0"/>
                <a:ea typeface="Arial" pitchFamily="34" charset="-122"/>
                <a:cs typeface="Arial" pitchFamily="34" charset="-120"/>
              </a:rPr>
              <a:t>PAYMENT MIX</a:t>
            </a:r>
            <a:endParaRPr lang="en-US" sz="1100" dirty="0"/>
          </a:p>
        </p:txBody>
      </p:sp>
      <p:sp>
        <p:nvSpPr>
          <p:cNvPr id="12" name="Text 9"/>
          <p:cNvSpPr/>
          <p:nvPr/>
        </p:nvSpPr>
        <p:spPr>
          <a:xfrm>
            <a:off x="841248" y="2322576"/>
            <a:ext cx="1920240" cy="694944"/>
          </a:xfrm>
          <a:prstGeom prst="rect">
            <a:avLst/>
          </a:prstGeom>
          <a:noFill/>
          <a:ln/>
        </p:spPr>
        <p:txBody>
          <a:bodyPr wrap="square" lIns="0" tIns="0" rIns="0" bIns="0" rtlCol="0" anchor="ctr"/>
          <a:lstStyle/>
          <a:p>
            <a:pPr marL="0" indent="0" algn="l">
              <a:buNone/>
            </a:pPr>
            <a:r>
              <a:rPr lang="en-US" sz="1500" b="1" dirty="0">
                <a:solidFill>
                  <a:srgbClr val="F1F5F9"/>
                </a:solidFill>
                <a:latin typeface="Arial" pitchFamily="34" charset="0"/>
                <a:ea typeface="Arial" pitchFamily="34" charset="-122"/>
                <a:cs typeface="Arial" pitchFamily="34" charset="-120"/>
              </a:rPr>
              <a:t>Electronics</a:t>
            </a:r>
            <a:endParaRPr lang="en-US" sz="1500" dirty="0"/>
          </a:p>
        </p:txBody>
      </p:sp>
      <p:sp>
        <p:nvSpPr>
          <p:cNvPr id="13" name="Shape 10"/>
          <p:cNvSpPr/>
          <p:nvPr/>
        </p:nvSpPr>
        <p:spPr>
          <a:xfrm>
            <a:off x="2852928" y="2322576"/>
            <a:ext cx="2013966" cy="694944"/>
          </a:xfrm>
          <a:prstGeom prst="roundRect">
            <a:avLst>
              <a:gd name="adj" fmla="val 9211"/>
            </a:avLst>
          </a:prstGeom>
          <a:solidFill>
            <a:srgbClr val="E5616E"/>
          </a:solidFill>
          <a:ln/>
        </p:spPr>
        <p:txBody>
          <a:bodyPr/>
          <a:lstStyle/>
          <a:p>
            <a:endParaRPr lang="en-IN"/>
          </a:p>
        </p:txBody>
      </p:sp>
      <p:sp>
        <p:nvSpPr>
          <p:cNvPr id="14" name="Text 11"/>
          <p:cNvSpPr/>
          <p:nvPr/>
        </p:nvSpPr>
        <p:spPr>
          <a:xfrm>
            <a:off x="2944368" y="2395728"/>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34.8%</a:t>
            </a:r>
            <a:endParaRPr lang="en-US" sz="1450" dirty="0"/>
          </a:p>
        </p:txBody>
      </p:sp>
      <p:sp>
        <p:nvSpPr>
          <p:cNvPr id="15" name="Text 12"/>
          <p:cNvSpPr/>
          <p:nvPr/>
        </p:nvSpPr>
        <p:spPr>
          <a:xfrm>
            <a:off x="2944368" y="2683947"/>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Category-high</a:t>
            </a:r>
            <a:endParaRPr lang="en-US" sz="950" dirty="0"/>
          </a:p>
        </p:txBody>
      </p:sp>
      <p:sp>
        <p:nvSpPr>
          <p:cNvPr id="16" name="Shape 13"/>
          <p:cNvSpPr/>
          <p:nvPr/>
        </p:nvSpPr>
        <p:spPr>
          <a:xfrm>
            <a:off x="5013198" y="2322576"/>
            <a:ext cx="2013966" cy="694944"/>
          </a:xfrm>
          <a:prstGeom prst="roundRect">
            <a:avLst>
              <a:gd name="adj" fmla="val 9211"/>
            </a:avLst>
          </a:prstGeom>
          <a:solidFill>
            <a:srgbClr val="E8A23D"/>
          </a:solidFill>
          <a:ln/>
        </p:spPr>
        <p:txBody>
          <a:bodyPr/>
          <a:lstStyle/>
          <a:p>
            <a:endParaRPr lang="en-IN"/>
          </a:p>
        </p:txBody>
      </p:sp>
      <p:sp>
        <p:nvSpPr>
          <p:cNvPr id="17" name="Text 14"/>
          <p:cNvSpPr/>
          <p:nvPr/>
        </p:nvSpPr>
        <p:spPr>
          <a:xfrm>
            <a:off x="5104638" y="2395728"/>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+0.8%</a:t>
            </a:r>
            <a:endParaRPr lang="en-US" sz="1450" dirty="0"/>
          </a:p>
        </p:txBody>
      </p:sp>
      <p:sp>
        <p:nvSpPr>
          <p:cNvPr id="18" name="Text 15"/>
          <p:cNvSpPr/>
          <p:nvPr/>
        </p:nvSpPr>
        <p:spPr>
          <a:xfrm>
            <a:off x="5104638" y="2683947"/>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Stable</a:t>
            </a:r>
            <a:endParaRPr lang="en-US" sz="950" dirty="0"/>
          </a:p>
        </p:txBody>
      </p:sp>
      <p:sp>
        <p:nvSpPr>
          <p:cNvPr id="19" name="Shape 16"/>
          <p:cNvSpPr/>
          <p:nvPr/>
        </p:nvSpPr>
        <p:spPr>
          <a:xfrm>
            <a:off x="7173468" y="2322576"/>
            <a:ext cx="2013966" cy="694944"/>
          </a:xfrm>
          <a:prstGeom prst="roundRect">
            <a:avLst>
              <a:gd name="adj" fmla="val 9211"/>
            </a:avLst>
          </a:prstGeom>
          <a:solidFill>
            <a:srgbClr val="2DBE8A"/>
          </a:solidFill>
          <a:ln/>
        </p:spPr>
        <p:txBody>
          <a:bodyPr/>
          <a:lstStyle/>
          <a:p>
            <a:endParaRPr lang="en-IN"/>
          </a:p>
        </p:txBody>
      </p:sp>
      <p:sp>
        <p:nvSpPr>
          <p:cNvPr id="20" name="Text 17"/>
          <p:cNvSpPr/>
          <p:nvPr/>
        </p:nvSpPr>
        <p:spPr>
          <a:xfrm>
            <a:off x="7264908" y="2395728"/>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23% top city</a:t>
            </a:r>
            <a:endParaRPr lang="en-US" sz="1450" dirty="0"/>
          </a:p>
        </p:txBody>
      </p:sp>
      <p:sp>
        <p:nvSpPr>
          <p:cNvPr id="21" name="Text 18"/>
          <p:cNvSpPr/>
          <p:nvPr/>
        </p:nvSpPr>
        <p:spPr>
          <a:xfrm>
            <a:off x="7264908" y="2683947"/>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Well spread</a:t>
            </a:r>
            <a:endParaRPr lang="en-US" sz="950" dirty="0"/>
          </a:p>
        </p:txBody>
      </p:sp>
      <p:sp>
        <p:nvSpPr>
          <p:cNvPr id="22" name="Shape 19"/>
          <p:cNvSpPr/>
          <p:nvPr/>
        </p:nvSpPr>
        <p:spPr>
          <a:xfrm>
            <a:off x="9333738" y="2322576"/>
            <a:ext cx="2013966" cy="694944"/>
          </a:xfrm>
          <a:prstGeom prst="roundRect">
            <a:avLst>
              <a:gd name="adj" fmla="val 9211"/>
            </a:avLst>
          </a:prstGeom>
          <a:solidFill>
            <a:srgbClr val="2DBE8A"/>
          </a:solidFill>
          <a:ln/>
        </p:spPr>
        <p:txBody>
          <a:bodyPr/>
          <a:lstStyle/>
          <a:p>
            <a:endParaRPr lang="en-IN"/>
          </a:p>
        </p:txBody>
      </p:sp>
      <p:sp>
        <p:nvSpPr>
          <p:cNvPr id="23" name="Text 20"/>
          <p:cNvSpPr/>
          <p:nvPr/>
        </p:nvSpPr>
        <p:spPr>
          <a:xfrm>
            <a:off x="9425178" y="2395728"/>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5 methods</a:t>
            </a:r>
            <a:endParaRPr lang="en-US" sz="1450" dirty="0"/>
          </a:p>
        </p:txBody>
      </p:sp>
      <p:sp>
        <p:nvSpPr>
          <p:cNvPr id="24" name="Text 21"/>
          <p:cNvSpPr/>
          <p:nvPr/>
        </p:nvSpPr>
        <p:spPr>
          <a:xfrm>
            <a:off x="9425178" y="2683947"/>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Balanced</a:t>
            </a:r>
            <a:endParaRPr lang="en-US" sz="950" dirty="0"/>
          </a:p>
        </p:txBody>
      </p:sp>
      <p:sp>
        <p:nvSpPr>
          <p:cNvPr id="25" name="Text 22"/>
          <p:cNvSpPr/>
          <p:nvPr/>
        </p:nvSpPr>
        <p:spPr>
          <a:xfrm>
            <a:off x="841248" y="3163824"/>
            <a:ext cx="1920240" cy="694944"/>
          </a:xfrm>
          <a:prstGeom prst="rect">
            <a:avLst/>
          </a:prstGeom>
          <a:noFill/>
          <a:ln/>
        </p:spPr>
        <p:txBody>
          <a:bodyPr wrap="square" lIns="0" tIns="0" rIns="0" bIns="0" rtlCol="0" anchor="ctr"/>
          <a:lstStyle/>
          <a:p>
            <a:pPr marL="0" indent="0" algn="l">
              <a:buNone/>
            </a:pPr>
            <a:r>
              <a:rPr lang="en-US" sz="1500" b="1" dirty="0">
                <a:solidFill>
                  <a:srgbClr val="F1F5F9"/>
                </a:solidFill>
                <a:latin typeface="Arial" pitchFamily="34" charset="0"/>
                <a:ea typeface="Arial" pitchFamily="34" charset="-122"/>
                <a:cs typeface="Arial" pitchFamily="34" charset="-120"/>
              </a:rPr>
              <a:t>Tech</a:t>
            </a:r>
            <a:endParaRPr lang="en-US" sz="1500" dirty="0"/>
          </a:p>
        </p:txBody>
      </p:sp>
      <p:sp>
        <p:nvSpPr>
          <p:cNvPr id="26" name="Shape 23"/>
          <p:cNvSpPr/>
          <p:nvPr/>
        </p:nvSpPr>
        <p:spPr>
          <a:xfrm>
            <a:off x="2852928" y="3163824"/>
            <a:ext cx="2013966" cy="694944"/>
          </a:xfrm>
          <a:prstGeom prst="roundRect">
            <a:avLst>
              <a:gd name="adj" fmla="val 9211"/>
            </a:avLst>
          </a:prstGeom>
          <a:solidFill>
            <a:srgbClr val="E8A23D"/>
          </a:solidFill>
          <a:ln/>
        </p:spPr>
        <p:txBody>
          <a:bodyPr/>
          <a:lstStyle/>
          <a:p>
            <a:endParaRPr lang="en-IN"/>
          </a:p>
        </p:txBody>
      </p:sp>
      <p:sp>
        <p:nvSpPr>
          <p:cNvPr id="27" name="Text 24"/>
          <p:cNvSpPr/>
          <p:nvPr/>
        </p:nvSpPr>
        <p:spPr>
          <a:xfrm>
            <a:off x="2944368" y="3236976"/>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33.0%</a:t>
            </a:r>
            <a:endParaRPr lang="en-US" sz="1450" dirty="0"/>
          </a:p>
        </p:txBody>
      </p:sp>
      <p:sp>
        <p:nvSpPr>
          <p:cNvPr id="28" name="Text 25"/>
          <p:cNvSpPr/>
          <p:nvPr/>
        </p:nvSpPr>
        <p:spPr>
          <a:xfrm>
            <a:off x="2944368" y="3525195"/>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Elevated</a:t>
            </a:r>
            <a:endParaRPr lang="en-US" sz="950" dirty="0"/>
          </a:p>
        </p:txBody>
      </p:sp>
      <p:sp>
        <p:nvSpPr>
          <p:cNvPr id="29" name="Shape 26"/>
          <p:cNvSpPr/>
          <p:nvPr/>
        </p:nvSpPr>
        <p:spPr>
          <a:xfrm>
            <a:off x="5013198" y="3163824"/>
            <a:ext cx="2013966" cy="694944"/>
          </a:xfrm>
          <a:prstGeom prst="roundRect">
            <a:avLst>
              <a:gd name="adj" fmla="val 9211"/>
            </a:avLst>
          </a:prstGeom>
          <a:solidFill>
            <a:srgbClr val="E5616E"/>
          </a:solidFill>
          <a:ln/>
        </p:spPr>
        <p:txBody>
          <a:bodyPr/>
          <a:lstStyle/>
          <a:p>
            <a:endParaRPr lang="en-IN"/>
          </a:p>
        </p:txBody>
      </p:sp>
      <p:sp>
        <p:nvSpPr>
          <p:cNvPr id="30" name="Text 27"/>
          <p:cNvSpPr/>
          <p:nvPr/>
        </p:nvSpPr>
        <p:spPr>
          <a:xfrm>
            <a:off x="5104638" y="3236976"/>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−17.0%</a:t>
            </a:r>
            <a:endParaRPr lang="en-US" sz="1450" dirty="0"/>
          </a:p>
        </p:txBody>
      </p:sp>
      <p:sp>
        <p:nvSpPr>
          <p:cNvPr id="31" name="Text 28"/>
          <p:cNvSpPr/>
          <p:nvPr/>
        </p:nvSpPr>
        <p:spPr>
          <a:xfrm>
            <a:off x="5104638" y="3525195"/>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Declining</a:t>
            </a:r>
            <a:endParaRPr lang="en-US" sz="950" dirty="0"/>
          </a:p>
        </p:txBody>
      </p:sp>
      <p:sp>
        <p:nvSpPr>
          <p:cNvPr id="32" name="Shape 29"/>
          <p:cNvSpPr/>
          <p:nvPr/>
        </p:nvSpPr>
        <p:spPr>
          <a:xfrm>
            <a:off x="7173468" y="3163824"/>
            <a:ext cx="2013966" cy="694944"/>
          </a:xfrm>
          <a:prstGeom prst="roundRect">
            <a:avLst>
              <a:gd name="adj" fmla="val 9211"/>
            </a:avLst>
          </a:prstGeom>
          <a:solidFill>
            <a:srgbClr val="E8A23D"/>
          </a:solidFill>
          <a:ln/>
        </p:spPr>
        <p:txBody>
          <a:bodyPr/>
          <a:lstStyle/>
          <a:p>
            <a:endParaRPr lang="en-IN"/>
          </a:p>
        </p:txBody>
      </p:sp>
      <p:sp>
        <p:nvSpPr>
          <p:cNvPr id="33" name="Text 30"/>
          <p:cNvSpPr/>
          <p:nvPr/>
        </p:nvSpPr>
        <p:spPr>
          <a:xfrm>
            <a:off x="7264908" y="3236976"/>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28% top city</a:t>
            </a:r>
            <a:endParaRPr lang="en-US" sz="1450" dirty="0"/>
          </a:p>
        </p:txBody>
      </p:sp>
      <p:sp>
        <p:nvSpPr>
          <p:cNvPr id="34" name="Text 31"/>
          <p:cNvSpPr/>
          <p:nvPr/>
        </p:nvSpPr>
        <p:spPr>
          <a:xfrm>
            <a:off x="7264908" y="3525195"/>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Delhi-led</a:t>
            </a:r>
            <a:endParaRPr lang="en-US" sz="950" dirty="0"/>
          </a:p>
        </p:txBody>
      </p:sp>
      <p:sp>
        <p:nvSpPr>
          <p:cNvPr id="35" name="Shape 32"/>
          <p:cNvSpPr/>
          <p:nvPr/>
        </p:nvSpPr>
        <p:spPr>
          <a:xfrm>
            <a:off x="9333738" y="3163824"/>
            <a:ext cx="2013966" cy="694944"/>
          </a:xfrm>
          <a:prstGeom prst="roundRect">
            <a:avLst>
              <a:gd name="adj" fmla="val 9211"/>
            </a:avLst>
          </a:prstGeom>
          <a:solidFill>
            <a:srgbClr val="2DBE8A"/>
          </a:solidFill>
          <a:ln/>
        </p:spPr>
        <p:txBody>
          <a:bodyPr/>
          <a:lstStyle/>
          <a:p>
            <a:endParaRPr lang="en-IN"/>
          </a:p>
        </p:txBody>
      </p:sp>
      <p:sp>
        <p:nvSpPr>
          <p:cNvPr id="36" name="Text 33"/>
          <p:cNvSpPr/>
          <p:nvPr/>
        </p:nvSpPr>
        <p:spPr>
          <a:xfrm>
            <a:off x="9425178" y="3236976"/>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6 methods</a:t>
            </a:r>
            <a:endParaRPr lang="en-US" sz="1450" dirty="0"/>
          </a:p>
        </p:txBody>
      </p:sp>
      <p:sp>
        <p:nvSpPr>
          <p:cNvPr id="37" name="Text 34"/>
          <p:cNvSpPr/>
          <p:nvPr/>
        </p:nvSpPr>
        <p:spPr>
          <a:xfrm>
            <a:off x="9425178" y="3525195"/>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Balanced</a:t>
            </a:r>
            <a:endParaRPr lang="en-US" sz="950" dirty="0"/>
          </a:p>
        </p:txBody>
      </p:sp>
      <p:sp>
        <p:nvSpPr>
          <p:cNvPr id="38" name="Text 35"/>
          <p:cNvSpPr/>
          <p:nvPr/>
        </p:nvSpPr>
        <p:spPr>
          <a:xfrm>
            <a:off x="841248" y="4005072"/>
            <a:ext cx="1920240" cy="694944"/>
          </a:xfrm>
          <a:prstGeom prst="rect">
            <a:avLst/>
          </a:prstGeom>
          <a:noFill/>
          <a:ln/>
        </p:spPr>
        <p:txBody>
          <a:bodyPr wrap="square" lIns="0" tIns="0" rIns="0" bIns="0" rtlCol="0" anchor="ctr"/>
          <a:lstStyle/>
          <a:p>
            <a:pPr marL="0" indent="0" algn="l">
              <a:buNone/>
            </a:pPr>
            <a:r>
              <a:rPr lang="en-US" sz="1500" b="1" dirty="0">
                <a:solidFill>
                  <a:srgbClr val="F1F5F9"/>
                </a:solidFill>
                <a:latin typeface="Arial" pitchFamily="34" charset="0"/>
                <a:ea typeface="Arial" pitchFamily="34" charset="-122"/>
                <a:cs typeface="Arial" pitchFamily="34" charset="-120"/>
              </a:rPr>
              <a:t>Gadgets</a:t>
            </a:r>
            <a:endParaRPr lang="en-US" sz="1500" dirty="0"/>
          </a:p>
        </p:txBody>
      </p:sp>
      <p:sp>
        <p:nvSpPr>
          <p:cNvPr id="39" name="Shape 36"/>
          <p:cNvSpPr/>
          <p:nvPr/>
        </p:nvSpPr>
        <p:spPr>
          <a:xfrm>
            <a:off x="2852928" y="4005072"/>
            <a:ext cx="2013966" cy="694944"/>
          </a:xfrm>
          <a:prstGeom prst="roundRect">
            <a:avLst>
              <a:gd name="adj" fmla="val 9211"/>
            </a:avLst>
          </a:prstGeom>
          <a:solidFill>
            <a:srgbClr val="2DBE8A"/>
          </a:solidFill>
          <a:ln/>
        </p:spPr>
        <p:txBody>
          <a:bodyPr/>
          <a:lstStyle/>
          <a:p>
            <a:endParaRPr lang="en-IN"/>
          </a:p>
        </p:txBody>
      </p:sp>
      <p:sp>
        <p:nvSpPr>
          <p:cNvPr id="40" name="Text 37"/>
          <p:cNvSpPr/>
          <p:nvPr/>
        </p:nvSpPr>
        <p:spPr>
          <a:xfrm>
            <a:off x="2944368" y="4078224"/>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27.3%</a:t>
            </a:r>
            <a:endParaRPr lang="en-US" sz="1450" dirty="0"/>
          </a:p>
        </p:txBody>
      </p:sp>
      <p:sp>
        <p:nvSpPr>
          <p:cNvPr id="41" name="Text 38"/>
          <p:cNvSpPr/>
          <p:nvPr/>
        </p:nvSpPr>
        <p:spPr>
          <a:xfrm>
            <a:off x="2944368" y="4366443"/>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Lowest</a:t>
            </a:r>
            <a:endParaRPr lang="en-US" sz="950" dirty="0"/>
          </a:p>
        </p:txBody>
      </p:sp>
      <p:sp>
        <p:nvSpPr>
          <p:cNvPr id="42" name="Shape 39"/>
          <p:cNvSpPr/>
          <p:nvPr/>
        </p:nvSpPr>
        <p:spPr>
          <a:xfrm>
            <a:off x="5013198" y="4005072"/>
            <a:ext cx="2013966" cy="694944"/>
          </a:xfrm>
          <a:prstGeom prst="roundRect">
            <a:avLst>
              <a:gd name="adj" fmla="val 9211"/>
            </a:avLst>
          </a:prstGeom>
          <a:solidFill>
            <a:srgbClr val="E5616E"/>
          </a:solidFill>
          <a:ln/>
        </p:spPr>
        <p:txBody>
          <a:bodyPr/>
          <a:lstStyle/>
          <a:p>
            <a:endParaRPr lang="en-IN"/>
          </a:p>
        </p:txBody>
      </p:sp>
      <p:sp>
        <p:nvSpPr>
          <p:cNvPr id="43" name="Text 40"/>
          <p:cNvSpPr/>
          <p:nvPr/>
        </p:nvSpPr>
        <p:spPr>
          <a:xfrm>
            <a:off x="5104638" y="4078224"/>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−43.2%</a:t>
            </a:r>
            <a:endParaRPr lang="en-US" sz="1450" dirty="0"/>
          </a:p>
        </p:txBody>
      </p:sp>
      <p:sp>
        <p:nvSpPr>
          <p:cNvPr id="44" name="Text 41"/>
          <p:cNvSpPr/>
          <p:nvPr/>
        </p:nvSpPr>
        <p:spPr>
          <a:xfrm>
            <a:off x="5104638" y="4366443"/>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Sharp drop</a:t>
            </a:r>
            <a:endParaRPr lang="en-US" sz="950" dirty="0"/>
          </a:p>
        </p:txBody>
      </p:sp>
      <p:sp>
        <p:nvSpPr>
          <p:cNvPr id="45" name="Shape 42"/>
          <p:cNvSpPr/>
          <p:nvPr/>
        </p:nvSpPr>
        <p:spPr>
          <a:xfrm>
            <a:off x="7173468" y="4005072"/>
            <a:ext cx="2013966" cy="694944"/>
          </a:xfrm>
          <a:prstGeom prst="roundRect">
            <a:avLst>
              <a:gd name="adj" fmla="val 9211"/>
            </a:avLst>
          </a:prstGeom>
          <a:solidFill>
            <a:srgbClr val="2DBE8A"/>
          </a:solidFill>
          <a:ln/>
        </p:spPr>
        <p:txBody>
          <a:bodyPr/>
          <a:lstStyle/>
          <a:p>
            <a:endParaRPr lang="en-IN"/>
          </a:p>
        </p:txBody>
      </p:sp>
      <p:sp>
        <p:nvSpPr>
          <p:cNvPr id="46" name="Text 43"/>
          <p:cNvSpPr/>
          <p:nvPr/>
        </p:nvSpPr>
        <p:spPr>
          <a:xfrm>
            <a:off x="7264908" y="4078224"/>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23% top city</a:t>
            </a:r>
            <a:endParaRPr lang="en-US" sz="1450" dirty="0"/>
          </a:p>
        </p:txBody>
      </p:sp>
      <p:sp>
        <p:nvSpPr>
          <p:cNvPr id="47" name="Text 44"/>
          <p:cNvSpPr/>
          <p:nvPr/>
        </p:nvSpPr>
        <p:spPr>
          <a:xfrm>
            <a:off x="7264908" y="4366443"/>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Well spread</a:t>
            </a:r>
            <a:endParaRPr lang="en-US" sz="950" dirty="0"/>
          </a:p>
        </p:txBody>
      </p:sp>
      <p:sp>
        <p:nvSpPr>
          <p:cNvPr id="48" name="Shape 45"/>
          <p:cNvSpPr/>
          <p:nvPr/>
        </p:nvSpPr>
        <p:spPr>
          <a:xfrm>
            <a:off x="9333738" y="4005072"/>
            <a:ext cx="2013966" cy="694944"/>
          </a:xfrm>
          <a:prstGeom prst="roundRect">
            <a:avLst>
              <a:gd name="adj" fmla="val 9211"/>
            </a:avLst>
          </a:prstGeom>
          <a:solidFill>
            <a:srgbClr val="2DBE8A"/>
          </a:solidFill>
          <a:ln/>
        </p:spPr>
        <p:txBody>
          <a:bodyPr/>
          <a:lstStyle/>
          <a:p>
            <a:endParaRPr lang="en-IN"/>
          </a:p>
        </p:txBody>
      </p:sp>
      <p:sp>
        <p:nvSpPr>
          <p:cNvPr id="49" name="Text 46"/>
          <p:cNvSpPr/>
          <p:nvPr/>
        </p:nvSpPr>
        <p:spPr>
          <a:xfrm>
            <a:off x="9425178" y="4078224"/>
            <a:ext cx="1831086" cy="361371"/>
          </a:xfrm>
          <a:prstGeom prst="rect">
            <a:avLst/>
          </a:prstGeom>
          <a:noFill/>
          <a:ln/>
        </p:spPr>
        <p:txBody>
          <a:bodyPr wrap="square" lIns="0" tIns="0" rIns="0" bIns="0" rtlCol="0" anchor="ctr"/>
          <a:lstStyle/>
          <a:p>
            <a:pPr marL="0" indent="0" algn="ctr">
              <a:buNone/>
            </a:pPr>
            <a:r>
              <a:rPr lang="en-US" sz="1450" b="1" dirty="0">
                <a:solidFill>
                  <a:srgbClr val="0A0E14"/>
                </a:solidFill>
                <a:latin typeface="Arial" pitchFamily="34" charset="0"/>
                <a:ea typeface="Arial" pitchFamily="34" charset="-122"/>
                <a:cs typeface="Arial" pitchFamily="34" charset="-120"/>
              </a:rPr>
              <a:t>5 methods</a:t>
            </a:r>
            <a:endParaRPr lang="en-US" sz="1450" dirty="0"/>
          </a:p>
        </p:txBody>
      </p:sp>
      <p:sp>
        <p:nvSpPr>
          <p:cNvPr id="50" name="Text 47"/>
          <p:cNvSpPr/>
          <p:nvPr/>
        </p:nvSpPr>
        <p:spPr>
          <a:xfrm>
            <a:off x="9425178" y="4366443"/>
            <a:ext cx="1831086" cy="277978"/>
          </a:xfrm>
          <a:prstGeom prst="rect">
            <a:avLst/>
          </a:prstGeom>
          <a:noFill/>
          <a:ln/>
        </p:spPr>
        <p:txBody>
          <a:bodyPr wrap="square" lIns="0" tIns="0" rIns="0" bIns="0" rtlCol="0" anchor="ctr"/>
          <a:lstStyle/>
          <a:p>
            <a:pPr marL="0" indent="0" algn="ctr">
              <a:buNone/>
            </a:pPr>
            <a:r>
              <a:rPr lang="en-US" sz="950" b="1" dirty="0">
                <a:solidFill>
                  <a:srgbClr val="0A0E14"/>
                </a:solidFill>
                <a:latin typeface="Arial" pitchFamily="34" charset="0"/>
                <a:ea typeface="Arial" pitchFamily="34" charset="-122"/>
                <a:cs typeface="Arial" pitchFamily="34" charset="-120"/>
              </a:rPr>
              <a:t>Balanced</a:t>
            </a:r>
            <a:endParaRPr lang="en-US" sz="950" dirty="0"/>
          </a:p>
        </p:txBody>
      </p:sp>
      <p:sp>
        <p:nvSpPr>
          <p:cNvPr id="51" name="Shape 48"/>
          <p:cNvSpPr/>
          <p:nvPr/>
        </p:nvSpPr>
        <p:spPr>
          <a:xfrm>
            <a:off x="841248" y="5029200"/>
            <a:ext cx="201168" cy="146304"/>
          </a:xfrm>
          <a:prstGeom prst="roundRect">
            <a:avLst>
              <a:gd name="adj" fmla="val 25000"/>
            </a:avLst>
          </a:prstGeom>
          <a:solidFill>
            <a:srgbClr val="E5616E"/>
          </a:solidFill>
          <a:ln/>
        </p:spPr>
        <p:txBody>
          <a:bodyPr/>
          <a:lstStyle/>
          <a:p>
            <a:endParaRPr lang="en-IN"/>
          </a:p>
        </p:txBody>
      </p:sp>
      <p:sp>
        <p:nvSpPr>
          <p:cNvPr id="52" name="Text 49"/>
          <p:cNvSpPr/>
          <p:nvPr/>
        </p:nvSpPr>
        <p:spPr>
          <a:xfrm>
            <a:off x="1115568" y="4974336"/>
            <a:ext cx="1280160" cy="25603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High risk</a:t>
            </a:r>
            <a:endParaRPr lang="en-US" sz="1000" dirty="0"/>
          </a:p>
        </p:txBody>
      </p:sp>
      <p:sp>
        <p:nvSpPr>
          <p:cNvPr id="53" name="Shape 50"/>
          <p:cNvSpPr/>
          <p:nvPr/>
        </p:nvSpPr>
        <p:spPr>
          <a:xfrm>
            <a:off x="2258568" y="5029200"/>
            <a:ext cx="201168" cy="146304"/>
          </a:xfrm>
          <a:prstGeom prst="roundRect">
            <a:avLst>
              <a:gd name="adj" fmla="val 25000"/>
            </a:avLst>
          </a:prstGeom>
          <a:solidFill>
            <a:srgbClr val="E8A23D"/>
          </a:solidFill>
          <a:ln/>
        </p:spPr>
        <p:txBody>
          <a:bodyPr/>
          <a:lstStyle/>
          <a:p>
            <a:endParaRPr lang="en-IN"/>
          </a:p>
        </p:txBody>
      </p:sp>
      <p:sp>
        <p:nvSpPr>
          <p:cNvPr id="54" name="Text 51"/>
          <p:cNvSpPr/>
          <p:nvPr/>
        </p:nvSpPr>
        <p:spPr>
          <a:xfrm>
            <a:off x="2532888" y="4974336"/>
            <a:ext cx="1280160" cy="25603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Watch</a:t>
            </a:r>
            <a:endParaRPr lang="en-US" sz="1000" dirty="0"/>
          </a:p>
        </p:txBody>
      </p:sp>
      <p:sp>
        <p:nvSpPr>
          <p:cNvPr id="55" name="Shape 52"/>
          <p:cNvSpPr/>
          <p:nvPr/>
        </p:nvSpPr>
        <p:spPr>
          <a:xfrm>
            <a:off x="3675888" y="5029200"/>
            <a:ext cx="201168" cy="146304"/>
          </a:xfrm>
          <a:prstGeom prst="roundRect">
            <a:avLst>
              <a:gd name="adj" fmla="val 25000"/>
            </a:avLst>
          </a:prstGeom>
          <a:solidFill>
            <a:srgbClr val="2DBE8A"/>
          </a:solidFill>
          <a:ln/>
        </p:spPr>
        <p:txBody>
          <a:bodyPr/>
          <a:lstStyle/>
          <a:p>
            <a:endParaRPr lang="en-IN"/>
          </a:p>
        </p:txBody>
      </p:sp>
      <p:sp>
        <p:nvSpPr>
          <p:cNvPr id="56" name="Text 53"/>
          <p:cNvSpPr/>
          <p:nvPr/>
        </p:nvSpPr>
        <p:spPr>
          <a:xfrm>
            <a:off x="3950208" y="4974336"/>
            <a:ext cx="1280160" cy="25603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Strength</a:t>
            </a:r>
            <a:endParaRPr lang="en-US" sz="1000" dirty="0"/>
          </a:p>
        </p:txBody>
      </p:sp>
      <p:sp>
        <p:nvSpPr>
          <p:cNvPr id="57" name="Shape 54"/>
          <p:cNvSpPr/>
          <p:nvPr/>
        </p:nvSpPr>
        <p:spPr>
          <a:xfrm>
            <a:off x="548640" y="5358384"/>
            <a:ext cx="11091672" cy="969264"/>
          </a:xfrm>
          <a:prstGeom prst="roundRect">
            <a:avLst>
              <a:gd name="adj" fmla="val 7547"/>
            </a:avLst>
          </a:prstGeom>
          <a:solidFill>
            <a:srgbClr val="1A2330"/>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58" name="Shape 55"/>
          <p:cNvSpPr/>
          <p:nvPr/>
        </p:nvSpPr>
        <p:spPr>
          <a:xfrm>
            <a:off x="914400" y="5605272"/>
            <a:ext cx="146304" cy="146304"/>
          </a:xfrm>
          <a:prstGeom prst="ellipse">
            <a:avLst/>
          </a:prstGeom>
          <a:solidFill>
            <a:srgbClr val="E5616E"/>
          </a:solidFill>
          <a:ln/>
        </p:spPr>
        <p:txBody>
          <a:bodyPr/>
          <a:lstStyle/>
          <a:p>
            <a:endParaRPr lang="en-IN"/>
          </a:p>
        </p:txBody>
      </p:sp>
      <p:sp>
        <p:nvSpPr>
          <p:cNvPr id="59" name="Text 56"/>
          <p:cNvSpPr/>
          <p:nvPr/>
        </p:nvSpPr>
        <p:spPr>
          <a:xfrm>
            <a:off x="1152144" y="5541264"/>
            <a:ext cx="2377440" cy="274320"/>
          </a:xfrm>
          <a:prstGeom prst="rect">
            <a:avLst/>
          </a:prstGeom>
          <a:noFill/>
          <a:ln/>
        </p:spPr>
        <p:txBody>
          <a:bodyPr wrap="square" lIns="0" tIns="0" rIns="0" bIns="0" rtlCol="0" anchor="ctr"/>
          <a:lstStyle/>
          <a:p>
            <a:pPr marL="0" indent="0">
              <a:buNone/>
            </a:pPr>
            <a:r>
              <a:rPr lang="en-US" sz="1050" b="1" kern="0" spc="200" dirty="0">
                <a:solidFill>
                  <a:srgbClr val="E5616E"/>
                </a:solidFill>
                <a:latin typeface="Arial" pitchFamily="34" charset="0"/>
                <a:ea typeface="Arial" pitchFamily="34" charset="-122"/>
                <a:cs typeface="Arial" pitchFamily="34" charset="-120"/>
              </a:rPr>
              <a:t>BIGGEST RISK</a:t>
            </a:r>
            <a:endParaRPr lang="en-US" sz="1050" dirty="0"/>
          </a:p>
        </p:txBody>
      </p:sp>
      <p:sp>
        <p:nvSpPr>
          <p:cNvPr id="60" name="Text 57"/>
          <p:cNvSpPr/>
          <p:nvPr/>
        </p:nvSpPr>
        <p:spPr>
          <a:xfrm>
            <a:off x="914400" y="5815584"/>
            <a:ext cx="4905756" cy="457200"/>
          </a:xfrm>
          <a:prstGeom prst="rect">
            <a:avLst/>
          </a:prstGeom>
          <a:noFill/>
          <a:ln/>
        </p:spPr>
        <p:txBody>
          <a:bodyPr wrap="square" lIns="0" tIns="0" rIns="0" bIns="0" rtlCol="0" anchor="ctr"/>
          <a:lstStyle/>
          <a:p>
            <a:pPr marL="0" indent="0">
              <a:lnSpc>
                <a:spcPct val="105000"/>
              </a:lnSpc>
              <a:buNone/>
            </a:pPr>
            <a:r>
              <a:rPr lang="en-US" sz="1150" b="1" dirty="0">
                <a:solidFill>
                  <a:srgbClr val="F1F5F9"/>
                </a:solidFill>
                <a:latin typeface="Arial" pitchFamily="34" charset="0"/>
                <a:ea typeface="Arial" pitchFamily="34" charset="-122"/>
                <a:cs typeface="Arial" pitchFamily="34" charset="-120"/>
              </a:rPr>
              <a:t>Gadgets revenue has fallen 43.2% since 2023</a:t>
            </a:r>
            <a:r>
              <a:rPr lang="en-US" sz="1150" dirty="0">
                <a:solidFill>
                  <a:srgbClr val="94A3B8"/>
                </a:solidFill>
                <a:latin typeface="Arial" pitchFamily="34" charset="0"/>
                <a:ea typeface="Arial" pitchFamily="34" charset="-122"/>
                <a:cs typeface="Arial" pitchFamily="34" charset="-120"/>
              </a:rPr>
              <a:t> and Tech is down 17.0% — two of three categories are contracting.</a:t>
            </a:r>
            <a:endParaRPr lang="en-US" sz="1150" dirty="0"/>
          </a:p>
        </p:txBody>
      </p:sp>
      <p:sp>
        <p:nvSpPr>
          <p:cNvPr id="61" name="Shape 58"/>
          <p:cNvSpPr/>
          <p:nvPr/>
        </p:nvSpPr>
        <p:spPr>
          <a:xfrm>
            <a:off x="6094476" y="5559552"/>
            <a:ext cx="0" cy="566928"/>
          </a:xfrm>
          <a:prstGeom prst="line">
            <a:avLst/>
          </a:prstGeom>
          <a:noFill/>
          <a:ln w="12700">
            <a:solidFill>
              <a:srgbClr val="26323F"/>
            </a:solidFill>
            <a:prstDash val="solid"/>
          </a:ln>
        </p:spPr>
        <p:txBody>
          <a:bodyPr/>
          <a:lstStyle/>
          <a:p>
            <a:endParaRPr lang="en-IN"/>
          </a:p>
        </p:txBody>
      </p:sp>
      <p:sp>
        <p:nvSpPr>
          <p:cNvPr id="62" name="Shape 59"/>
          <p:cNvSpPr/>
          <p:nvPr/>
        </p:nvSpPr>
        <p:spPr>
          <a:xfrm>
            <a:off x="6460236" y="5605272"/>
            <a:ext cx="146304" cy="146304"/>
          </a:xfrm>
          <a:prstGeom prst="ellipse">
            <a:avLst/>
          </a:prstGeom>
          <a:solidFill>
            <a:srgbClr val="2DBE8A"/>
          </a:solidFill>
          <a:ln/>
        </p:spPr>
        <p:txBody>
          <a:bodyPr/>
          <a:lstStyle/>
          <a:p>
            <a:endParaRPr lang="en-IN"/>
          </a:p>
        </p:txBody>
      </p:sp>
      <p:sp>
        <p:nvSpPr>
          <p:cNvPr id="63" name="Text 60"/>
          <p:cNvSpPr/>
          <p:nvPr/>
        </p:nvSpPr>
        <p:spPr>
          <a:xfrm>
            <a:off x="6697980" y="5541264"/>
            <a:ext cx="2926080" cy="274320"/>
          </a:xfrm>
          <a:prstGeom prst="rect">
            <a:avLst/>
          </a:prstGeom>
          <a:noFill/>
          <a:ln/>
        </p:spPr>
        <p:txBody>
          <a:bodyPr wrap="square" lIns="0" tIns="0" rIns="0" bIns="0" rtlCol="0" anchor="ctr"/>
          <a:lstStyle/>
          <a:p>
            <a:pPr marL="0" indent="0">
              <a:buNone/>
            </a:pPr>
            <a:r>
              <a:rPr lang="en-US" sz="1050" b="1" kern="0" spc="200" dirty="0">
                <a:solidFill>
                  <a:srgbClr val="2DBE8A"/>
                </a:solidFill>
                <a:latin typeface="Arial" pitchFamily="34" charset="0"/>
                <a:ea typeface="Arial" pitchFamily="34" charset="-122"/>
                <a:cs typeface="Arial" pitchFamily="34" charset="-120"/>
              </a:rPr>
              <a:t>BIGGEST OPPORTUNITY</a:t>
            </a:r>
            <a:endParaRPr lang="en-US" sz="1050" dirty="0"/>
          </a:p>
        </p:txBody>
      </p:sp>
      <p:sp>
        <p:nvSpPr>
          <p:cNvPr id="64" name="Text 61"/>
          <p:cNvSpPr/>
          <p:nvPr/>
        </p:nvSpPr>
        <p:spPr>
          <a:xfrm>
            <a:off x="6460236" y="5815584"/>
            <a:ext cx="4814316" cy="457200"/>
          </a:xfrm>
          <a:prstGeom prst="rect">
            <a:avLst/>
          </a:prstGeom>
          <a:noFill/>
          <a:ln/>
        </p:spPr>
        <p:txBody>
          <a:bodyPr wrap="square" lIns="0" tIns="0" rIns="0" bIns="0" rtlCol="0" anchor="ctr"/>
          <a:lstStyle/>
          <a:p>
            <a:pPr marL="0" indent="0">
              <a:lnSpc>
                <a:spcPct val="105000"/>
              </a:lnSpc>
              <a:buNone/>
            </a:pPr>
            <a:r>
              <a:rPr lang="en-US" sz="1150" b="1" dirty="0">
                <a:solidFill>
                  <a:srgbClr val="F1F5F9"/>
                </a:solidFill>
                <a:latin typeface="Arial" pitchFamily="34" charset="0"/>
                <a:ea typeface="Arial" pitchFamily="34" charset="-122"/>
                <a:cs typeface="Arial" pitchFamily="34" charset="-120"/>
              </a:rPr>
              <a:t>Electronics anchors the book</a:t>
            </a:r>
            <a:r>
              <a:rPr lang="en-US" sz="1150" dirty="0">
                <a:solidFill>
                  <a:srgbClr val="94A3B8"/>
                </a:solidFill>
                <a:latin typeface="Arial" pitchFamily="34" charset="0"/>
                <a:ea typeface="Arial" pitchFamily="34" charset="-122"/>
                <a:cs typeface="Arial" pitchFamily="34" charset="-120"/>
              </a:rPr>
              <a:t> — stable revenue and the widest reach; cutting its category-high 34.8% return rate is the single largest upside.</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2"/>
                                        </p:tgtEl>
                                      </p:cBhvr>
                                    </p:animEffect>
                                    <p:set>
                                      <p:cBhvr>
                                        <p:cTn id="7" dur="1" fill="hold">
                                          <p:stCondLst>
                                            <p:cond delay="0"/>
                                          </p:stCondLst>
                                        </p:cTn>
                                        <p:tgtEl>
                                          <p:spTgt spid="2"/>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3"/>
                                        </p:tgtEl>
                                      </p:cBhvr>
                                    </p:animEffect>
                                    <p:set>
                                      <p:cBhvr>
                                        <p:cTn id="10" dur="1" fill="hold">
                                          <p:stCondLst>
                                            <p:cond delay="0"/>
                                          </p:stCondLst>
                                        </p:cTn>
                                        <p:tgtEl>
                                          <p:spTgt spid="3"/>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4"/>
                                        </p:tgtEl>
                                      </p:cBhvr>
                                    </p:animEffect>
                                    <p:set>
                                      <p:cBhvr>
                                        <p:cTn id="13" dur="1" fill="hold">
                                          <p:stCondLst>
                                            <p:cond delay="0"/>
                                          </p:stCondLst>
                                        </p:cTn>
                                        <p:tgtEl>
                                          <p:spTgt spid="4"/>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5"/>
                                        </p:tgtEl>
                                      </p:cBhvr>
                                    </p:animEffec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par>
                                <p:cTn id="50" presetID="10" presetClass="entr" presetSubtype="0" fill="hold" nodeType="withEffect">
                                  <p:stCondLst>
                                    <p:cond delay="0"/>
                                  </p:stCondLst>
                                  <p:childTnLst>
                                    <p:animEffect transition="in" filter="fade">
                                      <p:cBhvr>
                                        <p:cTn id="51" dur="400"/>
                                        <p:tgtEl>
                                          <p:spTgt spid="18"/>
                                        </p:tgtEl>
                                      </p:cBhvr>
                                    </p:animEffect>
                                    <p:set>
                                      <p:cBhvr>
                                        <p:cTn id="52" dur="1" fill="hold">
                                          <p:stCondLst>
                                            <p:cond delay="0"/>
                                          </p:stCondLst>
                                        </p:cTn>
                                        <p:tgtEl>
                                          <p:spTgt spid="18"/>
                                        </p:tgtEl>
                                        <p:attrNameLst>
                                          <p:attrName>style.visibility</p:attrName>
                                        </p:attrNameLst>
                                      </p:cBhvr>
                                      <p:to>
                                        <p:strVal val="visible"/>
                                      </p:to>
                                    </p:set>
                                  </p:childTnLst>
                                </p:cTn>
                              </p:par>
                              <p:par>
                                <p:cTn id="53" presetID="10" presetClass="entr" presetSubtype="0" fill="hold" nodeType="withEffect">
                                  <p:stCondLst>
                                    <p:cond delay="0"/>
                                  </p:stCondLst>
                                  <p:childTnLst>
                                    <p:animEffect transition="in" filter="fade">
                                      <p:cBhvr>
                                        <p:cTn id="54" dur="400"/>
                                        <p:tgtEl>
                                          <p:spTgt spid="19"/>
                                        </p:tgtEl>
                                      </p:cBhvr>
                                    </p:animEffect>
                                    <p:set>
                                      <p:cBhvr>
                                        <p:cTn id="55" dur="1" fill="hold">
                                          <p:stCondLst>
                                            <p:cond delay="0"/>
                                          </p:stCondLst>
                                        </p:cTn>
                                        <p:tgtEl>
                                          <p:spTgt spid="19"/>
                                        </p:tgtEl>
                                        <p:attrNameLst>
                                          <p:attrName>style.visibility</p:attrName>
                                        </p:attrNameLst>
                                      </p:cBhvr>
                                      <p:to>
                                        <p:strVal val="visible"/>
                                      </p:to>
                                    </p:set>
                                  </p:childTnLst>
                                </p:cTn>
                              </p:par>
                              <p:par>
                                <p:cTn id="56" presetID="10" presetClass="entr" presetSubtype="0" fill="hold" nodeType="withEffect">
                                  <p:stCondLst>
                                    <p:cond delay="0"/>
                                  </p:stCondLst>
                                  <p:childTnLst>
                                    <p:animEffect transition="in" filter="fade">
                                      <p:cBhvr>
                                        <p:cTn id="57" dur="400"/>
                                        <p:tgtEl>
                                          <p:spTgt spid="20"/>
                                        </p:tgtEl>
                                      </p:cBhvr>
                                    </p:animEffect>
                                    <p:set>
                                      <p:cBhvr>
                                        <p:cTn id="58" dur="1" fill="hold">
                                          <p:stCondLst>
                                            <p:cond delay="0"/>
                                          </p:stCondLst>
                                        </p:cTn>
                                        <p:tgtEl>
                                          <p:spTgt spid="20"/>
                                        </p:tgtEl>
                                        <p:attrNameLst>
                                          <p:attrName>style.visibility</p:attrName>
                                        </p:attrNameLst>
                                      </p:cBhvr>
                                      <p:to>
                                        <p:strVal val="visible"/>
                                      </p:to>
                                    </p:set>
                                  </p:childTnLst>
                                </p:cTn>
                              </p:par>
                              <p:par>
                                <p:cTn id="59" presetID="10" presetClass="entr" presetSubtype="0" fill="hold" nodeType="withEffect">
                                  <p:stCondLst>
                                    <p:cond delay="0"/>
                                  </p:stCondLst>
                                  <p:childTnLst>
                                    <p:animEffect transition="in" filter="fade">
                                      <p:cBhvr>
                                        <p:cTn id="60" dur="400"/>
                                        <p:tgtEl>
                                          <p:spTgt spid="21"/>
                                        </p:tgtEl>
                                      </p:cBhvr>
                                    </p:animEffect>
                                    <p:set>
                                      <p:cBhvr>
                                        <p:cTn id="61" dur="1" fill="hold">
                                          <p:stCondLst>
                                            <p:cond delay="0"/>
                                          </p:stCondLst>
                                        </p:cTn>
                                        <p:tgtEl>
                                          <p:spTgt spid="21"/>
                                        </p:tgtEl>
                                        <p:attrNameLst>
                                          <p:attrName>style.visibility</p:attrName>
                                        </p:attrNameLst>
                                      </p:cBhvr>
                                      <p:to>
                                        <p:strVal val="visible"/>
                                      </p:to>
                                    </p:set>
                                  </p:childTnLst>
                                </p:cTn>
                              </p:par>
                              <p:par>
                                <p:cTn id="62" presetID="10" presetClass="entr" presetSubtype="0" fill="hold" nodeType="withEffect">
                                  <p:stCondLst>
                                    <p:cond delay="0"/>
                                  </p:stCondLst>
                                  <p:childTnLst>
                                    <p:animEffect transition="in" filter="fade">
                                      <p:cBhvr>
                                        <p:cTn id="63" dur="400"/>
                                        <p:tgtEl>
                                          <p:spTgt spid="22"/>
                                        </p:tgtEl>
                                      </p:cBhvr>
                                    </p:animEffect>
                                    <p:set>
                                      <p:cBhvr>
                                        <p:cTn id="64" dur="1" fill="hold">
                                          <p:stCondLst>
                                            <p:cond delay="0"/>
                                          </p:stCondLst>
                                        </p:cTn>
                                        <p:tgtEl>
                                          <p:spTgt spid="22"/>
                                        </p:tgtEl>
                                        <p:attrNameLst>
                                          <p:attrName>style.visibility</p:attrName>
                                        </p:attrNameLst>
                                      </p:cBhvr>
                                      <p:to>
                                        <p:strVal val="visible"/>
                                      </p:to>
                                    </p:set>
                                  </p:childTnLst>
                                </p:cTn>
                              </p:par>
                              <p:par>
                                <p:cTn id="65" presetID="10" presetClass="entr" presetSubtype="0" fill="hold" nodeType="withEffect">
                                  <p:stCondLst>
                                    <p:cond delay="0"/>
                                  </p:stCondLst>
                                  <p:childTnLst>
                                    <p:animEffect transition="in" filter="fade">
                                      <p:cBhvr>
                                        <p:cTn id="66" dur="400"/>
                                        <p:tgtEl>
                                          <p:spTgt spid="23"/>
                                        </p:tgtEl>
                                      </p:cBhvr>
                                    </p:animEffect>
                                    <p:set>
                                      <p:cBhvr>
                                        <p:cTn id="67" dur="1" fill="hold">
                                          <p:stCondLst>
                                            <p:cond delay="0"/>
                                          </p:stCondLst>
                                        </p:cTn>
                                        <p:tgtEl>
                                          <p:spTgt spid="23"/>
                                        </p:tgtEl>
                                        <p:attrNameLst>
                                          <p:attrName>style.visibility</p:attrName>
                                        </p:attrNameLst>
                                      </p:cBhvr>
                                      <p:to>
                                        <p:strVal val="visible"/>
                                      </p:to>
                                    </p:set>
                                  </p:childTnLst>
                                </p:cTn>
                              </p:par>
                              <p:par>
                                <p:cTn id="68" presetID="10" presetClass="entr" presetSubtype="0" fill="hold" nodeType="withEffect">
                                  <p:stCondLst>
                                    <p:cond delay="0"/>
                                  </p:stCondLst>
                                  <p:childTnLst>
                                    <p:animEffect transition="in" filter="fade">
                                      <p:cBhvr>
                                        <p:cTn id="69" dur="400"/>
                                        <p:tgtEl>
                                          <p:spTgt spid="24"/>
                                        </p:tgtEl>
                                      </p:cBhvr>
                                    </p:animEffect>
                                    <p:set>
                                      <p:cBhvr>
                                        <p:cTn id="70" dur="1" fill="hold">
                                          <p:stCondLst>
                                            <p:cond delay="0"/>
                                          </p:stCondLst>
                                        </p:cTn>
                                        <p:tgtEl>
                                          <p:spTgt spid="24"/>
                                        </p:tgtEl>
                                        <p:attrNameLst>
                                          <p:attrName>style.visibility</p:attrName>
                                        </p:attrNameLst>
                                      </p:cBhvr>
                                      <p:to>
                                        <p:strVal val="visible"/>
                                      </p:to>
                                    </p:set>
                                  </p:childTnLst>
                                </p:cTn>
                              </p:par>
                              <p:par>
                                <p:cTn id="71" presetID="10" presetClass="entr" presetSubtype="0" fill="hold" nodeType="withEffect">
                                  <p:stCondLst>
                                    <p:cond delay="0"/>
                                  </p:stCondLst>
                                  <p:childTnLst>
                                    <p:animEffect transition="in" filter="fade">
                                      <p:cBhvr>
                                        <p:cTn id="72" dur="400"/>
                                        <p:tgtEl>
                                          <p:spTgt spid="25"/>
                                        </p:tgtEl>
                                      </p:cBhvr>
                                    </p:animEffect>
                                    <p:set>
                                      <p:cBhvr>
                                        <p:cTn id="73" dur="1" fill="hold">
                                          <p:stCondLst>
                                            <p:cond delay="0"/>
                                          </p:stCondLst>
                                        </p:cTn>
                                        <p:tgtEl>
                                          <p:spTgt spid="25"/>
                                        </p:tgtEl>
                                        <p:attrNameLst>
                                          <p:attrName>style.visibility</p:attrName>
                                        </p:attrNameLst>
                                      </p:cBhvr>
                                      <p:to>
                                        <p:strVal val="visible"/>
                                      </p:to>
                                    </p:set>
                                  </p:childTnLst>
                                </p:cTn>
                              </p:par>
                              <p:par>
                                <p:cTn id="74" presetID="10" presetClass="entr" presetSubtype="0" fill="hold" nodeType="withEffect">
                                  <p:stCondLst>
                                    <p:cond delay="0"/>
                                  </p:stCondLst>
                                  <p:childTnLst>
                                    <p:animEffect transition="in" filter="fade">
                                      <p:cBhvr>
                                        <p:cTn id="75" dur="400"/>
                                        <p:tgtEl>
                                          <p:spTgt spid="26"/>
                                        </p:tgtEl>
                                      </p:cBhvr>
                                    </p:animEffect>
                                    <p:set>
                                      <p:cBhvr>
                                        <p:cTn id="76" dur="1" fill="hold">
                                          <p:stCondLst>
                                            <p:cond delay="0"/>
                                          </p:stCondLst>
                                        </p:cTn>
                                        <p:tgtEl>
                                          <p:spTgt spid="26"/>
                                        </p:tgtEl>
                                        <p:attrNameLst>
                                          <p:attrName>style.visibility</p:attrName>
                                        </p:attrNameLst>
                                      </p:cBhvr>
                                      <p:to>
                                        <p:strVal val="visible"/>
                                      </p:to>
                                    </p:set>
                                  </p:childTnLst>
                                </p:cTn>
                              </p:par>
                              <p:par>
                                <p:cTn id="77" presetID="10" presetClass="entr" presetSubtype="0" fill="hold" nodeType="withEffect">
                                  <p:stCondLst>
                                    <p:cond delay="0"/>
                                  </p:stCondLst>
                                  <p:childTnLst>
                                    <p:animEffect transition="in" filter="fade">
                                      <p:cBhvr>
                                        <p:cTn id="78" dur="400"/>
                                        <p:tgtEl>
                                          <p:spTgt spid="27"/>
                                        </p:tgtEl>
                                      </p:cBhvr>
                                    </p:animEffect>
                                    <p:set>
                                      <p:cBhvr>
                                        <p:cTn id="79" dur="1" fill="hold">
                                          <p:stCondLst>
                                            <p:cond delay="0"/>
                                          </p:stCondLst>
                                        </p:cTn>
                                        <p:tgtEl>
                                          <p:spTgt spid="27"/>
                                        </p:tgtEl>
                                        <p:attrNameLst>
                                          <p:attrName>style.visibility</p:attrName>
                                        </p:attrNameLst>
                                      </p:cBhvr>
                                      <p:to>
                                        <p:strVal val="visible"/>
                                      </p:to>
                                    </p:set>
                                  </p:childTnLst>
                                </p:cTn>
                              </p:par>
                              <p:par>
                                <p:cTn id="80" presetID="10" presetClass="entr" presetSubtype="0" fill="hold" nodeType="withEffect">
                                  <p:stCondLst>
                                    <p:cond delay="0"/>
                                  </p:stCondLst>
                                  <p:childTnLst>
                                    <p:animEffect transition="in" filter="fade">
                                      <p:cBhvr>
                                        <p:cTn id="81" dur="400"/>
                                        <p:tgtEl>
                                          <p:spTgt spid="28"/>
                                        </p:tgtEl>
                                      </p:cBhvr>
                                    </p:animEffect>
                                    <p:set>
                                      <p:cBhvr>
                                        <p:cTn id="82" dur="1" fill="hold">
                                          <p:stCondLst>
                                            <p:cond delay="0"/>
                                          </p:stCondLst>
                                        </p:cTn>
                                        <p:tgtEl>
                                          <p:spTgt spid="28"/>
                                        </p:tgtEl>
                                        <p:attrNameLst>
                                          <p:attrName>style.visibility</p:attrName>
                                        </p:attrNameLst>
                                      </p:cBhvr>
                                      <p:to>
                                        <p:strVal val="visible"/>
                                      </p:to>
                                    </p:set>
                                  </p:childTnLst>
                                </p:cTn>
                              </p:par>
                              <p:par>
                                <p:cTn id="83" presetID="10" presetClass="entr" presetSubtype="0" fill="hold" nodeType="withEffect">
                                  <p:stCondLst>
                                    <p:cond delay="0"/>
                                  </p:stCondLst>
                                  <p:childTnLst>
                                    <p:animEffect transition="in" filter="fade">
                                      <p:cBhvr>
                                        <p:cTn id="84" dur="400"/>
                                        <p:tgtEl>
                                          <p:spTgt spid="29"/>
                                        </p:tgtEl>
                                      </p:cBhvr>
                                    </p:animEffect>
                                    <p:set>
                                      <p:cBhvr>
                                        <p:cTn id="85" dur="1" fill="hold">
                                          <p:stCondLst>
                                            <p:cond delay="0"/>
                                          </p:stCondLst>
                                        </p:cTn>
                                        <p:tgtEl>
                                          <p:spTgt spid="29"/>
                                        </p:tgtEl>
                                        <p:attrNameLst>
                                          <p:attrName>style.visibility</p:attrName>
                                        </p:attrNameLst>
                                      </p:cBhvr>
                                      <p:to>
                                        <p:strVal val="visible"/>
                                      </p:to>
                                    </p:set>
                                  </p:childTnLst>
                                </p:cTn>
                              </p:par>
                              <p:par>
                                <p:cTn id="86" presetID="10" presetClass="entr" presetSubtype="0" fill="hold" nodeType="withEffect">
                                  <p:stCondLst>
                                    <p:cond delay="0"/>
                                  </p:stCondLst>
                                  <p:childTnLst>
                                    <p:animEffect transition="in" filter="fade">
                                      <p:cBhvr>
                                        <p:cTn id="87" dur="400"/>
                                        <p:tgtEl>
                                          <p:spTgt spid="30"/>
                                        </p:tgtEl>
                                      </p:cBhvr>
                                    </p:animEffect>
                                    <p:set>
                                      <p:cBhvr>
                                        <p:cTn id="88" dur="1" fill="hold">
                                          <p:stCondLst>
                                            <p:cond delay="0"/>
                                          </p:stCondLst>
                                        </p:cTn>
                                        <p:tgtEl>
                                          <p:spTgt spid="30"/>
                                        </p:tgtEl>
                                        <p:attrNameLst>
                                          <p:attrName>style.visibility</p:attrName>
                                        </p:attrNameLst>
                                      </p:cBhvr>
                                      <p:to>
                                        <p:strVal val="visible"/>
                                      </p:to>
                                    </p:set>
                                  </p:childTnLst>
                                </p:cTn>
                              </p:par>
                              <p:par>
                                <p:cTn id="89" presetID="10" presetClass="entr" presetSubtype="0" fill="hold" nodeType="withEffect">
                                  <p:stCondLst>
                                    <p:cond delay="0"/>
                                  </p:stCondLst>
                                  <p:childTnLst>
                                    <p:animEffect transition="in" filter="fade">
                                      <p:cBhvr>
                                        <p:cTn id="90" dur="400"/>
                                        <p:tgtEl>
                                          <p:spTgt spid="31"/>
                                        </p:tgtEl>
                                      </p:cBhvr>
                                    </p:animEffect>
                                    <p:set>
                                      <p:cBhvr>
                                        <p:cTn id="91" dur="1" fill="hold">
                                          <p:stCondLst>
                                            <p:cond delay="0"/>
                                          </p:stCondLst>
                                        </p:cTn>
                                        <p:tgtEl>
                                          <p:spTgt spid="31"/>
                                        </p:tgtEl>
                                        <p:attrNameLst>
                                          <p:attrName>style.visibility</p:attrName>
                                        </p:attrNameLst>
                                      </p:cBhvr>
                                      <p:to>
                                        <p:strVal val="visible"/>
                                      </p:to>
                                    </p:set>
                                  </p:childTnLst>
                                </p:cTn>
                              </p:par>
                              <p:par>
                                <p:cTn id="92" presetID="10" presetClass="entr" presetSubtype="0" fill="hold" nodeType="withEffect">
                                  <p:stCondLst>
                                    <p:cond delay="0"/>
                                  </p:stCondLst>
                                  <p:childTnLst>
                                    <p:animEffect transition="in" filter="fade">
                                      <p:cBhvr>
                                        <p:cTn id="93" dur="400"/>
                                        <p:tgtEl>
                                          <p:spTgt spid="32"/>
                                        </p:tgtEl>
                                      </p:cBhvr>
                                    </p:animEffect>
                                    <p:set>
                                      <p:cBhvr>
                                        <p:cTn id="94" dur="1" fill="hold">
                                          <p:stCondLst>
                                            <p:cond delay="0"/>
                                          </p:stCondLst>
                                        </p:cTn>
                                        <p:tgtEl>
                                          <p:spTgt spid="32"/>
                                        </p:tgtEl>
                                        <p:attrNameLst>
                                          <p:attrName>style.visibility</p:attrName>
                                        </p:attrNameLst>
                                      </p:cBhvr>
                                      <p:to>
                                        <p:strVal val="visible"/>
                                      </p:to>
                                    </p:set>
                                  </p:childTnLst>
                                </p:cTn>
                              </p:par>
                              <p:par>
                                <p:cTn id="95" presetID="10" presetClass="entr" presetSubtype="0" fill="hold" nodeType="withEffect">
                                  <p:stCondLst>
                                    <p:cond delay="0"/>
                                  </p:stCondLst>
                                  <p:childTnLst>
                                    <p:animEffect transition="in" filter="fade">
                                      <p:cBhvr>
                                        <p:cTn id="96" dur="400"/>
                                        <p:tgtEl>
                                          <p:spTgt spid="33"/>
                                        </p:tgtEl>
                                      </p:cBhvr>
                                    </p:animEffect>
                                    <p:set>
                                      <p:cBhvr>
                                        <p:cTn id="97" dur="1" fill="hold">
                                          <p:stCondLst>
                                            <p:cond delay="0"/>
                                          </p:stCondLst>
                                        </p:cTn>
                                        <p:tgtEl>
                                          <p:spTgt spid="33"/>
                                        </p:tgtEl>
                                        <p:attrNameLst>
                                          <p:attrName>style.visibility</p:attrName>
                                        </p:attrNameLst>
                                      </p:cBhvr>
                                      <p:to>
                                        <p:strVal val="visible"/>
                                      </p:to>
                                    </p:set>
                                  </p:childTnLst>
                                </p:cTn>
                              </p:par>
                              <p:par>
                                <p:cTn id="98" presetID="10" presetClass="entr" presetSubtype="0" fill="hold" nodeType="withEffect">
                                  <p:stCondLst>
                                    <p:cond delay="0"/>
                                  </p:stCondLst>
                                  <p:childTnLst>
                                    <p:animEffect transition="in" filter="fade">
                                      <p:cBhvr>
                                        <p:cTn id="99" dur="400"/>
                                        <p:tgtEl>
                                          <p:spTgt spid="34"/>
                                        </p:tgtEl>
                                      </p:cBhvr>
                                    </p:animEffect>
                                    <p:set>
                                      <p:cBhvr>
                                        <p:cTn id="100" dur="1" fill="hold">
                                          <p:stCondLst>
                                            <p:cond delay="0"/>
                                          </p:stCondLst>
                                        </p:cTn>
                                        <p:tgtEl>
                                          <p:spTgt spid="34"/>
                                        </p:tgtEl>
                                        <p:attrNameLst>
                                          <p:attrName>style.visibility</p:attrName>
                                        </p:attrNameLst>
                                      </p:cBhvr>
                                      <p:to>
                                        <p:strVal val="visible"/>
                                      </p:to>
                                    </p:set>
                                  </p:childTnLst>
                                </p:cTn>
                              </p:par>
                              <p:par>
                                <p:cTn id="101" presetID="10" presetClass="entr" presetSubtype="0" fill="hold" nodeType="withEffect">
                                  <p:stCondLst>
                                    <p:cond delay="0"/>
                                  </p:stCondLst>
                                  <p:childTnLst>
                                    <p:animEffect transition="in" filter="fade">
                                      <p:cBhvr>
                                        <p:cTn id="102" dur="400"/>
                                        <p:tgtEl>
                                          <p:spTgt spid="35"/>
                                        </p:tgtEl>
                                      </p:cBhvr>
                                    </p:animEffect>
                                    <p:set>
                                      <p:cBhvr>
                                        <p:cTn id="103" dur="1" fill="hold">
                                          <p:stCondLst>
                                            <p:cond delay="0"/>
                                          </p:stCondLst>
                                        </p:cTn>
                                        <p:tgtEl>
                                          <p:spTgt spid="35"/>
                                        </p:tgtEl>
                                        <p:attrNameLst>
                                          <p:attrName>style.visibility</p:attrName>
                                        </p:attrNameLst>
                                      </p:cBhvr>
                                      <p:to>
                                        <p:strVal val="visible"/>
                                      </p:to>
                                    </p:set>
                                  </p:childTnLst>
                                </p:cTn>
                              </p:par>
                              <p:par>
                                <p:cTn id="104" presetID="10" presetClass="entr" presetSubtype="0" fill="hold" nodeType="withEffect">
                                  <p:stCondLst>
                                    <p:cond delay="0"/>
                                  </p:stCondLst>
                                  <p:childTnLst>
                                    <p:animEffect transition="in" filter="fade">
                                      <p:cBhvr>
                                        <p:cTn id="105" dur="400"/>
                                        <p:tgtEl>
                                          <p:spTgt spid="36"/>
                                        </p:tgtEl>
                                      </p:cBhvr>
                                    </p:animEffect>
                                    <p:set>
                                      <p:cBhvr>
                                        <p:cTn id="106" dur="1" fill="hold">
                                          <p:stCondLst>
                                            <p:cond delay="0"/>
                                          </p:stCondLst>
                                        </p:cTn>
                                        <p:tgtEl>
                                          <p:spTgt spid="36"/>
                                        </p:tgtEl>
                                        <p:attrNameLst>
                                          <p:attrName>style.visibility</p:attrName>
                                        </p:attrNameLst>
                                      </p:cBhvr>
                                      <p:to>
                                        <p:strVal val="visible"/>
                                      </p:to>
                                    </p:set>
                                  </p:childTnLst>
                                </p:cTn>
                              </p:par>
                              <p:par>
                                <p:cTn id="107" presetID="10" presetClass="entr" presetSubtype="0" fill="hold" nodeType="withEffect">
                                  <p:stCondLst>
                                    <p:cond delay="0"/>
                                  </p:stCondLst>
                                  <p:childTnLst>
                                    <p:animEffect transition="in" filter="fade">
                                      <p:cBhvr>
                                        <p:cTn id="108" dur="400"/>
                                        <p:tgtEl>
                                          <p:spTgt spid="37"/>
                                        </p:tgtEl>
                                      </p:cBhvr>
                                    </p:animEffect>
                                    <p:set>
                                      <p:cBhvr>
                                        <p:cTn id="109" dur="1" fill="hold">
                                          <p:stCondLst>
                                            <p:cond delay="0"/>
                                          </p:stCondLst>
                                        </p:cTn>
                                        <p:tgtEl>
                                          <p:spTgt spid="37"/>
                                        </p:tgtEl>
                                        <p:attrNameLst>
                                          <p:attrName>style.visibility</p:attrName>
                                        </p:attrNameLst>
                                      </p:cBhvr>
                                      <p:to>
                                        <p:strVal val="visible"/>
                                      </p:to>
                                    </p:set>
                                  </p:childTnLst>
                                </p:cTn>
                              </p:par>
                              <p:par>
                                <p:cTn id="110" presetID="10" presetClass="entr" presetSubtype="0" fill="hold" nodeType="withEffect">
                                  <p:stCondLst>
                                    <p:cond delay="0"/>
                                  </p:stCondLst>
                                  <p:childTnLst>
                                    <p:animEffect transition="in" filter="fade">
                                      <p:cBhvr>
                                        <p:cTn id="111" dur="400"/>
                                        <p:tgtEl>
                                          <p:spTgt spid="38"/>
                                        </p:tgtEl>
                                      </p:cBhvr>
                                    </p:animEffect>
                                    <p:set>
                                      <p:cBhvr>
                                        <p:cTn id="112" dur="1" fill="hold">
                                          <p:stCondLst>
                                            <p:cond delay="0"/>
                                          </p:stCondLst>
                                        </p:cTn>
                                        <p:tgtEl>
                                          <p:spTgt spid="38"/>
                                        </p:tgtEl>
                                        <p:attrNameLst>
                                          <p:attrName>style.visibility</p:attrName>
                                        </p:attrNameLst>
                                      </p:cBhvr>
                                      <p:to>
                                        <p:strVal val="visible"/>
                                      </p:to>
                                    </p:set>
                                  </p:childTnLst>
                                </p:cTn>
                              </p:par>
                              <p:par>
                                <p:cTn id="113" presetID="10" presetClass="entr" presetSubtype="0" fill="hold" nodeType="withEffect">
                                  <p:stCondLst>
                                    <p:cond delay="0"/>
                                  </p:stCondLst>
                                  <p:childTnLst>
                                    <p:animEffect transition="in" filter="fade">
                                      <p:cBhvr>
                                        <p:cTn id="114" dur="400"/>
                                        <p:tgtEl>
                                          <p:spTgt spid="39"/>
                                        </p:tgtEl>
                                      </p:cBhvr>
                                    </p:animEffect>
                                    <p:set>
                                      <p:cBhvr>
                                        <p:cTn id="115" dur="1" fill="hold">
                                          <p:stCondLst>
                                            <p:cond delay="0"/>
                                          </p:stCondLst>
                                        </p:cTn>
                                        <p:tgtEl>
                                          <p:spTgt spid="39"/>
                                        </p:tgtEl>
                                        <p:attrNameLst>
                                          <p:attrName>style.visibility</p:attrName>
                                        </p:attrNameLst>
                                      </p:cBhvr>
                                      <p:to>
                                        <p:strVal val="visible"/>
                                      </p:to>
                                    </p:set>
                                  </p:childTnLst>
                                </p:cTn>
                              </p:par>
                              <p:par>
                                <p:cTn id="116" presetID="10" presetClass="entr" presetSubtype="0" fill="hold" nodeType="withEffect">
                                  <p:stCondLst>
                                    <p:cond delay="0"/>
                                  </p:stCondLst>
                                  <p:childTnLst>
                                    <p:animEffect transition="in" filter="fade">
                                      <p:cBhvr>
                                        <p:cTn id="117" dur="400"/>
                                        <p:tgtEl>
                                          <p:spTgt spid="40"/>
                                        </p:tgtEl>
                                      </p:cBhvr>
                                    </p:animEffect>
                                    <p:set>
                                      <p:cBhvr>
                                        <p:cTn id="118" dur="1" fill="hold">
                                          <p:stCondLst>
                                            <p:cond delay="0"/>
                                          </p:stCondLst>
                                        </p:cTn>
                                        <p:tgtEl>
                                          <p:spTgt spid="40"/>
                                        </p:tgtEl>
                                        <p:attrNameLst>
                                          <p:attrName>style.visibility</p:attrName>
                                        </p:attrNameLst>
                                      </p:cBhvr>
                                      <p:to>
                                        <p:strVal val="visible"/>
                                      </p:to>
                                    </p:set>
                                  </p:childTnLst>
                                </p:cTn>
                              </p:par>
                              <p:par>
                                <p:cTn id="119" presetID="10" presetClass="entr" presetSubtype="0" fill="hold" nodeType="withEffect">
                                  <p:stCondLst>
                                    <p:cond delay="0"/>
                                  </p:stCondLst>
                                  <p:childTnLst>
                                    <p:animEffect transition="in" filter="fade">
                                      <p:cBhvr>
                                        <p:cTn id="120" dur="400"/>
                                        <p:tgtEl>
                                          <p:spTgt spid="41"/>
                                        </p:tgtEl>
                                      </p:cBhvr>
                                    </p:animEffect>
                                    <p:set>
                                      <p:cBhvr>
                                        <p:cTn id="121" dur="1" fill="hold">
                                          <p:stCondLst>
                                            <p:cond delay="0"/>
                                          </p:stCondLst>
                                        </p:cTn>
                                        <p:tgtEl>
                                          <p:spTgt spid="41"/>
                                        </p:tgtEl>
                                        <p:attrNameLst>
                                          <p:attrName>style.visibility</p:attrName>
                                        </p:attrNameLst>
                                      </p:cBhvr>
                                      <p:to>
                                        <p:strVal val="visible"/>
                                      </p:to>
                                    </p:set>
                                  </p:childTnLst>
                                </p:cTn>
                              </p:par>
                              <p:par>
                                <p:cTn id="122" presetID="10" presetClass="entr" presetSubtype="0" fill="hold" nodeType="withEffect">
                                  <p:stCondLst>
                                    <p:cond delay="0"/>
                                  </p:stCondLst>
                                  <p:childTnLst>
                                    <p:animEffect transition="in" filter="fade">
                                      <p:cBhvr>
                                        <p:cTn id="123" dur="400"/>
                                        <p:tgtEl>
                                          <p:spTgt spid="42"/>
                                        </p:tgtEl>
                                      </p:cBhvr>
                                    </p:animEffect>
                                    <p:set>
                                      <p:cBhvr>
                                        <p:cTn id="124" dur="1" fill="hold">
                                          <p:stCondLst>
                                            <p:cond delay="0"/>
                                          </p:stCondLst>
                                        </p:cTn>
                                        <p:tgtEl>
                                          <p:spTgt spid="42"/>
                                        </p:tgtEl>
                                        <p:attrNameLst>
                                          <p:attrName>style.visibility</p:attrName>
                                        </p:attrNameLst>
                                      </p:cBhvr>
                                      <p:to>
                                        <p:strVal val="visible"/>
                                      </p:to>
                                    </p:set>
                                  </p:childTnLst>
                                </p:cTn>
                              </p:par>
                              <p:par>
                                <p:cTn id="125" presetID="10" presetClass="entr" presetSubtype="0" fill="hold" nodeType="withEffect">
                                  <p:stCondLst>
                                    <p:cond delay="0"/>
                                  </p:stCondLst>
                                  <p:childTnLst>
                                    <p:animEffect transition="in" filter="fade">
                                      <p:cBhvr>
                                        <p:cTn id="126" dur="400"/>
                                        <p:tgtEl>
                                          <p:spTgt spid="43"/>
                                        </p:tgtEl>
                                      </p:cBhvr>
                                    </p:animEffect>
                                    <p:set>
                                      <p:cBhvr>
                                        <p:cTn id="127" dur="1" fill="hold">
                                          <p:stCondLst>
                                            <p:cond delay="0"/>
                                          </p:stCondLst>
                                        </p:cTn>
                                        <p:tgtEl>
                                          <p:spTgt spid="43"/>
                                        </p:tgtEl>
                                        <p:attrNameLst>
                                          <p:attrName>style.visibility</p:attrName>
                                        </p:attrNameLst>
                                      </p:cBhvr>
                                      <p:to>
                                        <p:strVal val="visible"/>
                                      </p:to>
                                    </p:set>
                                  </p:childTnLst>
                                </p:cTn>
                              </p:par>
                              <p:par>
                                <p:cTn id="128" presetID="10" presetClass="entr" presetSubtype="0" fill="hold" nodeType="withEffect">
                                  <p:stCondLst>
                                    <p:cond delay="0"/>
                                  </p:stCondLst>
                                  <p:childTnLst>
                                    <p:animEffect transition="in" filter="fade">
                                      <p:cBhvr>
                                        <p:cTn id="129" dur="400"/>
                                        <p:tgtEl>
                                          <p:spTgt spid="44"/>
                                        </p:tgtEl>
                                      </p:cBhvr>
                                    </p:animEffect>
                                    <p:set>
                                      <p:cBhvr>
                                        <p:cTn id="130" dur="1" fill="hold">
                                          <p:stCondLst>
                                            <p:cond delay="0"/>
                                          </p:stCondLst>
                                        </p:cTn>
                                        <p:tgtEl>
                                          <p:spTgt spid="44"/>
                                        </p:tgtEl>
                                        <p:attrNameLst>
                                          <p:attrName>style.visibility</p:attrName>
                                        </p:attrNameLst>
                                      </p:cBhvr>
                                      <p:to>
                                        <p:strVal val="visible"/>
                                      </p:to>
                                    </p:set>
                                  </p:childTnLst>
                                </p:cTn>
                              </p:par>
                              <p:par>
                                <p:cTn id="131" presetID="10" presetClass="entr" presetSubtype="0" fill="hold" nodeType="withEffect">
                                  <p:stCondLst>
                                    <p:cond delay="0"/>
                                  </p:stCondLst>
                                  <p:childTnLst>
                                    <p:animEffect transition="in" filter="fade">
                                      <p:cBhvr>
                                        <p:cTn id="132" dur="400"/>
                                        <p:tgtEl>
                                          <p:spTgt spid="45"/>
                                        </p:tgtEl>
                                      </p:cBhvr>
                                    </p:animEffect>
                                    <p:set>
                                      <p:cBhvr>
                                        <p:cTn id="133" dur="1" fill="hold">
                                          <p:stCondLst>
                                            <p:cond delay="0"/>
                                          </p:stCondLst>
                                        </p:cTn>
                                        <p:tgtEl>
                                          <p:spTgt spid="45"/>
                                        </p:tgtEl>
                                        <p:attrNameLst>
                                          <p:attrName>style.visibility</p:attrName>
                                        </p:attrNameLst>
                                      </p:cBhvr>
                                      <p:to>
                                        <p:strVal val="visible"/>
                                      </p:to>
                                    </p:set>
                                  </p:childTnLst>
                                </p:cTn>
                              </p:par>
                              <p:par>
                                <p:cTn id="134" presetID="10" presetClass="entr" presetSubtype="0" fill="hold" nodeType="withEffect">
                                  <p:stCondLst>
                                    <p:cond delay="0"/>
                                  </p:stCondLst>
                                  <p:childTnLst>
                                    <p:animEffect transition="in" filter="fade">
                                      <p:cBhvr>
                                        <p:cTn id="135" dur="400"/>
                                        <p:tgtEl>
                                          <p:spTgt spid="46"/>
                                        </p:tgtEl>
                                      </p:cBhvr>
                                    </p:animEffect>
                                    <p:set>
                                      <p:cBhvr>
                                        <p:cTn id="136" dur="1" fill="hold">
                                          <p:stCondLst>
                                            <p:cond delay="0"/>
                                          </p:stCondLst>
                                        </p:cTn>
                                        <p:tgtEl>
                                          <p:spTgt spid="46"/>
                                        </p:tgtEl>
                                        <p:attrNameLst>
                                          <p:attrName>style.visibility</p:attrName>
                                        </p:attrNameLst>
                                      </p:cBhvr>
                                      <p:to>
                                        <p:strVal val="visible"/>
                                      </p:to>
                                    </p:set>
                                  </p:childTnLst>
                                </p:cTn>
                              </p:par>
                              <p:par>
                                <p:cTn id="137" presetID="10" presetClass="entr" presetSubtype="0" fill="hold" nodeType="withEffect">
                                  <p:stCondLst>
                                    <p:cond delay="0"/>
                                  </p:stCondLst>
                                  <p:childTnLst>
                                    <p:animEffect transition="in" filter="fade">
                                      <p:cBhvr>
                                        <p:cTn id="138" dur="400"/>
                                        <p:tgtEl>
                                          <p:spTgt spid="47"/>
                                        </p:tgtEl>
                                      </p:cBhvr>
                                    </p:animEffect>
                                    <p:set>
                                      <p:cBhvr>
                                        <p:cTn id="139" dur="1" fill="hold">
                                          <p:stCondLst>
                                            <p:cond delay="0"/>
                                          </p:stCondLst>
                                        </p:cTn>
                                        <p:tgtEl>
                                          <p:spTgt spid="47"/>
                                        </p:tgtEl>
                                        <p:attrNameLst>
                                          <p:attrName>style.visibility</p:attrName>
                                        </p:attrNameLst>
                                      </p:cBhvr>
                                      <p:to>
                                        <p:strVal val="visible"/>
                                      </p:to>
                                    </p:set>
                                  </p:childTnLst>
                                </p:cTn>
                              </p:par>
                              <p:par>
                                <p:cTn id="140" presetID="10" presetClass="entr" presetSubtype="0" fill="hold" nodeType="withEffect">
                                  <p:stCondLst>
                                    <p:cond delay="0"/>
                                  </p:stCondLst>
                                  <p:childTnLst>
                                    <p:animEffect transition="in" filter="fade">
                                      <p:cBhvr>
                                        <p:cTn id="141" dur="400"/>
                                        <p:tgtEl>
                                          <p:spTgt spid="48"/>
                                        </p:tgtEl>
                                      </p:cBhvr>
                                    </p:animEffect>
                                    <p:set>
                                      <p:cBhvr>
                                        <p:cTn id="142" dur="1" fill="hold">
                                          <p:stCondLst>
                                            <p:cond delay="0"/>
                                          </p:stCondLst>
                                        </p:cTn>
                                        <p:tgtEl>
                                          <p:spTgt spid="48"/>
                                        </p:tgtEl>
                                        <p:attrNameLst>
                                          <p:attrName>style.visibility</p:attrName>
                                        </p:attrNameLst>
                                      </p:cBhvr>
                                      <p:to>
                                        <p:strVal val="visible"/>
                                      </p:to>
                                    </p:set>
                                  </p:childTnLst>
                                </p:cTn>
                              </p:par>
                              <p:par>
                                <p:cTn id="143" presetID="10" presetClass="entr" presetSubtype="0" fill="hold" nodeType="withEffect">
                                  <p:stCondLst>
                                    <p:cond delay="0"/>
                                  </p:stCondLst>
                                  <p:childTnLst>
                                    <p:animEffect transition="in" filter="fade">
                                      <p:cBhvr>
                                        <p:cTn id="144" dur="400"/>
                                        <p:tgtEl>
                                          <p:spTgt spid="49"/>
                                        </p:tgtEl>
                                      </p:cBhvr>
                                    </p:animEffect>
                                    <p:set>
                                      <p:cBhvr>
                                        <p:cTn id="145" dur="1" fill="hold">
                                          <p:stCondLst>
                                            <p:cond delay="0"/>
                                          </p:stCondLst>
                                        </p:cTn>
                                        <p:tgtEl>
                                          <p:spTgt spid="49"/>
                                        </p:tgtEl>
                                        <p:attrNameLst>
                                          <p:attrName>style.visibility</p:attrName>
                                        </p:attrNameLst>
                                      </p:cBhvr>
                                      <p:to>
                                        <p:strVal val="visible"/>
                                      </p:to>
                                    </p:set>
                                  </p:childTnLst>
                                </p:cTn>
                              </p:par>
                              <p:par>
                                <p:cTn id="146" presetID="10" presetClass="entr" presetSubtype="0" fill="hold" nodeType="withEffect">
                                  <p:stCondLst>
                                    <p:cond delay="0"/>
                                  </p:stCondLst>
                                  <p:childTnLst>
                                    <p:animEffect transition="in" filter="fade">
                                      <p:cBhvr>
                                        <p:cTn id="147" dur="400"/>
                                        <p:tgtEl>
                                          <p:spTgt spid="50"/>
                                        </p:tgtEl>
                                      </p:cBhvr>
                                    </p:animEffect>
                                    <p:set>
                                      <p:cBhvr>
                                        <p:cTn id="148" dur="1" fill="hold">
                                          <p:stCondLst>
                                            <p:cond delay="0"/>
                                          </p:stCondLst>
                                        </p:cTn>
                                        <p:tgtEl>
                                          <p:spTgt spid="50"/>
                                        </p:tgtEl>
                                        <p:attrNameLst>
                                          <p:attrName>style.visibility</p:attrName>
                                        </p:attrNameLst>
                                      </p:cBhvr>
                                      <p:to>
                                        <p:strVal val="visible"/>
                                      </p:to>
                                    </p:set>
                                  </p:childTnLst>
                                </p:cTn>
                              </p:par>
                              <p:par>
                                <p:cTn id="149" presetID="10" presetClass="entr" presetSubtype="0" fill="hold" nodeType="withEffect">
                                  <p:stCondLst>
                                    <p:cond delay="0"/>
                                  </p:stCondLst>
                                  <p:childTnLst>
                                    <p:animEffect transition="in" filter="fade">
                                      <p:cBhvr>
                                        <p:cTn id="150" dur="400"/>
                                        <p:tgtEl>
                                          <p:spTgt spid="51"/>
                                        </p:tgtEl>
                                      </p:cBhvr>
                                    </p:animEffect>
                                    <p:set>
                                      <p:cBhvr>
                                        <p:cTn id="151" dur="1" fill="hold">
                                          <p:stCondLst>
                                            <p:cond delay="0"/>
                                          </p:stCondLst>
                                        </p:cTn>
                                        <p:tgtEl>
                                          <p:spTgt spid="51"/>
                                        </p:tgtEl>
                                        <p:attrNameLst>
                                          <p:attrName>style.visibility</p:attrName>
                                        </p:attrNameLst>
                                      </p:cBhvr>
                                      <p:to>
                                        <p:strVal val="visible"/>
                                      </p:to>
                                    </p:set>
                                  </p:childTnLst>
                                </p:cTn>
                              </p:par>
                              <p:par>
                                <p:cTn id="152" presetID="10" presetClass="entr" presetSubtype="0" fill="hold" nodeType="withEffect">
                                  <p:stCondLst>
                                    <p:cond delay="0"/>
                                  </p:stCondLst>
                                  <p:childTnLst>
                                    <p:animEffect transition="in" filter="fade">
                                      <p:cBhvr>
                                        <p:cTn id="153" dur="400"/>
                                        <p:tgtEl>
                                          <p:spTgt spid="52"/>
                                        </p:tgtEl>
                                      </p:cBhvr>
                                    </p:animEffect>
                                    <p:set>
                                      <p:cBhvr>
                                        <p:cTn id="154" dur="1" fill="hold">
                                          <p:stCondLst>
                                            <p:cond delay="0"/>
                                          </p:stCondLst>
                                        </p:cTn>
                                        <p:tgtEl>
                                          <p:spTgt spid="52"/>
                                        </p:tgtEl>
                                        <p:attrNameLst>
                                          <p:attrName>style.visibility</p:attrName>
                                        </p:attrNameLst>
                                      </p:cBhvr>
                                      <p:to>
                                        <p:strVal val="visible"/>
                                      </p:to>
                                    </p:set>
                                  </p:childTnLst>
                                </p:cTn>
                              </p:par>
                              <p:par>
                                <p:cTn id="155" presetID="10" presetClass="entr" presetSubtype="0" fill="hold" nodeType="withEffect">
                                  <p:stCondLst>
                                    <p:cond delay="0"/>
                                  </p:stCondLst>
                                  <p:childTnLst>
                                    <p:animEffect transition="in" filter="fade">
                                      <p:cBhvr>
                                        <p:cTn id="156" dur="400"/>
                                        <p:tgtEl>
                                          <p:spTgt spid="53"/>
                                        </p:tgtEl>
                                      </p:cBhvr>
                                    </p:animEffect>
                                    <p:set>
                                      <p:cBhvr>
                                        <p:cTn id="157" dur="1" fill="hold">
                                          <p:stCondLst>
                                            <p:cond delay="0"/>
                                          </p:stCondLst>
                                        </p:cTn>
                                        <p:tgtEl>
                                          <p:spTgt spid="53"/>
                                        </p:tgtEl>
                                        <p:attrNameLst>
                                          <p:attrName>style.visibility</p:attrName>
                                        </p:attrNameLst>
                                      </p:cBhvr>
                                      <p:to>
                                        <p:strVal val="visible"/>
                                      </p:to>
                                    </p:set>
                                  </p:childTnLst>
                                </p:cTn>
                              </p:par>
                              <p:par>
                                <p:cTn id="158" presetID="10" presetClass="entr" presetSubtype="0" fill="hold" nodeType="withEffect">
                                  <p:stCondLst>
                                    <p:cond delay="0"/>
                                  </p:stCondLst>
                                  <p:childTnLst>
                                    <p:animEffect transition="in" filter="fade">
                                      <p:cBhvr>
                                        <p:cTn id="159" dur="400"/>
                                        <p:tgtEl>
                                          <p:spTgt spid="54"/>
                                        </p:tgtEl>
                                      </p:cBhvr>
                                    </p:animEffect>
                                    <p:set>
                                      <p:cBhvr>
                                        <p:cTn id="160" dur="1" fill="hold">
                                          <p:stCondLst>
                                            <p:cond delay="0"/>
                                          </p:stCondLst>
                                        </p:cTn>
                                        <p:tgtEl>
                                          <p:spTgt spid="54"/>
                                        </p:tgtEl>
                                        <p:attrNameLst>
                                          <p:attrName>style.visibility</p:attrName>
                                        </p:attrNameLst>
                                      </p:cBhvr>
                                      <p:to>
                                        <p:strVal val="visible"/>
                                      </p:to>
                                    </p:set>
                                  </p:childTnLst>
                                </p:cTn>
                              </p:par>
                              <p:par>
                                <p:cTn id="161" presetID="10" presetClass="entr" presetSubtype="0" fill="hold" nodeType="withEffect">
                                  <p:stCondLst>
                                    <p:cond delay="0"/>
                                  </p:stCondLst>
                                  <p:childTnLst>
                                    <p:animEffect transition="in" filter="fade">
                                      <p:cBhvr>
                                        <p:cTn id="162" dur="400"/>
                                        <p:tgtEl>
                                          <p:spTgt spid="55"/>
                                        </p:tgtEl>
                                      </p:cBhvr>
                                    </p:animEffect>
                                    <p:set>
                                      <p:cBhvr>
                                        <p:cTn id="163" dur="1" fill="hold">
                                          <p:stCondLst>
                                            <p:cond delay="0"/>
                                          </p:stCondLst>
                                        </p:cTn>
                                        <p:tgtEl>
                                          <p:spTgt spid="55"/>
                                        </p:tgtEl>
                                        <p:attrNameLst>
                                          <p:attrName>style.visibility</p:attrName>
                                        </p:attrNameLst>
                                      </p:cBhvr>
                                      <p:to>
                                        <p:strVal val="visible"/>
                                      </p:to>
                                    </p:set>
                                  </p:childTnLst>
                                </p:cTn>
                              </p:par>
                              <p:par>
                                <p:cTn id="164" presetID="10" presetClass="entr" presetSubtype="0" fill="hold" nodeType="withEffect">
                                  <p:stCondLst>
                                    <p:cond delay="0"/>
                                  </p:stCondLst>
                                  <p:childTnLst>
                                    <p:animEffect transition="in" filter="fade">
                                      <p:cBhvr>
                                        <p:cTn id="165" dur="400"/>
                                        <p:tgtEl>
                                          <p:spTgt spid="56"/>
                                        </p:tgtEl>
                                      </p:cBhvr>
                                    </p:animEffect>
                                    <p:set>
                                      <p:cBhvr>
                                        <p:cTn id="166" dur="1" fill="hold">
                                          <p:stCondLst>
                                            <p:cond delay="0"/>
                                          </p:stCondLst>
                                        </p:cTn>
                                        <p:tgtEl>
                                          <p:spTgt spid="56"/>
                                        </p:tgtEl>
                                        <p:attrNameLst>
                                          <p:attrName>style.visibility</p:attrName>
                                        </p:attrNameLst>
                                      </p:cBhvr>
                                      <p:to>
                                        <p:strVal val="visible"/>
                                      </p:to>
                                    </p:set>
                                  </p:childTnLst>
                                </p:cTn>
                              </p:par>
                              <p:par>
                                <p:cTn id="167" presetID="10" presetClass="entr" presetSubtype="0" fill="hold" nodeType="withEffect">
                                  <p:stCondLst>
                                    <p:cond delay="0"/>
                                  </p:stCondLst>
                                  <p:childTnLst>
                                    <p:animEffect transition="in" filter="fade">
                                      <p:cBhvr>
                                        <p:cTn id="168" dur="400"/>
                                        <p:tgtEl>
                                          <p:spTgt spid="57"/>
                                        </p:tgtEl>
                                      </p:cBhvr>
                                    </p:animEffect>
                                    <p:set>
                                      <p:cBhvr>
                                        <p:cTn id="169" dur="1" fill="hold">
                                          <p:stCondLst>
                                            <p:cond delay="0"/>
                                          </p:stCondLst>
                                        </p:cTn>
                                        <p:tgtEl>
                                          <p:spTgt spid="57"/>
                                        </p:tgtEl>
                                        <p:attrNameLst>
                                          <p:attrName>style.visibility</p:attrName>
                                        </p:attrNameLst>
                                      </p:cBhvr>
                                      <p:to>
                                        <p:strVal val="visible"/>
                                      </p:to>
                                    </p:set>
                                  </p:childTnLst>
                                </p:cTn>
                              </p:par>
                              <p:par>
                                <p:cTn id="170" presetID="10" presetClass="entr" presetSubtype="0" fill="hold" nodeType="withEffect">
                                  <p:stCondLst>
                                    <p:cond delay="0"/>
                                  </p:stCondLst>
                                  <p:childTnLst>
                                    <p:animEffect transition="in" filter="fade">
                                      <p:cBhvr>
                                        <p:cTn id="171" dur="400"/>
                                        <p:tgtEl>
                                          <p:spTgt spid="58"/>
                                        </p:tgtEl>
                                      </p:cBhvr>
                                    </p:animEffect>
                                    <p:set>
                                      <p:cBhvr>
                                        <p:cTn id="172" dur="1" fill="hold">
                                          <p:stCondLst>
                                            <p:cond delay="0"/>
                                          </p:stCondLst>
                                        </p:cTn>
                                        <p:tgtEl>
                                          <p:spTgt spid="58"/>
                                        </p:tgtEl>
                                        <p:attrNameLst>
                                          <p:attrName>style.visibility</p:attrName>
                                        </p:attrNameLst>
                                      </p:cBhvr>
                                      <p:to>
                                        <p:strVal val="visible"/>
                                      </p:to>
                                    </p:set>
                                  </p:childTnLst>
                                </p:cTn>
                              </p:par>
                              <p:par>
                                <p:cTn id="173" presetID="10" presetClass="entr" presetSubtype="0" fill="hold" nodeType="withEffect">
                                  <p:stCondLst>
                                    <p:cond delay="0"/>
                                  </p:stCondLst>
                                  <p:childTnLst>
                                    <p:animEffect transition="in" filter="fade">
                                      <p:cBhvr>
                                        <p:cTn id="174" dur="400"/>
                                        <p:tgtEl>
                                          <p:spTgt spid="59"/>
                                        </p:tgtEl>
                                      </p:cBhvr>
                                    </p:animEffect>
                                    <p:set>
                                      <p:cBhvr>
                                        <p:cTn id="175" dur="1" fill="hold">
                                          <p:stCondLst>
                                            <p:cond delay="0"/>
                                          </p:stCondLst>
                                        </p:cTn>
                                        <p:tgtEl>
                                          <p:spTgt spid="59"/>
                                        </p:tgtEl>
                                        <p:attrNameLst>
                                          <p:attrName>style.visibility</p:attrName>
                                        </p:attrNameLst>
                                      </p:cBhvr>
                                      <p:to>
                                        <p:strVal val="visible"/>
                                      </p:to>
                                    </p:set>
                                  </p:childTnLst>
                                </p:cTn>
                              </p:par>
                              <p:par>
                                <p:cTn id="176" presetID="10" presetClass="entr" presetSubtype="0" fill="hold" nodeType="withEffect">
                                  <p:stCondLst>
                                    <p:cond delay="0"/>
                                  </p:stCondLst>
                                  <p:childTnLst>
                                    <p:animEffect transition="in" filter="fade">
                                      <p:cBhvr>
                                        <p:cTn id="177" dur="400"/>
                                        <p:tgtEl>
                                          <p:spTgt spid="60"/>
                                        </p:tgtEl>
                                      </p:cBhvr>
                                    </p:animEffect>
                                    <p:set>
                                      <p:cBhvr>
                                        <p:cTn id="178" dur="1" fill="hold">
                                          <p:stCondLst>
                                            <p:cond delay="0"/>
                                          </p:stCondLst>
                                        </p:cTn>
                                        <p:tgtEl>
                                          <p:spTgt spid="60"/>
                                        </p:tgtEl>
                                        <p:attrNameLst>
                                          <p:attrName>style.visibility</p:attrName>
                                        </p:attrNameLst>
                                      </p:cBhvr>
                                      <p:to>
                                        <p:strVal val="visible"/>
                                      </p:to>
                                    </p:set>
                                  </p:childTnLst>
                                </p:cTn>
                              </p:par>
                              <p:par>
                                <p:cTn id="179" presetID="10" presetClass="entr" presetSubtype="0" fill="hold" nodeType="withEffect">
                                  <p:stCondLst>
                                    <p:cond delay="0"/>
                                  </p:stCondLst>
                                  <p:childTnLst>
                                    <p:animEffect transition="in" filter="fade">
                                      <p:cBhvr>
                                        <p:cTn id="180" dur="400"/>
                                        <p:tgtEl>
                                          <p:spTgt spid="61"/>
                                        </p:tgtEl>
                                      </p:cBhvr>
                                    </p:animEffect>
                                    <p:set>
                                      <p:cBhvr>
                                        <p:cTn id="181" dur="1" fill="hold">
                                          <p:stCondLst>
                                            <p:cond delay="0"/>
                                          </p:stCondLst>
                                        </p:cTn>
                                        <p:tgtEl>
                                          <p:spTgt spid="61"/>
                                        </p:tgtEl>
                                        <p:attrNameLst>
                                          <p:attrName>style.visibility</p:attrName>
                                        </p:attrNameLst>
                                      </p:cBhvr>
                                      <p:to>
                                        <p:strVal val="visible"/>
                                      </p:to>
                                    </p:set>
                                  </p:childTnLst>
                                </p:cTn>
                              </p:par>
                              <p:par>
                                <p:cTn id="182" presetID="10" presetClass="entr" presetSubtype="0" fill="hold" nodeType="withEffect">
                                  <p:stCondLst>
                                    <p:cond delay="0"/>
                                  </p:stCondLst>
                                  <p:childTnLst>
                                    <p:animEffect transition="in" filter="fade">
                                      <p:cBhvr>
                                        <p:cTn id="183" dur="400"/>
                                        <p:tgtEl>
                                          <p:spTgt spid="62"/>
                                        </p:tgtEl>
                                      </p:cBhvr>
                                    </p:animEffect>
                                    <p:set>
                                      <p:cBhvr>
                                        <p:cTn id="184" dur="1" fill="hold">
                                          <p:stCondLst>
                                            <p:cond delay="0"/>
                                          </p:stCondLst>
                                        </p:cTn>
                                        <p:tgtEl>
                                          <p:spTgt spid="62"/>
                                        </p:tgtEl>
                                        <p:attrNameLst>
                                          <p:attrName>style.visibility</p:attrName>
                                        </p:attrNameLst>
                                      </p:cBhvr>
                                      <p:to>
                                        <p:strVal val="visible"/>
                                      </p:to>
                                    </p:set>
                                  </p:childTnLst>
                                </p:cTn>
                              </p:par>
                              <p:par>
                                <p:cTn id="185" presetID="10" presetClass="entr" presetSubtype="0" fill="hold" nodeType="withEffect">
                                  <p:stCondLst>
                                    <p:cond delay="0"/>
                                  </p:stCondLst>
                                  <p:childTnLst>
                                    <p:animEffect transition="in" filter="fade">
                                      <p:cBhvr>
                                        <p:cTn id="186" dur="400"/>
                                        <p:tgtEl>
                                          <p:spTgt spid="63"/>
                                        </p:tgtEl>
                                      </p:cBhvr>
                                    </p:animEffect>
                                    <p:set>
                                      <p:cBhvr>
                                        <p:cTn id="187" dur="1" fill="hold">
                                          <p:stCondLst>
                                            <p:cond delay="0"/>
                                          </p:stCondLst>
                                        </p:cTn>
                                        <p:tgtEl>
                                          <p:spTgt spid="63"/>
                                        </p:tgtEl>
                                        <p:attrNameLst>
                                          <p:attrName>style.visibility</p:attrName>
                                        </p:attrNameLst>
                                      </p:cBhvr>
                                      <p:to>
                                        <p:strVal val="visible"/>
                                      </p:to>
                                    </p:set>
                                  </p:childTnLst>
                                </p:cTn>
                              </p:par>
                              <p:par>
                                <p:cTn id="188" presetID="10" presetClass="entr" presetSubtype="0" fill="hold" nodeType="withEffect">
                                  <p:stCondLst>
                                    <p:cond delay="0"/>
                                  </p:stCondLst>
                                  <p:childTnLst>
                                    <p:animEffect transition="in" filter="fade">
                                      <p:cBhvr>
                                        <p:cTn id="189" dur="400"/>
                                        <p:tgtEl>
                                          <p:spTgt spid="64"/>
                                        </p:tgtEl>
                                      </p:cBhvr>
                                    </p:animEffect>
                                    <p:set>
                                      <p:cBhvr>
                                        <p:cTn id="19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4"/>
        </a:solidFill>
        <a:effectLst/>
      </p:bgPr>
    </p:bg>
    <p:spTree>
      <p:nvGrpSpPr>
        <p:cNvPr id="1" name=""/>
        <p:cNvGrpSpPr/>
        <p:nvPr/>
      </p:nvGrpSpPr>
      <p:grpSpPr>
        <a:xfrm>
          <a:off x="0" y="0"/>
          <a:ext cx="0" cy="0"/>
          <a:chOff x="0" y="0"/>
          <a:chExt cx="0" cy="0"/>
        </a:xfrm>
      </p:grpSpPr>
      <p:sp>
        <p:nvSpPr>
          <p:cNvPr id="3" name="Text 0"/>
          <p:cNvSpPr/>
          <p:nvPr/>
        </p:nvSpPr>
        <p:spPr>
          <a:xfrm>
            <a:off x="777240" y="640080"/>
            <a:ext cx="91440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Arial" pitchFamily="34" charset="0"/>
                <a:ea typeface="Arial" pitchFamily="34" charset="-122"/>
                <a:cs typeface="Arial" pitchFamily="34" charset="-120"/>
              </a:rPr>
              <a:t>THE BOTTOM LINE</a:t>
            </a:r>
            <a:endParaRPr lang="en-US" sz="1300" dirty="0"/>
          </a:p>
        </p:txBody>
      </p:sp>
      <p:sp>
        <p:nvSpPr>
          <p:cNvPr id="4" name="Text 1"/>
          <p:cNvSpPr/>
          <p:nvPr/>
        </p:nvSpPr>
        <p:spPr>
          <a:xfrm>
            <a:off x="749808" y="1024128"/>
            <a:ext cx="10698480" cy="731520"/>
          </a:xfrm>
          <a:prstGeom prst="rect">
            <a:avLst/>
          </a:prstGeom>
          <a:noFill/>
          <a:ln/>
        </p:spPr>
        <p:txBody>
          <a:bodyPr wrap="square" lIns="0" tIns="0" rIns="0" bIns="0" rtlCol="0" anchor="ctr"/>
          <a:lstStyle/>
          <a:p>
            <a:pPr marL="0" indent="0">
              <a:buNone/>
            </a:pPr>
            <a:r>
              <a:rPr lang="en-US" sz="3400" b="1" dirty="0">
                <a:solidFill>
                  <a:srgbClr val="F1F5F9"/>
                </a:solidFill>
                <a:latin typeface="Arial" pitchFamily="34" charset="0"/>
                <a:ea typeface="Arial" pitchFamily="34" charset="-122"/>
                <a:cs typeface="Arial" pitchFamily="34" charset="-120"/>
              </a:rPr>
              <a:t>Key takeaways &amp; recommendations</a:t>
            </a:r>
            <a:endParaRPr lang="en-US" sz="3400" dirty="0"/>
          </a:p>
        </p:txBody>
      </p:sp>
      <p:sp>
        <p:nvSpPr>
          <p:cNvPr id="5" name="Shape 2"/>
          <p:cNvSpPr/>
          <p:nvPr/>
        </p:nvSpPr>
        <p:spPr>
          <a:xfrm>
            <a:off x="749808" y="2011680"/>
            <a:ext cx="2466594" cy="3383280"/>
          </a:xfrm>
          <a:prstGeom prst="roundRect">
            <a:avLst>
              <a:gd name="adj" fmla="val 296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6" name="Text 3"/>
          <p:cNvSpPr/>
          <p:nvPr/>
        </p:nvSpPr>
        <p:spPr>
          <a:xfrm>
            <a:off x="1024128" y="2286000"/>
            <a:ext cx="1917954" cy="640080"/>
          </a:xfrm>
          <a:prstGeom prst="rect">
            <a:avLst/>
          </a:prstGeom>
          <a:noFill/>
          <a:ln/>
        </p:spPr>
        <p:txBody>
          <a:bodyPr wrap="square" lIns="0" tIns="0" rIns="0" bIns="0" rtlCol="0" anchor="ctr"/>
          <a:lstStyle/>
          <a:p>
            <a:pPr marL="0" indent="0">
              <a:buNone/>
            </a:pPr>
            <a:r>
              <a:rPr lang="en-US" sz="3000" b="1" dirty="0">
                <a:solidFill>
                  <a:srgbClr val="FB7185"/>
                </a:solidFill>
                <a:latin typeface="Arial" pitchFamily="34" charset="0"/>
                <a:ea typeface="Arial" pitchFamily="34" charset="-122"/>
                <a:cs typeface="Arial" pitchFamily="34" charset="-120"/>
              </a:rPr>
              <a:t>01</a:t>
            </a:r>
            <a:endParaRPr lang="en-US" sz="3000" dirty="0"/>
          </a:p>
        </p:txBody>
      </p:sp>
      <p:sp>
        <p:nvSpPr>
          <p:cNvPr id="7" name="Text 4"/>
          <p:cNvSpPr/>
          <p:nvPr/>
        </p:nvSpPr>
        <p:spPr>
          <a:xfrm>
            <a:off x="1024128" y="2971800"/>
            <a:ext cx="1917954" cy="685800"/>
          </a:xfrm>
          <a:prstGeom prst="rect">
            <a:avLst/>
          </a:prstGeom>
          <a:noFill/>
          <a:ln/>
        </p:spPr>
        <p:txBody>
          <a:bodyPr wrap="square" lIns="0" tIns="0" rIns="0" bIns="0" rtlCol="0" anchor="t"/>
          <a:lstStyle/>
          <a:p>
            <a:pPr marL="0" indent="0">
              <a:lnSpc>
                <a:spcPct val="102000"/>
              </a:lnSpc>
              <a:buNone/>
            </a:pPr>
            <a:r>
              <a:rPr lang="en-US" sz="1550" b="1" dirty="0">
                <a:solidFill>
                  <a:srgbClr val="F1F5F9"/>
                </a:solidFill>
                <a:latin typeface="Arial" pitchFamily="34" charset="0"/>
                <a:ea typeface="Arial" pitchFamily="34" charset="-122"/>
                <a:cs typeface="Arial" pitchFamily="34" charset="-120"/>
              </a:rPr>
              <a:t>Reclaim lost revenue</a:t>
            </a:r>
            <a:endParaRPr lang="en-US" sz="1550" dirty="0"/>
          </a:p>
        </p:txBody>
      </p:sp>
      <p:sp>
        <p:nvSpPr>
          <p:cNvPr id="8" name="Text 5"/>
          <p:cNvSpPr/>
          <p:nvPr/>
        </p:nvSpPr>
        <p:spPr>
          <a:xfrm>
            <a:off x="1024128" y="3703320"/>
            <a:ext cx="1917954" cy="1463040"/>
          </a:xfrm>
          <a:prstGeom prst="rect">
            <a:avLst/>
          </a:prstGeom>
          <a:noFill/>
          <a:ln/>
        </p:spPr>
        <p:txBody>
          <a:bodyPr wrap="square" lIns="0" tIns="0" rIns="0" bIns="0" rtlCol="0" anchor="t"/>
          <a:lstStyle/>
          <a:p>
            <a:pPr marL="0" indent="0">
              <a:lnSpc>
                <a:spcPct val="118000"/>
              </a:lnSpc>
              <a:buNone/>
            </a:pPr>
            <a:r>
              <a:rPr lang="en-US" sz="1150" dirty="0">
                <a:solidFill>
                  <a:srgbClr val="94A3B8"/>
                </a:solidFill>
                <a:latin typeface="Arial" pitchFamily="34" charset="0"/>
                <a:ea typeface="Arial" pitchFamily="34" charset="-122"/>
                <a:cs typeface="Arial" pitchFamily="34" charset="-120"/>
              </a:rPr>
              <a:t>Attack the 32.9% return + cancel rate: tighten product QA, sharpen delivery promises and review COD orders, which skew toward cancellation.</a:t>
            </a:r>
            <a:endParaRPr lang="en-US" sz="1150" dirty="0"/>
          </a:p>
        </p:txBody>
      </p:sp>
      <p:sp>
        <p:nvSpPr>
          <p:cNvPr id="9" name="Shape 6"/>
          <p:cNvSpPr/>
          <p:nvPr/>
        </p:nvSpPr>
        <p:spPr>
          <a:xfrm>
            <a:off x="3490722" y="2011680"/>
            <a:ext cx="2466594" cy="3383280"/>
          </a:xfrm>
          <a:prstGeom prst="roundRect">
            <a:avLst>
              <a:gd name="adj" fmla="val 296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0" name="Text 7"/>
          <p:cNvSpPr/>
          <p:nvPr/>
        </p:nvSpPr>
        <p:spPr>
          <a:xfrm>
            <a:off x="3765042" y="2286000"/>
            <a:ext cx="1917954" cy="640080"/>
          </a:xfrm>
          <a:prstGeom prst="rect">
            <a:avLst/>
          </a:prstGeom>
          <a:noFill/>
          <a:ln/>
        </p:spPr>
        <p:txBody>
          <a:bodyPr wrap="square" lIns="0" tIns="0" rIns="0" bIns="0" rtlCol="0" anchor="ctr"/>
          <a:lstStyle/>
          <a:p>
            <a:pPr marL="0" indent="0">
              <a:buNone/>
            </a:pPr>
            <a:r>
              <a:rPr lang="en-US" sz="3000" b="1" dirty="0">
                <a:solidFill>
                  <a:srgbClr val="FB7185"/>
                </a:solidFill>
                <a:latin typeface="Arial" pitchFamily="34" charset="0"/>
                <a:ea typeface="Arial" pitchFamily="34" charset="-122"/>
                <a:cs typeface="Arial" pitchFamily="34" charset="-120"/>
              </a:rPr>
              <a:t>02</a:t>
            </a:r>
            <a:endParaRPr lang="en-US" sz="3000" dirty="0"/>
          </a:p>
        </p:txBody>
      </p:sp>
      <p:sp>
        <p:nvSpPr>
          <p:cNvPr id="11" name="Text 8"/>
          <p:cNvSpPr/>
          <p:nvPr/>
        </p:nvSpPr>
        <p:spPr>
          <a:xfrm>
            <a:off x="3765042" y="2971800"/>
            <a:ext cx="1917954" cy="685800"/>
          </a:xfrm>
          <a:prstGeom prst="rect">
            <a:avLst/>
          </a:prstGeom>
          <a:noFill/>
          <a:ln/>
        </p:spPr>
        <p:txBody>
          <a:bodyPr wrap="square" lIns="0" tIns="0" rIns="0" bIns="0" rtlCol="0" anchor="t"/>
          <a:lstStyle/>
          <a:p>
            <a:pPr marL="0" indent="0">
              <a:lnSpc>
                <a:spcPct val="102000"/>
              </a:lnSpc>
              <a:buNone/>
            </a:pPr>
            <a:r>
              <a:rPr lang="en-US" sz="1550" b="1" dirty="0">
                <a:solidFill>
                  <a:srgbClr val="F1F5F9"/>
                </a:solidFill>
                <a:latin typeface="Arial" pitchFamily="34" charset="0"/>
                <a:ea typeface="Arial" pitchFamily="34" charset="-122"/>
                <a:cs typeface="Arial" pitchFamily="34" charset="-120"/>
              </a:rPr>
              <a:t>Reverse the downward trend</a:t>
            </a:r>
            <a:endParaRPr lang="en-US" sz="1550" dirty="0"/>
          </a:p>
        </p:txBody>
      </p:sp>
      <p:sp>
        <p:nvSpPr>
          <p:cNvPr id="12" name="Text 9"/>
          <p:cNvSpPr/>
          <p:nvPr/>
        </p:nvSpPr>
        <p:spPr>
          <a:xfrm>
            <a:off x="3765042" y="3703320"/>
            <a:ext cx="1917954" cy="1463040"/>
          </a:xfrm>
          <a:prstGeom prst="rect">
            <a:avLst/>
          </a:prstGeom>
          <a:noFill/>
          <a:ln/>
        </p:spPr>
        <p:txBody>
          <a:bodyPr wrap="square" lIns="0" tIns="0" rIns="0" bIns="0" rtlCol="0" anchor="t"/>
          <a:lstStyle/>
          <a:p>
            <a:pPr marL="0" indent="0">
              <a:lnSpc>
                <a:spcPct val="118000"/>
              </a:lnSpc>
              <a:buNone/>
            </a:pPr>
            <a:r>
              <a:rPr lang="en-US" sz="1150" dirty="0">
                <a:solidFill>
                  <a:srgbClr val="94A3B8"/>
                </a:solidFill>
                <a:latin typeface="Arial" pitchFamily="34" charset="0"/>
                <a:ea typeface="Arial" pitchFamily="34" charset="-122"/>
                <a:cs typeface="Arial" pitchFamily="34" charset="-120"/>
              </a:rPr>
              <a:t>Revenue fell every year from ₹2,00,73,152 to ₹1,77,54,478, with Q4'25 the weakest quarter. Fund demand generation ahead of the next cycle.</a:t>
            </a:r>
            <a:endParaRPr lang="en-US" sz="1150" dirty="0"/>
          </a:p>
        </p:txBody>
      </p:sp>
      <p:sp>
        <p:nvSpPr>
          <p:cNvPr id="13" name="Shape 10"/>
          <p:cNvSpPr/>
          <p:nvPr/>
        </p:nvSpPr>
        <p:spPr>
          <a:xfrm>
            <a:off x="6231636" y="2011680"/>
            <a:ext cx="2466594" cy="3383280"/>
          </a:xfrm>
          <a:prstGeom prst="roundRect">
            <a:avLst>
              <a:gd name="adj" fmla="val 296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4" name="Text 11"/>
          <p:cNvSpPr/>
          <p:nvPr/>
        </p:nvSpPr>
        <p:spPr>
          <a:xfrm>
            <a:off x="6505956" y="2286000"/>
            <a:ext cx="1917954" cy="640080"/>
          </a:xfrm>
          <a:prstGeom prst="rect">
            <a:avLst/>
          </a:prstGeom>
          <a:noFill/>
          <a:ln/>
        </p:spPr>
        <p:txBody>
          <a:bodyPr wrap="square" lIns="0" tIns="0" rIns="0" bIns="0" rtlCol="0" anchor="ctr"/>
          <a:lstStyle/>
          <a:p>
            <a:pPr marL="0" indent="0">
              <a:buNone/>
            </a:pPr>
            <a:r>
              <a:rPr lang="en-US" sz="3000" b="1" dirty="0">
                <a:solidFill>
                  <a:srgbClr val="22D3EE"/>
                </a:solidFill>
                <a:latin typeface="Arial" pitchFamily="34" charset="0"/>
                <a:ea typeface="Arial" pitchFamily="34" charset="-122"/>
                <a:cs typeface="Arial" pitchFamily="34" charset="-120"/>
              </a:rPr>
              <a:t>03</a:t>
            </a:r>
            <a:endParaRPr lang="en-US" sz="3000" dirty="0"/>
          </a:p>
        </p:txBody>
      </p:sp>
      <p:sp>
        <p:nvSpPr>
          <p:cNvPr id="15" name="Text 12"/>
          <p:cNvSpPr/>
          <p:nvPr/>
        </p:nvSpPr>
        <p:spPr>
          <a:xfrm>
            <a:off x="6505956" y="2971800"/>
            <a:ext cx="1917954" cy="685800"/>
          </a:xfrm>
          <a:prstGeom prst="rect">
            <a:avLst/>
          </a:prstGeom>
          <a:noFill/>
          <a:ln/>
        </p:spPr>
        <p:txBody>
          <a:bodyPr wrap="square" lIns="0" tIns="0" rIns="0" bIns="0" rtlCol="0" anchor="t"/>
          <a:lstStyle/>
          <a:p>
            <a:pPr marL="0" indent="0">
              <a:lnSpc>
                <a:spcPct val="102000"/>
              </a:lnSpc>
              <a:buNone/>
            </a:pPr>
            <a:r>
              <a:rPr lang="en-US" sz="1550" b="1" dirty="0">
                <a:solidFill>
                  <a:srgbClr val="F1F5F9"/>
                </a:solidFill>
                <a:latin typeface="Arial" pitchFamily="34" charset="0"/>
                <a:ea typeface="Arial" pitchFamily="34" charset="-122"/>
                <a:cs typeface="Arial" pitchFamily="34" charset="-120"/>
              </a:rPr>
              <a:t>Lean into strengths</a:t>
            </a:r>
            <a:endParaRPr lang="en-US" sz="1550" dirty="0"/>
          </a:p>
        </p:txBody>
      </p:sp>
      <p:sp>
        <p:nvSpPr>
          <p:cNvPr id="16" name="Text 13"/>
          <p:cNvSpPr/>
          <p:nvPr/>
        </p:nvSpPr>
        <p:spPr>
          <a:xfrm>
            <a:off x="6505956" y="3703320"/>
            <a:ext cx="1917954" cy="1463040"/>
          </a:xfrm>
          <a:prstGeom prst="rect">
            <a:avLst/>
          </a:prstGeom>
          <a:noFill/>
          <a:ln/>
        </p:spPr>
        <p:txBody>
          <a:bodyPr wrap="square" lIns="0" tIns="0" rIns="0" bIns="0" rtlCol="0" anchor="t"/>
          <a:lstStyle/>
          <a:p>
            <a:pPr marL="0" indent="0">
              <a:lnSpc>
                <a:spcPct val="118000"/>
              </a:lnSpc>
              <a:buNone/>
            </a:pPr>
            <a:r>
              <a:rPr lang="en-US" sz="1150" dirty="0">
                <a:solidFill>
                  <a:srgbClr val="94A3B8"/>
                </a:solidFill>
                <a:latin typeface="Arial" pitchFamily="34" charset="0"/>
                <a:ea typeface="Arial" pitchFamily="34" charset="-122"/>
                <a:cs typeface="Arial" pitchFamily="34" charset="-120"/>
              </a:rPr>
              <a:t>Electronics (56.1%) and the Smart Watch / Headphones / Monitor trio anchor sales — protect their availability and margin.</a:t>
            </a:r>
            <a:endParaRPr lang="en-US" sz="1150" dirty="0"/>
          </a:p>
        </p:txBody>
      </p:sp>
      <p:sp>
        <p:nvSpPr>
          <p:cNvPr id="17" name="Shape 14"/>
          <p:cNvSpPr/>
          <p:nvPr/>
        </p:nvSpPr>
        <p:spPr>
          <a:xfrm>
            <a:off x="8972550" y="2011680"/>
            <a:ext cx="2466594" cy="3383280"/>
          </a:xfrm>
          <a:prstGeom prst="roundRect">
            <a:avLst>
              <a:gd name="adj" fmla="val 2966"/>
            </a:avLst>
          </a:prstGeom>
          <a:solidFill>
            <a:srgbClr val="151C25"/>
          </a:solidFill>
          <a:ln w="12700">
            <a:solidFill>
              <a:srgbClr val="26323F"/>
            </a:solidFill>
            <a:prstDash val="solid"/>
          </a:ln>
          <a:effectLst>
            <a:outerShdw blurRad="127000" dist="38100" dir="5400000" algn="bl" rotWithShape="0">
              <a:srgbClr val="000000">
                <a:alpha val="35000"/>
              </a:srgbClr>
            </a:outerShdw>
          </a:effectLst>
        </p:spPr>
        <p:txBody>
          <a:bodyPr/>
          <a:lstStyle/>
          <a:p>
            <a:endParaRPr lang="en-IN"/>
          </a:p>
        </p:txBody>
      </p:sp>
      <p:sp>
        <p:nvSpPr>
          <p:cNvPr id="18" name="Text 15"/>
          <p:cNvSpPr/>
          <p:nvPr/>
        </p:nvSpPr>
        <p:spPr>
          <a:xfrm>
            <a:off x="9246870" y="2286000"/>
            <a:ext cx="1917954" cy="640080"/>
          </a:xfrm>
          <a:prstGeom prst="rect">
            <a:avLst/>
          </a:prstGeom>
          <a:noFill/>
          <a:ln/>
        </p:spPr>
        <p:txBody>
          <a:bodyPr wrap="square" lIns="0" tIns="0" rIns="0" bIns="0" rtlCol="0" anchor="ctr"/>
          <a:lstStyle/>
          <a:p>
            <a:pPr marL="0" indent="0">
              <a:buNone/>
            </a:pPr>
            <a:r>
              <a:rPr lang="en-US" sz="3000" b="1" dirty="0">
                <a:solidFill>
                  <a:srgbClr val="22D3EE"/>
                </a:solidFill>
                <a:latin typeface="Arial" pitchFamily="34" charset="0"/>
                <a:ea typeface="Arial" pitchFamily="34" charset="-122"/>
                <a:cs typeface="Arial" pitchFamily="34" charset="-120"/>
              </a:rPr>
              <a:t>04</a:t>
            </a:r>
            <a:endParaRPr lang="en-US" sz="3000" dirty="0"/>
          </a:p>
        </p:txBody>
      </p:sp>
      <p:sp>
        <p:nvSpPr>
          <p:cNvPr id="19" name="Text 16"/>
          <p:cNvSpPr/>
          <p:nvPr/>
        </p:nvSpPr>
        <p:spPr>
          <a:xfrm>
            <a:off x="9246870" y="2971800"/>
            <a:ext cx="1917954" cy="685800"/>
          </a:xfrm>
          <a:prstGeom prst="rect">
            <a:avLst/>
          </a:prstGeom>
          <a:noFill/>
          <a:ln/>
        </p:spPr>
        <p:txBody>
          <a:bodyPr wrap="square" lIns="0" tIns="0" rIns="0" bIns="0" rtlCol="0" anchor="t"/>
          <a:lstStyle/>
          <a:p>
            <a:pPr marL="0" indent="0">
              <a:lnSpc>
                <a:spcPct val="102000"/>
              </a:lnSpc>
              <a:buNone/>
            </a:pPr>
            <a:r>
              <a:rPr lang="en-US" sz="1550" b="1" dirty="0">
                <a:solidFill>
                  <a:srgbClr val="F1F5F9"/>
                </a:solidFill>
                <a:latin typeface="Arial" pitchFamily="34" charset="0"/>
                <a:ea typeface="Arial" pitchFamily="34" charset="-122"/>
                <a:cs typeface="Arial" pitchFamily="34" charset="-120"/>
              </a:rPr>
              <a:t>Grow beyond Delhi</a:t>
            </a:r>
            <a:endParaRPr lang="en-US" sz="1550" dirty="0"/>
          </a:p>
        </p:txBody>
      </p:sp>
      <p:sp>
        <p:nvSpPr>
          <p:cNvPr id="20" name="Text 17"/>
          <p:cNvSpPr/>
          <p:nvPr/>
        </p:nvSpPr>
        <p:spPr>
          <a:xfrm>
            <a:off x="9246870" y="3703320"/>
            <a:ext cx="1917954" cy="1463040"/>
          </a:xfrm>
          <a:prstGeom prst="rect">
            <a:avLst/>
          </a:prstGeom>
          <a:noFill/>
          <a:ln/>
        </p:spPr>
        <p:txBody>
          <a:bodyPr wrap="square" lIns="0" tIns="0" rIns="0" bIns="0" rtlCol="0" anchor="t"/>
          <a:lstStyle/>
          <a:p>
            <a:pPr marL="0" indent="0">
              <a:lnSpc>
                <a:spcPct val="118000"/>
              </a:lnSpc>
              <a:buNone/>
            </a:pPr>
            <a:r>
              <a:rPr lang="en-US" sz="1150" dirty="0">
                <a:solidFill>
                  <a:srgbClr val="94A3B8"/>
                </a:solidFill>
                <a:latin typeface="Arial" pitchFamily="34" charset="0"/>
                <a:ea typeface="Arial" pitchFamily="34" charset="-122"/>
                <a:cs typeface="Arial" pitchFamily="34" charset="-120"/>
              </a:rPr>
              <a:t>Delhi and the top-3 metros drive ~49% of revenue. Invest in tier-2 cities and keep the balanced payment mix to widen the base.</a:t>
            </a:r>
            <a:endParaRPr lang="en-US" sz="1150" dirty="0"/>
          </a:p>
        </p:txBody>
      </p:sp>
      <p:sp>
        <p:nvSpPr>
          <p:cNvPr id="21" name="Shape 18"/>
          <p:cNvSpPr/>
          <p:nvPr/>
        </p:nvSpPr>
        <p:spPr>
          <a:xfrm>
            <a:off x="777240" y="5852160"/>
            <a:ext cx="10652760" cy="0"/>
          </a:xfrm>
          <a:prstGeom prst="line">
            <a:avLst/>
          </a:prstGeom>
          <a:noFill/>
          <a:ln w="12700">
            <a:solidFill>
              <a:srgbClr val="26323F"/>
            </a:solidFill>
            <a:prstDash val="solid"/>
          </a:ln>
        </p:spPr>
        <p:txBody>
          <a:bodyPr/>
          <a:lstStyle/>
          <a:p>
            <a:endParaRPr lang="en-IN"/>
          </a:p>
        </p:txBody>
      </p:sp>
      <p:sp>
        <p:nvSpPr>
          <p:cNvPr id="22" name="Text 19"/>
          <p:cNvSpPr/>
          <p:nvPr/>
        </p:nvSpPr>
        <p:spPr>
          <a:xfrm>
            <a:off x="777240" y="5989320"/>
            <a:ext cx="8961120" cy="457200"/>
          </a:xfrm>
          <a:prstGeom prst="rect">
            <a:avLst/>
          </a:prstGeom>
          <a:noFill/>
          <a:ln/>
        </p:spPr>
        <p:txBody>
          <a:bodyPr wrap="square" lIns="0" tIns="0" rIns="0" bIns="0" rtlCol="0" anchor="ctr"/>
          <a:lstStyle/>
          <a:p>
            <a:pPr marL="0" indent="0">
              <a:buNone/>
            </a:pPr>
            <a:r>
              <a:rPr lang="en-US" sz="1250" i="1" dirty="0">
                <a:solidFill>
                  <a:srgbClr val="94A3B8"/>
                </a:solidFill>
                <a:latin typeface="Arial" pitchFamily="34" charset="0"/>
                <a:ea typeface="Arial" pitchFamily="34" charset="-122"/>
                <a:cs typeface="Arial" pitchFamily="34" charset="-120"/>
              </a:rPr>
              <a:t>Balanced agenda: fix fulfillment and reignite demand, while doubling down on proven products and metros.</a:t>
            </a:r>
            <a:endParaRPr lang="en-US" sz="1250" dirty="0"/>
          </a:p>
        </p:txBody>
      </p:sp>
      <p:sp>
        <p:nvSpPr>
          <p:cNvPr id="23" name="Text 20"/>
          <p:cNvSpPr/>
          <p:nvPr/>
        </p:nvSpPr>
        <p:spPr>
          <a:xfrm>
            <a:off x="9509760" y="5989320"/>
            <a:ext cx="1920240" cy="457200"/>
          </a:xfrm>
          <a:prstGeom prst="rect">
            <a:avLst/>
          </a:prstGeom>
          <a:noFill/>
          <a:ln/>
        </p:spPr>
        <p:txBody>
          <a:bodyPr wrap="square" lIns="0" tIns="0" rIns="0" bIns="0" rtlCol="0" anchor="ctr"/>
          <a:lstStyle/>
          <a:p>
            <a:pPr marL="0" indent="0" algn="r">
              <a:buNone/>
            </a:pPr>
            <a:r>
              <a:rPr lang="en-US" sz="950" dirty="0">
                <a:solidFill>
                  <a:srgbClr val="5A6B7B"/>
                </a:solidFill>
                <a:latin typeface="Arial" pitchFamily="34" charset="0"/>
                <a:ea typeface="Arial" pitchFamily="34" charset="-122"/>
                <a:cs typeface="Arial" pitchFamily="34" charset="-120"/>
              </a:rPr>
              <a:t>Source: Ecommerce_Sales_Data.xlsx</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0"/>
                                  </p:stCondLst>
                                  <p:childTnLst>
                                    <p:animEffect transition="in" filter="fade">
                                      <p:cBhvr>
                                        <p:cTn id="6" dur="400"/>
                                        <p:tgtEl>
                                          <p:spTgt spid="3"/>
                                        </p:tgtEl>
                                      </p:cBhvr>
                                    </p:animEffect>
                                    <p:set>
                                      <p:cBhvr>
                                        <p:cTn id="7" dur="1" fill="hold">
                                          <p:stCondLst>
                                            <p:cond delay="0"/>
                                          </p:stCondLst>
                                        </p:cTn>
                                        <p:tgtEl>
                                          <p:spTgt spid="3"/>
                                        </p:tgtEl>
                                        <p:attrNameLst>
                                          <p:attrName>style.visibility</p:attrName>
                                        </p:attrNameLst>
                                      </p:cBhvr>
                                      <p:to>
                                        <p:strVal val="visible"/>
                                      </p:to>
                                    </p:set>
                                  </p:childTnLst>
                                </p:cTn>
                              </p:par>
                              <p:par>
                                <p:cTn id="8" presetID="10" presetClass="entr" presetSubtype="0" fill="hold" nodeType="withEffect">
                                  <p:stCondLst>
                                    <p:cond delay="0"/>
                                  </p:stCondLst>
                                  <p:childTnLst>
                                    <p:animEffect transition="in" filter="fade">
                                      <p:cBhvr>
                                        <p:cTn id="9" dur="400"/>
                                        <p:tgtEl>
                                          <p:spTgt spid="4"/>
                                        </p:tgtEl>
                                      </p:cBhvr>
                                    </p:animEffect>
                                    <p:set>
                                      <p:cBhvr>
                                        <p:cTn id="10" dur="1" fill="hold">
                                          <p:stCondLst>
                                            <p:cond delay="0"/>
                                          </p:stCondLst>
                                        </p:cTn>
                                        <p:tgtEl>
                                          <p:spTgt spid="4"/>
                                        </p:tgtEl>
                                        <p:attrNameLst>
                                          <p:attrName>style.visibility</p:attrName>
                                        </p:attrNameLst>
                                      </p:cBhvr>
                                      <p:to>
                                        <p:strVal val="visible"/>
                                      </p:to>
                                    </p:set>
                                  </p:childTnLst>
                                </p:cTn>
                              </p:par>
                              <p:par>
                                <p:cTn id="11" presetID="10" presetClass="entr" presetSubtype="0" fill="hold" nodeType="withEffect">
                                  <p:stCondLst>
                                    <p:cond delay="0"/>
                                  </p:stCondLst>
                                  <p:childTnLst>
                                    <p:animEffect transition="in" filter="fade">
                                      <p:cBhvr>
                                        <p:cTn id="12" dur="400"/>
                                        <p:tgtEl>
                                          <p:spTgt spid="5"/>
                                        </p:tgtEl>
                                      </p:cBhvr>
                                    </p:animEffect>
                                    <p:set>
                                      <p:cBhvr>
                                        <p:cTn id="13" dur="1" fill="hold">
                                          <p:stCondLst>
                                            <p:cond delay="0"/>
                                          </p:stCondLst>
                                        </p:cTn>
                                        <p:tgtEl>
                                          <p:spTgt spid="5"/>
                                        </p:tgtEl>
                                        <p:attrNameLst>
                                          <p:attrName>style.visibility</p:attrName>
                                        </p:attrNameLst>
                                      </p:cBhvr>
                                      <p:to>
                                        <p:strVal val="visible"/>
                                      </p:to>
                                    </p:set>
                                  </p:childTnLst>
                                </p:cTn>
                              </p:par>
                              <p:par>
                                <p:cTn id="14" presetID="10" presetClass="entr" presetSubtype="0" fill="hold" nodeType="withEffect">
                                  <p:stCondLst>
                                    <p:cond delay="0"/>
                                  </p:stCondLst>
                                  <p:childTnLst>
                                    <p:animEffect transition="in" filter="fade">
                                      <p:cBhvr>
                                        <p:cTn id="15" dur="400"/>
                                        <p:tgtEl>
                                          <p:spTgt spid="6"/>
                                        </p:tgtEl>
                                      </p:cBhvr>
                                    </p:animEffect>
                                    <p:set>
                                      <p:cBhvr>
                                        <p:cTn id="16" dur="1" fill="hold">
                                          <p:stCondLst>
                                            <p:cond delay="0"/>
                                          </p:stCondLst>
                                        </p:cTn>
                                        <p:tgtEl>
                                          <p:spTgt spid="6"/>
                                        </p:tgtEl>
                                        <p:attrNameLst>
                                          <p:attrName>style.visibility</p:attrName>
                                        </p:attrNameLst>
                                      </p:cBhvr>
                                      <p:to>
                                        <p:strVal val="visible"/>
                                      </p:to>
                                    </p:set>
                                  </p:childTnLst>
                                </p:cTn>
                              </p:par>
                              <p:par>
                                <p:cTn id="17" presetID="10" presetClass="entr" presetSubtype="0" fill="hold" nodeType="withEffect">
                                  <p:stCondLst>
                                    <p:cond delay="0"/>
                                  </p:stCondLst>
                                  <p:childTnLst>
                                    <p:animEffect transition="in" filter="fade">
                                      <p:cBhvr>
                                        <p:cTn id="18" dur="400"/>
                                        <p:tgtEl>
                                          <p:spTgt spid="7"/>
                                        </p:tgtEl>
                                      </p:cBhvr>
                                    </p:animEffec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nodeType="withEffect">
                                  <p:stCondLst>
                                    <p:cond delay="0"/>
                                  </p:stCondLst>
                                  <p:childTnLst>
                                    <p:animEffect transition="in" filter="fade">
                                      <p:cBhvr>
                                        <p:cTn id="21" dur="400"/>
                                        <p:tgtEl>
                                          <p:spTgt spid="8"/>
                                        </p:tgtEl>
                                      </p:cBhvr>
                                    </p:animEffec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nodeType="withEffect">
                                  <p:stCondLst>
                                    <p:cond delay="0"/>
                                  </p:stCondLst>
                                  <p:childTnLst>
                                    <p:animEffect transition="in" filter="fade">
                                      <p:cBhvr>
                                        <p:cTn id="24" dur="400"/>
                                        <p:tgtEl>
                                          <p:spTgt spid="9"/>
                                        </p:tgtEl>
                                      </p:cBhvr>
                                    </p:animEffec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animEffect transition="in" filter="fade">
                                      <p:cBhvr>
                                        <p:cTn id="27" dur="400"/>
                                        <p:tgtEl>
                                          <p:spTgt spid="10"/>
                                        </p:tgtEl>
                                      </p:cBhvr>
                                    </p:animEffect>
                                    <p:set>
                                      <p:cBhvr>
                                        <p:cTn id="28" dur="1" fill="hold">
                                          <p:stCondLst>
                                            <p:cond delay="0"/>
                                          </p:stCondLst>
                                        </p:cTn>
                                        <p:tgtEl>
                                          <p:spTgt spid="10"/>
                                        </p:tgtEl>
                                        <p:attrNameLst>
                                          <p:attrName>style.visibility</p:attrName>
                                        </p:attrNameLst>
                                      </p:cBhvr>
                                      <p:to>
                                        <p:strVal val="visible"/>
                                      </p:to>
                                    </p:set>
                                  </p:childTnLst>
                                </p:cTn>
                              </p:par>
                              <p:par>
                                <p:cTn id="29" presetID="10" presetClass="entr" presetSubtype="0" fill="hold" nodeType="withEffect">
                                  <p:stCondLst>
                                    <p:cond delay="0"/>
                                  </p:stCondLst>
                                  <p:childTnLst>
                                    <p:animEffect transition="in" filter="fade">
                                      <p:cBhvr>
                                        <p:cTn id="30" dur="400"/>
                                        <p:tgtEl>
                                          <p:spTgt spid="11"/>
                                        </p:tgtEl>
                                      </p:cBhvr>
                                    </p:animEffect>
                                    <p:set>
                                      <p:cBhvr>
                                        <p:cTn id="31" dur="1" fill="hold">
                                          <p:stCondLst>
                                            <p:cond delay="0"/>
                                          </p:stCondLst>
                                        </p:cTn>
                                        <p:tgtEl>
                                          <p:spTgt spid="11"/>
                                        </p:tgtEl>
                                        <p:attrNameLst>
                                          <p:attrName>style.visibility</p:attrName>
                                        </p:attrNameLst>
                                      </p:cBhvr>
                                      <p:to>
                                        <p:strVal val="visible"/>
                                      </p:to>
                                    </p:set>
                                  </p:childTnLst>
                                </p:cTn>
                              </p:par>
                              <p:par>
                                <p:cTn id="32" presetID="10" presetClass="entr" presetSubtype="0" fill="hold" nodeType="withEffect">
                                  <p:stCondLst>
                                    <p:cond delay="0"/>
                                  </p:stCondLst>
                                  <p:childTnLst>
                                    <p:animEffect transition="in" filter="fade">
                                      <p:cBhvr>
                                        <p:cTn id="33" dur="400"/>
                                        <p:tgtEl>
                                          <p:spTgt spid="12"/>
                                        </p:tgtEl>
                                      </p:cBhvr>
                                    </p:animEffect>
                                    <p:set>
                                      <p:cBhvr>
                                        <p:cTn id="34" dur="1" fill="hold">
                                          <p:stCondLst>
                                            <p:cond delay="0"/>
                                          </p:stCondLst>
                                        </p:cTn>
                                        <p:tgtEl>
                                          <p:spTgt spid="12"/>
                                        </p:tgtEl>
                                        <p:attrNameLst>
                                          <p:attrName>style.visibility</p:attrName>
                                        </p:attrNameLst>
                                      </p:cBhvr>
                                      <p:to>
                                        <p:strVal val="visible"/>
                                      </p:to>
                                    </p:set>
                                  </p:childTnLst>
                                </p:cTn>
                              </p:par>
                              <p:par>
                                <p:cTn id="35" presetID="10" presetClass="entr" presetSubtype="0" fill="hold" nodeType="withEffect">
                                  <p:stCondLst>
                                    <p:cond delay="0"/>
                                  </p:stCondLst>
                                  <p:childTnLst>
                                    <p:animEffect transition="in" filter="fade">
                                      <p:cBhvr>
                                        <p:cTn id="36" dur="400"/>
                                        <p:tgtEl>
                                          <p:spTgt spid="13"/>
                                        </p:tgtEl>
                                      </p:cBhvr>
                                    </p:animEffect>
                                    <p:set>
                                      <p:cBhvr>
                                        <p:cTn id="37" dur="1" fill="hold">
                                          <p:stCondLst>
                                            <p:cond delay="0"/>
                                          </p:stCondLst>
                                        </p:cTn>
                                        <p:tgtEl>
                                          <p:spTgt spid="13"/>
                                        </p:tgtEl>
                                        <p:attrNameLst>
                                          <p:attrName>style.visibility</p:attrName>
                                        </p:attrNameLst>
                                      </p:cBhvr>
                                      <p:to>
                                        <p:strVal val="visible"/>
                                      </p:to>
                                    </p:set>
                                  </p:childTnLst>
                                </p:cTn>
                              </p:par>
                              <p:par>
                                <p:cTn id="38" presetID="10" presetClass="entr" presetSubtype="0" fill="hold" nodeType="withEffect">
                                  <p:stCondLst>
                                    <p:cond delay="0"/>
                                  </p:stCondLst>
                                  <p:childTnLst>
                                    <p:animEffect transition="in" filter="fade">
                                      <p:cBhvr>
                                        <p:cTn id="39" dur="400"/>
                                        <p:tgtEl>
                                          <p:spTgt spid="14"/>
                                        </p:tgtEl>
                                      </p:cBhvr>
                                    </p:animEffect>
                                    <p:set>
                                      <p:cBhvr>
                                        <p:cTn id="40" dur="1" fill="hold">
                                          <p:stCondLst>
                                            <p:cond delay="0"/>
                                          </p:stCondLst>
                                        </p:cTn>
                                        <p:tgtEl>
                                          <p:spTgt spid="14"/>
                                        </p:tgtEl>
                                        <p:attrNameLst>
                                          <p:attrName>style.visibility</p:attrName>
                                        </p:attrNameLst>
                                      </p:cBhvr>
                                      <p:to>
                                        <p:strVal val="visible"/>
                                      </p:to>
                                    </p:set>
                                  </p:childTnLst>
                                </p:cTn>
                              </p:par>
                              <p:par>
                                <p:cTn id="41" presetID="10" presetClass="entr" presetSubtype="0" fill="hold" nodeType="withEffect">
                                  <p:stCondLst>
                                    <p:cond delay="0"/>
                                  </p:stCondLst>
                                  <p:childTnLst>
                                    <p:animEffect transition="in" filter="fade">
                                      <p:cBhvr>
                                        <p:cTn id="42" dur="400"/>
                                        <p:tgtEl>
                                          <p:spTgt spid="15"/>
                                        </p:tgtEl>
                                      </p:cBhvr>
                                    </p:animEffect>
                                    <p:set>
                                      <p:cBhvr>
                                        <p:cTn id="43" dur="1" fill="hold">
                                          <p:stCondLst>
                                            <p:cond delay="0"/>
                                          </p:stCondLst>
                                        </p:cTn>
                                        <p:tgtEl>
                                          <p:spTgt spid="15"/>
                                        </p:tgtEl>
                                        <p:attrNameLst>
                                          <p:attrName>style.visibility</p:attrName>
                                        </p:attrNameLst>
                                      </p:cBhvr>
                                      <p:to>
                                        <p:strVal val="visible"/>
                                      </p:to>
                                    </p:set>
                                  </p:childTnLst>
                                </p:cTn>
                              </p:par>
                              <p:par>
                                <p:cTn id="44" presetID="10" presetClass="entr" presetSubtype="0" fill="hold" nodeType="withEffect">
                                  <p:stCondLst>
                                    <p:cond delay="0"/>
                                  </p:stCondLst>
                                  <p:childTnLst>
                                    <p:animEffect transition="in" filter="fade">
                                      <p:cBhvr>
                                        <p:cTn id="45" dur="400"/>
                                        <p:tgtEl>
                                          <p:spTgt spid="16"/>
                                        </p:tgtEl>
                                      </p:cBhvr>
                                    </p:animEffect>
                                    <p:set>
                                      <p:cBhvr>
                                        <p:cTn id="46" dur="1" fill="hold">
                                          <p:stCondLst>
                                            <p:cond delay="0"/>
                                          </p:stCondLst>
                                        </p:cTn>
                                        <p:tgtEl>
                                          <p:spTgt spid="16"/>
                                        </p:tgtEl>
                                        <p:attrNameLst>
                                          <p:attrName>style.visibility</p:attrName>
                                        </p:attrNameLst>
                                      </p:cBhvr>
                                      <p:to>
                                        <p:strVal val="visible"/>
                                      </p:to>
                                    </p:set>
                                  </p:childTnLst>
                                </p:cTn>
                              </p:par>
                              <p:par>
                                <p:cTn id="47" presetID="10" presetClass="entr" presetSubtype="0" fill="hold" nodeType="withEffect">
                                  <p:stCondLst>
                                    <p:cond delay="0"/>
                                  </p:stCondLst>
                                  <p:childTnLst>
                                    <p:animEffect transition="in" filter="fade">
                                      <p:cBhvr>
                                        <p:cTn id="48" dur="400"/>
                                        <p:tgtEl>
                                          <p:spTgt spid="17"/>
                                        </p:tgtEl>
                                      </p:cBhvr>
                                    </p:animEffect>
                                    <p:set>
                                      <p:cBhvr>
                                        <p:cTn id="49" dur="1" fill="hold">
                                          <p:stCondLst>
                                            <p:cond delay="0"/>
                                          </p:stCondLst>
                                        </p:cTn>
                                        <p:tgtEl>
                                          <p:spTgt spid="17"/>
                                        </p:tgtEl>
                                        <p:attrNameLst>
                                          <p:attrName>style.visibility</p:attrName>
                                        </p:attrNameLst>
                                      </p:cBhvr>
                                      <p:to>
                                        <p:strVal val="visible"/>
                                      </p:to>
                                    </p:set>
                                  </p:childTnLst>
                                </p:cTn>
                              </p:par>
                              <p:par>
                                <p:cTn id="50" presetID="10" presetClass="entr" presetSubtype="0" fill="hold" nodeType="withEffect">
                                  <p:stCondLst>
                                    <p:cond delay="0"/>
                                  </p:stCondLst>
                                  <p:childTnLst>
                                    <p:animEffect transition="in" filter="fade">
                                      <p:cBhvr>
                                        <p:cTn id="51" dur="400"/>
                                        <p:tgtEl>
                                          <p:spTgt spid="18"/>
                                        </p:tgtEl>
                                      </p:cBhvr>
                                    </p:animEffect>
                                    <p:set>
                                      <p:cBhvr>
                                        <p:cTn id="52" dur="1" fill="hold">
                                          <p:stCondLst>
                                            <p:cond delay="0"/>
                                          </p:stCondLst>
                                        </p:cTn>
                                        <p:tgtEl>
                                          <p:spTgt spid="18"/>
                                        </p:tgtEl>
                                        <p:attrNameLst>
                                          <p:attrName>style.visibility</p:attrName>
                                        </p:attrNameLst>
                                      </p:cBhvr>
                                      <p:to>
                                        <p:strVal val="visible"/>
                                      </p:to>
                                    </p:set>
                                  </p:childTnLst>
                                </p:cTn>
                              </p:par>
                              <p:par>
                                <p:cTn id="53" presetID="10" presetClass="entr" presetSubtype="0" fill="hold" nodeType="withEffect">
                                  <p:stCondLst>
                                    <p:cond delay="0"/>
                                  </p:stCondLst>
                                  <p:childTnLst>
                                    <p:animEffect transition="in" filter="fade">
                                      <p:cBhvr>
                                        <p:cTn id="54" dur="400"/>
                                        <p:tgtEl>
                                          <p:spTgt spid="19"/>
                                        </p:tgtEl>
                                      </p:cBhvr>
                                    </p:animEffect>
                                    <p:set>
                                      <p:cBhvr>
                                        <p:cTn id="55" dur="1" fill="hold">
                                          <p:stCondLst>
                                            <p:cond delay="0"/>
                                          </p:stCondLst>
                                        </p:cTn>
                                        <p:tgtEl>
                                          <p:spTgt spid="19"/>
                                        </p:tgtEl>
                                        <p:attrNameLst>
                                          <p:attrName>style.visibility</p:attrName>
                                        </p:attrNameLst>
                                      </p:cBhvr>
                                      <p:to>
                                        <p:strVal val="visible"/>
                                      </p:to>
                                    </p:set>
                                  </p:childTnLst>
                                </p:cTn>
                              </p:par>
                              <p:par>
                                <p:cTn id="56" presetID="10" presetClass="entr" presetSubtype="0" fill="hold" nodeType="withEffect">
                                  <p:stCondLst>
                                    <p:cond delay="0"/>
                                  </p:stCondLst>
                                  <p:childTnLst>
                                    <p:animEffect transition="in" filter="fade">
                                      <p:cBhvr>
                                        <p:cTn id="57" dur="400"/>
                                        <p:tgtEl>
                                          <p:spTgt spid="20"/>
                                        </p:tgtEl>
                                      </p:cBhvr>
                                    </p:animEffect>
                                    <p:set>
                                      <p:cBhvr>
                                        <p:cTn id="58" dur="1" fill="hold">
                                          <p:stCondLst>
                                            <p:cond delay="0"/>
                                          </p:stCondLst>
                                        </p:cTn>
                                        <p:tgtEl>
                                          <p:spTgt spid="20"/>
                                        </p:tgtEl>
                                        <p:attrNameLst>
                                          <p:attrName>style.visibility</p:attrName>
                                        </p:attrNameLst>
                                      </p:cBhvr>
                                      <p:to>
                                        <p:strVal val="visible"/>
                                      </p:to>
                                    </p:set>
                                  </p:childTnLst>
                                </p:cTn>
                              </p:par>
                              <p:par>
                                <p:cTn id="59" presetID="10" presetClass="entr" presetSubtype="0" fill="hold" nodeType="withEffect">
                                  <p:stCondLst>
                                    <p:cond delay="0"/>
                                  </p:stCondLst>
                                  <p:childTnLst>
                                    <p:animEffect transition="in" filter="fade">
                                      <p:cBhvr>
                                        <p:cTn id="60" dur="400"/>
                                        <p:tgtEl>
                                          <p:spTgt spid="21"/>
                                        </p:tgtEl>
                                      </p:cBhvr>
                                    </p:animEffect>
                                    <p:set>
                                      <p:cBhvr>
                                        <p:cTn id="61" dur="1" fill="hold">
                                          <p:stCondLst>
                                            <p:cond delay="0"/>
                                          </p:stCondLst>
                                        </p:cTn>
                                        <p:tgtEl>
                                          <p:spTgt spid="21"/>
                                        </p:tgtEl>
                                        <p:attrNameLst>
                                          <p:attrName>style.visibility</p:attrName>
                                        </p:attrNameLst>
                                      </p:cBhvr>
                                      <p:to>
                                        <p:strVal val="visible"/>
                                      </p:to>
                                    </p:set>
                                  </p:childTnLst>
                                </p:cTn>
                              </p:par>
                              <p:par>
                                <p:cTn id="62" presetID="10" presetClass="entr" presetSubtype="0" fill="hold" nodeType="withEffect">
                                  <p:stCondLst>
                                    <p:cond delay="0"/>
                                  </p:stCondLst>
                                  <p:childTnLst>
                                    <p:animEffect transition="in" filter="fade">
                                      <p:cBhvr>
                                        <p:cTn id="63" dur="400"/>
                                        <p:tgtEl>
                                          <p:spTgt spid="22"/>
                                        </p:tgtEl>
                                      </p:cBhvr>
                                    </p:animEffect>
                                    <p:set>
                                      <p:cBhvr>
                                        <p:cTn id="64" dur="1" fill="hold">
                                          <p:stCondLst>
                                            <p:cond delay="0"/>
                                          </p:stCondLst>
                                        </p:cTn>
                                        <p:tgtEl>
                                          <p:spTgt spid="22"/>
                                        </p:tgtEl>
                                        <p:attrNameLst>
                                          <p:attrName>style.visibility</p:attrName>
                                        </p:attrNameLst>
                                      </p:cBhvr>
                                      <p:to>
                                        <p:strVal val="visible"/>
                                      </p:to>
                                    </p:set>
                                  </p:childTnLst>
                                </p:cTn>
                              </p:par>
                              <p:par>
                                <p:cTn id="65" presetID="10" presetClass="entr" presetSubtype="0" fill="hold" nodeType="withEffect">
                                  <p:stCondLst>
                                    <p:cond delay="0"/>
                                  </p:stCondLst>
                                  <p:childTnLst>
                                    <p:animEffect transition="in" filter="fade">
                                      <p:cBhvr>
                                        <p:cTn id="66" dur="400"/>
                                        <p:tgtEl>
                                          <p:spTgt spid="23"/>
                                        </p:tgtEl>
                                      </p:cBhvr>
                                    </p:animEffect>
                                    <p:set>
                                      <p:cBhvr>
                                        <p:cTn id="6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1750</Words>
  <Application>Microsoft Office PowerPoint</Application>
  <PresentationFormat>Widescreen</PresentationFormat>
  <Paragraphs>183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2026-06-16T06:48:26Z</dcterms:created>
  <dcterms:modified xsi:type="dcterms:W3CDTF">2026-06-16T07:30:29Z</dcterms:modified>
</cp:coreProperties>
</file>