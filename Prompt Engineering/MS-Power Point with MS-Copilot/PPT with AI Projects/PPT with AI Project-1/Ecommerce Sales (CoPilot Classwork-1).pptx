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54" d="100"/>
          <a:sy n="54" d="100"/>
        </p:scale>
        <p:origin x="586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\₹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Keyboard</c:v>
                </c:pt>
                <c:pt idx="1">
                  <c:v>USB Cable</c:v>
                </c:pt>
                <c:pt idx="2">
                  <c:v>Tablet</c:v>
                </c:pt>
                <c:pt idx="3">
                  <c:v>Laptop</c:v>
                </c:pt>
                <c:pt idx="4">
                  <c:v>Webcam</c:v>
                </c:pt>
                <c:pt idx="5">
                  <c:v>Mouse</c:v>
                </c:pt>
                <c:pt idx="6">
                  <c:v>Charger</c:v>
                </c:pt>
                <c:pt idx="7">
                  <c:v>Monitor</c:v>
                </c:pt>
                <c:pt idx="8">
                  <c:v>Headphones</c:v>
                </c:pt>
                <c:pt idx="9">
                  <c:v>Smart Watch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3.75</c:v>
                </c:pt>
                <c:pt idx="1">
                  <c:v>4.0999999999999996</c:v>
                </c:pt>
                <c:pt idx="2">
                  <c:v>4.71</c:v>
                </c:pt>
                <c:pt idx="3">
                  <c:v>5.12</c:v>
                </c:pt>
                <c:pt idx="4">
                  <c:v>5.23</c:v>
                </c:pt>
                <c:pt idx="5">
                  <c:v>5.56</c:v>
                </c:pt>
                <c:pt idx="6">
                  <c:v>6.22</c:v>
                </c:pt>
                <c:pt idx="7">
                  <c:v>6.5</c:v>
                </c:pt>
                <c:pt idx="8">
                  <c:v>7.12</c:v>
                </c:pt>
                <c:pt idx="9">
                  <c:v>8.76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CC-4D32-91C5-3EFCF7368E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C6-4F0D-91E1-77E95D1533C2}"/>
              </c:ext>
            </c:extLst>
          </c:dPt>
          <c:dPt>
            <c:idx val="1"/>
            <c:bubble3D val="0"/>
            <c:spPr>
              <a:solidFill>
                <a:srgbClr val="0E2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C6-4F0D-91E1-77E95D1533C2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C6-4F0D-91E1-77E95D1533C2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C6-4F0D-91E1-77E95D1533C2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C6-4F0D-91E1-77E95D1533C2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C6-4F0D-91E1-77E95D1533C2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Tech</c:v>
                </c:pt>
                <c:pt idx="2">
                  <c:v>Gadgets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56.1</c:v>
                </c:pt>
                <c:pt idx="1">
                  <c:v>24.4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C6-4F0D-91E1-77E95D153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E2148"/>
            </a:solidFill>
            <a:effectLst/>
          </c:spPr>
          <c:invertIfNegative val="0"/>
          <c:dLbls>
            <c:numFmt formatCode="\₹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Bangalore</c:v>
                </c:pt>
                <c:pt idx="1">
                  <c:v>Chennai</c:v>
                </c:pt>
                <c:pt idx="2">
                  <c:v>Ahmedabad</c:v>
                </c:pt>
                <c:pt idx="3">
                  <c:v>Pune</c:v>
                </c:pt>
                <c:pt idx="4">
                  <c:v>Hyderabad</c:v>
                </c:pt>
                <c:pt idx="5">
                  <c:v>Kolkata</c:v>
                </c:pt>
                <c:pt idx="6">
                  <c:v>Mumbai</c:v>
                </c:pt>
                <c:pt idx="7">
                  <c:v>Delhi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5.18</c:v>
                </c:pt>
                <c:pt idx="1">
                  <c:v>5.75</c:v>
                </c:pt>
                <c:pt idx="2">
                  <c:v>5.81</c:v>
                </c:pt>
                <c:pt idx="3">
                  <c:v>5.98</c:v>
                </c:pt>
                <c:pt idx="4">
                  <c:v>6.33</c:v>
                </c:pt>
                <c:pt idx="5">
                  <c:v>6.44</c:v>
                </c:pt>
                <c:pt idx="6">
                  <c:v>8.0500000000000007</c:v>
                </c:pt>
                <c:pt idx="7">
                  <c:v>13.38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7A-44CF-9B68-D5E3472F7A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Q1'23</c:v>
                </c:pt>
                <c:pt idx="1">
                  <c:v>Q2'23</c:v>
                </c:pt>
                <c:pt idx="2">
                  <c:v>Q3'23</c:v>
                </c:pt>
                <c:pt idx="3">
                  <c:v>Q4'23</c:v>
                </c:pt>
                <c:pt idx="4">
                  <c:v>Q1'24</c:v>
                </c:pt>
                <c:pt idx="5">
                  <c:v>Q2'24</c:v>
                </c:pt>
                <c:pt idx="6">
                  <c:v>Q3'24</c:v>
                </c:pt>
                <c:pt idx="7">
                  <c:v>Q4'24</c:v>
                </c:pt>
                <c:pt idx="8">
                  <c:v>Q1'25</c:v>
                </c:pt>
                <c:pt idx="9">
                  <c:v>Q2'25</c:v>
                </c:pt>
                <c:pt idx="10">
                  <c:v>Q3'25</c:v>
                </c:pt>
                <c:pt idx="11">
                  <c:v>Q4'25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4.4000000000000004</c:v>
                </c:pt>
                <c:pt idx="1">
                  <c:v>4.45</c:v>
                </c:pt>
                <c:pt idx="2">
                  <c:v>5.56</c:v>
                </c:pt>
                <c:pt idx="3">
                  <c:v>5.66</c:v>
                </c:pt>
                <c:pt idx="4">
                  <c:v>4.6500000000000004</c:v>
                </c:pt>
                <c:pt idx="5">
                  <c:v>4.32</c:v>
                </c:pt>
                <c:pt idx="6">
                  <c:v>5.05</c:v>
                </c:pt>
                <c:pt idx="7">
                  <c:v>5.2</c:v>
                </c:pt>
                <c:pt idx="8">
                  <c:v>4.3600000000000003</c:v>
                </c:pt>
                <c:pt idx="9">
                  <c:v>4.93</c:v>
                </c:pt>
                <c:pt idx="10">
                  <c:v>5.0999999999999996</c:v>
                </c:pt>
                <c:pt idx="11">
                  <c:v>3.37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E97-4977-8617-7A51F5EDE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7A-4698-A4ED-D94DAECCE57C}"/>
              </c:ext>
            </c:extLst>
          </c:dPt>
          <c:dPt>
            <c:idx val="1"/>
            <c:bubble3D val="0"/>
            <c:spPr>
              <a:solidFill>
                <a:srgbClr val="EF6C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7A-4698-A4ED-D94DAECCE57C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7A-4698-A4ED-D94DAECCE57C}"/>
              </c:ext>
            </c:extLst>
          </c:dPt>
          <c:dPt>
            <c:idx val="3"/>
            <c:bubble3D val="0"/>
            <c:spPr>
              <a:solidFill>
                <a:srgbClr val="F0A3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7A-4698-A4ED-D94DAECCE57C}"/>
              </c:ext>
            </c:extLst>
          </c:dPt>
          <c:dPt>
            <c:idx val="4"/>
            <c:bubble3D val="0"/>
            <c:spPr>
              <a:solidFill>
                <a:srgbClr val="0E2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C7A-4698-A4ED-D94DAECCE57C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7A-4698-A4ED-D94DAECCE57C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7A-4698-A4ED-D94DAECCE57C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7A-4698-A4ED-D94DAECCE57C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7A-4698-A4ED-D94DAECCE57C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C7A-4698-A4ED-D94DAECCE57C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Delivered</c:v>
                </c:pt>
                <c:pt idx="1">
                  <c:v>Returned</c:v>
                </c:pt>
                <c:pt idx="2">
                  <c:v>Shipped</c:v>
                </c:pt>
                <c:pt idx="3">
                  <c:v>Cancelled</c:v>
                </c:pt>
                <c:pt idx="4">
                  <c:v>Pending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35.4</c:v>
                </c:pt>
                <c:pt idx="1">
                  <c:v>17.3</c:v>
                </c:pt>
                <c:pt idx="2">
                  <c:v>17.100000000000001</c:v>
                </c:pt>
                <c:pt idx="3">
                  <c:v>15.6</c:v>
                </c:pt>
                <c:pt idx="4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C7A-4698-A4ED-D94DAECCE5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Debit Card</c:v>
                </c:pt>
                <c:pt idx="1">
                  <c:v>UPI</c:v>
                </c:pt>
                <c:pt idx="2">
                  <c:v>COD</c:v>
                </c:pt>
                <c:pt idx="3">
                  <c:v>Credit Card</c:v>
                </c:pt>
                <c:pt idx="4">
                  <c:v>Net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21.8</c:v>
                </c:pt>
                <c:pt idx="1">
                  <c:v>20</c:v>
                </c:pt>
                <c:pt idx="2">
                  <c:v>20</c:v>
                </c:pt>
                <c:pt idx="3">
                  <c:v>19.8</c:v>
                </c:pt>
                <c:pt idx="4">
                  <c:v>18.3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C9-403F-BBCB-A3BDA61CF7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66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image-b2cb2f0078af91e65c0cb7165a89fac0.jpg"/>
          <p:cNvPicPr>
            <a:picLocks noChangeAspect="1"/>
          </p:cNvPicPr>
          <p:nvPr/>
        </p:nvPicPr>
        <p:blipFill>
          <a:blip r:embed="rId3"/>
          <a:srcRect l="25228" r="25228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E21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449824" y="0"/>
            <a:ext cx="4572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40080" y="1298448"/>
            <a:ext cx="457200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ECOMMERCE ANALYTICS  ·  2023–2025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1828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Ecommerce Sales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Review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3101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products, geography, fulfillment and payment insights across the order book.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June 16,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SNAPSHOT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at a Glance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9476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94767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₹57.1M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779776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0048" y="1481328"/>
            <a:ext cx="19476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670048" y="1481328"/>
            <a:ext cx="194767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70048" y="193852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70048" y="2779776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82896" y="1481328"/>
            <a:ext cx="19476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82896" y="1481328"/>
            <a:ext cx="194767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82896" y="193852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₹117K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882896" y="2779776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1481328"/>
            <a:ext cx="19476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95744" y="1481328"/>
            <a:ext cx="194767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95744" y="193852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1,469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095744" y="2779776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749808"/>
          </a:xfrm>
          <a:prstGeom prst="rect">
            <a:avLst/>
          </a:prstGeom>
          <a:solidFill>
            <a:srgbClr val="0E21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91440" cy="7498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37033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basket size. </a:t>
            </a:r>
            <a:r>
              <a:rPr lang="en-US" sz="130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order value near ₹117K signals high-value electronics purchases, with steady demand spread evenly across the catalog.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analyzed order records with complete pricing across the 2023–2025 dataset.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Performance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210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68172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Product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17320"/>
          <a:ext cx="5349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STANDS OUT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77393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73952" y="16824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Watch leads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73952" y="197510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 the catalog at ₹8.8M — the single biggest revenue driver.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273405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73952" y="26426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Accessories punch up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73952" y="293522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 and mice rival monitors, showing strong add-on demand.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369417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73952" y="36027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tail is even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73952" y="389534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falls below ₹3.7M — revenue is broadly diversified.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Performance Review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210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68172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MIX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Revenue Comes From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206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554480"/>
          <a:ext cx="3931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892040" y="1463040"/>
            <a:ext cx="3794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892040" y="1463040"/>
            <a:ext cx="82296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74920" y="1572768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₹32.0M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583680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0" y="1847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revenue — the core engine of the business.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92040" y="2487168"/>
            <a:ext cx="3794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892040" y="2487168"/>
            <a:ext cx="82296" cy="914400"/>
          </a:xfrm>
          <a:prstGeom prst="rect">
            <a:avLst/>
          </a:prstGeom>
          <a:solidFill>
            <a:srgbClr val="0E21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074920" y="2596896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₹13.9M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583680" y="25968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0" y="2871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— a strong secondary contributor.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92040" y="3511296"/>
            <a:ext cx="3794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892040" y="3511296"/>
            <a:ext cx="82296" cy="9144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074920" y="3621024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₹10.9M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6583680" y="3621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Gadgets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83680" y="3895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— a meaningful, growing slice.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Performance Review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210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68172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REACH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City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17320"/>
          <a:ext cx="5349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17320"/>
            <a:ext cx="2468880" cy="1417320"/>
          </a:xfrm>
          <a:prstGeom prst="rect">
            <a:avLst/>
          </a:prstGeom>
          <a:solidFill>
            <a:srgbClr val="0E2148"/>
          </a:solidFill>
          <a:ln/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21792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₹13.4M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21792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DELHI LEADS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23% of all revenue — the top market by a wide margin.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1792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concentration.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and Mumbai together drive a third of revenue, while six other metros each contribute a steady ₹5–6M.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Performance 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468172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TREND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Quarterly Revenue Trajectory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17320"/>
          <a:ext cx="80467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22192"/>
            <a:ext cx="25968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21792" y="39136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3877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₹20.1M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1732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73552" y="3822192"/>
            <a:ext cx="25968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438144" y="39136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33672" y="3877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₹19.2M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233672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dip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9904" y="3822192"/>
            <a:ext cx="25968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254496" y="39136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50024" y="3877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₹17.8M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050024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Performance Review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210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68172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FULFILLMENT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Orders Land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206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554480"/>
          <a:ext cx="3931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892040" y="1417320"/>
            <a:ext cx="3794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892040" y="1417320"/>
            <a:ext cx="82296" cy="1444752"/>
          </a:xfrm>
          <a:prstGeom prst="rect">
            <a:avLst/>
          </a:prstGeom>
          <a:solidFill>
            <a:srgbClr val="EF6C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74920" y="15544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845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492240" y="1481328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fail to complete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(17%) and cancellations (16%) are the biggest leak in the funnel.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3035808"/>
            <a:ext cx="3794760" cy="1444752"/>
          </a:xfrm>
          <a:prstGeom prst="rect">
            <a:avLst/>
          </a:prstGeom>
          <a:solidFill>
            <a:srgbClr val="0E2148"/>
          </a:solidFill>
          <a:ln/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1206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35% reach 'Delivered'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20640" y="354787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17% shipped and 15% pending leave many orders in motion. Tightening returns and speeding fulfillment is the clearest lever for revenue capture.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Performance Review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210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68172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BEHAVIOR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Customers Pay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257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14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554480"/>
          <a:ext cx="50292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989320" y="14813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BALANCED WALLET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89320" y="191109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245352" y="181965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single method dominates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45352" y="2112264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sits within a tight 18–22% band.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80720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45352" y="271576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Digital-first, but cash matters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45352" y="3008376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and cards lead, yet COD still drives 1 in 5 orders.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89320" y="370332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45352" y="361188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concentration risk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45352" y="390448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rails reduce exposure to any one provider.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Performance Review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210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68172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image-4ce77051817053556a1b655e05eb1ecd.jpg"/>
          <p:cNvPicPr>
            <a:picLocks noChangeAspect="1"/>
          </p:cNvPicPr>
          <p:nvPr/>
        </p:nvPicPr>
        <p:blipFill>
          <a:blip r:embed="rId3"/>
          <a:srcRect l="31089" r="31089"/>
          <a:stretch/>
        </p:blipFill>
        <p:spPr>
          <a:xfrm>
            <a:off x="6126480" y="0"/>
            <a:ext cx="30175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5143500"/>
          </a:xfrm>
          <a:prstGeom prst="rect">
            <a:avLst/>
          </a:prstGeom>
          <a:solidFill>
            <a:srgbClr val="0E21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6089904" y="0"/>
            <a:ext cx="4572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48640" y="502920"/>
            <a:ext cx="457200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676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 &amp; NEXT STEPS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9509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Turning Insight Into Action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5568" y="17282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Double down on Electronics &amp; Smart Watches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5568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56% revenue core with stock depth and featured promotion.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5568" y="25054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Cut the 33% return-and-cancel leak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15568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reasons, tighten product info, and trigger save-the-sale outreach.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486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15568" y="32826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 beyond Delhi &amp; Mumbai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15568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campaigns in the six steady ₹5–6M metros to balance the map.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486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1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15568" y="40599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Reverse the multi-year softening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115568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trailed 2023 by ₹2.3M — invest in retention and basket growth.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509</Words>
  <Application>Microsoft Office PowerPoint</Application>
  <PresentationFormat>On-screen Show (16:9)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Chakraborty</dc:creator>
  <cp:lastModifiedBy>Arnab Chakraborty</cp:lastModifiedBy>
  <cp:revision>1</cp:revision>
  <dcterms:created xsi:type="dcterms:W3CDTF">2026-06-16T03:54:27Z</dcterms:created>
  <dcterms:modified xsi:type="dcterms:W3CDTF">2026-06-16T04:39:13Z</dcterms:modified>
</cp:coreProperties>
</file>